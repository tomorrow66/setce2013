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customXml/itemProps4.xml" ContentType="application/vnd.openxmlformats-officedocument.customXmlProperties+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
  </p:notesMasterIdLst>
  <p:sldIdLst>
    <p:sldId id="324" r:id="rId6"/>
    <p:sldId id="325" r:id="rId7"/>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9D57"/>
    <a:srgbClr val="00AA50"/>
    <a:srgbClr val="780032"/>
    <a:srgbClr val="7AC142"/>
    <a:srgbClr val="52BDEC"/>
    <a:srgbClr val="F28D1E"/>
    <a:srgbClr val="AD208E"/>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0796981D-1B90-48F0-8ACD-F504B659A3C4}" type="datetimeFigureOut">
              <a:rPr lang="en-US"/>
              <a:pPr>
                <a:defRPr/>
              </a:pPr>
              <a:t>06/18/2013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CB1E04C4-209E-42C0-BB16-60A19275D140}" type="slidenum">
              <a:rPr lang="en-US"/>
              <a:pPr>
                <a:defRPr/>
              </a:pPr>
              <a:t>‹#›</a:t>
            </a:fld>
            <a:endParaRPr lang="en-US" dirty="0"/>
          </a:p>
        </p:txBody>
      </p:sp>
    </p:spTree>
    <p:extLst>
      <p:ext uri="{BB962C8B-B14F-4D97-AF65-F5344CB8AC3E}">
        <p14:creationId xmlns="" xmlns:p14="http://schemas.microsoft.com/office/powerpoint/2010/main" val="19658887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695F4D9-CAC3-4FDC-B5C1-01D620C5DC05}" type="slidenum">
              <a:rPr lang="en-US" smtClean="0"/>
              <a:pPr/>
              <a:t>1</a:t>
            </a:fld>
            <a:endParaRPr lang="en-US" dirty="0" smtClean="0"/>
          </a:p>
        </p:txBody>
      </p:sp>
      <p:sp>
        <p:nvSpPr>
          <p:cNvPr id="8195" name="Rectangle 2"/>
          <p:cNvSpPr>
            <a:spLocks noGrp="1" noRot="1" noChangeAspect="1" noChangeArrowheads="1" noTextEdit="1"/>
          </p:cNvSpPr>
          <p:nvPr>
            <p:ph type="sldImg"/>
          </p:nvPr>
        </p:nvSpPr>
        <p:spPr>
          <a:xfrm>
            <a:off x="-12700" y="465138"/>
            <a:ext cx="7070725" cy="5302250"/>
          </a:xfrm>
          <a:ln/>
        </p:spPr>
      </p:sp>
      <p:sp>
        <p:nvSpPr>
          <p:cNvPr id="8196" name="Rectangle 3"/>
          <p:cNvSpPr>
            <a:spLocks noChangeArrowheads="1"/>
          </p:cNvSpPr>
          <p:nvPr/>
        </p:nvSpPr>
        <p:spPr bwMode="auto">
          <a:xfrm>
            <a:off x="0" y="5844144"/>
            <a:ext cx="7010400" cy="3253740"/>
          </a:xfrm>
          <a:prstGeom prst="rect">
            <a:avLst/>
          </a:prstGeom>
          <a:noFill/>
          <a:ln w="9525">
            <a:noFill/>
            <a:miter lim="800000"/>
            <a:headEnd/>
            <a:tailEnd/>
          </a:ln>
        </p:spPr>
        <p:txBody>
          <a:bodyPr lIns="93165" tIns="46584" rIns="93165" bIns="46584"/>
          <a:lstStyle/>
          <a:p>
            <a:pPr marL="228091" indent="-228091">
              <a:lnSpc>
                <a:spcPct val="90000"/>
              </a:lnSpc>
              <a:spcBef>
                <a:spcPct val="30000"/>
              </a:spcBef>
            </a:pPr>
            <a:r>
              <a:rPr lang="en-US" sz="1200" dirty="0"/>
              <a:t>Talking Points:</a:t>
            </a:r>
          </a:p>
          <a:p>
            <a:pPr marL="228091" indent="-228091">
              <a:lnSpc>
                <a:spcPct val="90000"/>
              </a:lnSpc>
              <a:spcBef>
                <a:spcPct val="30000"/>
              </a:spcBef>
              <a:buFontTx/>
              <a:buChar char="•"/>
            </a:pPr>
            <a:r>
              <a:rPr lang="en-US" sz="1200" dirty="0"/>
              <a:t>The Impact Map is a way of directly connecting what we will learn to what we will do to what impact we expect to achieve. It is an important part of our approach to high impact learning.</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Walk through the map from left to right. The key point is that we want to improve our skills using the real situation in our department with the result being both increased skills AND a smart budget for 2010.</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We will be getting into much more detail about how to take action on this in the coming weeks and months.</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Learning about fundamental financial aspects of the operation will be covered through a CBT.</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While people are different levels of understanding and skill, this is an opportunity for everyone to refresh their knowledge and build additional skill and confidence in managing and improving our business.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695F4D9-CAC3-4FDC-B5C1-01D620C5DC05}" type="slidenum">
              <a:rPr lang="en-US" smtClean="0"/>
              <a:pPr/>
              <a:t>2</a:t>
            </a:fld>
            <a:endParaRPr lang="en-US" dirty="0" smtClean="0"/>
          </a:p>
        </p:txBody>
      </p:sp>
      <p:sp>
        <p:nvSpPr>
          <p:cNvPr id="8195" name="Rectangle 2"/>
          <p:cNvSpPr>
            <a:spLocks noGrp="1" noRot="1" noChangeAspect="1" noChangeArrowheads="1" noTextEdit="1"/>
          </p:cNvSpPr>
          <p:nvPr>
            <p:ph type="sldImg"/>
          </p:nvPr>
        </p:nvSpPr>
        <p:spPr>
          <a:xfrm>
            <a:off x="-12700" y="465138"/>
            <a:ext cx="7070725" cy="5302250"/>
          </a:xfrm>
          <a:ln/>
        </p:spPr>
      </p:sp>
      <p:sp>
        <p:nvSpPr>
          <p:cNvPr id="8196" name="Rectangle 3"/>
          <p:cNvSpPr>
            <a:spLocks noChangeArrowheads="1"/>
          </p:cNvSpPr>
          <p:nvPr/>
        </p:nvSpPr>
        <p:spPr bwMode="auto">
          <a:xfrm>
            <a:off x="0" y="5844144"/>
            <a:ext cx="7010400" cy="3253740"/>
          </a:xfrm>
          <a:prstGeom prst="rect">
            <a:avLst/>
          </a:prstGeom>
          <a:noFill/>
          <a:ln w="9525">
            <a:noFill/>
            <a:miter lim="800000"/>
            <a:headEnd/>
            <a:tailEnd/>
          </a:ln>
        </p:spPr>
        <p:txBody>
          <a:bodyPr lIns="93165" tIns="46584" rIns="93165" bIns="46584"/>
          <a:lstStyle/>
          <a:p>
            <a:pPr marL="228091" indent="-228091">
              <a:lnSpc>
                <a:spcPct val="90000"/>
              </a:lnSpc>
              <a:spcBef>
                <a:spcPct val="30000"/>
              </a:spcBef>
            </a:pPr>
            <a:r>
              <a:rPr lang="en-US" sz="1200" dirty="0"/>
              <a:t>Talking Points:</a:t>
            </a:r>
          </a:p>
          <a:p>
            <a:pPr marL="228091" indent="-228091">
              <a:lnSpc>
                <a:spcPct val="90000"/>
              </a:lnSpc>
              <a:spcBef>
                <a:spcPct val="30000"/>
              </a:spcBef>
              <a:buFontTx/>
              <a:buChar char="•"/>
            </a:pPr>
            <a:r>
              <a:rPr lang="en-US" sz="1200" dirty="0"/>
              <a:t>The Impact Map is a way of directly connecting what we will learn to what we will do to what impact we expect to achieve. It is an important part of our approach to high impact learning.</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Walk through the map from left to right. The key point is that we want to improve our skills using the real situation in our department with the result being both increased skills AND a smart budget for 2010.</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We will be getting into much more detail about how to take action on this in the coming weeks and months.</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Learning about fundamental financial aspects of the operation will be covered through a CBT.</a:t>
            </a:r>
          </a:p>
          <a:p>
            <a:pPr marL="228091" indent="-228091">
              <a:lnSpc>
                <a:spcPct val="90000"/>
              </a:lnSpc>
              <a:spcBef>
                <a:spcPct val="30000"/>
              </a:spcBef>
              <a:buFontTx/>
              <a:buChar char="•"/>
            </a:pPr>
            <a:endParaRPr lang="en-US" sz="1200" dirty="0"/>
          </a:p>
          <a:p>
            <a:pPr marL="228091" indent="-228091">
              <a:lnSpc>
                <a:spcPct val="90000"/>
              </a:lnSpc>
              <a:spcBef>
                <a:spcPct val="30000"/>
              </a:spcBef>
              <a:buFontTx/>
              <a:buChar char="•"/>
            </a:pPr>
            <a:r>
              <a:rPr lang="en-US" sz="1200" dirty="0"/>
              <a:t>While people are different levels of understanding and skill, this is an opportunity for everyone to refresh their knowledge and build additional skill and confidence in managing and improving our business.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a:off x="685800" y="3733800"/>
            <a:ext cx="77724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pic>
        <p:nvPicPr>
          <p:cNvPr id="5" name="Picture 6" descr="Hope-and-Will.jpg"/>
          <p:cNvPicPr>
            <a:picLocks noChangeAspect="1"/>
          </p:cNvPicPr>
          <p:nvPr userDrawn="1"/>
        </p:nvPicPr>
        <p:blipFill>
          <a:blip r:embed="rId2" cstate="screen"/>
          <a:srcRect/>
          <a:stretch>
            <a:fillRect/>
          </a:stretch>
        </p:blipFill>
        <p:spPr bwMode="auto">
          <a:xfrm>
            <a:off x="7197725" y="5249863"/>
            <a:ext cx="1946275" cy="1608137"/>
          </a:xfrm>
          <a:prstGeom prst="rect">
            <a:avLst/>
          </a:prstGeom>
          <a:noFill/>
          <a:ln w="9525">
            <a:noFill/>
            <a:miter lim="800000"/>
            <a:headEnd/>
            <a:tailEnd/>
          </a:ln>
        </p:spPr>
      </p:pic>
      <p:sp>
        <p:nvSpPr>
          <p:cNvPr id="2" name="Title 1"/>
          <p:cNvSpPr>
            <a:spLocks noGrp="1"/>
          </p:cNvSpPr>
          <p:nvPr>
            <p:ph type="ctrTitle"/>
          </p:nvPr>
        </p:nvSpPr>
        <p:spPr>
          <a:xfrm>
            <a:off x="685800" y="2130425"/>
            <a:ext cx="7772400" cy="1470025"/>
          </a:xfrm>
        </p:spPr>
        <p:txBody>
          <a:bodyPr anchor="b" anchorCtr="0">
            <a:normAutofit/>
          </a:bodyPr>
          <a:lstStyle>
            <a:lvl1pPr algn="l">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6400800" cy="914400"/>
          </a:xfrm>
        </p:spPr>
        <p:txBody>
          <a:bodyPr/>
          <a:lstStyle>
            <a:lvl1pPr marL="0" indent="0" algn="l">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a:off x="685800" y="3733800"/>
            <a:ext cx="77724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2130425"/>
            <a:ext cx="7772400" cy="1470025"/>
          </a:xfrm>
        </p:spPr>
        <p:txBody>
          <a:bodyPr anchor="b" anchorCtr="0">
            <a:normAutofit/>
          </a:bodyPr>
          <a:lstStyle>
            <a:lvl1pPr algn="l">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4572000" cy="914400"/>
          </a:xfrm>
        </p:spPr>
        <p:txBody>
          <a:bodyPr/>
          <a:lstStyle>
            <a:lvl1pPr marL="0" indent="0" algn="l">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logo with tag rgb horz.jpg"/>
          <p:cNvPicPr>
            <a:picLocks noChangeAspect="1"/>
          </p:cNvPicPr>
          <p:nvPr userDrawn="1"/>
        </p:nvPicPr>
        <p:blipFill>
          <a:blip r:embed="rId2" cstate="screen"/>
          <a:stretch>
            <a:fillRect/>
          </a:stretch>
        </p:blipFill>
        <p:spPr>
          <a:xfrm>
            <a:off x="5486400" y="5621020"/>
            <a:ext cx="3048000" cy="10541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5" name="Picture 6" descr="Hope-and-Will.jpg"/>
          <p:cNvPicPr>
            <a:picLocks noChangeAspect="1"/>
          </p:cNvPicPr>
          <p:nvPr userDrawn="1"/>
        </p:nvPicPr>
        <p:blipFill>
          <a:blip r:embed="rId2" cstate="screen"/>
          <a:srcRect/>
          <a:stretch>
            <a:fillRect/>
          </a:stretch>
        </p:blipFill>
        <p:spPr bwMode="auto">
          <a:xfrm>
            <a:off x="7197725" y="5249863"/>
            <a:ext cx="1946275" cy="1608137"/>
          </a:xfrm>
          <a:prstGeom prst="rect">
            <a:avLst/>
          </a:prstGeom>
          <a:noFill/>
          <a:ln w="9525">
            <a:noFill/>
            <a:miter lim="800000"/>
            <a:headEnd/>
            <a:tailEnd/>
          </a:ln>
        </p:spPr>
      </p:pic>
      <p:sp>
        <p:nvSpPr>
          <p:cNvPr id="2" name="Title 1"/>
          <p:cNvSpPr>
            <a:spLocks noGrp="1"/>
          </p:cNvSpPr>
          <p:nvPr>
            <p:ph type="ctrTitle"/>
          </p:nvPr>
        </p:nvSpPr>
        <p:spPr>
          <a:xfrm>
            <a:off x="152400" y="5387975"/>
            <a:ext cx="7086600" cy="1317625"/>
          </a:xfrm>
        </p:spPr>
        <p:txBody>
          <a:bodyPr anchor="b" anchorCtr="0">
            <a:normAutofit/>
          </a:bodyPr>
          <a:lstStyle>
            <a:lvl1pPr algn="l">
              <a:defRPr sz="4400"/>
            </a:lvl1pPr>
          </a:lstStyle>
          <a:p>
            <a:r>
              <a:rPr lang="en-US" dirty="0"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cxnSp>
        <p:nvCxnSpPr>
          <p:cNvPr id="4" name="Straight Connector 3"/>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0" y="1371600"/>
            <a:ext cx="8229600" cy="48768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8"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9" name="TextBox 8"/>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0"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dirty="0" smtClean="0"/>
              <a:t>Click to edit Master title style</a:t>
            </a:r>
            <a:endParaRPr lang="en-US" dirty="0"/>
          </a:p>
        </p:txBody>
      </p:sp>
      <p:pic>
        <p:nvPicPr>
          <p:cNvPr id="5"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6" name="TextBox 5"/>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n-lt"/>
              </a:rPr>
              <a:t>Children’s Healthcare of Atlanta</a:t>
            </a:r>
          </a:p>
        </p:txBody>
      </p:sp>
      <p:sp>
        <p:nvSpPr>
          <p:cNvPr id="3" name="Content Placeholder 2"/>
          <p:cNvSpPr>
            <a:spLocks noGrp="1"/>
          </p:cNvSpPr>
          <p:nvPr>
            <p:ph idx="1"/>
          </p:nvPr>
        </p:nvSpPr>
        <p:spPr>
          <a:xfrm>
            <a:off x="457200" y="1371600"/>
            <a:ext cx="8229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n-lt"/>
              </a:defRPr>
            </a:lvl1pPr>
          </a:lstStyle>
          <a:p>
            <a:pPr>
              <a:defRPr/>
            </a:pPr>
            <a:fld id="{01D945C9-0277-4107-B589-EC55ECD240BC}" type="slidenum">
              <a:rPr lang="en-US" smtClean="0"/>
              <a:pPr>
                <a:defRPr/>
              </a:pPr>
              <a:t>‹#›</a:t>
            </a:fld>
            <a:endParaRPr lang="en-US" dirty="0"/>
          </a:p>
        </p:txBody>
      </p:sp>
      <p:cxnSp>
        <p:nvCxnSpPr>
          <p:cNvPr id="8" name="Straight Connector 7"/>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7545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371600"/>
            <a:ext cx="4038600" cy="47545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8"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9" name="TextBox 8"/>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0"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cxnSp>
        <p:nvCxnSpPr>
          <p:cNvPr id="11" name="Straight Connector 10"/>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cxnSp>
        <p:nvCxnSpPr>
          <p:cNvPr id="7" name="Straight Connector 6"/>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1376608"/>
            <a:ext cx="4040188" cy="715962"/>
          </a:xfrm>
        </p:spPr>
        <p:txBody>
          <a:bodyPr anchor="b">
            <a:noAutofit/>
          </a:bodyPr>
          <a:lstStyle>
            <a:lvl1pPr marL="0" indent="0">
              <a:buNone/>
              <a:defRPr sz="2400" b="1">
                <a:solidFill>
                  <a:srgbClr val="009D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209800"/>
            <a:ext cx="4040188" cy="4038600"/>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376608"/>
            <a:ext cx="4041775" cy="715962"/>
          </a:xfrm>
        </p:spPr>
        <p:txBody>
          <a:bodyPr anchor="b"/>
          <a:lstStyle>
            <a:lvl1pPr marL="0" indent="0">
              <a:buNone/>
              <a:defRPr sz="2400" b="1">
                <a:solidFill>
                  <a:srgbClr val="009D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209800"/>
            <a:ext cx="4041775" cy="4038600"/>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10"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11" name="TextBox 10"/>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2"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pic>
        <p:nvPicPr>
          <p:cNvPr id="6"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7" name="TextBox 6"/>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dirty="0" smtClean="0"/>
              <a:t>Click to edit Master title style</a:t>
            </a:r>
            <a:endParaRPr lang="en-US" dirty="0"/>
          </a:p>
        </p:txBody>
      </p:sp>
      <p:sp>
        <p:nvSpPr>
          <p:cNvPr id="7" name="TextBox 6"/>
          <p:cNvSpPr txBox="1"/>
          <p:nvPr userDrawn="1"/>
        </p:nvSpPr>
        <p:spPr>
          <a:xfrm>
            <a:off x="1752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4"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5" name="TextBox 4"/>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6"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7" name="TextBox 6"/>
          <p:cNvSpPr txBox="1"/>
          <p:nvPr userDrawn="1"/>
        </p:nvSpPr>
        <p:spPr>
          <a:xfrm>
            <a:off x="1752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5613" y="839788"/>
            <a:ext cx="4881562" cy="914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905000"/>
            <a:ext cx="8229600" cy="4221163"/>
          </a:xfrm>
        </p:spPr>
        <p:txBody>
          <a:bodyPr/>
          <a:lstStyle/>
          <a:p>
            <a:pPr lvl="0"/>
            <a:endParaRPr lang="en-US" noProof="0" dirty="0" smtClean="0"/>
          </a:p>
        </p:txBody>
      </p:sp>
      <p:sp>
        <p:nvSpPr>
          <p:cNvPr id="4" name="Rectangle 6"/>
          <p:cNvSpPr>
            <a:spLocks noGrp="1" noChangeArrowheads="1"/>
          </p:cNvSpPr>
          <p:nvPr>
            <p:ph type="sldNum" sz="quarter" idx="10"/>
          </p:nvPr>
        </p:nvSpPr>
        <p:spPr>
          <a:ln/>
        </p:spPr>
        <p:txBody>
          <a:bodyPr/>
          <a:lstStyle>
            <a:lvl1pPr>
              <a:defRPr/>
            </a:lvl1pPr>
          </a:lstStyle>
          <a:p>
            <a:pPr>
              <a:defRPr/>
            </a:pPr>
            <a:fld id="{ABD54353-B78C-46C4-9FAE-F1BBBBC4AC8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457200" y="1295400"/>
            <a:ext cx="8229600" cy="483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6" name="Slide Number Placeholder 5"/>
          <p:cNvSpPr>
            <a:spLocks noGrp="1"/>
          </p:cNvSpPr>
          <p:nvPr>
            <p:ph type="sldNum" sz="quarter" idx="4"/>
          </p:nvPr>
        </p:nvSpPr>
        <p:spPr>
          <a:xfrm>
            <a:off x="8305800" y="6356350"/>
            <a:ext cx="381000" cy="365125"/>
          </a:xfrm>
          <a:prstGeom prst="rect">
            <a:avLst/>
          </a:prstGeom>
        </p:spPr>
        <p:txBody>
          <a:bodyPr vert="horz" lIns="91440" tIns="45720" rIns="91440" bIns="45720" rtlCol="0" anchor="ctr"/>
          <a:lstStyle>
            <a:lvl1pPr algn="r" fontAlgn="auto">
              <a:spcBef>
                <a:spcPts val="0"/>
              </a:spcBef>
              <a:spcAft>
                <a:spcPts val="0"/>
              </a:spcAft>
              <a:defRPr sz="1000" b="0">
                <a:solidFill>
                  <a:schemeClr val="bg1">
                    <a:lumMod val="50000"/>
                  </a:schemeClr>
                </a:solidFill>
                <a:latin typeface="Archer Semibold" pitchFamily="50" charset="0"/>
              </a:defRPr>
            </a:lvl1pPr>
          </a:lstStyle>
          <a:p>
            <a:pPr>
              <a:defRPr/>
            </a:pPr>
            <a:fld id="{D423F924-74D2-45C3-9581-52674854CC0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15" r:id="rId2"/>
    <p:sldLayoutId id="2147483718" r:id="rId3"/>
    <p:sldLayoutId id="2147483705" r:id="rId4"/>
    <p:sldLayoutId id="2147483706" r:id="rId5"/>
    <p:sldLayoutId id="2147483707" r:id="rId6"/>
    <p:sldLayoutId id="2147483708" r:id="rId7"/>
    <p:sldLayoutId id="2147483709" r:id="rId8"/>
    <p:sldLayoutId id="2147483716" r:id="rId9"/>
    <p:sldLayoutId id="2147483719" r:id="rId10"/>
    <p:sldLayoutId id="2147483710" r:id="rId11"/>
    <p:sldLayoutId id="2147483717" r:id="rId12"/>
    <p:sldLayoutId id="2147483714" r:id="rId13"/>
    <p:sldLayoutId id="2147483720" r:id="rId14"/>
  </p:sldLayoutIdLst>
  <p:hf hdr="0" ftr="0" dt="0"/>
  <p:txStyles>
    <p:titleStyle>
      <a:lvl1pPr algn="l" rtl="0" eaLnBrk="0" fontAlgn="base" hangingPunct="0">
        <a:spcBef>
          <a:spcPct val="0"/>
        </a:spcBef>
        <a:spcAft>
          <a:spcPct val="0"/>
        </a:spcAft>
        <a:defRPr sz="3600" kern="1200">
          <a:solidFill>
            <a:srgbClr val="009D57"/>
          </a:solidFill>
          <a:latin typeface="+mj-lt"/>
          <a:ea typeface="+mj-ea"/>
          <a:cs typeface="+mj-cs"/>
        </a:defRPr>
      </a:lvl1pPr>
      <a:lvl2pPr algn="l" rtl="0" eaLnBrk="0" fontAlgn="base" hangingPunct="0">
        <a:spcBef>
          <a:spcPct val="0"/>
        </a:spcBef>
        <a:spcAft>
          <a:spcPct val="0"/>
        </a:spcAft>
        <a:defRPr sz="3600">
          <a:solidFill>
            <a:srgbClr val="009D57"/>
          </a:solidFill>
          <a:latin typeface="Archer Semibold" pitchFamily="50" charset="0"/>
        </a:defRPr>
      </a:lvl2pPr>
      <a:lvl3pPr algn="l" rtl="0" eaLnBrk="0" fontAlgn="base" hangingPunct="0">
        <a:spcBef>
          <a:spcPct val="0"/>
        </a:spcBef>
        <a:spcAft>
          <a:spcPct val="0"/>
        </a:spcAft>
        <a:defRPr sz="3600">
          <a:solidFill>
            <a:srgbClr val="009D57"/>
          </a:solidFill>
          <a:latin typeface="Archer Semibold" pitchFamily="50" charset="0"/>
        </a:defRPr>
      </a:lvl3pPr>
      <a:lvl4pPr algn="l" rtl="0" eaLnBrk="0" fontAlgn="base" hangingPunct="0">
        <a:spcBef>
          <a:spcPct val="0"/>
        </a:spcBef>
        <a:spcAft>
          <a:spcPct val="0"/>
        </a:spcAft>
        <a:defRPr sz="3600">
          <a:solidFill>
            <a:srgbClr val="009D57"/>
          </a:solidFill>
          <a:latin typeface="Archer Semibold" pitchFamily="50" charset="0"/>
        </a:defRPr>
      </a:lvl4pPr>
      <a:lvl5pPr algn="l" rtl="0" eaLnBrk="0" fontAlgn="base" hangingPunct="0">
        <a:spcBef>
          <a:spcPct val="0"/>
        </a:spcBef>
        <a:spcAft>
          <a:spcPct val="0"/>
        </a:spcAft>
        <a:defRPr sz="3600">
          <a:solidFill>
            <a:srgbClr val="009D57"/>
          </a:solidFill>
          <a:latin typeface="Archer Semibold" pitchFamily="50" charset="0"/>
        </a:defRPr>
      </a:lvl5pPr>
      <a:lvl6pPr marL="457200" algn="l" rtl="0" fontAlgn="base">
        <a:spcBef>
          <a:spcPct val="0"/>
        </a:spcBef>
        <a:spcAft>
          <a:spcPct val="0"/>
        </a:spcAft>
        <a:defRPr sz="3600">
          <a:solidFill>
            <a:srgbClr val="009D57"/>
          </a:solidFill>
          <a:latin typeface="Archer Semibold" pitchFamily="50" charset="0"/>
        </a:defRPr>
      </a:lvl6pPr>
      <a:lvl7pPr marL="914400" algn="l" rtl="0" fontAlgn="base">
        <a:spcBef>
          <a:spcPct val="0"/>
        </a:spcBef>
        <a:spcAft>
          <a:spcPct val="0"/>
        </a:spcAft>
        <a:defRPr sz="3600">
          <a:solidFill>
            <a:srgbClr val="009D57"/>
          </a:solidFill>
          <a:latin typeface="Archer Semibold" pitchFamily="50" charset="0"/>
        </a:defRPr>
      </a:lvl7pPr>
      <a:lvl8pPr marL="1371600" algn="l" rtl="0" fontAlgn="base">
        <a:spcBef>
          <a:spcPct val="0"/>
        </a:spcBef>
        <a:spcAft>
          <a:spcPct val="0"/>
        </a:spcAft>
        <a:defRPr sz="3600">
          <a:solidFill>
            <a:srgbClr val="009D57"/>
          </a:solidFill>
          <a:latin typeface="Archer Semibold" pitchFamily="50" charset="0"/>
        </a:defRPr>
      </a:lvl8pPr>
      <a:lvl9pPr marL="1828800" algn="l" rtl="0" fontAlgn="base">
        <a:spcBef>
          <a:spcPct val="0"/>
        </a:spcBef>
        <a:spcAft>
          <a:spcPct val="0"/>
        </a:spcAft>
        <a:defRPr sz="3600">
          <a:solidFill>
            <a:srgbClr val="009D57"/>
          </a:solidFill>
          <a:latin typeface="Archer Semibold" pitchFamily="50" charset="0"/>
        </a:defRPr>
      </a:lvl9pPr>
    </p:titleStyle>
    <p:bodyStyle>
      <a:lvl1pPr marL="342900" indent="-342900" algn="l" rtl="0" eaLnBrk="0" fontAlgn="base" hangingPunct="0">
        <a:spcBef>
          <a:spcPct val="20000"/>
        </a:spcBef>
        <a:spcAft>
          <a:spcPct val="0"/>
        </a:spcAft>
        <a:buFont typeface="Arial" charset="0"/>
        <a:buChar char="•"/>
        <a:defRPr sz="2800" kern="1200">
          <a:solidFill>
            <a:srgbClr val="262626"/>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rgbClr val="262626"/>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rgbClr val="262626"/>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rgbClr val="262626"/>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rgbClr val="26262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mtClean="0"/>
              <a:t>Resolving Conflict Impact Map</a:t>
            </a:r>
            <a:endParaRPr lang="en-US" dirty="0" smtClean="0"/>
          </a:p>
        </p:txBody>
      </p:sp>
      <p:graphicFrame>
        <p:nvGraphicFramePr>
          <p:cNvPr id="12" name="Content Placeholder 11"/>
          <p:cNvGraphicFramePr>
            <a:graphicFrameLocks noGrp="1"/>
          </p:cNvGraphicFramePr>
          <p:nvPr>
            <p:ph idx="1"/>
          </p:nvPr>
        </p:nvGraphicFramePr>
        <p:xfrm>
          <a:off x="457200" y="1357086"/>
          <a:ext cx="8229600" cy="5013960"/>
        </p:xfrm>
        <a:graphic>
          <a:graphicData uri="http://schemas.openxmlformats.org/drawingml/2006/table">
            <a:tbl>
              <a:tblPr firstRow="1" bandRow="1">
                <a:tableStyleId>{5C22544A-7EE6-4342-B048-85BDC9FD1C3A}</a:tableStyleId>
              </a:tblPr>
              <a:tblGrid>
                <a:gridCol w="2438400"/>
                <a:gridCol w="3505200"/>
                <a:gridCol w="2286000"/>
              </a:tblGrid>
              <a:tr h="914400">
                <a:tc>
                  <a:txBody>
                    <a:bodyPr/>
                    <a:lstStyle/>
                    <a:p>
                      <a:pPr marL="0" marR="0" indent="0" algn="ctr" rtl="0" eaLnBrk="1" fontAlgn="base" latinLnBrk="0" hangingPunct="1">
                        <a:spcBef>
                          <a:spcPts val="336"/>
                        </a:spcBef>
                        <a:spcAft>
                          <a:spcPts val="0"/>
                        </a:spcAft>
                      </a:pPr>
                      <a:r>
                        <a:rPr lang="en-US" sz="1600" b="1" i="0" u="none" strike="noStrike" kern="1200" baseline="0" dirty="0">
                          <a:solidFill>
                            <a:schemeClr val="bg1"/>
                          </a:solidFill>
                          <a:latin typeface="+mj-lt"/>
                          <a:ea typeface="ＭＳ Ｐゴシック"/>
                        </a:rPr>
                        <a:t>KNOW</a:t>
                      </a:r>
                      <a:endParaRPr lang="en-US" sz="1600" b="0" i="0" u="none" strike="noStrike" dirty="0">
                        <a:solidFill>
                          <a:schemeClr val="bg1"/>
                        </a:solidFill>
                        <a:latin typeface="+mj-lt"/>
                      </a:endParaRPr>
                    </a:p>
                    <a:p>
                      <a:pPr marL="0" marR="0" indent="0" algn="ctr" rtl="0" eaLnBrk="1" fontAlgn="base" latinLnBrk="0" hangingPunct="1">
                        <a:spcBef>
                          <a:spcPts val="336"/>
                        </a:spcBef>
                        <a:spcAft>
                          <a:spcPts val="0"/>
                        </a:spcAft>
                      </a:pPr>
                      <a:r>
                        <a:rPr lang="en-US" sz="1600" b="0" i="0" u="none" strike="noStrike" kern="1200" baseline="0" dirty="0">
                          <a:solidFill>
                            <a:schemeClr val="bg1"/>
                          </a:solidFill>
                          <a:latin typeface="+mj-lt"/>
                          <a:ea typeface="ＭＳ Ｐゴシック"/>
                        </a:rPr>
                        <a:t>Key Skills and </a:t>
                      </a:r>
                      <a:r>
                        <a:rPr lang="en-US" sz="1600" b="0" i="0" u="none" strike="noStrike" kern="1200" baseline="0" dirty="0" smtClean="0">
                          <a:solidFill>
                            <a:schemeClr val="bg1"/>
                          </a:solidFill>
                          <a:latin typeface="+mj-lt"/>
                          <a:ea typeface="ＭＳ Ｐゴシック"/>
                        </a:rPr>
                        <a:t>Knowledge</a:t>
                      </a:r>
                    </a:p>
                    <a:p>
                      <a:pPr marL="0" marR="0" indent="0" algn="ctr" defTabSz="914400" rtl="0" eaLnBrk="1" fontAlgn="base" latinLnBrk="0" hangingPunct="1">
                        <a:lnSpc>
                          <a:spcPct val="100000"/>
                        </a:lnSpc>
                        <a:spcBef>
                          <a:spcPts val="336"/>
                        </a:spcBef>
                        <a:spcAft>
                          <a:spcPts val="0"/>
                        </a:spcAft>
                        <a:buClrTx/>
                        <a:buSzTx/>
                        <a:buFontTx/>
                        <a:buNone/>
                        <a:tabLst/>
                        <a:defRPr/>
                      </a:pPr>
                      <a:r>
                        <a:rPr lang="en-US" sz="1200" dirty="0" smtClean="0">
                          <a:solidFill>
                            <a:schemeClr val="bg1"/>
                          </a:solidFill>
                          <a:latin typeface="+mj-lt"/>
                        </a:rPr>
                        <a:t>(What will I learn?)</a:t>
                      </a:r>
                    </a:p>
                  </a:txBody>
                  <a:tcPr/>
                </a:tc>
                <a:tc>
                  <a:txBody>
                    <a:bodyPr/>
                    <a:lstStyle/>
                    <a:p>
                      <a:pPr marL="0" marR="0" indent="0" algn="ctr" rtl="0" eaLnBrk="1" fontAlgn="base" latinLnBrk="0" hangingPunct="1">
                        <a:spcBef>
                          <a:spcPts val="336"/>
                        </a:spcBef>
                        <a:spcAft>
                          <a:spcPts val="0"/>
                        </a:spcAft>
                      </a:pPr>
                      <a:r>
                        <a:rPr lang="en-US" sz="1600" b="1" i="0" u="none" strike="noStrike" kern="1200" baseline="0" dirty="0">
                          <a:solidFill>
                            <a:schemeClr val="bg1"/>
                          </a:solidFill>
                          <a:latin typeface="+mj-lt"/>
                          <a:ea typeface="ＭＳ Ｐゴシック"/>
                        </a:rPr>
                        <a:t>DO</a:t>
                      </a:r>
                      <a:endParaRPr lang="en-US" sz="1600" b="0" i="0" u="none" strike="noStrike" dirty="0">
                        <a:solidFill>
                          <a:schemeClr val="bg1"/>
                        </a:solidFill>
                        <a:latin typeface="+mj-lt"/>
                      </a:endParaRPr>
                    </a:p>
                    <a:p>
                      <a:pPr marL="0" marR="0" indent="0" algn="ctr" rtl="0" eaLnBrk="1" fontAlgn="base" latinLnBrk="0" hangingPunct="1">
                        <a:spcBef>
                          <a:spcPts val="336"/>
                        </a:spcBef>
                        <a:spcAft>
                          <a:spcPts val="0"/>
                        </a:spcAft>
                      </a:pPr>
                      <a:r>
                        <a:rPr lang="en-US" sz="1600" b="0" i="0" u="none" strike="noStrike" kern="1200" baseline="0" dirty="0">
                          <a:solidFill>
                            <a:schemeClr val="bg1"/>
                          </a:solidFill>
                          <a:latin typeface="+mj-lt"/>
                          <a:ea typeface="ＭＳ Ｐゴシック"/>
                        </a:rPr>
                        <a:t>On the Job </a:t>
                      </a:r>
                      <a:r>
                        <a:rPr lang="en-US" sz="1600" b="0" i="0" u="none" strike="noStrike" kern="1200" baseline="0" dirty="0" smtClean="0">
                          <a:solidFill>
                            <a:schemeClr val="bg1"/>
                          </a:solidFill>
                          <a:latin typeface="+mj-lt"/>
                          <a:ea typeface="ＭＳ Ｐゴシック"/>
                        </a:rPr>
                        <a:t>Behaviors</a:t>
                      </a:r>
                    </a:p>
                    <a:p>
                      <a:pPr marL="0" marR="0" indent="0" algn="ctr" rtl="0" eaLnBrk="1" fontAlgn="base" latinLnBrk="0" hangingPunct="1">
                        <a:spcBef>
                          <a:spcPts val="336"/>
                        </a:spcBef>
                        <a:spcAft>
                          <a:spcPts val="0"/>
                        </a:spcAft>
                      </a:pPr>
                      <a:r>
                        <a:rPr lang="en-US" sz="1200" dirty="0" smtClean="0">
                          <a:solidFill>
                            <a:schemeClr val="bg1"/>
                          </a:solidFill>
                          <a:latin typeface="+mj-lt"/>
                        </a:rPr>
                        <a:t>(What will I apply/do differently?)</a:t>
                      </a:r>
                      <a:endParaRPr lang="en-US" sz="1200" b="0" i="0" u="none" strike="noStrike" dirty="0">
                        <a:solidFill>
                          <a:schemeClr val="bg1"/>
                        </a:solidFill>
                        <a:latin typeface="+mj-lt"/>
                      </a:endParaRPr>
                    </a:p>
                  </a:txBody>
                  <a:tcPr/>
                </a:tc>
                <a:tc>
                  <a:txBody>
                    <a:bodyPr/>
                    <a:lstStyle/>
                    <a:p>
                      <a:pPr marL="0" marR="0" indent="0" algn="ctr" rtl="0" eaLnBrk="1" fontAlgn="base" latinLnBrk="0" hangingPunct="1">
                        <a:spcBef>
                          <a:spcPts val="336"/>
                        </a:spcBef>
                        <a:spcAft>
                          <a:spcPts val="0"/>
                        </a:spcAft>
                      </a:pPr>
                      <a:r>
                        <a:rPr lang="en-US" sz="1600" b="1" i="0" u="none" strike="noStrike" kern="1200" baseline="0" dirty="0">
                          <a:solidFill>
                            <a:schemeClr val="bg1"/>
                          </a:solidFill>
                          <a:latin typeface="+mj-lt"/>
                          <a:ea typeface="ＭＳ Ｐゴシック"/>
                        </a:rPr>
                        <a:t>IMPACT</a:t>
                      </a:r>
                      <a:endParaRPr lang="en-US" sz="1600" b="0" i="0" u="none" strike="noStrike" dirty="0">
                        <a:solidFill>
                          <a:schemeClr val="bg1"/>
                        </a:solidFill>
                        <a:latin typeface="+mj-lt"/>
                      </a:endParaRPr>
                    </a:p>
                    <a:p>
                      <a:pPr marL="0" marR="0" indent="0" algn="ctr" rtl="0" eaLnBrk="1" fontAlgn="base" latinLnBrk="0" hangingPunct="1">
                        <a:spcBef>
                          <a:spcPts val="336"/>
                        </a:spcBef>
                        <a:spcAft>
                          <a:spcPts val="0"/>
                        </a:spcAft>
                      </a:pPr>
                      <a:r>
                        <a:rPr lang="en-US" sz="1600" b="0" i="0" u="none" strike="noStrike" kern="1200" baseline="0" dirty="0">
                          <a:solidFill>
                            <a:schemeClr val="bg1"/>
                          </a:solidFill>
                          <a:latin typeface="+mj-lt"/>
                          <a:ea typeface="ＭＳ Ｐゴシック"/>
                        </a:rPr>
                        <a:t>Service Line/Service/Dept</a:t>
                      </a:r>
                      <a:r>
                        <a:rPr lang="en-US" sz="1600" b="0" i="0" u="none" strike="noStrike" kern="1200" baseline="0" dirty="0" smtClean="0">
                          <a:solidFill>
                            <a:schemeClr val="bg1"/>
                          </a:solidFill>
                          <a:latin typeface="+mj-lt"/>
                          <a:ea typeface="ＭＳ Ｐゴシック"/>
                        </a:rPr>
                        <a:t>.</a:t>
                      </a:r>
                    </a:p>
                    <a:p>
                      <a:pPr marL="0" marR="0" indent="0" algn="ctr" defTabSz="914400" rtl="0" eaLnBrk="1" fontAlgn="base" latinLnBrk="0" hangingPunct="1">
                        <a:lnSpc>
                          <a:spcPct val="100000"/>
                        </a:lnSpc>
                        <a:spcBef>
                          <a:spcPts val="336"/>
                        </a:spcBef>
                        <a:spcAft>
                          <a:spcPts val="0"/>
                        </a:spcAft>
                        <a:buClrTx/>
                        <a:buSzTx/>
                        <a:buFontTx/>
                        <a:buNone/>
                        <a:tabLst/>
                        <a:defRPr/>
                      </a:pPr>
                      <a:r>
                        <a:rPr lang="en-US" sz="1200" dirty="0" smtClean="0">
                          <a:solidFill>
                            <a:schemeClr val="bg1"/>
                          </a:solidFill>
                          <a:latin typeface="+mj-lt"/>
                        </a:rPr>
                        <a:t>(What results will I see?)</a:t>
                      </a:r>
                    </a:p>
                  </a:txBody>
                  <a:tcPr/>
                </a:tc>
              </a:tr>
              <a:tr h="370840">
                <a:tc>
                  <a:txBody>
                    <a:bodyPr/>
                    <a:lstStyle/>
                    <a:p>
                      <a:pPr marL="168275" indent="-107950" hangingPunct="0">
                        <a:buFont typeface="Arial" pitchFamily="34" charset="0"/>
                        <a:buChar char="•"/>
                      </a:pPr>
                      <a:r>
                        <a:rPr lang="en-US" sz="1200" kern="1200" dirty="0" smtClean="0">
                          <a:solidFill>
                            <a:schemeClr val="tx1"/>
                          </a:solidFill>
                          <a:latin typeface="Tw Cen MT" pitchFamily="34" charset="0"/>
                          <a:ea typeface="+mn-ea"/>
                          <a:cs typeface="+mn-cs"/>
                        </a:rPr>
                        <a:t>Recognize signs that conflict is escalating</a:t>
                      </a:r>
                      <a:r>
                        <a:rPr lang="en-US" sz="1200" kern="1200" baseline="0" dirty="0" smtClean="0">
                          <a:solidFill>
                            <a:schemeClr val="tx1"/>
                          </a:solidFill>
                          <a:latin typeface="Tw Cen MT" pitchFamily="34" charset="0"/>
                          <a:ea typeface="+mn-ea"/>
                          <a:cs typeface="+mn-cs"/>
                        </a:rPr>
                        <a:t> and what stage it is in</a:t>
                      </a:r>
                    </a:p>
                    <a:p>
                      <a:pPr marL="168275" indent="-107950" hangingPunct="0">
                        <a:buFont typeface="Arial" pitchFamily="34" charset="0"/>
                        <a:buChar char="•"/>
                      </a:pPr>
                      <a:endParaRPr lang="en-US" sz="1200" kern="1200" baseline="0" dirty="0" smtClean="0">
                        <a:solidFill>
                          <a:schemeClr val="tx1"/>
                        </a:solidFill>
                        <a:latin typeface="Tw Cen MT" pitchFamily="34" charset="0"/>
                        <a:ea typeface="+mn-ea"/>
                        <a:cs typeface="+mn-cs"/>
                      </a:endParaRPr>
                    </a:p>
                    <a:p>
                      <a:pPr marL="168275" indent="-107950" hangingPunct="0">
                        <a:buFont typeface="Arial" pitchFamily="34" charset="0"/>
                        <a:buChar char="•"/>
                      </a:pPr>
                      <a:r>
                        <a:rPr lang="en-US" sz="1200" kern="1200" baseline="0" dirty="0" smtClean="0">
                          <a:solidFill>
                            <a:schemeClr val="tx1"/>
                          </a:solidFill>
                          <a:latin typeface="Tw Cen MT" pitchFamily="34" charset="0"/>
                          <a:ea typeface="+mn-ea"/>
                          <a:cs typeface="+mn-cs"/>
                        </a:rPr>
                        <a:t>Use four resolution tactics to address conflict</a:t>
                      </a:r>
                    </a:p>
                    <a:p>
                      <a:pPr marL="168275" indent="-107950" hangingPunct="0">
                        <a:buFont typeface="Arial" pitchFamily="34" charset="0"/>
                        <a:buChar char="•"/>
                      </a:pPr>
                      <a:endParaRPr lang="en-US" sz="1200" kern="1200" baseline="0" dirty="0" smtClean="0">
                        <a:solidFill>
                          <a:schemeClr val="tx1"/>
                        </a:solidFill>
                        <a:latin typeface="Tw Cen MT" pitchFamily="34" charset="0"/>
                        <a:ea typeface="+mn-ea"/>
                        <a:cs typeface="+mn-cs"/>
                      </a:endParaRPr>
                    </a:p>
                    <a:p>
                      <a:pPr marL="168275" indent="-107950" hangingPunct="0">
                        <a:buFont typeface="Arial" pitchFamily="34" charset="0"/>
                        <a:buChar char="•"/>
                      </a:pPr>
                      <a:r>
                        <a:rPr lang="en-US" sz="1200" kern="1200" baseline="0" dirty="0" smtClean="0">
                          <a:solidFill>
                            <a:schemeClr val="tx1"/>
                          </a:solidFill>
                          <a:latin typeface="Tw Cen MT" pitchFamily="34" charset="0"/>
                          <a:ea typeface="+mn-ea"/>
                          <a:cs typeface="+mn-cs"/>
                        </a:rPr>
                        <a:t>Use the interaction process to conduct effective conflict resolution discussions</a:t>
                      </a:r>
                    </a:p>
                  </a:txBody>
                  <a:tcPr horzOverflow="overflow"/>
                </a:tc>
                <a:tc>
                  <a:txBody>
                    <a:bodyPr/>
                    <a:lstStyle/>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Tw Cen MT" pitchFamily="34" charset="0"/>
                        </a:rPr>
                        <a:t>Complete Assessing</a:t>
                      </a:r>
                      <a:r>
                        <a:rPr lang="en-US" sz="1200" baseline="0" dirty="0" smtClean="0">
                          <a:latin typeface="Tw Cen MT" pitchFamily="34" charset="0"/>
                        </a:rPr>
                        <a:t> Conflict Worksheet when conflict first appears to determine the correct resolution tactic</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latin typeface="Tw Cen MT" pitchFamily="34" charset="0"/>
                        </a:rPr>
                        <a:t>Avoid my tendency to mediate between Julie and Janice until I have first coached each person involved in the conflict</a:t>
                      </a:r>
                      <a:r>
                        <a:rPr lang="en-US" sz="1200" dirty="0" smtClean="0">
                          <a:latin typeface="Tw Cen MT" pitchFamily="34" charset="0"/>
                        </a:rPr>
                        <a:t> </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Tw Cen MT" pitchFamily="34" charset="0"/>
                          <a:ea typeface="+mn-ea"/>
                          <a:cs typeface="+mn-cs"/>
                        </a:rPr>
                        <a:t>Reinforce Joe’s </a:t>
                      </a:r>
                      <a:r>
                        <a:rPr lang="en-US" sz="1200" kern="1200" baseline="0" dirty="0" smtClean="0">
                          <a:solidFill>
                            <a:schemeClr val="tx1"/>
                          </a:solidFill>
                          <a:latin typeface="Tw Cen MT" pitchFamily="34" charset="0"/>
                          <a:ea typeface="+mn-ea"/>
                          <a:cs typeface="+mn-cs"/>
                        </a:rPr>
                        <a:t>responsibility for resolving conflict instead of taking it on myself</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Tw Cen MT" pitchFamily="34" charset="0"/>
                          <a:ea typeface="+mn-ea"/>
                          <a:cs typeface="+mn-cs"/>
                        </a:rPr>
                        <a:t>Make sure all view points are heard and empathize to defuse strong emotions </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Tw Cen MT" pitchFamily="34" charset="0"/>
                          <a:ea typeface="+mn-ea"/>
                          <a:cs typeface="+mn-cs"/>
                        </a:rPr>
                        <a:t>Use the Discussion Planner job aid to prepare for the discussion and use the interaction guidelines during the conflict conversation</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Tw Cen MT" pitchFamily="34" charset="0"/>
                          <a:ea typeface="+mn-ea"/>
                          <a:cs typeface="+mn-cs"/>
                        </a:rPr>
                        <a:t>Maintain self-esteem by focusing on the facts and expressing appreciation for efforts taken so far</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Tw Cen MT" pitchFamily="34" charset="0"/>
                          <a:ea typeface="+mn-ea"/>
                          <a:cs typeface="+mn-cs"/>
                        </a:rPr>
                        <a:t>Clarify people’s concerns and ideas before sharing my own and before developing ideas.  My job is to facilitate the process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Tw Cen MT" pitchFamily="34" charset="0"/>
                          <a:ea typeface="+mn-ea"/>
                          <a:cs typeface="+mn-cs"/>
                        </a:rPr>
                        <a:t>Clarify the impact of the conflict for both parties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Tw Cen MT" pitchFamily="34" charset="0"/>
                          <a:ea typeface="+mn-ea"/>
                          <a:cs typeface="+mn-cs"/>
                        </a:rPr>
                        <a:t>Don’t leave the conversation until clear agreement is established on next steps</a:t>
                      </a:r>
                    </a:p>
                  </a:txBody>
                  <a:tcPr horzOverflow="overflow"/>
                </a:tc>
                <a:tc>
                  <a:txBody>
                    <a:bodyPr/>
                    <a:lstStyle/>
                    <a:p>
                      <a:pPr marL="114300" indent="-114300" algn="l">
                        <a:spcBef>
                          <a:spcPct val="50000"/>
                        </a:spcBef>
                        <a:buSzPct val="80000"/>
                        <a:buFont typeface="Arial" pitchFamily="34" charset="0"/>
                        <a:buChar char="•"/>
                      </a:pPr>
                      <a:r>
                        <a:rPr kumimoji="0" lang="en-US" sz="1200" b="0" i="0" u="none" strike="noStrike" cap="none" normalizeH="0" baseline="0" dirty="0" smtClean="0">
                          <a:ln>
                            <a:noFill/>
                          </a:ln>
                          <a:solidFill>
                            <a:schemeClr val="tx1"/>
                          </a:solidFill>
                          <a:effectLst/>
                          <a:latin typeface="Tw Cen MT" pitchFamily="34" charset="0"/>
                          <a:ea typeface="ＭＳ Ｐゴシック" charset="-128"/>
                        </a:rPr>
                        <a:t>Increase performance measures because inhibitors are removed and conflicts are resolved</a:t>
                      </a:r>
                    </a:p>
                    <a:p>
                      <a:pPr marL="114300" indent="-114300" algn="l">
                        <a:spcBef>
                          <a:spcPct val="50000"/>
                        </a:spcBef>
                        <a:buSzPct val="80000"/>
                        <a:buFont typeface="Arial" pitchFamily="34" charset="0"/>
                        <a:buChar char="•"/>
                      </a:pPr>
                      <a:r>
                        <a:rPr kumimoji="0" lang="en-US" sz="1200" b="0" i="0" u="none" strike="noStrike" cap="none" normalizeH="0" baseline="0" dirty="0" smtClean="0">
                          <a:ln>
                            <a:noFill/>
                          </a:ln>
                          <a:solidFill>
                            <a:schemeClr val="tx1"/>
                          </a:solidFill>
                          <a:effectLst/>
                          <a:latin typeface="Tw Cen MT" pitchFamily="34" charset="0"/>
                          <a:ea typeface="ＭＳ Ｐゴシック" charset="-128"/>
                        </a:rPr>
                        <a:t>Decrease errors because staff are talking with each other about concerns</a:t>
                      </a:r>
                    </a:p>
                    <a:p>
                      <a:pPr marL="114300" indent="-114300" algn="l">
                        <a:spcBef>
                          <a:spcPct val="50000"/>
                        </a:spcBef>
                        <a:buSzPct val="80000"/>
                        <a:buFont typeface="Arial" pitchFamily="34" charset="0"/>
                        <a:buChar char="•"/>
                      </a:pPr>
                      <a:r>
                        <a:rPr kumimoji="0" lang="en-US" sz="1200" b="0" i="0" u="none" strike="noStrike" cap="none" normalizeH="0" baseline="0" dirty="0" smtClean="0">
                          <a:ln>
                            <a:noFill/>
                          </a:ln>
                          <a:solidFill>
                            <a:schemeClr val="tx1"/>
                          </a:solidFill>
                          <a:effectLst/>
                          <a:latin typeface="Tw Cen MT" pitchFamily="34" charset="0"/>
                          <a:ea typeface="ＭＳ Ｐゴシック" charset="-128"/>
                        </a:rPr>
                        <a:t>Drop in number of complaints staff share with me about team mates</a:t>
                      </a:r>
                    </a:p>
                    <a:p>
                      <a:pPr marL="114300" indent="-114300" algn="l">
                        <a:spcBef>
                          <a:spcPct val="50000"/>
                        </a:spcBef>
                        <a:buSzPct val="80000"/>
                        <a:buFont typeface="Arial" pitchFamily="34" charset="0"/>
                        <a:buChar char="•"/>
                      </a:pPr>
                      <a:r>
                        <a:rPr kumimoji="0" lang="en-US" sz="1200" b="0" i="0" u="none" strike="noStrike" cap="none" normalizeH="0" baseline="0" dirty="0" smtClean="0">
                          <a:ln>
                            <a:noFill/>
                          </a:ln>
                          <a:solidFill>
                            <a:schemeClr val="tx1"/>
                          </a:solidFill>
                          <a:effectLst/>
                          <a:latin typeface="Tw Cen MT" pitchFamily="34" charset="0"/>
                          <a:ea typeface="ＭＳ Ｐゴシック" charset="-128"/>
                        </a:rPr>
                        <a:t>Increase in meeting attendance and problems solved during meetings</a:t>
                      </a:r>
                    </a:p>
                    <a:p>
                      <a:pPr marL="114300" indent="-114300" algn="l">
                        <a:spcBef>
                          <a:spcPct val="50000"/>
                        </a:spcBef>
                        <a:buSzPct val="80000"/>
                        <a:buFont typeface="Arial" pitchFamily="34" charset="0"/>
                        <a:buChar char="•"/>
                      </a:pPr>
                      <a:endParaRPr kumimoji="0" lang="en-US" sz="1200" b="0" i="0" u="none" strike="noStrike" cap="none" normalizeH="0" baseline="0" dirty="0" smtClean="0">
                        <a:ln>
                          <a:noFill/>
                        </a:ln>
                        <a:solidFill>
                          <a:schemeClr val="tx1"/>
                        </a:solidFill>
                        <a:effectLst/>
                        <a:latin typeface="Tw Cen MT" pitchFamily="34" charset="0"/>
                        <a:ea typeface="ＭＳ Ｐゴシック" charset="-128"/>
                      </a:endParaRPr>
                    </a:p>
                    <a:p>
                      <a:pPr marL="114300" indent="-114300" algn="l">
                        <a:spcBef>
                          <a:spcPct val="50000"/>
                        </a:spcBef>
                        <a:buSzPct val="80000"/>
                        <a:buFont typeface="Arial" pitchFamily="34" charset="0"/>
                        <a:buChar char="•"/>
                      </a:pPr>
                      <a:endParaRPr kumimoji="0" lang="en-US" sz="1200" b="0" i="0" u="none" strike="noStrike" cap="none" normalizeH="0" baseline="0" dirty="0" smtClean="0">
                        <a:ln>
                          <a:noFill/>
                        </a:ln>
                        <a:solidFill>
                          <a:schemeClr val="tx1"/>
                        </a:solidFill>
                        <a:effectLst/>
                        <a:latin typeface="Tw Cen MT" pitchFamily="34" charset="0"/>
                        <a:ea typeface="ＭＳ Ｐゴシック" charset="-128"/>
                      </a:endParaRPr>
                    </a:p>
                    <a:p>
                      <a:pPr marL="114300" indent="-114300" algn="l">
                        <a:buSzPct val="80000"/>
                        <a:buFont typeface="Wingdings" pitchFamily="2" charset="2"/>
                        <a:buNone/>
                      </a:pPr>
                      <a:endParaRPr lang="en-US" sz="1200" b="0" dirty="0" smtClean="0">
                        <a:latin typeface="Tw Cen MT" pitchFamily="34" charset="0"/>
                      </a:endParaRPr>
                    </a:p>
                    <a:p>
                      <a:pPr marL="114300" indent="-114300" algn="l">
                        <a:buSzPct val="80000"/>
                        <a:buFont typeface="Wingdings" pitchFamily="2" charset="2"/>
                        <a:buNone/>
                      </a:pPr>
                      <a:endParaRPr lang="en-US" sz="1200" b="0" dirty="0" smtClean="0">
                        <a:latin typeface="Tw Cen MT" pitchFamily="34" charset="0"/>
                      </a:endParaRPr>
                    </a:p>
                  </a:txBody>
                  <a:tcPr horzOverflow="overflow"/>
                </a:tc>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dirty="0" smtClean="0"/>
              <a:t>Resolving Conflict Impact Map</a:t>
            </a:r>
          </a:p>
        </p:txBody>
      </p:sp>
      <p:sp>
        <p:nvSpPr>
          <p:cNvPr id="3089" name="Text Box 33"/>
          <p:cNvSpPr txBox="1">
            <a:spLocks noChangeArrowheads="1"/>
          </p:cNvSpPr>
          <p:nvPr/>
        </p:nvSpPr>
        <p:spPr bwMode="auto">
          <a:xfrm>
            <a:off x="647700" y="2057400"/>
            <a:ext cx="2819400" cy="274638"/>
          </a:xfrm>
          <a:prstGeom prst="rect">
            <a:avLst/>
          </a:prstGeom>
          <a:noFill/>
          <a:ln w="9525" algn="ctr">
            <a:noFill/>
            <a:miter lim="800000"/>
            <a:headEnd/>
            <a:tailEnd/>
          </a:ln>
          <a:effectLst>
            <a:prstShdw prst="shdw12">
              <a:schemeClr val="bg2">
                <a:alpha val="50000"/>
              </a:schemeClr>
            </a:prstShdw>
          </a:effectLst>
        </p:spPr>
        <p:txBody>
          <a:bodyPr>
            <a:spAutoFit/>
          </a:bodyPr>
          <a:lstStyle/>
          <a:p>
            <a:pPr algn="ctr">
              <a:spcBef>
                <a:spcPct val="50000"/>
              </a:spcBef>
            </a:pPr>
            <a:r>
              <a:rPr lang="en-US" sz="1200" dirty="0">
                <a:solidFill>
                  <a:schemeClr val="bg1">
                    <a:lumMod val="95000"/>
                  </a:schemeClr>
                </a:solidFill>
                <a:latin typeface="+mj-lt"/>
              </a:rPr>
              <a:t>(What will I learn?)</a:t>
            </a:r>
          </a:p>
        </p:txBody>
      </p:sp>
      <p:sp>
        <p:nvSpPr>
          <p:cNvPr id="3090" name="Text Box 34"/>
          <p:cNvSpPr txBox="1">
            <a:spLocks noChangeArrowheads="1"/>
          </p:cNvSpPr>
          <p:nvPr/>
        </p:nvSpPr>
        <p:spPr bwMode="auto">
          <a:xfrm>
            <a:off x="3238500" y="2057400"/>
            <a:ext cx="2819400" cy="274638"/>
          </a:xfrm>
          <a:prstGeom prst="rect">
            <a:avLst/>
          </a:prstGeom>
          <a:noFill/>
          <a:ln w="9525" algn="ctr">
            <a:noFill/>
            <a:miter lim="800000"/>
            <a:headEnd/>
            <a:tailEnd/>
          </a:ln>
          <a:effectLst>
            <a:prstShdw prst="shdw12">
              <a:schemeClr val="bg2">
                <a:alpha val="50000"/>
              </a:schemeClr>
            </a:prstShdw>
          </a:effectLst>
        </p:spPr>
        <p:txBody>
          <a:bodyPr>
            <a:spAutoFit/>
          </a:bodyPr>
          <a:lstStyle/>
          <a:p>
            <a:pPr algn="ctr">
              <a:spcBef>
                <a:spcPct val="50000"/>
              </a:spcBef>
            </a:pPr>
            <a:r>
              <a:rPr lang="en-US" sz="1200" dirty="0">
                <a:solidFill>
                  <a:schemeClr val="bg1">
                    <a:lumMod val="95000"/>
                  </a:schemeClr>
                </a:solidFill>
                <a:latin typeface="+mj-lt"/>
              </a:rPr>
              <a:t>(What will I apply/do differently?)</a:t>
            </a:r>
          </a:p>
        </p:txBody>
      </p:sp>
      <p:sp>
        <p:nvSpPr>
          <p:cNvPr id="3091" name="Text Box 35"/>
          <p:cNvSpPr txBox="1">
            <a:spLocks noChangeArrowheads="1"/>
          </p:cNvSpPr>
          <p:nvPr/>
        </p:nvSpPr>
        <p:spPr bwMode="auto">
          <a:xfrm>
            <a:off x="5981700" y="2057400"/>
            <a:ext cx="2819400" cy="274638"/>
          </a:xfrm>
          <a:prstGeom prst="rect">
            <a:avLst/>
          </a:prstGeom>
          <a:noFill/>
          <a:ln w="9525" algn="ctr">
            <a:noFill/>
            <a:miter lim="800000"/>
            <a:headEnd/>
            <a:tailEnd/>
          </a:ln>
          <a:effectLst>
            <a:prstShdw prst="shdw12">
              <a:schemeClr val="bg2">
                <a:alpha val="50000"/>
              </a:schemeClr>
            </a:prstShdw>
          </a:effectLst>
        </p:spPr>
        <p:txBody>
          <a:bodyPr>
            <a:spAutoFit/>
          </a:bodyPr>
          <a:lstStyle/>
          <a:p>
            <a:pPr algn="ctr">
              <a:spcBef>
                <a:spcPct val="50000"/>
              </a:spcBef>
            </a:pPr>
            <a:r>
              <a:rPr lang="en-US" sz="1200" dirty="0">
                <a:solidFill>
                  <a:schemeClr val="bg1">
                    <a:lumMod val="95000"/>
                  </a:schemeClr>
                </a:solidFill>
                <a:latin typeface="+mj-lt"/>
              </a:rPr>
              <a:t>(What results will I see?)</a:t>
            </a:r>
          </a:p>
        </p:txBody>
      </p:sp>
      <p:sp>
        <p:nvSpPr>
          <p:cNvPr id="14" name="Text Box 19"/>
          <p:cNvSpPr txBox="1">
            <a:spLocks noChangeArrowheads="1"/>
          </p:cNvSpPr>
          <p:nvPr/>
        </p:nvSpPr>
        <p:spPr bwMode="auto">
          <a:xfrm>
            <a:off x="3429000" y="2286000"/>
            <a:ext cx="2667000" cy="469900"/>
          </a:xfrm>
          <a:prstGeom prst="rect">
            <a:avLst/>
          </a:prstGeom>
          <a:noFill/>
          <a:ln w="9525">
            <a:noFill/>
            <a:miter lim="800000"/>
            <a:headEnd/>
            <a:tailEnd/>
          </a:ln>
          <a:effectLst/>
        </p:spPr>
        <p:txBody>
          <a:bodyPr>
            <a:spAutoFit/>
          </a:bodyPr>
          <a:lstStyle/>
          <a:p>
            <a:pPr marL="228600" indent="-228600">
              <a:defRPr/>
            </a:pPr>
            <a:endParaRPr lang="en-US" sz="800" dirty="0">
              <a:latin typeface="+mn-lt"/>
            </a:endParaRPr>
          </a:p>
          <a:p>
            <a:pPr marL="114300" indent="-114300">
              <a:spcBef>
                <a:spcPct val="50000"/>
              </a:spcBef>
              <a:buSzPct val="80000"/>
              <a:buFont typeface="Wingdings" pitchFamily="2" charset="2"/>
              <a:buChar char="§"/>
              <a:defRPr/>
            </a:pPr>
            <a:endParaRPr lang="en-US" sz="1100" dirty="0"/>
          </a:p>
        </p:txBody>
      </p:sp>
      <p:graphicFrame>
        <p:nvGraphicFramePr>
          <p:cNvPr id="9" name="Content Placeholder 11"/>
          <p:cNvGraphicFramePr>
            <a:graphicFrameLocks/>
          </p:cNvGraphicFramePr>
          <p:nvPr/>
        </p:nvGraphicFramePr>
        <p:xfrm>
          <a:off x="457200" y="1371600"/>
          <a:ext cx="8229600" cy="4937760"/>
        </p:xfrm>
        <a:graphic>
          <a:graphicData uri="http://schemas.openxmlformats.org/drawingml/2006/table">
            <a:tbl>
              <a:tblPr firstRow="1" bandRow="1">
                <a:tableStyleId>{5C22544A-7EE6-4342-B048-85BDC9FD1C3A}</a:tableStyleId>
              </a:tblPr>
              <a:tblGrid>
                <a:gridCol w="2743200"/>
                <a:gridCol w="2743200"/>
                <a:gridCol w="2743200"/>
              </a:tblGrid>
              <a:tr h="914400">
                <a:tc>
                  <a:txBody>
                    <a:bodyPr/>
                    <a:lstStyle/>
                    <a:p>
                      <a:pPr marL="0" marR="0" indent="0" algn="ctr" rtl="0" eaLnBrk="1" fontAlgn="base" latinLnBrk="0" hangingPunct="1">
                        <a:spcBef>
                          <a:spcPts val="336"/>
                        </a:spcBef>
                        <a:spcAft>
                          <a:spcPts val="0"/>
                        </a:spcAft>
                      </a:pPr>
                      <a:r>
                        <a:rPr lang="en-US" sz="1600" b="1" i="0" u="none" strike="noStrike" kern="1200" baseline="0" dirty="0">
                          <a:solidFill>
                            <a:schemeClr val="bg1"/>
                          </a:solidFill>
                          <a:latin typeface="+mj-lt"/>
                          <a:ea typeface="ＭＳ Ｐゴシック"/>
                        </a:rPr>
                        <a:t>KNOW</a:t>
                      </a:r>
                      <a:endParaRPr lang="en-US" sz="1600" b="0" i="0" u="none" strike="noStrike" dirty="0">
                        <a:solidFill>
                          <a:schemeClr val="bg1"/>
                        </a:solidFill>
                        <a:latin typeface="+mj-lt"/>
                      </a:endParaRPr>
                    </a:p>
                    <a:p>
                      <a:pPr marL="0" marR="0" indent="0" algn="ctr" rtl="0" eaLnBrk="1" fontAlgn="base" latinLnBrk="0" hangingPunct="1">
                        <a:spcBef>
                          <a:spcPts val="336"/>
                        </a:spcBef>
                        <a:spcAft>
                          <a:spcPts val="0"/>
                        </a:spcAft>
                      </a:pPr>
                      <a:r>
                        <a:rPr lang="en-US" sz="1600" b="0" i="0" u="none" strike="noStrike" kern="1200" baseline="0" dirty="0">
                          <a:solidFill>
                            <a:schemeClr val="bg1"/>
                          </a:solidFill>
                          <a:latin typeface="+mj-lt"/>
                          <a:ea typeface="ＭＳ Ｐゴシック"/>
                        </a:rPr>
                        <a:t>Key Skills and </a:t>
                      </a:r>
                      <a:r>
                        <a:rPr lang="en-US" sz="1600" b="0" i="0" u="none" strike="noStrike" kern="1200" baseline="0" dirty="0" smtClean="0">
                          <a:solidFill>
                            <a:schemeClr val="bg1"/>
                          </a:solidFill>
                          <a:latin typeface="+mj-lt"/>
                          <a:ea typeface="ＭＳ Ｐゴシック"/>
                        </a:rPr>
                        <a:t>Knowledge</a:t>
                      </a:r>
                    </a:p>
                    <a:p>
                      <a:pPr marL="0" marR="0" indent="0" algn="ctr" defTabSz="914400" rtl="0" eaLnBrk="1" fontAlgn="base" latinLnBrk="0" hangingPunct="1">
                        <a:lnSpc>
                          <a:spcPct val="100000"/>
                        </a:lnSpc>
                        <a:spcBef>
                          <a:spcPts val="336"/>
                        </a:spcBef>
                        <a:spcAft>
                          <a:spcPts val="0"/>
                        </a:spcAft>
                        <a:buClrTx/>
                        <a:buSzTx/>
                        <a:buFontTx/>
                        <a:buNone/>
                        <a:tabLst/>
                        <a:defRPr/>
                      </a:pPr>
                      <a:r>
                        <a:rPr lang="en-US" sz="1200" dirty="0" smtClean="0">
                          <a:solidFill>
                            <a:schemeClr val="bg1"/>
                          </a:solidFill>
                          <a:latin typeface="+mj-lt"/>
                        </a:rPr>
                        <a:t>(What will I learn?)</a:t>
                      </a:r>
                    </a:p>
                  </a:txBody>
                  <a:tcPr/>
                </a:tc>
                <a:tc>
                  <a:txBody>
                    <a:bodyPr/>
                    <a:lstStyle/>
                    <a:p>
                      <a:pPr marL="0" marR="0" indent="0" algn="ctr" rtl="0" eaLnBrk="1" fontAlgn="base" latinLnBrk="0" hangingPunct="1">
                        <a:spcBef>
                          <a:spcPts val="336"/>
                        </a:spcBef>
                        <a:spcAft>
                          <a:spcPts val="0"/>
                        </a:spcAft>
                      </a:pPr>
                      <a:r>
                        <a:rPr lang="en-US" sz="1600" b="1" i="0" u="none" strike="noStrike" kern="1200" baseline="0" dirty="0">
                          <a:solidFill>
                            <a:schemeClr val="bg1"/>
                          </a:solidFill>
                          <a:latin typeface="+mj-lt"/>
                          <a:ea typeface="ＭＳ Ｐゴシック"/>
                        </a:rPr>
                        <a:t>DO</a:t>
                      </a:r>
                      <a:endParaRPr lang="en-US" sz="1600" b="0" i="0" u="none" strike="noStrike" dirty="0">
                        <a:solidFill>
                          <a:schemeClr val="bg1"/>
                        </a:solidFill>
                        <a:latin typeface="+mj-lt"/>
                      </a:endParaRPr>
                    </a:p>
                    <a:p>
                      <a:pPr marL="0" marR="0" indent="0" algn="ctr" rtl="0" eaLnBrk="1" fontAlgn="base" latinLnBrk="0" hangingPunct="1">
                        <a:spcBef>
                          <a:spcPts val="336"/>
                        </a:spcBef>
                        <a:spcAft>
                          <a:spcPts val="0"/>
                        </a:spcAft>
                      </a:pPr>
                      <a:r>
                        <a:rPr lang="en-US" sz="1600" b="0" i="0" u="none" strike="noStrike" kern="1200" baseline="0" dirty="0">
                          <a:solidFill>
                            <a:schemeClr val="bg1"/>
                          </a:solidFill>
                          <a:latin typeface="+mj-lt"/>
                          <a:ea typeface="ＭＳ Ｐゴシック"/>
                        </a:rPr>
                        <a:t>On the Job </a:t>
                      </a:r>
                      <a:r>
                        <a:rPr lang="en-US" sz="1600" b="0" i="0" u="none" strike="noStrike" kern="1200" baseline="0" dirty="0" smtClean="0">
                          <a:solidFill>
                            <a:schemeClr val="bg1"/>
                          </a:solidFill>
                          <a:latin typeface="+mj-lt"/>
                          <a:ea typeface="ＭＳ Ｐゴシック"/>
                        </a:rPr>
                        <a:t>Behaviors</a:t>
                      </a:r>
                    </a:p>
                    <a:p>
                      <a:pPr marL="0" marR="0" indent="0" algn="ctr" rtl="0" eaLnBrk="1" fontAlgn="base" latinLnBrk="0" hangingPunct="1">
                        <a:spcBef>
                          <a:spcPts val="336"/>
                        </a:spcBef>
                        <a:spcAft>
                          <a:spcPts val="0"/>
                        </a:spcAft>
                      </a:pPr>
                      <a:r>
                        <a:rPr lang="en-US" sz="1200" dirty="0" smtClean="0">
                          <a:solidFill>
                            <a:schemeClr val="bg1"/>
                          </a:solidFill>
                          <a:latin typeface="+mj-lt"/>
                        </a:rPr>
                        <a:t>(What will I apply/do differently?)</a:t>
                      </a:r>
                      <a:endParaRPr lang="en-US" sz="1200" b="0" i="0" u="none" strike="noStrike" dirty="0">
                        <a:solidFill>
                          <a:schemeClr val="bg1"/>
                        </a:solidFill>
                        <a:latin typeface="+mj-lt"/>
                      </a:endParaRPr>
                    </a:p>
                  </a:txBody>
                  <a:tcPr/>
                </a:tc>
                <a:tc>
                  <a:txBody>
                    <a:bodyPr/>
                    <a:lstStyle/>
                    <a:p>
                      <a:pPr marL="0" marR="0" indent="0" algn="ctr" rtl="0" eaLnBrk="1" fontAlgn="base" latinLnBrk="0" hangingPunct="1">
                        <a:spcBef>
                          <a:spcPts val="336"/>
                        </a:spcBef>
                        <a:spcAft>
                          <a:spcPts val="0"/>
                        </a:spcAft>
                      </a:pPr>
                      <a:r>
                        <a:rPr lang="en-US" sz="1600" b="1" i="0" u="none" strike="noStrike" kern="1200" baseline="0" dirty="0">
                          <a:solidFill>
                            <a:schemeClr val="bg1"/>
                          </a:solidFill>
                          <a:latin typeface="+mj-lt"/>
                          <a:ea typeface="ＭＳ Ｐゴシック"/>
                        </a:rPr>
                        <a:t>IMPACT</a:t>
                      </a:r>
                      <a:endParaRPr lang="en-US" sz="1600" b="0" i="0" u="none" strike="noStrike" dirty="0">
                        <a:solidFill>
                          <a:schemeClr val="bg1"/>
                        </a:solidFill>
                        <a:latin typeface="+mj-lt"/>
                      </a:endParaRPr>
                    </a:p>
                    <a:p>
                      <a:pPr marL="0" marR="0" indent="0" algn="ctr" rtl="0" eaLnBrk="1" fontAlgn="base" latinLnBrk="0" hangingPunct="1">
                        <a:spcBef>
                          <a:spcPts val="336"/>
                        </a:spcBef>
                        <a:spcAft>
                          <a:spcPts val="0"/>
                        </a:spcAft>
                      </a:pPr>
                      <a:r>
                        <a:rPr lang="en-US" sz="1600" b="0" i="0" u="none" strike="noStrike" kern="1200" baseline="0" dirty="0">
                          <a:solidFill>
                            <a:schemeClr val="bg1"/>
                          </a:solidFill>
                          <a:latin typeface="+mj-lt"/>
                          <a:ea typeface="ＭＳ Ｐゴシック"/>
                        </a:rPr>
                        <a:t>Service Line/Service/Dept</a:t>
                      </a:r>
                      <a:r>
                        <a:rPr lang="en-US" sz="1600" b="0" i="0" u="none" strike="noStrike" kern="1200" baseline="0" dirty="0" smtClean="0">
                          <a:solidFill>
                            <a:schemeClr val="bg1"/>
                          </a:solidFill>
                          <a:latin typeface="+mj-lt"/>
                          <a:ea typeface="ＭＳ Ｐゴシック"/>
                        </a:rPr>
                        <a:t>.</a:t>
                      </a:r>
                    </a:p>
                    <a:p>
                      <a:pPr marL="0" marR="0" indent="0" algn="ctr" defTabSz="914400" rtl="0" eaLnBrk="1" fontAlgn="base" latinLnBrk="0" hangingPunct="1">
                        <a:lnSpc>
                          <a:spcPct val="100000"/>
                        </a:lnSpc>
                        <a:spcBef>
                          <a:spcPts val="336"/>
                        </a:spcBef>
                        <a:spcAft>
                          <a:spcPts val="0"/>
                        </a:spcAft>
                        <a:buClrTx/>
                        <a:buSzTx/>
                        <a:buFontTx/>
                        <a:buNone/>
                        <a:tabLst/>
                        <a:defRPr/>
                      </a:pPr>
                      <a:r>
                        <a:rPr lang="en-US" sz="1200" dirty="0" smtClean="0">
                          <a:solidFill>
                            <a:schemeClr val="bg1"/>
                          </a:solidFill>
                          <a:latin typeface="+mj-lt"/>
                        </a:rPr>
                        <a:t>(What results will I see?)</a:t>
                      </a:r>
                    </a:p>
                  </a:txBody>
                  <a:tcPr/>
                </a:tc>
              </a:tr>
              <a:tr h="370840">
                <a:tc>
                  <a:txBody>
                    <a:bodyPr/>
                    <a:lstStyle/>
                    <a:p>
                      <a:pPr marL="168275" indent="-107950" hangingPunct="0">
                        <a:buFont typeface="Arial" pitchFamily="34" charset="0"/>
                        <a:buChar char="•"/>
                      </a:pPr>
                      <a:r>
                        <a:rPr lang="en-US" sz="1400" kern="1200" dirty="0" smtClean="0">
                          <a:solidFill>
                            <a:schemeClr val="tx1"/>
                          </a:solidFill>
                          <a:latin typeface="Tw Cen MT" pitchFamily="34" charset="0"/>
                          <a:ea typeface="+mn-ea"/>
                          <a:cs typeface="+mn-cs"/>
                        </a:rPr>
                        <a:t>Recognize signs that conflict is escalating</a:t>
                      </a:r>
                      <a:r>
                        <a:rPr lang="en-US" sz="1400" kern="1200" baseline="0" dirty="0" smtClean="0">
                          <a:solidFill>
                            <a:schemeClr val="tx1"/>
                          </a:solidFill>
                          <a:latin typeface="Tw Cen MT" pitchFamily="34" charset="0"/>
                          <a:ea typeface="+mn-ea"/>
                          <a:cs typeface="+mn-cs"/>
                        </a:rPr>
                        <a:t> and what stage it is in</a:t>
                      </a:r>
                    </a:p>
                    <a:p>
                      <a:pPr marL="168275" indent="-107950" hangingPunct="0">
                        <a:buFont typeface="Arial" pitchFamily="34" charset="0"/>
                        <a:buChar char="•"/>
                      </a:pPr>
                      <a:endParaRPr lang="en-US" sz="1400" kern="1200" baseline="0" dirty="0" smtClean="0">
                        <a:solidFill>
                          <a:schemeClr val="tx1"/>
                        </a:solidFill>
                        <a:latin typeface="Tw Cen MT" pitchFamily="34" charset="0"/>
                        <a:ea typeface="+mn-ea"/>
                        <a:cs typeface="+mn-cs"/>
                      </a:endParaRPr>
                    </a:p>
                    <a:p>
                      <a:pPr marL="168275" indent="-107950" hangingPunct="0">
                        <a:buFont typeface="Arial" pitchFamily="34" charset="0"/>
                        <a:buChar char="•"/>
                      </a:pPr>
                      <a:r>
                        <a:rPr lang="en-US" sz="1400" kern="1200" baseline="0" dirty="0" smtClean="0">
                          <a:solidFill>
                            <a:schemeClr val="tx1"/>
                          </a:solidFill>
                          <a:latin typeface="Tw Cen MT" pitchFamily="34" charset="0"/>
                          <a:ea typeface="+mn-ea"/>
                          <a:cs typeface="+mn-cs"/>
                        </a:rPr>
                        <a:t>Use four resolution tactics to address conflict</a:t>
                      </a:r>
                    </a:p>
                    <a:p>
                      <a:pPr marL="168275" indent="-107950" hangingPunct="0">
                        <a:buFont typeface="Arial" pitchFamily="34" charset="0"/>
                        <a:buChar char="•"/>
                      </a:pPr>
                      <a:endParaRPr lang="en-US" sz="1400" kern="1200" baseline="0" dirty="0" smtClean="0">
                        <a:solidFill>
                          <a:schemeClr val="tx1"/>
                        </a:solidFill>
                        <a:latin typeface="Tw Cen MT" pitchFamily="34" charset="0"/>
                        <a:ea typeface="+mn-ea"/>
                        <a:cs typeface="+mn-cs"/>
                      </a:endParaRPr>
                    </a:p>
                    <a:p>
                      <a:pPr marL="168275" indent="-107950" hangingPunct="0">
                        <a:buFont typeface="Arial" pitchFamily="34" charset="0"/>
                        <a:buChar char="•"/>
                      </a:pPr>
                      <a:r>
                        <a:rPr lang="en-US" sz="1400" kern="1200" baseline="0" dirty="0" smtClean="0">
                          <a:solidFill>
                            <a:schemeClr val="tx1"/>
                          </a:solidFill>
                          <a:latin typeface="Tw Cen MT" pitchFamily="34" charset="0"/>
                          <a:ea typeface="+mn-ea"/>
                          <a:cs typeface="+mn-cs"/>
                        </a:rPr>
                        <a:t>Use the interaction process to conduct effective conflict resolution discussions</a:t>
                      </a:r>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a:p>
                  </a:txBody>
                  <a:tcPr/>
                </a:tc>
                <a:tc>
                  <a:txBody>
                    <a:bodyPr/>
                    <a:lstStyle/>
                    <a:p>
                      <a:endParaRPr lang="en-US" sz="1200" dirty="0"/>
                    </a:p>
                  </a:txBody>
                  <a:tcPr/>
                </a:tc>
                <a:tc>
                  <a:txBody>
                    <a:bodyPr/>
                    <a:lstStyle/>
                    <a:p>
                      <a:endParaRPr lang="en-US" sz="12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2012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w Cen MT">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PersistId xmlns="719614e6-7633-445b-858d-56adc40ee1ac" xsi:nil="true"/>
    <_dlc_DocId xmlns="719614e6-7633-445b-858d-56adc40ee1ac">356Y4C7ZTYH3-726-147</_dlc_DocId>
    <_dlc_DocIdUrl xmlns="719614e6-7633-445b-858d-56adc40ee1ac">
      <Url>http://careforce2012v2/Departments/HumanResources/Learning%20Services/ManagementandStaffDevelopment/_layouts/DocIdRedir.aspx?ID=356Y4C7ZTYH3-726-147</Url>
      <Description>356Y4C7ZTYH3-726-147</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file>

<file path=customXml/item4.xml><?xml version="1.0" encoding="utf-8"?>
<ct:contentTypeSchema xmlns:ct="http://schemas.microsoft.com/office/2006/metadata/contentType" xmlns:ma="http://schemas.microsoft.com/office/2006/metadata/properties/metaAttributes" ct:_="" ma:_="" ma:contentTypeName="Document" ma:contentTypeID="0x0101008399D899132FBF4B8B5E348EB4582848" ma:contentTypeVersion="5" ma:contentTypeDescription="Create a new document." ma:contentTypeScope="" ma:versionID="39214116595d8e47203f35bfdff14b33">
  <xsd:schema xmlns:xsd="http://www.w3.org/2001/XMLSchema" xmlns:xs="http://www.w3.org/2001/XMLSchema" xmlns:p="http://schemas.microsoft.com/office/2006/metadata/properties" xmlns:ns1="http://schemas.microsoft.com/sharepoint/v3" xmlns:ns2="719614e6-7633-445b-858d-56adc40ee1ac" targetNamespace="http://schemas.microsoft.com/office/2006/metadata/properties" ma:root="true" ma:fieldsID="b4262e36134b62b233f76349886cdd40" ns1:_="" ns2:_="">
    <xsd:import namespace="http://schemas.microsoft.com/sharepoint/v3"/>
    <xsd:import namespace="719614e6-7633-445b-858d-56adc40ee1ac"/>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19614e6-7633-445b-858d-56adc40ee1ac" elementFormDefault="qualified">
    <xsd:import namespace="http://schemas.microsoft.com/office/2006/documentManagement/types"/>
    <xsd:import namespace="http://schemas.microsoft.com/office/infopath/2007/PartnerControls"/>
    <xsd:element name="_dlc_DocId" ma:index="10" nillable="true" ma:displayName="Document ID Value" ma:description="The value of the document ID assigned to this item." ma:internalName="_dlc_DocId" ma:readOnly="true">
      <xsd:simpleType>
        <xsd:restriction base="dms:Text"/>
      </xsd:simpleType>
    </xsd:element>
    <xsd:element name="_dlc_DocIdUrl" ma:index="1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2734BC-A3C4-46C6-8948-71C8C5B1A97B}">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http://schemas.microsoft.com/sharepoint/v3"/>
    <ds:schemaRef ds:uri="719614e6-7633-445b-858d-56adc40ee1ac"/>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D963D8ED-181A-432D-AE19-FA0D5420CDE2}">
  <ds:schemaRefs>
    <ds:schemaRef ds:uri="http://schemas.microsoft.com/sharepoint/v3/contenttype/forms"/>
  </ds:schemaRefs>
</ds:datastoreItem>
</file>

<file path=customXml/itemProps3.xml><?xml version="1.0" encoding="utf-8"?>
<ds:datastoreItem xmlns:ds="http://schemas.openxmlformats.org/officeDocument/2006/customXml" ds:itemID="{D8A9D14F-C51F-40D1-964D-79174CFB373E}">
  <ds:schemaRefs>
    <ds:schemaRef ds:uri="http://schemas.microsoft.com/sharepoint/events"/>
  </ds:schemaRefs>
</ds:datastoreItem>
</file>

<file path=customXml/itemProps4.xml><?xml version="1.0" encoding="utf-8"?>
<ds:datastoreItem xmlns:ds="http://schemas.openxmlformats.org/officeDocument/2006/customXml" ds:itemID="{CFAA2294-D941-41FB-BCE5-82025AF977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9614e6-7633-445b-858d-56adc40ee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704</TotalTime>
  <Words>641</Words>
  <Application>Microsoft Office PowerPoint</Application>
  <PresentationFormat>On-screen Show (4:3)</PresentationFormat>
  <Paragraphs>79</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2012 Template</vt:lpstr>
      <vt:lpstr>Resolving Conflict Impact Map</vt:lpstr>
      <vt:lpstr>Resolving Conflict Impact Map</vt:lpstr>
    </vt:vector>
  </TitlesOfParts>
  <Company>Children's Healthcare of Atlanta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Children’s Healthcare of Atlanta</dc:title>
  <dc:creator>Chris Thornton</dc:creator>
  <cp:lastModifiedBy>IS&amp;T</cp:lastModifiedBy>
  <cp:revision>49</cp:revision>
  <cp:lastPrinted>2012-03-27T20:50:30Z</cp:lastPrinted>
  <dcterms:created xsi:type="dcterms:W3CDTF">2012-03-06T21:24:02Z</dcterms:created>
  <dcterms:modified xsi:type="dcterms:W3CDTF">2013-06-18T15:19:53Z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0x0101008399D899132FBF4B8B5E348EB4582848</vt:lpwstr>
  </property>
  <property fmtid="{D5CDD505-2E9C-101B-9397-08002B2CF9AE}" pid="3" name="Order">
    <vt:r8>14700</vt:r8>
  </property>
  <property fmtid="{D5CDD505-2E9C-101B-9397-08002B2CF9AE}" pid="4" name="_dlc_DocIdItemGuid">
    <vt:lpwstr>b5008bf5-bd30-4450-b2ba-cb23f35937ee</vt:lpwstr>
  </property>
  <property fmtid="{D5CDD505-2E9C-101B-9397-08002B2CF9AE}" pid="5" name="xd_ProgID">
    <vt:lpwstr/>
  </property>
  <property fmtid="{D5CDD505-2E9C-101B-9397-08002B2CF9AE}" pid="6" name="_SourceUrl">
    <vt:lpwstr/>
  </property>
  <property fmtid="{D5CDD505-2E9C-101B-9397-08002B2CF9AE}" pid="7" name="TemplateUrl">
    <vt:lpwstr/>
  </property>
</Properties>
</file>