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customXml/itemProps4.xml" ContentType="application/vnd.openxmlformats-officedocument.customXmlProperti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9"/>
  </p:notesMasterIdLst>
  <p:handoutMasterIdLst>
    <p:handoutMasterId r:id="rId10"/>
  </p:handoutMasterIdLst>
  <p:sldIdLst>
    <p:sldId id="432" r:id="rId6"/>
    <p:sldId id="433" r:id="rId7"/>
    <p:sldId id="434" r:id="rId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9D57"/>
    <a:srgbClr val="FFFF99"/>
    <a:srgbClr val="FFFFCC"/>
    <a:srgbClr val="CC3300"/>
    <a:srgbClr val="E9E6D7"/>
    <a:srgbClr val="00AA50"/>
    <a:srgbClr val="FF3399"/>
    <a:srgbClr val="0594FF"/>
    <a:srgbClr val="780032"/>
    <a:srgbClr val="7AC14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78" autoAdjust="0"/>
    <p:restoredTop sz="95747" autoAdjust="0"/>
  </p:normalViewPr>
  <p:slideViewPr>
    <p:cSldViewPr>
      <p:cViewPr>
        <p:scale>
          <a:sx n="100" d="100"/>
          <a:sy n="100" d="100"/>
        </p:scale>
        <p:origin x="-117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80" d="100"/>
          <a:sy n="80" d="100"/>
        </p:scale>
        <p:origin x="-1938" y="-78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50781-B1F5-4B92-87BC-E439C5246C8A}" type="datetimeFigureOut">
              <a:rPr lang="en-US" smtClean="0"/>
              <a:pPr/>
              <a:t>04/11/2013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93ECC-2F91-413A-92E1-05225AF3274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796981D-1B90-48F0-8ACD-F504B659A3C4}" type="datetimeFigureOut">
              <a:rPr lang="en-US"/>
              <a:pPr>
                <a:defRPr/>
              </a:pPr>
              <a:t>04/11/2013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B1E04C4-209E-42C0-BB16-60A19275D1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658887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2F4323-FE7E-4A23-A441-40E96F1EF1A1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90ED289-615A-43F0-B135-3B8CE6131A2E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685800" y="3733800"/>
            <a:ext cx="77724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197725" y="5249863"/>
            <a:ext cx="1946275" cy="160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64008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685800" y="3733800"/>
            <a:ext cx="77724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45720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8" name="Picture 7" descr="logo with tag rgb horz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5486400" y="5621020"/>
            <a:ext cx="3048000" cy="1054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197725" y="5249863"/>
            <a:ext cx="1946275" cy="160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5387975"/>
            <a:ext cx="7086600" cy="13176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8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Children’s Healthcare of Atlanta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754563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754563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8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6608"/>
            <a:ext cx="4040188" cy="7159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009D57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09800"/>
            <a:ext cx="4040188" cy="4038600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6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76608"/>
            <a:ext cx="4041775" cy="7159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9D57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209800"/>
            <a:ext cx="4041775" cy="4038600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6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10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6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752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752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76200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05000"/>
            <a:ext cx="3810000" cy="39624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05000"/>
            <a:ext cx="3810000" cy="3962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09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62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25779-B8A7-4B12-861E-B8CE40622900}" type="slidenum">
              <a:rPr lang="en-US"/>
              <a:pPr>
                <a:defRPr/>
              </a:pPr>
              <a:t>‹#›</a:t>
            </a:fld>
            <a:endParaRPr lang="en-US" sz="140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635635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bg1">
                    <a:lumMod val="50000"/>
                  </a:schemeClr>
                </a:solidFill>
                <a:latin typeface="Archer Semibold" pitchFamily="50" charset="0"/>
              </a:defRPr>
            </a:lvl1pPr>
          </a:lstStyle>
          <a:p>
            <a:pPr>
              <a:defRPr/>
            </a:pPr>
            <a:fld id="{D423F924-74D2-45C3-9581-52674854CC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15" r:id="rId2"/>
    <p:sldLayoutId id="2147483718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6" r:id="rId9"/>
    <p:sldLayoutId id="2147483719" r:id="rId10"/>
    <p:sldLayoutId id="2147483710" r:id="rId11"/>
    <p:sldLayoutId id="2147483717" r:id="rId12"/>
    <p:sldLayoutId id="2147483714" r:id="rId13"/>
    <p:sldLayoutId id="2147483723" r:id="rId14"/>
    <p:sldLayoutId id="2147483725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009D5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rgbClr val="26262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262626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257175" y="990600"/>
            <a:ext cx="8610600" cy="5638800"/>
          </a:xfrm>
          <a:prstGeom prst="rect">
            <a:avLst/>
          </a:prstGeom>
          <a:solidFill>
            <a:srgbClr val="009D57"/>
          </a:solidFill>
          <a:ln>
            <a:solidFill>
              <a:srgbClr val="009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ine 5"/>
          <p:cNvSpPr>
            <a:spLocks noChangeShapeType="1"/>
          </p:cNvSpPr>
          <p:nvPr/>
        </p:nvSpPr>
        <p:spPr bwMode="auto">
          <a:xfrm>
            <a:off x="600075" y="3714750"/>
            <a:ext cx="8005762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 sz="1050" dirty="0">
              <a:solidFill>
                <a:srgbClr val="FF9900"/>
              </a:solidFill>
              <a:latin typeface="Arial" pitchFamily="34" charset="0"/>
            </a:endParaRPr>
          </a:p>
        </p:txBody>
      </p:sp>
      <p:sp>
        <p:nvSpPr>
          <p:cNvPr id="65" name="Title 64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762000"/>
          </a:xfrm>
        </p:spPr>
        <p:txBody>
          <a:bodyPr/>
          <a:lstStyle/>
          <a:p>
            <a:r>
              <a:rPr lang="en-US" sz="2800" dirty="0" smtClean="0">
                <a:latin typeface="Arial Rounded MT Bold" pitchFamily="34" charset="0"/>
              </a:rPr>
              <a:t>2013 Required Leader Development</a:t>
            </a:r>
            <a:endParaRPr lang="en-US" sz="2800" dirty="0">
              <a:latin typeface="Arial Rounded MT Bold" pitchFamily="34" charset="0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14400" y="1152525"/>
            <a:ext cx="3048000" cy="1981200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  <a:latin typeface="Arial Rounded MT Bold" pitchFamily="34" charset="0"/>
              </a:rPr>
              <a:t>Leader Series</a:t>
            </a:r>
          </a:p>
          <a:p>
            <a:pPr algn="ctr"/>
            <a:r>
              <a:rPr lang="en-US" sz="1200" b="1" dirty="0" smtClean="0">
                <a:solidFill>
                  <a:srgbClr val="0070C0"/>
                </a:solidFill>
                <a:latin typeface="Arial Rounded MT Bold" pitchFamily="34" charset="0"/>
              </a:rPr>
              <a:t>Leader Development</a:t>
            </a:r>
          </a:p>
          <a:p>
            <a:pPr algn="ctr"/>
            <a:r>
              <a:rPr lang="en-US" sz="1200" dirty="0" smtClean="0">
                <a:solidFill>
                  <a:srgbClr val="0070C0"/>
                </a:solidFill>
                <a:latin typeface="Arial Rounded MT Bold" pitchFamily="34" charset="0"/>
              </a:rPr>
              <a:t>Directors and above</a:t>
            </a:r>
          </a:p>
          <a:p>
            <a:pPr algn="ctr"/>
            <a:endParaRPr lang="en-US" sz="300" dirty="0" smtClean="0">
              <a:solidFill>
                <a:schemeClr val="tx1"/>
              </a:solidFill>
              <a:latin typeface="Arial Rounded MT Bold" pitchFamily="34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Time: 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8am – 12pm</a:t>
            </a: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Where: 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Hellenic Center</a:t>
            </a:r>
            <a:endParaRPr lang="en-US" sz="1200" b="1" dirty="0" smtClean="0">
              <a:solidFill>
                <a:schemeClr val="tx1"/>
              </a:solidFill>
              <a:latin typeface="Arial Rounded MT Bold" pitchFamily="34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Purpose: 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To gain knowledge, skills and awareness to focus on Getting Results through high performance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67200" y="1162050"/>
            <a:ext cx="2895600" cy="1981200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  <a:latin typeface="Arial Rounded MT Bold" pitchFamily="34" charset="0"/>
              </a:rPr>
              <a:t>Leader Series</a:t>
            </a:r>
            <a:endParaRPr lang="en-US" b="1" dirty="0" smtClean="0">
              <a:solidFill>
                <a:srgbClr val="0070C0"/>
              </a:solidFill>
              <a:latin typeface="Arial Rounded MT Bold" pitchFamily="34" charset="0"/>
            </a:endParaRPr>
          </a:p>
          <a:p>
            <a:pPr algn="ctr"/>
            <a:r>
              <a:rPr lang="en-US" sz="1200" b="1" dirty="0" smtClean="0">
                <a:solidFill>
                  <a:srgbClr val="0070C0"/>
                </a:solidFill>
                <a:latin typeface="Arial Rounded MT Bold" pitchFamily="34" charset="0"/>
              </a:rPr>
              <a:t>Leader Development/Training</a:t>
            </a:r>
            <a:endParaRPr lang="en-US" sz="1200" b="1" dirty="0" smtClean="0">
              <a:solidFill>
                <a:srgbClr val="0070C0"/>
              </a:solidFill>
              <a:latin typeface="Arial Rounded MT Bold" pitchFamily="34" charset="0"/>
            </a:endParaRPr>
          </a:p>
          <a:p>
            <a:pPr algn="ctr"/>
            <a:r>
              <a:rPr lang="en-US" sz="1200" dirty="0" smtClean="0">
                <a:solidFill>
                  <a:srgbClr val="0070C0"/>
                </a:solidFill>
                <a:latin typeface="Arial Rounded MT Bold" pitchFamily="34" charset="0"/>
              </a:rPr>
              <a:t>Directors and above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 </a:t>
            </a:r>
          </a:p>
          <a:p>
            <a:pPr algn="ctr"/>
            <a:endParaRPr lang="en-US" sz="300" dirty="0" smtClean="0">
              <a:solidFill>
                <a:schemeClr val="tx1"/>
              </a:solidFill>
              <a:latin typeface="Arial Rounded MT Bold" pitchFamily="34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Time: 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8am – 3pm </a:t>
            </a: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Where: 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Marriott Century Center</a:t>
            </a:r>
            <a:endParaRPr lang="en-US" sz="1200" b="1" dirty="0" smtClean="0">
              <a:solidFill>
                <a:schemeClr val="tx1"/>
              </a:solidFill>
              <a:latin typeface="Arial Rounded MT Bold" pitchFamily="34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Purpose: 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To consolidate into one day required annual training needed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876425" y="4267200"/>
            <a:ext cx="3200400" cy="2228850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  <a:latin typeface="Arial Rounded MT Bold" pitchFamily="34" charset="0"/>
              </a:rPr>
              <a:t>People Manager Meeting</a:t>
            </a:r>
            <a:endParaRPr lang="en-US" sz="1200" dirty="0" smtClean="0">
              <a:solidFill>
                <a:srgbClr val="0070C0"/>
              </a:solidFill>
              <a:latin typeface="Arial Rounded MT Bold" pitchFamily="34" charset="0"/>
            </a:endParaRPr>
          </a:p>
          <a:p>
            <a:pPr algn="ctr"/>
            <a:r>
              <a:rPr lang="en-US" sz="1200" dirty="0" smtClean="0">
                <a:solidFill>
                  <a:srgbClr val="0070C0"/>
                </a:solidFill>
                <a:latin typeface="Arial Rounded MT Bold" pitchFamily="34" charset="0"/>
              </a:rPr>
              <a:t>Development &amp; Annual Training</a:t>
            </a:r>
          </a:p>
          <a:p>
            <a:pPr algn="ctr"/>
            <a:r>
              <a:rPr lang="en-US" sz="1200" dirty="0" smtClean="0">
                <a:solidFill>
                  <a:srgbClr val="0070C0"/>
                </a:solidFill>
                <a:latin typeface="Arial Rounded MT Bold" pitchFamily="34" charset="0"/>
              </a:rPr>
              <a:t>People Managers</a:t>
            </a:r>
          </a:p>
          <a:p>
            <a:pPr algn="ctr"/>
            <a:endParaRPr lang="en-US" sz="300" dirty="0" smtClean="0">
              <a:solidFill>
                <a:schemeClr val="tx1"/>
              </a:solidFill>
              <a:latin typeface="Arial Rounded MT Bold" pitchFamily="34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Time: 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8am – 1pm</a:t>
            </a: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Where: 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Hellenic Center</a:t>
            </a:r>
            <a:endParaRPr lang="en-US" sz="1200" b="1" dirty="0" smtClean="0">
              <a:solidFill>
                <a:schemeClr val="tx1"/>
              </a:solidFill>
              <a:latin typeface="Arial Rounded MT Bold" pitchFamily="34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Purpose: 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To gain knowledge and skills on how to Be Clear and Compelling. To provide tools and training to aid in highly effective day-to-day operations</a:t>
            </a:r>
            <a:endParaRPr lang="en-US" dirty="0" smtClean="0">
              <a:solidFill>
                <a:schemeClr val="tx1"/>
              </a:solidFill>
              <a:latin typeface="Arial Rounded MT Bold" pitchFamily="34" charset="0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200650" y="4495800"/>
            <a:ext cx="3562350" cy="1752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9D57"/>
                </a:solidFill>
                <a:latin typeface="Arial Rounded MT Bold" pitchFamily="34" charset="0"/>
              </a:rPr>
              <a:t>Take Out Training</a:t>
            </a:r>
            <a:endParaRPr lang="en-US" b="1" dirty="0" smtClean="0">
              <a:solidFill>
                <a:srgbClr val="009D57"/>
              </a:solidFill>
              <a:latin typeface="Arial Rounded MT Bold" pitchFamily="34" charset="0"/>
            </a:endParaRPr>
          </a:p>
          <a:p>
            <a:pPr algn="ctr"/>
            <a:r>
              <a:rPr lang="en-US" sz="1200" b="1" dirty="0" smtClean="0">
                <a:solidFill>
                  <a:srgbClr val="009D57"/>
                </a:solidFill>
                <a:latin typeface="Arial Rounded MT Bold" pitchFamily="34" charset="0"/>
              </a:rPr>
              <a:t>Optional</a:t>
            </a:r>
            <a:r>
              <a:rPr lang="en-US" sz="1200" dirty="0" smtClean="0">
                <a:solidFill>
                  <a:srgbClr val="009D57"/>
                </a:solidFill>
                <a:latin typeface="Arial Rounded MT Bold" pitchFamily="34" charset="0"/>
              </a:rPr>
              <a:t> development for </a:t>
            </a:r>
          </a:p>
          <a:p>
            <a:pPr algn="ctr"/>
            <a:r>
              <a:rPr lang="en-US" sz="1200" dirty="0" smtClean="0">
                <a:solidFill>
                  <a:srgbClr val="009D57"/>
                </a:solidFill>
                <a:latin typeface="Arial Rounded MT Bold" pitchFamily="34" charset="0"/>
              </a:rPr>
              <a:t>Directors and above</a:t>
            </a:r>
          </a:p>
          <a:p>
            <a:pPr algn="ctr"/>
            <a:endParaRPr lang="en-US" sz="300" dirty="0" smtClean="0">
              <a:solidFill>
                <a:schemeClr val="tx1"/>
              </a:solidFill>
              <a:latin typeface="Arial Rounded MT Bold" pitchFamily="34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Duration: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 3 hours</a:t>
            </a:r>
          </a:p>
          <a:p>
            <a:endParaRPr lang="en-US" sz="300" dirty="0" smtClean="0">
              <a:solidFill>
                <a:schemeClr val="tx1"/>
              </a:solidFill>
              <a:latin typeface="Arial Rounded MT Bold" pitchFamily="34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Where: 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Learning Center, 1680 Tullie</a:t>
            </a:r>
            <a:endParaRPr lang="en-US" sz="1200" b="1" dirty="0" smtClean="0">
              <a:solidFill>
                <a:schemeClr val="tx1"/>
              </a:solidFill>
              <a:latin typeface="Arial Rounded MT Bold" pitchFamily="34" charset="0"/>
            </a:endParaRPr>
          </a:p>
          <a:p>
            <a:endParaRPr lang="en-US" sz="300" dirty="0" smtClean="0">
              <a:solidFill>
                <a:schemeClr val="tx1"/>
              </a:solidFill>
              <a:latin typeface="Arial Rounded MT Bold" pitchFamily="34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Topic: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 Leading Change (June 17)</a:t>
            </a:r>
          </a:p>
          <a:p>
            <a:endParaRPr lang="en-US" sz="300" dirty="0" smtClean="0">
              <a:solidFill>
                <a:schemeClr val="tx1"/>
              </a:solidFill>
              <a:latin typeface="Arial Rounded MT Bold" pitchFamily="34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Arial Rounded MT Bold" pitchFamily="34" charset="0"/>
              </a:rPr>
              <a:t>Topic: </a:t>
            </a:r>
            <a:r>
              <a:rPr lang="en-US" sz="1200" dirty="0" smtClean="0">
                <a:solidFill>
                  <a:schemeClr val="tx1"/>
                </a:solidFill>
                <a:latin typeface="Arial Rounded MT Bold" pitchFamily="34" charset="0"/>
              </a:rPr>
              <a:t>High Performing Teams (October 18)</a:t>
            </a:r>
            <a:endParaRPr lang="en-US" sz="1200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05000" y="3124200"/>
            <a:ext cx="986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Arial Rounded MT Bold" pitchFamily="34" charset="0"/>
              </a:rPr>
              <a:t>March 27</a:t>
            </a:r>
            <a:endParaRPr lang="en-US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86200" y="3962400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Arial Rounded MT Bold" pitchFamily="34" charset="0"/>
              </a:rPr>
              <a:t>June 20</a:t>
            </a:r>
            <a:endParaRPr lang="en-US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34000" y="3124200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Arial Rounded MT Bold" pitchFamily="34" charset="0"/>
              </a:rPr>
              <a:t>August 28</a:t>
            </a:r>
            <a:endParaRPr lang="en-US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47800" y="3733800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bg1"/>
                </a:solidFill>
                <a:latin typeface="Arial Rounded MT Bold" pitchFamily="34" charset="0"/>
              </a:rPr>
              <a:t>Q1</a:t>
            </a:r>
            <a:endParaRPr lang="en-US" sz="10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67600" y="3733800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bg1"/>
                </a:solidFill>
                <a:latin typeface="Arial Rounded MT Bold" pitchFamily="34" charset="0"/>
              </a:rPr>
              <a:t>Q4</a:t>
            </a:r>
            <a:endParaRPr lang="en-US" sz="10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962775" y="3552826"/>
            <a:ext cx="285750" cy="304800"/>
          </a:xfrm>
          <a:prstGeom prst="ellipse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/>
          <p:cNvSpPr/>
          <p:nvPr/>
        </p:nvSpPr>
        <p:spPr>
          <a:xfrm>
            <a:off x="4248150" y="3505200"/>
            <a:ext cx="304800" cy="533400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9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 rot="10800000">
            <a:off x="2209800" y="3352800"/>
            <a:ext cx="304800" cy="533400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9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 rot="10800000">
            <a:off x="5715000" y="3352800"/>
            <a:ext cx="332232" cy="533400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9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rot="5400000">
            <a:off x="2476500" y="3714750"/>
            <a:ext cx="2286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>
            <a:off x="4457700" y="3705225"/>
            <a:ext cx="2286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>
            <a:off x="6438900" y="3714750"/>
            <a:ext cx="2286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52800" y="3733800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bg1"/>
                </a:solidFill>
                <a:latin typeface="Arial Rounded MT Bold" pitchFamily="34" charset="0"/>
              </a:rPr>
              <a:t>Q2</a:t>
            </a:r>
            <a:endParaRPr lang="en-US" sz="10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10200" y="3733800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bg1"/>
                </a:solidFill>
                <a:latin typeface="Arial Rounded MT Bold" pitchFamily="34" charset="0"/>
              </a:rPr>
              <a:t>Q3</a:t>
            </a:r>
            <a:endParaRPr lang="en-US" sz="10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3952875" y="3552825"/>
            <a:ext cx="285750" cy="304800"/>
          </a:xfrm>
          <a:prstGeom prst="ellipse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8153400" y="4724400"/>
            <a:ext cx="285750" cy="304800"/>
          </a:xfrm>
          <a:prstGeom prst="ellipse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3"/>
          <p:cNvPicPr>
            <a:picLocks noChangeAspect="1" noChangeArrowheads="1"/>
          </p:cNvPicPr>
          <p:nvPr/>
        </p:nvPicPr>
        <p:blipFill>
          <a:blip r:embed="rId3" cstate="print"/>
          <a:srcRect r="8145"/>
          <a:stretch>
            <a:fillRect/>
          </a:stretch>
        </p:blipFill>
        <p:spPr bwMode="auto">
          <a:xfrm>
            <a:off x="5133975" y="2649538"/>
            <a:ext cx="4010025" cy="413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Title 1"/>
          <p:cNvSpPr>
            <a:spLocks noGrp="1"/>
          </p:cNvSpPr>
          <p:nvPr>
            <p:ph type="title"/>
          </p:nvPr>
        </p:nvSpPr>
        <p:spPr>
          <a:xfrm>
            <a:off x="76200" y="61913"/>
            <a:ext cx="8229600" cy="609600"/>
          </a:xfrm>
        </p:spPr>
        <p:txBody>
          <a:bodyPr/>
          <a:lstStyle/>
          <a:p>
            <a:pPr algn="ctr"/>
            <a:r>
              <a:rPr lang="en-US" sz="2200" b="1" smtClean="0">
                <a:latin typeface="Tw Cen MT" pitchFamily="34" charset="0"/>
              </a:rPr>
              <a:t>Children’s Leadership Competencies</a:t>
            </a:r>
          </a:p>
        </p:txBody>
      </p:sp>
      <p:sp>
        <p:nvSpPr>
          <p:cNvPr id="13315" name="TextBox 81"/>
          <p:cNvSpPr txBox="1">
            <a:spLocks noChangeArrowheads="1"/>
          </p:cNvSpPr>
          <p:nvPr/>
        </p:nvSpPr>
        <p:spPr bwMode="auto">
          <a:xfrm>
            <a:off x="2917825" y="1073150"/>
            <a:ext cx="1695450" cy="2220913"/>
          </a:xfrm>
          <a:prstGeom prst="rect">
            <a:avLst/>
          </a:prstGeom>
          <a:solidFill>
            <a:schemeClr val="bg1"/>
          </a:solidFill>
          <a:ln w="28575">
            <a:solidFill>
              <a:srgbClr val="009D57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dirty="0">
                <a:latin typeface="Tw Cen MT" pitchFamily="34" charset="0"/>
              </a:rPr>
              <a:t>Build a Strong Team</a:t>
            </a:r>
            <a:endParaRPr lang="en-US" sz="1400" dirty="0">
              <a:latin typeface="Tw Cen MT" pitchFamily="34" charset="0"/>
            </a:endParaRPr>
          </a:p>
          <a:p>
            <a:pPr>
              <a:defRPr/>
            </a:pPr>
            <a:endParaRPr lang="en-US" sz="1200" b="1" dirty="0">
              <a:latin typeface="Tw Cen MT" pitchFamily="34" charset="0"/>
            </a:endParaRP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Hire and keep the best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Delegate authority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Trust your team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Celebrate success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Promote   development</a:t>
            </a:r>
            <a:endParaRPr lang="en-US" sz="1200" b="1" dirty="0">
              <a:latin typeface="Tw Cen MT" pitchFamily="34" charset="0"/>
            </a:endParaRP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endParaRPr lang="en-US" sz="1200" dirty="0">
              <a:latin typeface="Tw Cen MT" pitchFamily="34" charset="0"/>
            </a:endParaRPr>
          </a:p>
        </p:txBody>
      </p:sp>
      <p:sp>
        <p:nvSpPr>
          <p:cNvPr id="13316" name="TextBox 39"/>
          <p:cNvSpPr txBox="1">
            <a:spLocks noChangeArrowheads="1"/>
          </p:cNvSpPr>
          <p:nvPr/>
        </p:nvSpPr>
        <p:spPr bwMode="auto">
          <a:xfrm>
            <a:off x="228600" y="3762375"/>
            <a:ext cx="1676400" cy="2486025"/>
          </a:xfrm>
          <a:prstGeom prst="rect">
            <a:avLst/>
          </a:prstGeom>
          <a:solidFill>
            <a:schemeClr val="bg1"/>
          </a:solidFill>
          <a:ln w="28575">
            <a:solidFill>
              <a:srgbClr val="009DD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dirty="0">
                <a:latin typeface="Tw Cen MT" pitchFamily="34" charset="0"/>
              </a:rPr>
              <a:t>Be Clear and Compelling</a:t>
            </a:r>
            <a:endParaRPr lang="en-US" sz="1400" dirty="0">
              <a:latin typeface="Tw Cen MT" pitchFamily="34" charset="0"/>
            </a:endParaRPr>
          </a:p>
          <a:p>
            <a:pPr>
              <a:defRPr/>
            </a:pPr>
            <a:endParaRPr lang="en-US" sz="1200" b="1" dirty="0">
              <a:latin typeface="Tw Cen MT" pitchFamily="34" charset="0"/>
            </a:endParaRP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Know your audience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Set context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Manage the message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Make your point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Exercise clarity and brevity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endParaRPr lang="en-US" sz="1400" dirty="0">
              <a:latin typeface="Tw Cen MT" pitchFamily="34" charset="0"/>
            </a:endParaRPr>
          </a:p>
        </p:txBody>
      </p:sp>
      <p:sp>
        <p:nvSpPr>
          <p:cNvPr id="13317" name="TextBox 40"/>
          <p:cNvSpPr txBox="1">
            <a:spLocks noChangeArrowheads="1"/>
          </p:cNvSpPr>
          <p:nvPr/>
        </p:nvSpPr>
        <p:spPr bwMode="auto">
          <a:xfrm>
            <a:off x="3851275" y="3762375"/>
            <a:ext cx="1676400" cy="2486025"/>
          </a:xfrm>
          <a:prstGeom prst="rect">
            <a:avLst/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dirty="0">
                <a:latin typeface="Tw Cen MT" pitchFamily="34" charset="0"/>
              </a:rPr>
              <a:t>Grow Relationships</a:t>
            </a:r>
            <a:endParaRPr lang="en-US" sz="1400" dirty="0">
              <a:latin typeface="Tw Cen MT" pitchFamily="34" charset="0"/>
            </a:endParaRPr>
          </a:p>
          <a:p>
            <a:pPr>
              <a:defRPr/>
            </a:pPr>
            <a:endParaRPr lang="en-US" sz="1200" b="1" dirty="0">
              <a:latin typeface="Tw Cen MT" pitchFamily="34" charset="0"/>
            </a:endParaRPr>
          </a:p>
          <a:p>
            <a:pPr>
              <a:defRPr/>
            </a:pPr>
            <a:endParaRPr lang="en-US" sz="1200" b="1" dirty="0">
              <a:latin typeface="Tw Cen MT" pitchFamily="34" charset="0"/>
            </a:endParaRP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Know your customer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Work across    boundaries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Value perspectives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Play well with others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Foster trust</a:t>
            </a:r>
            <a:endParaRPr lang="en-US" sz="2400" b="1" dirty="0">
              <a:latin typeface="Tw Cen MT" pitchFamily="34" charset="0"/>
            </a:endParaRP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endParaRPr lang="en-US" sz="1200" dirty="0">
              <a:latin typeface="Tw Cen MT" pitchFamily="34" charset="0"/>
            </a:endParaRPr>
          </a:p>
        </p:txBody>
      </p:sp>
      <p:sp>
        <p:nvSpPr>
          <p:cNvPr id="13318" name="TextBox 42"/>
          <p:cNvSpPr txBox="1">
            <a:spLocks noChangeArrowheads="1"/>
          </p:cNvSpPr>
          <p:nvPr/>
        </p:nvSpPr>
        <p:spPr bwMode="auto">
          <a:xfrm>
            <a:off x="1998663" y="3762375"/>
            <a:ext cx="1752600" cy="2513013"/>
          </a:xfrm>
          <a:prstGeom prst="rect">
            <a:avLst/>
          </a:prstGeom>
          <a:noFill/>
          <a:ln w="28575">
            <a:solidFill>
              <a:srgbClr val="ED1B2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dirty="0">
                <a:latin typeface="Tw Cen MT" pitchFamily="34" charset="0"/>
              </a:rPr>
              <a:t>Be a Leader</a:t>
            </a:r>
            <a:endParaRPr lang="en-US" sz="1400" dirty="0">
              <a:latin typeface="Tw Cen MT" pitchFamily="34" charset="0"/>
            </a:endParaRPr>
          </a:p>
          <a:p>
            <a:pPr>
              <a:defRPr/>
            </a:pPr>
            <a:endParaRPr lang="en-US" sz="1200" b="1" dirty="0">
              <a:latin typeface="Tw Cen MT" pitchFamily="34" charset="0"/>
            </a:endParaRPr>
          </a:p>
          <a:p>
            <a:pPr>
              <a:defRPr/>
            </a:pPr>
            <a:endParaRPr lang="en-US" sz="1200" b="1" dirty="0">
              <a:latin typeface="Tw Cen MT" pitchFamily="34" charset="0"/>
            </a:endParaRP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Work with energy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Be confident and    decisive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Balance listening and responding  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Continue to learn and grow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Be polished and poised </a:t>
            </a:r>
          </a:p>
        </p:txBody>
      </p:sp>
      <p:sp>
        <p:nvSpPr>
          <p:cNvPr id="13319" name="TextBox 43"/>
          <p:cNvSpPr txBox="1">
            <a:spLocks noChangeArrowheads="1"/>
          </p:cNvSpPr>
          <p:nvPr/>
        </p:nvSpPr>
        <p:spPr bwMode="auto">
          <a:xfrm>
            <a:off x="1160463" y="1073150"/>
            <a:ext cx="1666875" cy="2220913"/>
          </a:xfrm>
          <a:prstGeom prst="rect">
            <a:avLst/>
          </a:prstGeom>
          <a:solidFill>
            <a:schemeClr val="bg1"/>
          </a:solidFill>
          <a:ln w="28575">
            <a:solidFill>
              <a:srgbClr val="F7941E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dirty="0">
                <a:latin typeface="Tw Cen MT" pitchFamily="34" charset="0"/>
              </a:rPr>
              <a:t>Get Results</a:t>
            </a:r>
          </a:p>
          <a:p>
            <a:pPr>
              <a:defRPr/>
            </a:pPr>
            <a:endParaRPr lang="en-US" sz="1200" b="1" dirty="0">
              <a:latin typeface="Tw Cen MT" pitchFamily="34" charset="0"/>
            </a:endParaRP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Understand issues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Connect the dots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Make decisions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Be efficient and consistent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r>
              <a:rPr lang="en-US" sz="1200" dirty="0">
                <a:latin typeface="Tw Cen MT" pitchFamily="34" charset="0"/>
              </a:rPr>
              <a:t>Set expectations</a:t>
            </a:r>
          </a:p>
          <a:p>
            <a: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/>
            </a:pPr>
            <a:endParaRPr lang="en-US" sz="1200" dirty="0">
              <a:latin typeface="Tw Cen MT" pitchFamily="34" charset="0"/>
            </a:endParaRPr>
          </a:p>
        </p:txBody>
      </p:sp>
      <p:pic>
        <p:nvPicPr>
          <p:cNvPr id="11273" name="Picture 6" descr="Hope-and-Will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31163" y="6299200"/>
            <a:ext cx="1112837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5105400" y="990600"/>
            <a:ext cx="3352800" cy="160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9DDC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sz="1400" dirty="0">
                <a:latin typeface="Tw Cen MT" pitchFamily="34" charset="0"/>
              </a:rPr>
              <a:t>Leadership competencies outline the behaviors required for success as a leader.</a:t>
            </a:r>
          </a:p>
          <a:p>
            <a:pPr algn="ctr">
              <a:defRPr/>
            </a:pPr>
            <a:endParaRPr lang="en-US" sz="1400" dirty="0">
              <a:latin typeface="Tw Cen MT" pitchFamily="34" charset="0"/>
            </a:endParaRPr>
          </a:p>
          <a:p>
            <a:pPr algn="ctr">
              <a:defRPr/>
            </a:pPr>
            <a:r>
              <a:rPr lang="en-US" sz="1400" dirty="0">
                <a:latin typeface="Tw Cen MT" pitchFamily="34" charset="0"/>
              </a:rPr>
              <a:t>They provide the foundation for everything we do to recruit, develop and retain the talent that makes Children’s Healthcare      of Atlanta a best place to work.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04800" y="674688"/>
            <a:ext cx="8534400" cy="0"/>
          </a:xfrm>
          <a:prstGeom prst="line">
            <a:avLst/>
          </a:prstGeom>
          <a:ln w="28575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7"/>
          <p:cNvSpPr txBox="1">
            <a:spLocks noChangeArrowheads="1"/>
          </p:cNvSpPr>
          <p:nvPr/>
        </p:nvSpPr>
        <p:spPr bwMode="auto">
          <a:xfrm>
            <a:off x="1868488" y="107950"/>
            <a:ext cx="54625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>
                <a:latin typeface="Tw Cen MT" pitchFamily="34" charset="0"/>
              </a:rPr>
              <a:t>              Get Results 	                          Build a Strong Team</a:t>
            </a:r>
            <a:endParaRPr lang="en-US" sz="1600" b="1">
              <a:solidFill>
                <a:srgbClr val="FF0000"/>
              </a:solidFill>
              <a:latin typeface="Tw Cen MT" pitchFamily="34" charset="0"/>
            </a:endParaRPr>
          </a:p>
        </p:txBody>
      </p:sp>
      <p:sp>
        <p:nvSpPr>
          <p:cNvPr id="12291" name="TextBox 17"/>
          <p:cNvSpPr txBox="1">
            <a:spLocks noChangeArrowheads="1"/>
          </p:cNvSpPr>
          <p:nvPr/>
        </p:nvSpPr>
        <p:spPr bwMode="auto">
          <a:xfrm>
            <a:off x="328613" y="3548063"/>
            <a:ext cx="835818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>
                <a:latin typeface="Tw Cen MT" pitchFamily="34" charset="0"/>
              </a:rPr>
              <a:t>       Be Clear and Compelling                        Be a Leader                         Grow Relationships</a:t>
            </a:r>
            <a:endParaRPr lang="en-US" sz="1600" b="1">
              <a:solidFill>
                <a:srgbClr val="FF0000"/>
              </a:solidFill>
              <a:latin typeface="Tw Cen MT" pitchFamily="34" charset="0"/>
            </a:endParaRPr>
          </a:p>
        </p:txBody>
      </p:sp>
      <p:pic>
        <p:nvPicPr>
          <p:cNvPr id="12292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463" y="465138"/>
            <a:ext cx="2652712" cy="283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95838" y="469900"/>
            <a:ext cx="2590800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3250" y="3868738"/>
            <a:ext cx="2468563" cy="288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5" name="Picture 1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48388" y="3870325"/>
            <a:ext cx="2386012" cy="288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6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78188" y="3875088"/>
            <a:ext cx="2665412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12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w Cen MT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0FB2C6ABEC65479E8AA3347DD68E86" ma:contentTypeVersion="0" ma:contentTypeDescription="Create a new document." ma:contentTypeScope="" ma:versionID="a2d51b441e9a126f29512c348ec8f8ed">
  <xsd:schema xmlns:xsd="http://www.w3.org/2001/XMLSchema" xmlns:xs="http://www.w3.org/2001/XMLSchema" xmlns:p="http://schemas.microsoft.com/office/2006/metadata/properties" xmlns:ns2="ba5c537b-76b1-4cd5-9d4c-86b4b8c0019a" targetNamespace="http://schemas.microsoft.com/office/2006/metadata/properties" ma:root="true" ma:fieldsID="039c945749aff10dd2fa070e50eba845" ns2:_="">
    <xsd:import namespace="ba5c537b-76b1-4cd5-9d4c-86b4b8c0019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5c537b-76b1-4cd5-9d4c-86b4b8c0019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D963D8ED-181A-432D-AE19-FA0D5420C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36295A-B945-4C82-8C6B-F853A8DC4A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5c537b-76b1-4cd5-9d4c-86b4b8c001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2734BC-A3C4-46C6-8948-71C8C5B1A97B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ba5c537b-76b1-4cd5-9d4c-86b4b8c0019a"/>
    <ds:schemaRef ds:uri="http://schemas.openxmlformats.org/package/2006/metadata/core-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D8A9D14F-C51F-40D1-964D-79174CFB373E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9129</TotalTime>
  <Words>306</Words>
  <Application>Microsoft Office PowerPoint</Application>
  <PresentationFormat>On-screen Show (4:3)</PresentationFormat>
  <Paragraphs>85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2012 Template</vt:lpstr>
      <vt:lpstr>2013 Required Leader Development</vt:lpstr>
      <vt:lpstr>Children’s Leadership Competencies</vt:lpstr>
      <vt:lpstr>Slide 3</vt:lpstr>
    </vt:vector>
  </TitlesOfParts>
  <Company>Children's Healthcare of Atlanta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Children’s Healthcare of Atlanta</dc:title>
  <dc:creator>Chris Thornton</dc:creator>
  <cp:lastModifiedBy>mg8966</cp:lastModifiedBy>
  <cp:revision>607</cp:revision>
  <cp:lastPrinted>2012-03-27T20:50:30Z</cp:lastPrinted>
  <dcterms:created xsi:type="dcterms:W3CDTF">2012-03-06T21:24:02Z</dcterms:created>
  <dcterms:modified xsi:type="dcterms:W3CDTF">2013-04-11T23:57:26Z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0x0101001B0FB2C6ABEC65479E8AA3347DD68E86</vt:lpwstr>
  </property>
</Properties>
</file>