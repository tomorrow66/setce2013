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diagrams/drawing2.xml" ContentType="application/vnd.ms-office.drawingml.diagramDrawing+xml"/>
  <Override PartName="/customXml/itemProps1.xml" ContentType="application/vnd.openxmlformats-officedocument.customXmlProperties+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diagrams/quickStyle2.xml" ContentType="application/vnd.openxmlformats-officedocument.drawingml.diagramStyl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diagrams/layout3.xml" ContentType="application/vnd.openxmlformats-officedocument.drawingml.diagramLayout+xml"/>
  <Override PartName="/ppt/diagrams/data4.xml" ContentType="application/vnd.openxmlformats-officedocument.drawingml.diagramData+xml"/>
  <Override PartName="/ppt/notesSlides/notesSlide9.xml" ContentType="application/vnd.openxmlformats-officedocument.presentationml.notesSlide+xml"/>
  <Override PartName="/ppt/diagrams/layout1.xml" ContentType="application/vnd.openxmlformats-officedocument.drawingml.diagramLayout+xml"/>
  <Override PartName="/ppt/diagrams/data2.xml" ContentType="application/vnd.openxmlformats-officedocument.drawingml.diagramData+xml"/>
  <Override PartName="/ppt/notesSlides/notesSlide7.xml" ContentType="application/vnd.openxmlformats-officedocument.presentationml.notesSlide+xml"/>
  <Override PartName="/ppt/notesSlides/notesSlide10.xml" ContentType="application/vnd.openxmlformats-officedocument.presentationml.notesSlide+xml"/>
  <Override PartName="/customXml/itemProps4.xml" ContentType="application/vnd.openxmlformats-officedocument.customXmlProperties+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diagrams/colors4.xml" ContentType="application/vnd.openxmlformats-officedocument.drawingml.diagramColor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diagrams/colors2.xml" ContentType="application/vnd.openxmlformats-officedocument.drawingml.diagramColors+xml"/>
  <Override PartName="/ppt/diagrams/drawing3.xml" ContentType="application/vnd.ms-office.drawingml.diagramDrawing+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diagrams/quickStyle3.xml" ContentType="application/vnd.openxmlformats-officedocument.drawingml.diagramStyl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diagrams/layout4.xml" ContentType="application/vnd.openxmlformats-officedocument.drawingml.diagramLayout+xml"/>
  <Override PartName="/ppt/slideLayouts/slideLayout10.xml" ContentType="application/vnd.openxmlformats-officedocument.presentationml.slideLayout+xml"/>
  <Override PartName="/ppt/diagrams/layout2.xml" ContentType="application/vnd.openxmlformats-officedocument.drawingml.diagramLayout+xml"/>
  <Override PartName="/ppt/notesSlides/notesSlide8.xml" ContentType="application/vnd.openxmlformats-officedocument.presentationml.notesSlide+xml"/>
  <Override PartName="/ppt/diagrams/data3.xml" ContentType="application/vnd.openxmlformats-officedocument.drawingml.diagramData+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diagrams/data1.xml" ContentType="application/vnd.openxmlformats-officedocument.drawingml.diagramData+xml"/>
  <Override PartName="/ppt/notesSlides/notesSlide4.xml" ContentType="application/vnd.openxmlformats-officedocument.presentationml.notesSlide+xml"/>
  <Override PartName="/ppt/diagrams/colors3.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customXml/itemProps3.xml" ContentType="application/vnd.openxmlformats-officedocument.customXml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diagrams/quickStyle4.xml" ContentType="application/vnd.openxmlformats-officedocument.drawingml.diagramStyl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Layouts/slideLayout15.xml" ContentType="application/vnd.openxmlformats-officedocument.presentationml.slideLayout+xml"/>
  <Default Extension="rels" ContentType="application/vnd.openxmlformats-package.relationshi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notesMasterIdLst>
    <p:notesMasterId r:id="rId52"/>
  </p:notesMasterIdLst>
  <p:handoutMasterIdLst>
    <p:handoutMasterId r:id="rId53"/>
  </p:handoutMasterIdLst>
  <p:sldIdLst>
    <p:sldId id="321" r:id="rId6"/>
    <p:sldId id="412" r:id="rId7"/>
    <p:sldId id="431" r:id="rId8"/>
    <p:sldId id="367" r:id="rId9"/>
    <p:sldId id="385" r:id="rId10"/>
    <p:sldId id="445" r:id="rId11"/>
    <p:sldId id="446" r:id="rId12"/>
    <p:sldId id="452" r:id="rId13"/>
    <p:sldId id="453" r:id="rId14"/>
    <p:sldId id="454" r:id="rId15"/>
    <p:sldId id="455" r:id="rId16"/>
    <p:sldId id="456" r:id="rId17"/>
    <p:sldId id="457" r:id="rId18"/>
    <p:sldId id="458" r:id="rId19"/>
    <p:sldId id="459" r:id="rId20"/>
    <p:sldId id="377" r:id="rId21"/>
    <p:sldId id="460" r:id="rId22"/>
    <p:sldId id="378" r:id="rId23"/>
    <p:sldId id="388" r:id="rId24"/>
    <p:sldId id="423" r:id="rId25"/>
    <p:sldId id="413" r:id="rId26"/>
    <p:sldId id="425" r:id="rId27"/>
    <p:sldId id="424" r:id="rId28"/>
    <p:sldId id="427" r:id="rId29"/>
    <p:sldId id="426" r:id="rId30"/>
    <p:sldId id="428" r:id="rId31"/>
    <p:sldId id="429" r:id="rId32"/>
    <p:sldId id="430" r:id="rId33"/>
    <p:sldId id="450" r:id="rId34"/>
    <p:sldId id="461" r:id="rId35"/>
    <p:sldId id="420" r:id="rId36"/>
    <p:sldId id="462" r:id="rId37"/>
    <p:sldId id="405" r:id="rId38"/>
    <p:sldId id="435" r:id="rId39"/>
    <p:sldId id="443" r:id="rId40"/>
    <p:sldId id="436" r:id="rId41"/>
    <p:sldId id="437" r:id="rId42"/>
    <p:sldId id="438" r:id="rId43"/>
    <p:sldId id="439" r:id="rId44"/>
    <p:sldId id="440" r:id="rId45"/>
    <p:sldId id="441" r:id="rId46"/>
    <p:sldId id="442" r:id="rId47"/>
    <p:sldId id="444" r:id="rId48"/>
    <p:sldId id="451" r:id="rId49"/>
    <p:sldId id="448" r:id="rId50"/>
    <p:sldId id="447" r:id="rId51"/>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FFFFCC"/>
    <a:srgbClr val="009D57"/>
    <a:srgbClr val="CC3300"/>
    <a:srgbClr val="FFFF99"/>
    <a:srgbClr val="E9E6D7"/>
    <a:srgbClr val="00AA50"/>
    <a:srgbClr val="FF3399"/>
    <a:srgbClr val="0594FF"/>
    <a:srgbClr val="780032"/>
    <a:srgbClr val="7AC142"/>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78" autoAdjust="0"/>
    <p:restoredTop sz="98785" autoAdjust="0"/>
  </p:normalViewPr>
  <p:slideViewPr>
    <p:cSldViewPr>
      <p:cViewPr>
        <p:scale>
          <a:sx n="100" d="100"/>
          <a:sy n="100" d="100"/>
        </p:scale>
        <p:origin x="-264" y="-19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p:scale>
          <a:sx n="80" d="100"/>
          <a:sy n="80" d="100"/>
        </p:scale>
        <p:origin x="-1938" y="-78"/>
      </p:cViewPr>
      <p:guideLst>
        <p:guide orient="horz" pos="2928"/>
        <p:guide pos="2208"/>
      </p:guideLst>
    </p:cSldViewPr>
  </p:notes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handoutMaster" Target="handoutMasters/handoutMaster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notesMaster" Target="notesMasters/notesMaster1.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719319B-A4D9-49B7-9214-5A5E3345BC72}" type="doc">
      <dgm:prSet loTypeId="urn:microsoft.com/office/officeart/2005/8/layout/radial6" loCatId="cycle" qsTypeId="urn:microsoft.com/office/officeart/2005/8/quickstyle/simple1" qsCatId="simple" csTypeId="urn:microsoft.com/office/officeart/2005/8/colors/accent1_2" csCatId="accent1" phldr="1"/>
      <dgm:spPr/>
      <dgm:t>
        <a:bodyPr/>
        <a:lstStyle/>
        <a:p>
          <a:endParaRPr lang="en-US"/>
        </a:p>
      </dgm:t>
    </dgm:pt>
    <dgm:pt modelId="{E47C0744-60D6-410D-947D-503572C4224B}">
      <dgm:prSet phldrT="[Text]" custT="1"/>
      <dgm:spPr>
        <a:solidFill>
          <a:schemeClr val="tx2">
            <a:lumMod val="60000"/>
            <a:lumOff val="40000"/>
          </a:schemeClr>
        </a:solidFill>
      </dgm:spPr>
      <dgm:t>
        <a:bodyPr/>
        <a:lstStyle/>
        <a:p>
          <a:r>
            <a:rPr lang="en-US" sz="1400" b="1" dirty="0" smtClean="0"/>
            <a:t>Learning &amp; Leadership Development</a:t>
          </a:r>
        </a:p>
      </dgm:t>
    </dgm:pt>
    <dgm:pt modelId="{2FDF146D-6D45-4FEC-A8B3-D680A2DAA861}" type="parTrans" cxnId="{518BF878-BD38-4E15-AE78-E7EB102C6668}">
      <dgm:prSet/>
      <dgm:spPr/>
      <dgm:t>
        <a:bodyPr/>
        <a:lstStyle/>
        <a:p>
          <a:endParaRPr lang="en-US"/>
        </a:p>
      </dgm:t>
    </dgm:pt>
    <dgm:pt modelId="{2731C63A-C441-45D7-BA70-77B1BEB62157}" type="sibTrans" cxnId="{518BF878-BD38-4E15-AE78-E7EB102C6668}">
      <dgm:prSet/>
      <dgm:spPr/>
      <dgm:t>
        <a:bodyPr/>
        <a:lstStyle/>
        <a:p>
          <a:endParaRPr lang="en-US"/>
        </a:p>
      </dgm:t>
    </dgm:pt>
    <dgm:pt modelId="{772208A3-1690-4EC5-86AB-C803368CC0CC}">
      <dgm:prSet phldrT="[Text]" custT="1"/>
      <dgm:spPr>
        <a:solidFill>
          <a:srgbClr val="009D57"/>
        </a:solidFill>
      </dgm:spPr>
      <dgm:t>
        <a:bodyPr/>
        <a:lstStyle/>
        <a:p>
          <a:r>
            <a:rPr lang="en-US" sz="1200" dirty="0" smtClean="0"/>
            <a:t>CFL</a:t>
          </a:r>
          <a:endParaRPr lang="en-US" sz="1200" dirty="0"/>
        </a:p>
      </dgm:t>
    </dgm:pt>
    <dgm:pt modelId="{6B6FBBB9-6E83-4129-9EDD-7B24A2729280}" type="parTrans" cxnId="{7604A605-A279-413D-9982-8A449863F547}">
      <dgm:prSet/>
      <dgm:spPr/>
      <dgm:t>
        <a:bodyPr/>
        <a:lstStyle/>
        <a:p>
          <a:endParaRPr lang="en-US"/>
        </a:p>
      </dgm:t>
    </dgm:pt>
    <dgm:pt modelId="{326D9719-8408-4856-B030-BA55BFA38231}" type="sibTrans" cxnId="{7604A605-A279-413D-9982-8A449863F547}">
      <dgm:prSet/>
      <dgm:spPr/>
      <dgm:t>
        <a:bodyPr/>
        <a:lstStyle/>
        <a:p>
          <a:endParaRPr lang="en-US" dirty="0"/>
        </a:p>
      </dgm:t>
    </dgm:pt>
    <dgm:pt modelId="{FBEE1272-9687-4A5D-846A-B4B7817AA575}">
      <dgm:prSet phldrT="[Text]" custT="1"/>
      <dgm:spPr>
        <a:solidFill>
          <a:schemeClr val="bg1">
            <a:lumMod val="65000"/>
          </a:schemeClr>
        </a:solidFill>
      </dgm:spPr>
      <dgm:t>
        <a:bodyPr/>
        <a:lstStyle/>
        <a:p>
          <a:r>
            <a:rPr lang="en-US" sz="1100" dirty="0" smtClean="0"/>
            <a:t>Clinical Staff Development</a:t>
          </a:r>
          <a:endParaRPr lang="en-US" sz="1100" dirty="0"/>
        </a:p>
      </dgm:t>
    </dgm:pt>
    <dgm:pt modelId="{D2BC389A-916E-4F63-BF2B-F51AD58E0D6A}" type="parTrans" cxnId="{3A071F69-A136-478B-ADEA-3FD4DE6B03F1}">
      <dgm:prSet/>
      <dgm:spPr/>
      <dgm:t>
        <a:bodyPr/>
        <a:lstStyle/>
        <a:p>
          <a:endParaRPr lang="en-US"/>
        </a:p>
      </dgm:t>
    </dgm:pt>
    <dgm:pt modelId="{609DD571-488D-4721-8062-90BE9F2C2019}" type="sibTrans" cxnId="{3A071F69-A136-478B-ADEA-3FD4DE6B03F1}">
      <dgm:prSet/>
      <dgm:spPr/>
      <dgm:t>
        <a:bodyPr/>
        <a:lstStyle/>
        <a:p>
          <a:endParaRPr lang="en-US" dirty="0"/>
        </a:p>
      </dgm:t>
    </dgm:pt>
    <dgm:pt modelId="{128B1D6D-C03F-49D6-8026-EFEF3F4E08F1}">
      <dgm:prSet phldrT="[Text]" custT="1"/>
      <dgm:spPr>
        <a:solidFill>
          <a:schemeClr val="bg1">
            <a:lumMod val="65000"/>
          </a:schemeClr>
        </a:solidFill>
      </dgm:spPr>
      <dgm:t>
        <a:bodyPr/>
        <a:lstStyle/>
        <a:p>
          <a:r>
            <a:rPr lang="en-US" sz="1100" dirty="0" smtClean="0"/>
            <a:t>Physician CME</a:t>
          </a:r>
          <a:endParaRPr lang="en-US" sz="1100" dirty="0"/>
        </a:p>
      </dgm:t>
    </dgm:pt>
    <dgm:pt modelId="{EE5ED3F1-9773-46EE-A367-BE2AE697B1ED}" type="parTrans" cxnId="{84BE2F1F-2531-484E-9BE2-32826065ADAF}">
      <dgm:prSet/>
      <dgm:spPr/>
      <dgm:t>
        <a:bodyPr/>
        <a:lstStyle/>
        <a:p>
          <a:endParaRPr lang="en-US"/>
        </a:p>
      </dgm:t>
    </dgm:pt>
    <dgm:pt modelId="{3032E85A-A55A-457D-BF7E-5D9E76DDFE94}" type="sibTrans" cxnId="{84BE2F1F-2531-484E-9BE2-32826065ADAF}">
      <dgm:prSet/>
      <dgm:spPr/>
      <dgm:t>
        <a:bodyPr/>
        <a:lstStyle/>
        <a:p>
          <a:endParaRPr lang="en-US" dirty="0"/>
        </a:p>
      </dgm:t>
    </dgm:pt>
    <dgm:pt modelId="{48C0697A-3C2D-4635-AD9B-CE515B21A69F}">
      <dgm:prSet custT="1"/>
      <dgm:spPr>
        <a:solidFill>
          <a:srgbClr val="009D57"/>
        </a:solidFill>
      </dgm:spPr>
      <dgm:t>
        <a:bodyPr/>
        <a:lstStyle/>
        <a:p>
          <a:r>
            <a:rPr lang="en-US" sz="1200" b="0" dirty="0" smtClean="0"/>
            <a:t>Leadership</a:t>
          </a:r>
        </a:p>
        <a:p>
          <a:r>
            <a:rPr lang="en-US" sz="1200" b="0" dirty="0" smtClean="0"/>
            <a:t>Effectiveness</a:t>
          </a:r>
          <a:endParaRPr lang="en-US" sz="1200" b="0" dirty="0"/>
        </a:p>
      </dgm:t>
    </dgm:pt>
    <dgm:pt modelId="{8B2CD790-21B6-405F-9F96-C05458907409}" type="parTrans" cxnId="{A2637674-DFAC-4D80-A8B1-5538EACD3A44}">
      <dgm:prSet/>
      <dgm:spPr/>
      <dgm:t>
        <a:bodyPr/>
        <a:lstStyle/>
        <a:p>
          <a:endParaRPr lang="en-US"/>
        </a:p>
      </dgm:t>
    </dgm:pt>
    <dgm:pt modelId="{B711291A-C265-46D4-BEF6-5661D9550369}" type="sibTrans" cxnId="{A2637674-DFAC-4D80-A8B1-5538EACD3A44}">
      <dgm:prSet/>
      <dgm:spPr/>
      <dgm:t>
        <a:bodyPr/>
        <a:lstStyle/>
        <a:p>
          <a:endParaRPr lang="en-US" dirty="0"/>
        </a:p>
      </dgm:t>
    </dgm:pt>
    <dgm:pt modelId="{F7D00212-6B8D-46F8-92D0-420388CD76F4}">
      <dgm:prSet custT="1"/>
      <dgm:spPr>
        <a:solidFill>
          <a:schemeClr val="bg1">
            <a:lumMod val="65000"/>
          </a:schemeClr>
        </a:solidFill>
      </dgm:spPr>
      <dgm:t>
        <a:bodyPr/>
        <a:lstStyle/>
        <a:p>
          <a:r>
            <a:rPr lang="en-US" sz="1100" dirty="0" smtClean="0"/>
            <a:t>Professional</a:t>
          </a:r>
        </a:p>
        <a:p>
          <a:r>
            <a:rPr lang="en-US" sz="1100" dirty="0" smtClean="0"/>
            <a:t>Staff Development</a:t>
          </a:r>
          <a:endParaRPr lang="en-US" sz="1100" dirty="0"/>
        </a:p>
      </dgm:t>
    </dgm:pt>
    <dgm:pt modelId="{E089BB5E-A533-4BFE-A22B-3FA6357B5F93}" type="parTrans" cxnId="{886588C8-EDC5-4FCF-B6C8-D76B12B0DC26}">
      <dgm:prSet/>
      <dgm:spPr/>
      <dgm:t>
        <a:bodyPr/>
        <a:lstStyle/>
        <a:p>
          <a:endParaRPr lang="en-US"/>
        </a:p>
      </dgm:t>
    </dgm:pt>
    <dgm:pt modelId="{278ABACC-2AEF-47A2-B9D5-0B1F9D94C80B}" type="sibTrans" cxnId="{886588C8-EDC5-4FCF-B6C8-D76B12B0DC26}">
      <dgm:prSet/>
      <dgm:spPr/>
      <dgm:t>
        <a:bodyPr/>
        <a:lstStyle/>
        <a:p>
          <a:endParaRPr lang="en-US" dirty="0"/>
        </a:p>
      </dgm:t>
    </dgm:pt>
    <dgm:pt modelId="{41504717-B455-4E6F-BA3E-7CC53BC04C0F}">
      <dgm:prSet custT="1"/>
      <dgm:spPr>
        <a:solidFill>
          <a:schemeClr val="bg1">
            <a:lumMod val="65000"/>
          </a:schemeClr>
        </a:solidFill>
      </dgm:spPr>
      <dgm:t>
        <a:bodyPr/>
        <a:lstStyle/>
        <a:p>
          <a:r>
            <a:rPr lang="en-US" sz="1100" dirty="0" smtClean="0"/>
            <a:t>Non-Clinical Staff Development</a:t>
          </a:r>
          <a:endParaRPr lang="en-US" sz="1100" dirty="0"/>
        </a:p>
      </dgm:t>
    </dgm:pt>
    <dgm:pt modelId="{B97D73C3-89BF-4BB1-905E-B68932C9072E}" type="parTrans" cxnId="{AE485C08-E85C-49A7-B897-8D2BA3F63D6C}">
      <dgm:prSet/>
      <dgm:spPr/>
      <dgm:t>
        <a:bodyPr/>
        <a:lstStyle/>
        <a:p>
          <a:endParaRPr lang="en-US"/>
        </a:p>
      </dgm:t>
    </dgm:pt>
    <dgm:pt modelId="{7E9FEE07-4D35-4195-9D36-AB85CB90A38F}" type="sibTrans" cxnId="{AE485C08-E85C-49A7-B897-8D2BA3F63D6C}">
      <dgm:prSet/>
      <dgm:spPr/>
      <dgm:t>
        <a:bodyPr/>
        <a:lstStyle/>
        <a:p>
          <a:endParaRPr lang="en-US" dirty="0"/>
        </a:p>
      </dgm:t>
    </dgm:pt>
    <dgm:pt modelId="{E3EA92E7-0A24-4E98-A7A5-17D4551A03EB}">
      <dgm:prSet custT="1"/>
      <dgm:spPr>
        <a:solidFill>
          <a:srgbClr val="009D57"/>
        </a:solidFill>
      </dgm:spPr>
      <dgm:t>
        <a:bodyPr/>
        <a:lstStyle/>
        <a:p>
          <a:r>
            <a:rPr lang="en-US" sz="1200" dirty="0" smtClean="0"/>
            <a:t>Assessment</a:t>
          </a:r>
          <a:endParaRPr lang="en-US" sz="1200" dirty="0"/>
        </a:p>
      </dgm:t>
    </dgm:pt>
    <dgm:pt modelId="{74900358-E8B0-4731-A677-BB25914810A2}" type="parTrans" cxnId="{F659C750-64A1-46B1-ABBF-0C116AFAD1DA}">
      <dgm:prSet/>
      <dgm:spPr/>
      <dgm:t>
        <a:bodyPr/>
        <a:lstStyle/>
        <a:p>
          <a:endParaRPr lang="en-US"/>
        </a:p>
      </dgm:t>
    </dgm:pt>
    <dgm:pt modelId="{59404BFA-2B24-4103-ABE5-58D9F5280540}" type="sibTrans" cxnId="{F659C750-64A1-46B1-ABBF-0C116AFAD1DA}">
      <dgm:prSet/>
      <dgm:spPr/>
      <dgm:t>
        <a:bodyPr/>
        <a:lstStyle/>
        <a:p>
          <a:endParaRPr lang="en-US" dirty="0"/>
        </a:p>
      </dgm:t>
    </dgm:pt>
    <dgm:pt modelId="{800BBA17-2E93-4F78-93B1-F181038B8BE7}">
      <dgm:prSet custT="1"/>
      <dgm:spPr>
        <a:solidFill>
          <a:srgbClr val="009D57"/>
        </a:solidFill>
      </dgm:spPr>
      <dgm:t>
        <a:bodyPr/>
        <a:lstStyle/>
        <a:p>
          <a:r>
            <a:rPr lang="en-US" sz="1200" dirty="0" smtClean="0"/>
            <a:t>Succession Management</a:t>
          </a:r>
          <a:endParaRPr lang="en-US" sz="1200" dirty="0"/>
        </a:p>
      </dgm:t>
    </dgm:pt>
    <dgm:pt modelId="{31523DA1-5278-489C-8EEF-FAD76C49141C}" type="parTrans" cxnId="{3319B6F4-2935-4B91-8898-1585B1E69F44}">
      <dgm:prSet/>
      <dgm:spPr/>
      <dgm:t>
        <a:bodyPr/>
        <a:lstStyle/>
        <a:p>
          <a:endParaRPr lang="en-US"/>
        </a:p>
      </dgm:t>
    </dgm:pt>
    <dgm:pt modelId="{C8D109D4-8392-4340-B535-BB835477862B}" type="sibTrans" cxnId="{3319B6F4-2935-4B91-8898-1585B1E69F44}">
      <dgm:prSet/>
      <dgm:spPr/>
      <dgm:t>
        <a:bodyPr/>
        <a:lstStyle/>
        <a:p>
          <a:endParaRPr lang="en-US" dirty="0"/>
        </a:p>
      </dgm:t>
    </dgm:pt>
    <dgm:pt modelId="{C10DADBD-B863-46F0-A47B-DADD7D55B04D}">
      <dgm:prSet custT="1"/>
      <dgm:spPr>
        <a:solidFill>
          <a:schemeClr val="bg1">
            <a:lumMod val="65000"/>
          </a:schemeClr>
        </a:solidFill>
      </dgm:spPr>
      <dgm:t>
        <a:bodyPr/>
        <a:lstStyle/>
        <a:p>
          <a:r>
            <a:rPr lang="en-US" sz="1100" dirty="0" smtClean="0"/>
            <a:t>Career Development</a:t>
          </a:r>
          <a:endParaRPr lang="en-US" sz="1100" dirty="0"/>
        </a:p>
      </dgm:t>
    </dgm:pt>
    <dgm:pt modelId="{0884213F-3792-4398-A4AA-FB080F781484}" type="parTrans" cxnId="{9610B0EA-B921-4619-9A8B-F14862FF7072}">
      <dgm:prSet/>
      <dgm:spPr/>
      <dgm:t>
        <a:bodyPr/>
        <a:lstStyle/>
        <a:p>
          <a:endParaRPr lang="en-US"/>
        </a:p>
      </dgm:t>
    </dgm:pt>
    <dgm:pt modelId="{DA9BF31E-1CA4-4F38-99F7-7B402E0F82EE}" type="sibTrans" cxnId="{9610B0EA-B921-4619-9A8B-F14862FF7072}">
      <dgm:prSet/>
      <dgm:spPr/>
      <dgm:t>
        <a:bodyPr/>
        <a:lstStyle/>
        <a:p>
          <a:endParaRPr lang="en-US" dirty="0"/>
        </a:p>
      </dgm:t>
    </dgm:pt>
    <dgm:pt modelId="{1AFB58F2-70FF-439F-BC9B-4A3F5F37D11F}" type="pres">
      <dgm:prSet presAssocID="{1719319B-A4D9-49B7-9214-5A5E3345BC72}" presName="Name0" presStyleCnt="0">
        <dgm:presLayoutVars>
          <dgm:chMax val="1"/>
          <dgm:dir/>
          <dgm:animLvl val="ctr"/>
          <dgm:resizeHandles val="exact"/>
        </dgm:presLayoutVars>
      </dgm:prSet>
      <dgm:spPr/>
      <dgm:t>
        <a:bodyPr/>
        <a:lstStyle/>
        <a:p>
          <a:endParaRPr lang="en-US"/>
        </a:p>
      </dgm:t>
    </dgm:pt>
    <dgm:pt modelId="{1A74A29A-219B-4A93-812F-5085DBAACF96}" type="pres">
      <dgm:prSet presAssocID="{E47C0744-60D6-410D-947D-503572C4224B}" presName="centerShape" presStyleLbl="node0" presStyleIdx="0" presStyleCnt="1" custScaleX="266016" custScaleY="252426"/>
      <dgm:spPr/>
      <dgm:t>
        <a:bodyPr/>
        <a:lstStyle/>
        <a:p>
          <a:endParaRPr lang="en-US"/>
        </a:p>
      </dgm:t>
    </dgm:pt>
    <dgm:pt modelId="{A42DE395-93D3-4599-AAD4-E389B50C31F6}" type="pres">
      <dgm:prSet presAssocID="{772208A3-1690-4EC5-86AB-C803368CC0CC}" presName="node" presStyleLbl="node1" presStyleIdx="0" presStyleCnt="9" custScaleX="137371" custScaleY="134913">
        <dgm:presLayoutVars>
          <dgm:bulletEnabled val="1"/>
        </dgm:presLayoutVars>
      </dgm:prSet>
      <dgm:spPr/>
      <dgm:t>
        <a:bodyPr/>
        <a:lstStyle/>
        <a:p>
          <a:endParaRPr lang="en-US"/>
        </a:p>
      </dgm:t>
    </dgm:pt>
    <dgm:pt modelId="{713E18B5-D0C3-4E2F-96E2-7F64B03BC693}" type="pres">
      <dgm:prSet presAssocID="{772208A3-1690-4EC5-86AB-C803368CC0CC}" presName="dummy" presStyleCnt="0"/>
      <dgm:spPr/>
    </dgm:pt>
    <dgm:pt modelId="{AF868255-63C3-4DCA-989A-9EF84AC439F3}" type="pres">
      <dgm:prSet presAssocID="{326D9719-8408-4856-B030-BA55BFA38231}" presName="sibTrans" presStyleLbl="sibTrans2D1" presStyleIdx="0" presStyleCnt="9"/>
      <dgm:spPr/>
      <dgm:t>
        <a:bodyPr/>
        <a:lstStyle/>
        <a:p>
          <a:endParaRPr lang="en-US"/>
        </a:p>
      </dgm:t>
    </dgm:pt>
    <dgm:pt modelId="{AEFC2EF2-2ACD-473A-A430-6CADD592AA28}" type="pres">
      <dgm:prSet presAssocID="{48C0697A-3C2D-4635-AD9B-CE515B21A69F}" presName="node" presStyleLbl="node1" presStyleIdx="1" presStyleCnt="9" custScaleX="137371" custScaleY="134913">
        <dgm:presLayoutVars>
          <dgm:bulletEnabled val="1"/>
        </dgm:presLayoutVars>
      </dgm:prSet>
      <dgm:spPr/>
      <dgm:t>
        <a:bodyPr/>
        <a:lstStyle/>
        <a:p>
          <a:endParaRPr lang="en-US"/>
        </a:p>
      </dgm:t>
    </dgm:pt>
    <dgm:pt modelId="{0F006826-97FF-4936-9546-98E515E75A37}" type="pres">
      <dgm:prSet presAssocID="{48C0697A-3C2D-4635-AD9B-CE515B21A69F}" presName="dummy" presStyleCnt="0"/>
      <dgm:spPr/>
    </dgm:pt>
    <dgm:pt modelId="{F8FD0E94-0346-4E74-8EB6-1F5EE5C6D1BE}" type="pres">
      <dgm:prSet presAssocID="{B711291A-C265-46D4-BEF6-5661D9550369}" presName="sibTrans" presStyleLbl="sibTrans2D1" presStyleIdx="1" presStyleCnt="9"/>
      <dgm:spPr/>
      <dgm:t>
        <a:bodyPr/>
        <a:lstStyle/>
        <a:p>
          <a:endParaRPr lang="en-US"/>
        </a:p>
      </dgm:t>
    </dgm:pt>
    <dgm:pt modelId="{AEAE5296-6B31-4531-ACE9-28D05BD155C6}" type="pres">
      <dgm:prSet presAssocID="{800BBA17-2E93-4F78-93B1-F181038B8BE7}" presName="node" presStyleLbl="node1" presStyleIdx="2" presStyleCnt="9" custScaleX="145506" custScaleY="134913">
        <dgm:presLayoutVars>
          <dgm:bulletEnabled val="1"/>
        </dgm:presLayoutVars>
      </dgm:prSet>
      <dgm:spPr/>
      <dgm:t>
        <a:bodyPr/>
        <a:lstStyle/>
        <a:p>
          <a:endParaRPr lang="en-US"/>
        </a:p>
      </dgm:t>
    </dgm:pt>
    <dgm:pt modelId="{A28E8106-A4C8-4FBE-8F96-0C7BE4FEFE2C}" type="pres">
      <dgm:prSet presAssocID="{800BBA17-2E93-4F78-93B1-F181038B8BE7}" presName="dummy" presStyleCnt="0"/>
      <dgm:spPr/>
    </dgm:pt>
    <dgm:pt modelId="{094C6B48-F62E-4DF4-B032-459D8C525DEB}" type="pres">
      <dgm:prSet presAssocID="{C8D109D4-8392-4340-B535-BB835477862B}" presName="sibTrans" presStyleLbl="sibTrans2D1" presStyleIdx="2" presStyleCnt="9"/>
      <dgm:spPr/>
      <dgm:t>
        <a:bodyPr/>
        <a:lstStyle/>
        <a:p>
          <a:endParaRPr lang="en-US"/>
        </a:p>
      </dgm:t>
    </dgm:pt>
    <dgm:pt modelId="{1F57A71D-A336-4489-8781-3676FE748D4E}" type="pres">
      <dgm:prSet presAssocID="{E3EA92E7-0A24-4E98-A7A5-17D4551A03EB}" presName="node" presStyleLbl="node1" presStyleIdx="3" presStyleCnt="9" custScaleX="137371" custScaleY="134913">
        <dgm:presLayoutVars>
          <dgm:bulletEnabled val="1"/>
        </dgm:presLayoutVars>
      </dgm:prSet>
      <dgm:spPr/>
      <dgm:t>
        <a:bodyPr/>
        <a:lstStyle/>
        <a:p>
          <a:endParaRPr lang="en-US"/>
        </a:p>
      </dgm:t>
    </dgm:pt>
    <dgm:pt modelId="{55B386E8-0A26-46E6-9587-2D37ABE8B80E}" type="pres">
      <dgm:prSet presAssocID="{E3EA92E7-0A24-4E98-A7A5-17D4551A03EB}" presName="dummy" presStyleCnt="0"/>
      <dgm:spPr/>
    </dgm:pt>
    <dgm:pt modelId="{82C2A907-2F90-4F80-B5FE-4937998F3DAB}" type="pres">
      <dgm:prSet presAssocID="{59404BFA-2B24-4103-ABE5-58D9F5280540}" presName="sibTrans" presStyleLbl="sibTrans2D1" presStyleIdx="3" presStyleCnt="9"/>
      <dgm:spPr/>
      <dgm:t>
        <a:bodyPr/>
        <a:lstStyle/>
        <a:p>
          <a:endParaRPr lang="en-US"/>
        </a:p>
      </dgm:t>
    </dgm:pt>
    <dgm:pt modelId="{292B8C0D-AB48-44C4-9C6F-16F3086227AC}" type="pres">
      <dgm:prSet presAssocID="{F7D00212-6B8D-46F8-92D0-420388CD76F4}" presName="node" presStyleLbl="node1" presStyleIdx="4" presStyleCnt="9" custScaleX="137371" custScaleY="134913">
        <dgm:presLayoutVars>
          <dgm:bulletEnabled val="1"/>
        </dgm:presLayoutVars>
      </dgm:prSet>
      <dgm:spPr/>
      <dgm:t>
        <a:bodyPr/>
        <a:lstStyle/>
        <a:p>
          <a:endParaRPr lang="en-US"/>
        </a:p>
      </dgm:t>
    </dgm:pt>
    <dgm:pt modelId="{B313B060-6781-419D-BDC7-1F1C471B9170}" type="pres">
      <dgm:prSet presAssocID="{F7D00212-6B8D-46F8-92D0-420388CD76F4}" presName="dummy" presStyleCnt="0"/>
      <dgm:spPr/>
    </dgm:pt>
    <dgm:pt modelId="{C40ED43E-4A25-4A31-81A2-94542F544D86}" type="pres">
      <dgm:prSet presAssocID="{278ABACC-2AEF-47A2-B9D5-0B1F9D94C80B}" presName="sibTrans" presStyleLbl="sibTrans2D1" presStyleIdx="4" presStyleCnt="9"/>
      <dgm:spPr/>
      <dgm:t>
        <a:bodyPr/>
        <a:lstStyle/>
        <a:p>
          <a:endParaRPr lang="en-US"/>
        </a:p>
      </dgm:t>
    </dgm:pt>
    <dgm:pt modelId="{FC0946B6-8CAE-46D2-952E-1D8448E126B9}" type="pres">
      <dgm:prSet presAssocID="{41504717-B455-4E6F-BA3E-7CC53BC04C0F}" presName="node" presStyleLbl="node1" presStyleIdx="5" presStyleCnt="9" custScaleX="137371" custScaleY="134913">
        <dgm:presLayoutVars>
          <dgm:bulletEnabled val="1"/>
        </dgm:presLayoutVars>
      </dgm:prSet>
      <dgm:spPr/>
      <dgm:t>
        <a:bodyPr/>
        <a:lstStyle/>
        <a:p>
          <a:endParaRPr lang="en-US"/>
        </a:p>
      </dgm:t>
    </dgm:pt>
    <dgm:pt modelId="{AD4D279D-0A8D-4151-A90E-2EA6FC595E40}" type="pres">
      <dgm:prSet presAssocID="{41504717-B455-4E6F-BA3E-7CC53BC04C0F}" presName="dummy" presStyleCnt="0"/>
      <dgm:spPr/>
    </dgm:pt>
    <dgm:pt modelId="{8F5E3302-FF0D-4A1C-B869-EA1E4A75E01D}" type="pres">
      <dgm:prSet presAssocID="{7E9FEE07-4D35-4195-9D36-AB85CB90A38F}" presName="sibTrans" presStyleLbl="sibTrans2D1" presStyleIdx="5" presStyleCnt="9"/>
      <dgm:spPr/>
      <dgm:t>
        <a:bodyPr/>
        <a:lstStyle/>
        <a:p>
          <a:endParaRPr lang="en-US"/>
        </a:p>
      </dgm:t>
    </dgm:pt>
    <dgm:pt modelId="{39564E41-9075-460C-8BF8-9F1D9219F921}" type="pres">
      <dgm:prSet presAssocID="{FBEE1272-9687-4A5D-846A-B4B7817AA575}" presName="node" presStyleLbl="node1" presStyleIdx="6" presStyleCnt="9" custScaleX="137371" custScaleY="134913">
        <dgm:presLayoutVars>
          <dgm:bulletEnabled val="1"/>
        </dgm:presLayoutVars>
      </dgm:prSet>
      <dgm:spPr/>
      <dgm:t>
        <a:bodyPr/>
        <a:lstStyle/>
        <a:p>
          <a:endParaRPr lang="en-US"/>
        </a:p>
      </dgm:t>
    </dgm:pt>
    <dgm:pt modelId="{D0C22FC6-1F7D-4D4A-8EEA-C315ACC1742F}" type="pres">
      <dgm:prSet presAssocID="{FBEE1272-9687-4A5D-846A-B4B7817AA575}" presName="dummy" presStyleCnt="0"/>
      <dgm:spPr/>
    </dgm:pt>
    <dgm:pt modelId="{C92F5051-C3AE-41F2-ADEC-3C987B93566E}" type="pres">
      <dgm:prSet presAssocID="{609DD571-488D-4721-8062-90BE9F2C2019}" presName="sibTrans" presStyleLbl="sibTrans2D1" presStyleIdx="6" presStyleCnt="9"/>
      <dgm:spPr/>
      <dgm:t>
        <a:bodyPr/>
        <a:lstStyle/>
        <a:p>
          <a:endParaRPr lang="en-US"/>
        </a:p>
      </dgm:t>
    </dgm:pt>
    <dgm:pt modelId="{BB42B1AB-F712-4621-B2E1-CC6F80CA0817}" type="pres">
      <dgm:prSet presAssocID="{128B1D6D-C03F-49D6-8026-EFEF3F4E08F1}" presName="node" presStyleLbl="node1" presStyleIdx="7" presStyleCnt="9" custScaleX="137371" custScaleY="134913">
        <dgm:presLayoutVars>
          <dgm:bulletEnabled val="1"/>
        </dgm:presLayoutVars>
      </dgm:prSet>
      <dgm:spPr/>
      <dgm:t>
        <a:bodyPr/>
        <a:lstStyle/>
        <a:p>
          <a:endParaRPr lang="en-US"/>
        </a:p>
      </dgm:t>
    </dgm:pt>
    <dgm:pt modelId="{C92E16EA-F59D-4FC0-8036-6CDDA65AF60E}" type="pres">
      <dgm:prSet presAssocID="{128B1D6D-C03F-49D6-8026-EFEF3F4E08F1}" presName="dummy" presStyleCnt="0"/>
      <dgm:spPr/>
    </dgm:pt>
    <dgm:pt modelId="{1833FBFE-E012-4ABF-B903-F98678F4A9ED}" type="pres">
      <dgm:prSet presAssocID="{3032E85A-A55A-457D-BF7E-5D9E76DDFE94}" presName="sibTrans" presStyleLbl="sibTrans2D1" presStyleIdx="7" presStyleCnt="9"/>
      <dgm:spPr/>
      <dgm:t>
        <a:bodyPr/>
        <a:lstStyle/>
        <a:p>
          <a:endParaRPr lang="en-US"/>
        </a:p>
      </dgm:t>
    </dgm:pt>
    <dgm:pt modelId="{7F56D647-656F-4481-8495-1FE8D18F6AAB}" type="pres">
      <dgm:prSet presAssocID="{C10DADBD-B863-46F0-A47B-DADD7D55B04D}" presName="node" presStyleLbl="node1" presStyleIdx="8" presStyleCnt="9" custScaleX="137371" custScaleY="134913">
        <dgm:presLayoutVars>
          <dgm:bulletEnabled val="1"/>
        </dgm:presLayoutVars>
      </dgm:prSet>
      <dgm:spPr/>
      <dgm:t>
        <a:bodyPr/>
        <a:lstStyle/>
        <a:p>
          <a:endParaRPr lang="en-US"/>
        </a:p>
      </dgm:t>
    </dgm:pt>
    <dgm:pt modelId="{30A8125E-21CE-4DA2-89C0-43A4AA244039}" type="pres">
      <dgm:prSet presAssocID="{C10DADBD-B863-46F0-A47B-DADD7D55B04D}" presName="dummy" presStyleCnt="0"/>
      <dgm:spPr/>
    </dgm:pt>
    <dgm:pt modelId="{3FB3AB99-1A14-4901-BA16-D23B7CF214D7}" type="pres">
      <dgm:prSet presAssocID="{DA9BF31E-1CA4-4F38-99F7-7B402E0F82EE}" presName="sibTrans" presStyleLbl="sibTrans2D1" presStyleIdx="8" presStyleCnt="9"/>
      <dgm:spPr/>
      <dgm:t>
        <a:bodyPr/>
        <a:lstStyle/>
        <a:p>
          <a:endParaRPr lang="en-US"/>
        </a:p>
      </dgm:t>
    </dgm:pt>
  </dgm:ptLst>
  <dgm:cxnLst>
    <dgm:cxn modelId="{9610B0EA-B921-4619-9A8B-F14862FF7072}" srcId="{E47C0744-60D6-410D-947D-503572C4224B}" destId="{C10DADBD-B863-46F0-A47B-DADD7D55B04D}" srcOrd="8" destOrd="0" parTransId="{0884213F-3792-4398-A4AA-FB080F781484}" sibTransId="{DA9BF31E-1CA4-4F38-99F7-7B402E0F82EE}"/>
    <dgm:cxn modelId="{F659C750-64A1-46B1-ABBF-0C116AFAD1DA}" srcId="{E47C0744-60D6-410D-947D-503572C4224B}" destId="{E3EA92E7-0A24-4E98-A7A5-17D4551A03EB}" srcOrd="3" destOrd="0" parTransId="{74900358-E8B0-4731-A677-BB25914810A2}" sibTransId="{59404BFA-2B24-4103-ABE5-58D9F5280540}"/>
    <dgm:cxn modelId="{3A071F69-A136-478B-ADEA-3FD4DE6B03F1}" srcId="{E47C0744-60D6-410D-947D-503572C4224B}" destId="{FBEE1272-9687-4A5D-846A-B4B7817AA575}" srcOrd="6" destOrd="0" parTransId="{D2BC389A-916E-4F63-BF2B-F51AD58E0D6A}" sibTransId="{609DD571-488D-4721-8062-90BE9F2C2019}"/>
    <dgm:cxn modelId="{7AA8FD04-1474-4366-BA9E-1222DF288240}" type="presOf" srcId="{DA9BF31E-1CA4-4F38-99F7-7B402E0F82EE}" destId="{3FB3AB99-1A14-4901-BA16-D23B7CF214D7}" srcOrd="0" destOrd="0" presId="urn:microsoft.com/office/officeart/2005/8/layout/radial6"/>
    <dgm:cxn modelId="{467464FF-104A-4CB2-9815-92E82E7024CA}" type="presOf" srcId="{128B1D6D-C03F-49D6-8026-EFEF3F4E08F1}" destId="{BB42B1AB-F712-4621-B2E1-CC6F80CA0817}" srcOrd="0" destOrd="0" presId="urn:microsoft.com/office/officeart/2005/8/layout/radial6"/>
    <dgm:cxn modelId="{C889CAFC-CC18-4651-9816-337D35CBB5B3}" type="presOf" srcId="{800BBA17-2E93-4F78-93B1-F181038B8BE7}" destId="{AEAE5296-6B31-4531-ACE9-28D05BD155C6}" srcOrd="0" destOrd="0" presId="urn:microsoft.com/office/officeart/2005/8/layout/radial6"/>
    <dgm:cxn modelId="{C86052AE-DCE5-4252-BEAB-6C4CE26073D8}" type="presOf" srcId="{7E9FEE07-4D35-4195-9D36-AB85CB90A38F}" destId="{8F5E3302-FF0D-4A1C-B869-EA1E4A75E01D}" srcOrd="0" destOrd="0" presId="urn:microsoft.com/office/officeart/2005/8/layout/radial6"/>
    <dgm:cxn modelId="{1E509F80-9277-41F7-85F8-C1387616FB8A}" type="presOf" srcId="{41504717-B455-4E6F-BA3E-7CC53BC04C0F}" destId="{FC0946B6-8CAE-46D2-952E-1D8448E126B9}" srcOrd="0" destOrd="0" presId="urn:microsoft.com/office/officeart/2005/8/layout/radial6"/>
    <dgm:cxn modelId="{A2637674-DFAC-4D80-A8B1-5538EACD3A44}" srcId="{E47C0744-60D6-410D-947D-503572C4224B}" destId="{48C0697A-3C2D-4635-AD9B-CE515B21A69F}" srcOrd="1" destOrd="0" parTransId="{8B2CD790-21B6-405F-9F96-C05458907409}" sibTransId="{B711291A-C265-46D4-BEF6-5661D9550369}"/>
    <dgm:cxn modelId="{F6E4C1BD-36ED-4C8A-B69D-DFB8722C270E}" type="presOf" srcId="{326D9719-8408-4856-B030-BA55BFA38231}" destId="{AF868255-63C3-4DCA-989A-9EF84AC439F3}" srcOrd="0" destOrd="0" presId="urn:microsoft.com/office/officeart/2005/8/layout/radial6"/>
    <dgm:cxn modelId="{22607ED7-CAFA-4350-BD89-D27FAA49A84A}" type="presOf" srcId="{48C0697A-3C2D-4635-AD9B-CE515B21A69F}" destId="{AEFC2EF2-2ACD-473A-A430-6CADD592AA28}" srcOrd="0" destOrd="0" presId="urn:microsoft.com/office/officeart/2005/8/layout/radial6"/>
    <dgm:cxn modelId="{C45DD0B7-0D8E-4354-9A08-5773B973ED70}" type="presOf" srcId="{C8D109D4-8392-4340-B535-BB835477862B}" destId="{094C6B48-F62E-4DF4-B032-459D8C525DEB}" srcOrd="0" destOrd="0" presId="urn:microsoft.com/office/officeart/2005/8/layout/radial6"/>
    <dgm:cxn modelId="{65B9EF84-829C-4AE1-9B10-540458F8209D}" type="presOf" srcId="{3032E85A-A55A-457D-BF7E-5D9E76DDFE94}" destId="{1833FBFE-E012-4ABF-B903-F98678F4A9ED}" srcOrd="0" destOrd="0" presId="urn:microsoft.com/office/officeart/2005/8/layout/radial6"/>
    <dgm:cxn modelId="{7604A605-A279-413D-9982-8A449863F547}" srcId="{E47C0744-60D6-410D-947D-503572C4224B}" destId="{772208A3-1690-4EC5-86AB-C803368CC0CC}" srcOrd="0" destOrd="0" parTransId="{6B6FBBB9-6E83-4129-9EDD-7B24A2729280}" sibTransId="{326D9719-8408-4856-B030-BA55BFA38231}"/>
    <dgm:cxn modelId="{646C8C59-0D6A-42DB-ACCC-E98D02DBE46A}" type="presOf" srcId="{FBEE1272-9687-4A5D-846A-B4B7817AA575}" destId="{39564E41-9075-460C-8BF8-9F1D9219F921}" srcOrd="0" destOrd="0" presId="urn:microsoft.com/office/officeart/2005/8/layout/radial6"/>
    <dgm:cxn modelId="{518BF878-BD38-4E15-AE78-E7EB102C6668}" srcId="{1719319B-A4D9-49B7-9214-5A5E3345BC72}" destId="{E47C0744-60D6-410D-947D-503572C4224B}" srcOrd="0" destOrd="0" parTransId="{2FDF146D-6D45-4FEC-A8B3-D680A2DAA861}" sibTransId="{2731C63A-C441-45D7-BA70-77B1BEB62157}"/>
    <dgm:cxn modelId="{131FB5DE-57DB-4E01-BA3B-D0E0D5386994}" type="presOf" srcId="{E3EA92E7-0A24-4E98-A7A5-17D4551A03EB}" destId="{1F57A71D-A336-4489-8781-3676FE748D4E}" srcOrd="0" destOrd="0" presId="urn:microsoft.com/office/officeart/2005/8/layout/radial6"/>
    <dgm:cxn modelId="{3319B6F4-2935-4B91-8898-1585B1E69F44}" srcId="{E47C0744-60D6-410D-947D-503572C4224B}" destId="{800BBA17-2E93-4F78-93B1-F181038B8BE7}" srcOrd="2" destOrd="0" parTransId="{31523DA1-5278-489C-8EEF-FAD76C49141C}" sibTransId="{C8D109D4-8392-4340-B535-BB835477862B}"/>
    <dgm:cxn modelId="{8C9F0994-1F75-4843-AF54-2DE4624283CD}" type="presOf" srcId="{59404BFA-2B24-4103-ABE5-58D9F5280540}" destId="{82C2A907-2F90-4F80-B5FE-4937998F3DAB}" srcOrd="0" destOrd="0" presId="urn:microsoft.com/office/officeart/2005/8/layout/radial6"/>
    <dgm:cxn modelId="{49C65D8D-6419-4E9F-B0D0-1CC4107D0035}" type="presOf" srcId="{C10DADBD-B863-46F0-A47B-DADD7D55B04D}" destId="{7F56D647-656F-4481-8495-1FE8D18F6AAB}" srcOrd="0" destOrd="0" presId="urn:microsoft.com/office/officeart/2005/8/layout/radial6"/>
    <dgm:cxn modelId="{AE485C08-E85C-49A7-B897-8D2BA3F63D6C}" srcId="{E47C0744-60D6-410D-947D-503572C4224B}" destId="{41504717-B455-4E6F-BA3E-7CC53BC04C0F}" srcOrd="5" destOrd="0" parTransId="{B97D73C3-89BF-4BB1-905E-B68932C9072E}" sibTransId="{7E9FEE07-4D35-4195-9D36-AB85CB90A38F}"/>
    <dgm:cxn modelId="{B06DD06A-D3B5-4DB2-A045-0EA20C7CF8C1}" type="presOf" srcId="{1719319B-A4D9-49B7-9214-5A5E3345BC72}" destId="{1AFB58F2-70FF-439F-BC9B-4A3F5F37D11F}" srcOrd="0" destOrd="0" presId="urn:microsoft.com/office/officeart/2005/8/layout/radial6"/>
    <dgm:cxn modelId="{510AF9CD-A35C-468B-BDB6-8CBBB2E8B1A0}" type="presOf" srcId="{609DD571-488D-4721-8062-90BE9F2C2019}" destId="{C92F5051-C3AE-41F2-ADEC-3C987B93566E}" srcOrd="0" destOrd="0" presId="urn:microsoft.com/office/officeart/2005/8/layout/radial6"/>
    <dgm:cxn modelId="{91909624-F5FA-4A6E-B2D3-82F29C949FA7}" type="presOf" srcId="{E47C0744-60D6-410D-947D-503572C4224B}" destId="{1A74A29A-219B-4A93-812F-5085DBAACF96}" srcOrd="0" destOrd="0" presId="urn:microsoft.com/office/officeart/2005/8/layout/radial6"/>
    <dgm:cxn modelId="{2301BD48-3F92-453E-82FC-FCBA8187C33E}" type="presOf" srcId="{B711291A-C265-46D4-BEF6-5661D9550369}" destId="{F8FD0E94-0346-4E74-8EB6-1F5EE5C6D1BE}" srcOrd="0" destOrd="0" presId="urn:microsoft.com/office/officeart/2005/8/layout/radial6"/>
    <dgm:cxn modelId="{C929FAAA-B09F-4134-B825-664E5123E352}" type="presOf" srcId="{278ABACC-2AEF-47A2-B9D5-0B1F9D94C80B}" destId="{C40ED43E-4A25-4A31-81A2-94542F544D86}" srcOrd="0" destOrd="0" presId="urn:microsoft.com/office/officeart/2005/8/layout/radial6"/>
    <dgm:cxn modelId="{84BE2F1F-2531-484E-9BE2-32826065ADAF}" srcId="{E47C0744-60D6-410D-947D-503572C4224B}" destId="{128B1D6D-C03F-49D6-8026-EFEF3F4E08F1}" srcOrd="7" destOrd="0" parTransId="{EE5ED3F1-9773-46EE-A367-BE2AE697B1ED}" sibTransId="{3032E85A-A55A-457D-BF7E-5D9E76DDFE94}"/>
    <dgm:cxn modelId="{886588C8-EDC5-4FCF-B6C8-D76B12B0DC26}" srcId="{E47C0744-60D6-410D-947D-503572C4224B}" destId="{F7D00212-6B8D-46F8-92D0-420388CD76F4}" srcOrd="4" destOrd="0" parTransId="{E089BB5E-A533-4BFE-A22B-3FA6357B5F93}" sibTransId="{278ABACC-2AEF-47A2-B9D5-0B1F9D94C80B}"/>
    <dgm:cxn modelId="{8D1A079D-BB71-4545-8DCC-04B30F56C71D}" type="presOf" srcId="{772208A3-1690-4EC5-86AB-C803368CC0CC}" destId="{A42DE395-93D3-4599-AAD4-E389B50C31F6}" srcOrd="0" destOrd="0" presId="urn:microsoft.com/office/officeart/2005/8/layout/radial6"/>
    <dgm:cxn modelId="{C012DA7F-6139-443D-B67F-6A364E7C9479}" type="presOf" srcId="{F7D00212-6B8D-46F8-92D0-420388CD76F4}" destId="{292B8C0D-AB48-44C4-9C6F-16F3086227AC}" srcOrd="0" destOrd="0" presId="urn:microsoft.com/office/officeart/2005/8/layout/radial6"/>
    <dgm:cxn modelId="{44A0282C-1FE4-479C-8AC8-876E1A81CE25}" type="presParOf" srcId="{1AFB58F2-70FF-439F-BC9B-4A3F5F37D11F}" destId="{1A74A29A-219B-4A93-812F-5085DBAACF96}" srcOrd="0" destOrd="0" presId="urn:microsoft.com/office/officeart/2005/8/layout/radial6"/>
    <dgm:cxn modelId="{DF6A35F2-4835-469A-9057-FF7DD4ED59C5}" type="presParOf" srcId="{1AFB58F2-70FF-439F-BC9B-4A3F5F37D11F}" destId="{A42DE395-93D3-4599-AAD4-E389B50C31F6}" srcOrd="1" destOrd="0" presId="urn:microsoft.com/office/officeart/2005/8/layout/radial6"/>
    <dgm:cxn modelId="{D5BFCB24-D20F-42F1-BA01-73AD746F61D3}" type="presParOf" srcId="{1AFB58F2-70FF-439F-BC9B-4A3F5F37D11F}" destId="{713E18B5-D0C3-4E2F-96E2-7F64B03BC693}" srcOrd="2" destOrd="0" presId="urn:microsoft.com/office/officeart/2005/8/layout/radial6"/>
    <dgm:cxn modelId="{375491DF-21F6-4F26-B069-616216FDD9C4}" type="presParOf" srcId="{1AFB58F2-70FF-439F-BC9B-4A3F5F37D11F}" destId="{AF868255-63C3-4DCA-989A-9EF84AC439F3}" srcOrd="3" destOrd="0" presId="urn:microsoft.com/office/officeart/2005/8/layout/radial6"/>
    <dgm:cxn modelId="{EEA37F77-9129-4F7E-9C01-0BC4C4610C3B}" type="presParOf" srcId="{1AFB58F2-70FF-439F-BC9B-4A3F5F37D11F}" destId="{AEFC2EF2-2ACD-473A-A430-6CADD592AA28}" srcOrd="4" destOrd="0" presId="urn:microsoft.com/office/officeart/2005/8/layout/radial6"/>
    <dgm:cxn modelId="{AB5AFCE4-2C3B-4B85-8F15-A58DB1B9DD91}" type="presParOf" srcId="{1AFB58F2-70FF-439F-BC9B-4A3F5F37D11F}" destId="{0F006826-97FF-4936-9546-98E515E75A37}" srcOrd="5" destOrd="0" presId="urn:microsoft.com/office/officeart/2005/8/layout/radial6"/>
    <dgm:cxn modelId="{7CC740B0-FA2B-41D0-BA5D-AA8D55946806}" type="presParOf" srcId="{1AFB58F2-70FF-439F-BC9B-4A3F5F37D11F}" destId="{F8FD0E94-0346-4E74-8EB6-1F5EE5C6D1BE}" srcOrd="6" destOrd="0" presId="urn:microsoft.com/office/officeart/2005/8/layout/radial6"/>
    <dgm:cxn modelId="{A3EB46C2-4BF4-4E6C-99CC-4D30A4898C43}" type="presParOf" srcId="{1AFB58F2-70FF-439F-BC9B-4A3F5F37D11F}" destId="{AEAE5296-6B31-4531-ACE9-28D05BD155C6}" srcOrd="7" destOrd="0" presId="urn:microsoft.com/office/officeart/2005/8/layout/radial6"/>
    <dgm:cxn modelId="{396A9805-8F02-4332-8C6D-92FBEDC40C1D}" type="presParOf" srcId="{1AFB58F2-70FF-439F-BC9B-4A3F5F37D11F}" destId="{A28E8106-A4C8-4FBE-8F96-0C7BE4FEFE2C}" srcOrd="8" destOrd="0" presId="urn:microsoft.com/office/officeart/2005/8/layout/radial6"/>
    <dgm:cxn modelId="{FA2DC4F0-A7C5-4919-A251-BEBAC3AADA56}" type="presParOf" srcId="{1AFB58F2-70FF-439F-BC9B-4A3F5F37D11F}" destId="{094C6B48-F62E-4DF4-B032-459D8C525DEB}" srcOrd="9" destOrd="0" presId="urn:microsoft.com/office/officeart/2005/8/layout/radial6"/>
    <dgm:cxn modelId="{61D0F05F-5A5E-4A3B-B86E-CC911B80C7D7}" type="presParOf" srcId="{1AFB58F2-70FF-439F-BC9B-4A3F5F37D11F}" destId="{1F57A71D-A336-4489-8781-3676FE748D4E}" srcOrd="10" destOrd="0" presId="urn:microsoft.com/office/officeart/2005/8/layout/radial6"/>
    <dgm:cxn modelId="{F4CBC3DC-68DC-48F9-9783-B60EA5DDEA00}" type="presParOf" srcId="{1AFB58F2-70FF-439F-BC9B-4A3F5F37D11F}" destId="{55B386E8-0A26-46E6-9587-2D37ABE8B80E}" srcOrd="11" destOrd="0" presId="urn:microsoft.com/office/officeart/2005/8/layout/radial6"/>
    <dgm:cxn modelId="{47C34046-20C3-4183-84E8-A5570CD0B9CB}" type="presParOf" srcId="{1AFB58F2-70FF-439F-BC9B-4A3F5F37D11F}" destId="{82C2A907-2F90-4F80-B5FE-4937998F3DAB}" srcOrd="12" destOrd="0" presId="urn:microsoft.com/office/officeart/2005/8/layout/radial6"/>
    <dgm:cxn modelId="{D3D61489-11F9-48FD-90CF-3F8454FB072C}" type="presParOf" srcId="{1AFB58F2-70FF-439F-BC9B-4A3F5F37D11F}" destId="{292B8C0D-AB48-44C4-9C6F-16F3086227AC}" srcOrd="13" destOrd="0" presId="urn:microsoft.com/office/officeart/2005/8/layout/radial6"/>
    <dgm:cxn modelId="{880F2C46-445B-44C2-851E-0250C32F4184}" type="presParOf" srcId="{1AFB58F2-70FF-439F-BC9B-4A3F5F37D11F}" destId="{B313B060-6781-419D-BDC7-1F1C471B9170}" srcOrd="14" destOrd="0" presId="urn:microsoft.com/office/officeart/2005/8/layout/radial6"/>
    <dgm:cxn modelId="{FE9C573D-9812-488A-958A-1538D04D1A64}" type="presParOf" srcId="{1AFB58F2-70FF-439F-BC9B-4A3F5F37D11F}" destId="{C40ED43E-4A25-4A31-81A2-94542F544D86}" srcOrd="15" destOrd="0" presId="urn:microsoft.com/office/officeart/2005/8/layout/radial6"/>
    <dgm:cxn modelId="{6D2FEB00-B89F-4ACE-A60F-886487268828}" type="presParOf" srcId="{1AFB58F2-70FF-439F-BC9B-4A3F5F37D11F}" destId="{FC0946B6-8CAE-46D2-952E-1D8448E126B9}" srcOrd="16" destOrd="0" presId="urn:microsoft.com/office/officeart/2005/8/layout/radial6"/>
    <dgm:cxn modelId="{CCA29905-B307-4009-B4B1-25880AC9CA53}" type="presParOf" srcId="{1AFB58F2-70FF-439F-BC9B-4A3F5F37D11F}" destId="{AD4D279D-0A8D-4151-A90E-2EA6FC595E40}" srcOrd="17" destOrd="0" presId="urn:microsoft.com/office/officeart/2005/8/layout/radial6"/>
    <dgm:cxn modelId="{BF196407-3D61-40D2-BDB4-4B45F61B9D6C}" type="presParOf" srcId="{1AFB58F2-70FF-439F-BC9B-4A3F5F37D11F}" destId="{8F5E3302-FF0D-4A1C-B869-EA1E4A75E01D}" srcOrd="18" destOrd="0" presId="urn:microsoft.com/office/officeart/2005/8/layout/radial6"/>
    <dgm:cxn modelId="{EB449F9E-A174-4F68-903C-E5EC63BA527F}" type="presParOf" srcId="{1AFB58F2-70FF-439F-BC9B-4A3F5F37D11F}" destId="{39564E41-9075-460C-8BF8-9F1D9219F921}" srcOrd="19" destOrd="0" presId="urn:microsoft.com/office/officeart/2005/8/layout/radial6"/>
    <dgm:cxn modelId="{79B73E2F-9A2C-4C1E-A032-F25956DD7B29}" type="presParOf" srcId="{1AFB58F2-70FF-439F-BC9B-4A3F5F37D11F}" destId="{D0C22FC6-1F7D-4D4A-8EEA-C315ACC1742F}" srcOrd="20" destOrd="0" presId="urn:microsoft.com/office/officeart/2005/8/layout/radial6"/>
    <dgm:cxn modelId="{FC1BEF41-8486-40A6-B090-BE3E09F92148}" type="presParOf" srcId="{1AFB58F2-70FF-439F-BC9B-4A3F5F37D11F}" destId="{C92F5051-C3AE-41F2-ADEC-3C987B93566E}" srcOrd="21" destOrd="0" presId="urn:microsoft.com/office/officeart/2005/8/layout/radial6"/>
    <dgm:cxn modelId="{540EAC7F-5682-419A-BC0F-CCBA66CEAB3B}" type="presParOf" srcId="{1AFB58F2-70FF-439F-BC9B-4A3F5F37D11F}" destId="{BB42B1AB-F712-4621-B2E1-CC6F80CA0817}" srcOrd="22" destOrd="0" presId="urn:microsoft.com/office/officeart/2005/8/layout/radial6"/>
    <dgm:cxn modelId="{08CD4961-1335-4D84-A3EF-B19DB4C088AA}" type="presParOf" srcId="{1AFB58F2-70FF-439F-BC9B-4A3F5F37D11F}" destId="{C92E16EA-F59D-4FC0-8036-6CDDA65AF60E}" srcOrd="23" destOrd="0" presId="urn:microsoft.com/office/officeart/2005/8/layout/radial6"/>
    <dgm:cxn modelId="{863FD6AC-6795-49D7-BB8A-3B49BB89B9A4}" type="presParOf" srcId="{1AFB58F2-70FF-439F-BC9B-4A3F5F37D11F}" destId="{1833FBFE-E012-4ABF-B903-F98678F4A9ED}" srcOrd="24" destOrd="0" presId="urn:microsoft.com/office/officeart/2005/8/layout/radial6"/>
    <dgm:cxn modelId="{403B9562-9F6A-4E61-9B01-FE60669E2E27}" type="presParOf" srcId="{1AFB58F2-70FF-439F-BC9B-4A3F5F37D11F}" destId="{7F56D647-656F-4481-8495-1FE8D18F6AAB}" srcOrd="25" destOrd="0" presId="urn:microsoft.com/office/officeart/2005/8/layout/radial6"/>
    <dgm:cxn modelId="{C1BC24C3-F0D1-4B2E-99AB-D7339758C0D8}" type="presParOf" srcId="{1AFB58F2-70FF-439F-BC9B-4A3F5F37D11F}" destId="{30A8125E-21CE-4DA2-89C0-43A4AA244039}" srcOrd="26" destOrd="0" presId="urn:microsoft.com/office/officeart/2005/8/layout/radial6"/>
    <dgm:cxn modelId="{1018AA85-7B60-429B-B849-BF334B7CF2FF}" type="presParOf" srcId="{1AFB58F2-70FF-439F-BC9B-4A3F5F37D11F}" destId="{3FB3AB99-1A14-4901-BA16-D23B7CF214D7}" srcOrd="27" destOrd="0" presId="urn:microsoft.com/office/officeart/2005/8/layout/radial6"/>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0B2050C-C357-4627-B941-7F98DD789F99}" type="doc">
      <dgm:prSet loTypeId="urn:microsoft.com/office/officeart/2005/8/layout/bProcess4" loCatId="process" qsTypeId="urn:microsoft.com/office/officeart/2005/8/quickstyle/simple1" qsCatId="simple" csTypeId="urn:microsoft.com/office/officeart/2005/8/colors/accent1_2" csCatId="accent1" phldr="1"/>
      <dgm:spPr/>
      <dgm:t>
        <a:bodyPr/>
        <a:lstStyle/>
        <a:p>
          <a:endParaRPr lang="en-US"/>
        </a:p>
      </dgm:t>
    </dgm:pt>
    <dgm:pt modelId="{945B2535-4822-46A3-B945-05FB8E0649CA}">
      <dgm:prSet phldrT="[Text]" custT="1"/>
      <dgm:spPr>
        <a:solidFill>
          <a:schemeClr val="bg1"/>
        </a:solidFill>
        <a:ln w="28575">
          <a:solidFill>
            <a:srgbClr val="009D57"/>
          </a:solidFill>
        </a:ln>
      </dgm:spPr>
      <dgm:t>
        <a:bodyPr/>
        <a:lstStyle/>
        <a:p>
          <a:pPr algn="ctr">
            <a:spcAft>
              <a:spcPct val="35000"/>
            </a:spcAft>
          </a:pPr>
          <a:r>
            <a:rPr lang="en-US" sz="1600" b="1" dirty="0" smtClean="0">
              <a:solidFill>
                <a:srgbClr val="009D57"/>
              </a:solidFill>
            </a:rPr>
            <a:t>Orientation</a:t>
          </a:r>
        </a:p>
        <a:p>
          <a:pPr algn="ctr">
            <a:spcAft>
              <a:spcPts val="200"/>
            </a:spcAft>
          </a:pPr>
          <a:r>
            <a:rPr lang="en-US" sz="1100" b="0" dirty="0" smtClean="0">
              <a:solidFill>
                <a:srgbClr val="009D57"/>
              </a:solidFill>
            </a:rPr>
            <a:t>Overview of program </a:t>
          </a:r>
        </a:p>
        <a:p>
          <a:pPr algn="ctr">
            <a:spcAft>
              <a:spcPts val="0"/>
            </a:spcAft>
          </a:pPr>
          <a:r>
            <a:rPr lang="en-US" sz="1100" b="0" dirty="0" smtClean="0">
              <a:solidFill>
                <a:srgbClr val="009D57"/>
              </a:solidFill>
            </a:rPr>
            <a:t>Crash Course: key skills </a:t>
          </a:r>
        </a:p>
        <a:p>
          <a:pPr algn="ctr">
            <a:spcAft>
              <a:spcPts val="0"/>
            </a:spcAft>
          </a:pPr>
          <a:r>
            <a:rPr lang="en-US" sz="1100" b="0" dirty="0" smtClean="0">
              <a:solidFill>
                <a:srgbClr val="009D57"/>
              </a:solidFill>
            </a:rPr>
            <a:t>managers need to know</a:t>
          </a:r>
        </a:p>
        <a:p>
          <a:pPr algn="ctr">
            <a:spcAft>
              <a:spcPct val="35000"/>
            </a:spcAft>
          </a:pPr>
          <a:r>
            <a:rPr lang="en-US" sz="1100" i="1" dirty="0" smtClean="0">
              <a:solidFill>
                <a:schemeClr val="tx1"/>
              </a:solidFill>
            </a:rPr>
            <a:t>Applied projects identified</a:t>
          </a:r>
        </a:p>
      </dgm:t>
    </dgm:pt>
    <dgm:pt modelId="{3B82225C-A70E-4528-93A0-40EDD7C1D069}" type="parTrans" cxnId="{B87AF37B-F184-44C4-9A97-A7D53A4A6667}">
      <dgm:prSet/>
      <dgm:spPr/>
      <dgm:t>
        <a:bodyPr/>
        <a:lstStyle/>
        <a:p>
          <a:pPr algn="ctr"/>
          <a:endParaRPr lang="en-US"/>
        </a:p>
      </dgm:t>
    </dgm:pt>
    <dgm:pt modelId="{69F4A470-FF85-4D18-A9B8-572B2ED7785A}" type="sibTrans" cxnId="{B87AF37B-F184-44C4-9A97-A7D53A4A6667}">
      <dgm:prSet/>
      <dgm:spPr>
        <a:solidFill>
          <a:srgbClr val="009D57">
            <a:alpha val="25000"/>
          </a:srgbClr>
        </a:solidFill>
        <a:ln>
          <a:noFill/>
        </a:ln>
      </dgm:spPr>
      <dgm:t>
        <a:bodyPr/>
        <a:lstStyle/>
        <a:p>
          <a:pPr algn="ctr"/>
          <a:endParaRPr lang="en-US" dirty="0"/>
        </a:p>
      </dgm:t>
    </dgm:pt>
    <dgm:pt modelId="{9F35D124-E4F7-490E-A31B-ED2A1FA883AD}">
      <dgm:prSet phldrT="[Text]" custT="1"/>
      <dgm:spPr>
        <a:solidFill>
          <a:schemeClr val="bg1"/>
        </a:solidFill>
        <a:ln w="28575">
          <a:solidFill>
            <a:srgbClr val="009D57"/>
          </a:solidFill>
        </a:ln>
      </dgm:spPr>
      <dgm:t>
        <a:bodyPr/>
        <a:lstStyle/>
        <a:p>
          <a:pPr algn="ctr">
            <a:spcAft>
              <a:spcPct val="35000"/>
            </a:spcAft>
          </a:pPr>
          <a:r>
            <a:rPr lang="en-US" sz="1600" b="1" dirty="0" smtClean="0">
              <a:solidFill>
                <a:srgbClr val="009D57"/>
              </a:solidFill>
            </a:rPr>
            <a:t>Build a Strong Team</a:t>
          </a:r>
        </a:p>
        <a:p>
          <a:pPr algn="ctr">
            <a:spcAft>
              <a:spcPts val="200"/>
            </a:spcAft>
          </a:pPr>
          <a:r>
            <a:rPr lang="en-US" sz="1100" b="0" dirty="0" smtClean="0">
              <a:solidFill>
                <a:srgbClr val="009D57"/>
              </a:solidFill>
            </a:rPr>
            <a:t>Situational Leadership </a:t>
          </a:r>
        </a:p>
        <a:p>
          <a:pPr algn="ctr">
            <a:spcAft>
              <a:spcPts val="200"/>
            </a:spcAft>
          </a:pPr>
          <a:r>
            <a:rPr lang="en-US" sz="1100" b="0" dirty="0" smtClean="0">
              <a:solidFill>
                <a:srgbClr val="009D57"/>
              </a:solidFill>
            </a:rPr>
            <a:t>Coaching &amp; Feedback</a:t>
          </a:r>
        </a:p>
      </dgm:t>
    </dgm:pt>
    <dgm:pt modelId="{25E8E45F-65E5-4822-82CA-802360390D02}" type="parTrans" cxnId="{644CF7BE-CEAA-42B6-8333-D10955FE56A1}">
      <dgm:prSet/>
      <dgm:spPr/>
      <dgm:t>
        <a:bodyPr/>
        <a:lstStyle/>
        <a:p>
          <a:pPr algn="ctr"/>
          <a:endParaRPr lang="en-US"/>
        </a:p>
      </dgm:t>
    </dgm:pt>
    <dgm:pt modelId="{6B7F66F4-AAC2-4EF1-A096-9E0E6E3B8CA9}" type="sibTrans" cxnId="{644CF7BE-CEAA-42B6-8333-D10955FE56A1}">
      <dgm:prSet/>
      <dgm:spPr>
        <a:solidFill>
          <a:srgbClr val="009D57">
            <a:alpha val="25000"/>
          </a:srgbClr>
        </a:solidFill>
        <a:ln>
          <a:noFill/>
        </a:ln>
      </dgm:spPr>
      <dgm:t>
        <a:bodyPr/>
        <a:lstStyle/>
        <a:p>
          <a:pPr algn="ctr"/>
          <a:endParaRPr lang="en-US" dirty="0"/>
        </a:p>
      </dgm:t>
    </dgm:pt>
    <dgm:pt modelId="{5409334A-B5CD-4DE9-BD86-EA2D58B22F8E}">
      <dgm:prSet phldrT="[Text]" custT="1"/>
      <dgm:spPr>
        <a:solidFill>
          <a:schemeClr val="bg1"/>
        </a:solidFill>
        <a:ln w="28575">
          <a:solidFill>
            <a:srgbClr val="009D57"/>
          </a:solidFill>
        </a:ln>
      </dgm:spPr>
      <dgm:t>
        <a:bodyPr/>
        <a:lstStyle/>
        <a:p>
          <a:pPr algn="ctr">
            <a:spcAft>
              <a:spcPct val="35000"/>
            </a:spcAft>
          </a:pPr>
          <a:r>
            <a:rPr lang="en-US" sz="1600" b="1" dirty="0" smtClean="0">
              <a:solidFill>
                <a:srgbClr val="009D57"/>
              </a:solidFill>
            </a:rPr>
            <a:t>Build a Strong Team</a:t>
          </a:r>
        </a:p>
        <a:p>
          <a:pPr algn="ctr">
            <a:spcAft>
              <a:spcPts val="200"/>
            </a:spcAft>
          </a:pPr>
          <a:r>
            <a:rPr lang="en-US" sz="1100" b="0" dirty="0" smtClean="0">
              <a:solidFill>
                <a:srgbClr val="009D57"/>
              </a:solidFill>
            </a:rPr>
            <a:t>Targeted Selection</a:t>
          </a:r>
        </a:p>
      </dgm:t>
    </dgm:pt>
    <dgm:pt modelId="{A9063243-DCEF-48F3-966A-A7570DBE8327}" type="parTrans" cxnId="{44123906-751F-4100-9F76-81EEE1D8D6A0}">
      <dgm:prSet/>
      <dgm:spPr/>
      <dgm:t>
        <a:bodyPr/>
        <a:lstStyle/>
        <a:p>
          <a:pPr algn="ctr"/>
          <a:endParaRPr lang="en-US"/>
        </a:p>
      </dgm:t>
    </dgm:pt>
    <dgm:pt modelId="{388E88F0-5889-42A6-9427-F51858545DFF}" type="sibTrans" cxnId="{44123906-751F-4100-9F76-81EEE1D8D6A0}">
      <dgm:prSet/>
      <dgm:spPr>
        <a:solidFill>
          <a:srgbClr val="009D57">
            <a:alpha val="25000"/>
          </a:srgbClr>
        </a:solidFill>
        <a:ln>
          <a:noFill/>
        </a:ln>
      </dgm:spPr>
      <dgm:t>
        <a:bodyPr/>
        <a:lstStyle/>
        <a:p>
          <a:pPr algn="ctr"/>
          <a:endParaRPr lang="en-US" dirty="0"/>
        </a:p>
      </dgm:t>
    </dgm:pt>
    <dgm:pt modelId="{FB1B5A08-1780-4793-9512-821005987C17}">
      <dgm:prSet phldrT="[Text]" custT="1"/>
      <dgm:spPr>
        <a:solidFill>
          <a:schemeClr val="bg1"/>
        </a:solidFill>
        <a:ln w="28575">
          <a:solidFill>
            <a:srgbClr val="F79646"/>
          </a:solidFill>
        </a:ln>
      </dgm:spPr>
      <dgm:t>
        <a:bodyPr/>
        <a:lstStyle/>
        <a:p>
          <a:pPr algn="ctr"/>
          <a:r>
            <a:rPr lang="en-US" sz="1600" b="1" dirty="0" smtClean="0">
              <a:solidFill>
                <a:srgbClr val="F79646"/>
              </a:solidFill>
            </a:rPr>
            <a:t>Applied Project Reviews</a:t>
          </a:r>
        </a:p>
      </dgm:t>
    </dgm:pt>
    <dgm:pt modelId="{B669B376-2E19-4447-854E-9410A9CAEDA5}" type="parTrans" cxnId="{98AD18D9-328D-4E36-B119-5385559E7BFA}">
      <dgm:prSet/>
      <dgm:spPr/>
      <dgm:t>
        <a:bodyPr/>
        <a:lstStyle/>
        <a:p>
          <a:pPr algn="ctr"/>
          <a:endParaRPr lang="en-US"/>
        </a:p>
      </dgm:t>
    </dgm:pt>
    <dgm:pt modelId="{472AE4FC-1C9B-4AA9-AE4C-3E459D6BCE48}" type="sibTrans" cxnId="{98AD18D9-328D-4E36-B119-5385559E7BFA}">
      <dgm:prSet/>
      <dgm:spPr>
        <a:solidFill>
          <a:srgbClr val="009D57">
            <a:alpha val="25000"/>
          </a:srgbClr>
        </a:solidFill>
        <a:ln>
          <a:noFill/>
        </a:ln>
      </dgm:spPr>
      <dgm:t>
        <a:bodyPr/>
        <a:lstStyle/>
        <a:p>
          <a:pPr algn="ctr"/>
          <a:endParaRPr lang="en-US" dirty="0"/>
        </a:p>
      </dgm:t>
    </dgm:pt>
    <dgm:pt modelId="{8B5121F6-EC09-4A12-9B46-F184C94BBA72}">
      <dgm:prSet custT="1"/>
      <dgm:spPr>
        <a:solidFill>
          <a:schemeClr val="bg1"/>
        </a:solidFill>
        <a:ln w="28575">
          <a:solidFill>
            <a:srgbClr val="009D57"/>
          </a:solidFill>
        </a:ln>
      </dgm:spPr>
      <dgm:t>
        <a:bodyPr/>
        <a:lstStyle/>
        <a:p>
          <a:pPr algn="ctr"/>
          <a:r>
            <a:rPr lang="en-US" sz="1600" b="1" dirty="0" smtClean="0">
              <a:solidFill>
                <a:srgbClr val="009D57"/>
              </a:solidFill>
            </a:rPr>
            <a:t>Be a Leader</a:t>
          </a:r>
        </a:p>
        <a:p>
          <a:pPr algn="ctr"/>
          <a:r>
            <a:rPr lang="en-US" sz="1100" b="0" dirty="0" smtClean="0">
              <a:solidFill>
                <a:srgbClr val="009D57"/>
              </a:solidFill>
            </a:rPr>
            <a:t>360 Results </a:t>
          </a:r>
        </a:p>
        <a:p>
          <a:pPr algn="ctr"/>
          <a:r>
            <a:rPr lang="en-US" sz="1100" b="0" dirty="0" smtClean="0">
              <a:solidFill>
                <a:srgbClr val="009D57"/>
              </a:solidFill>
            </a:rPr>
            <a:t>Leadership Next</a:t>
          </a:r>
        </a:p>
      </dgm:t>
    </dgm:pt>
    <dgm:pt modelId="{7426B2DA-D727-4DDE-987A-FB0F48E81B42}" type="parTrans" cxnId="{961E3B50-4D17-4E61-ADC6-CF11714738FE}">
      <dgm:prSet/>
      <dgm:spPr/>
      <dgm:t>
        <a:bodyPr/>
        <a:lstStyle/>
        <a:p>
          <a:pPr algn="ctr"/>
          <a:endParaRPr lang="en-US"/>
        </a:p>
      </dgm:t>
    </dgm:pt>
    <dgm:pt modelId="{D23BF69A-39E2-4854-AC84-6C497658D904}" type="sibTrans" cxnId="{961E3B50-4D17-4E61-ADC6-CF11714738FE}">
      <dgm:prSet/>
      <dgm:spPr>
        <a:solidFill>
          <a:srgbClr val="009D57">
            <a:alpha val="25000"/>
          </a:srgbClr>
        </a:solidFill>
        <a:ln>
          <a:noFill/>
        </a:ln>
      </dgm:spPr>
      <dgm:t>
        <a:bodyPr/>
        <a:lstStyle/>
        <a:p>
          <a:pPr algn="ctr"/>
          <a:endParaRPr lang="en-US" dirty="0"/>
        </a:p>
      </dgm:t>
    </dgm:pt>
    <dgm:pt modelId="{AB515182-0AC1-4B63-985F-634B57FEB9A3}">
      <dgm:prSet custT="1"/>
      <dgm:spPr>
        <a:solidFill>
          <a:schemeClr val="bg1"/>
        </a:solidFill>
        <a:ln w="28575">
          <a:solidFill>
            <a:srgbClr val="009D57"/>
          </a:solidFill>
        </a:ln>
      </dgm:spPr>
      <dgm:t>
        <a:bodyPr/>
        <a:lstStyle/>
        <a:p>
          <a:pPr algn="ctr"/>
          <a:r>
            <a:rPr lang="en-US" sz="1600" b="1" dirty="0" smtClean="0">
              <a:solidFill>
                <a:srgbClr val="009D57"/>
              </a:solidFill>
            </a:rPr>
            <a:t>Get Results </a:t>
          </a:r>
        </a:p>
        <a:p>
          <a:pPr algn="ctr"/>
          <a:r>
            <a:rPr lang="en-US" sz="1100" b="0" dirty="0" smtClean="0">
              <a:solidFill>
                <a:srgbClr val="009D57"/>
              </a:solidFill>
            </a:rPr>
            <a:t>Critical Thinking</a:t>
          </a:r>
        </a:p>
        <a:p>
          <a:pPr algn="ctr"/>
          <a:r>
            <a:rPr lang="en-US" sz="1100" b="0" i="1" dirty="0" smtClean="0">
              <a:solidFill>
                <a:schemeClr val="tx1"/>
              </a:solidFill>
            </a:rPr>
            <a:t>All CBTs must be complete</a:t>
          </a:r>
          <a:endParaRPr lang="en-US" sz="1100" b="0" i="1" dirty="0">
            <a:solidFill>
              <a:schemeClr val="tx1"/>
            </a:solidFill>
          </a:endParaRPr>
        </a:p>
      </dgm:t>
    </dgm:pt>
    <dgm:pt modelId="{76195747-BA65-4259-BA01-5E1035B362D0}" type="parTrans" cxnId="{581CB28C-863B-4B9F-8EA7-D28C9875294F}">
      <dgm:prSet/>
      <dgm:spPr/>
      <dgm:t>
        <a:bodyPr/>
        <a:lstStyle/>
        <a:p>
          <a:endParaRPr lang="en-US"/>
        </a:p>
      </dgm:t>
    </dgm:pt>
    <dgm:pt modelId="{818F9724-362F-463E-BCE7-786B4DFF7815}" type="sibTrans" cxnId="{581CB28C-863B-4B9F-8EA7-D28C9875294F}">
      <dgm:prSet/>
      <dgm:spPr>
        <a:solidFill>
          <a:srgbClr val="009D57">
            <a:alpha val="25000"/>
          </a:srgbClr>
        </a:solidFill>
        <a:ln>
          <a:noFill/>
        </a:ln>
      </dgm:spPr>
      <dgm:t>
        <a:bodyPr/>
        <a:lstStyle/>
        <a:p>
          <a:endParaRPr lang="en-US" dirty="0"/>
        </a:p>
      </dgm:t>
    </dgm:pt>
    <dgm:pt modelId="{2FF62323-351F-4A88-B8E4-459DC5564016}">
      <dgm:prSet phldrT="[Text]" custT="1"/>
      <dgm:spPr>
        <a:solidFill>
          <a:schemeClr val="bg1"/>
        </a:solidFill>
        <a:ln w="28575">
          <a:solidFill>
            <a:srgbClr val="009D57"/>
          </a:solidFill>
        </a:ln>
      </dgm:spPr>
      <dgm:t>
        <a:bodyPr/>
        <a:lstStyle/>
        <a:p>
          <a:pPr algn="ctr">
            <a:spcAft>
              <a:spcPct val="35000"/>
            </a:spcAft>
          </a:pPr>
          <a:r>
            <a:rPr lang="en-US" sz="1600" b="1" dirty="0" smtClean="0">
              <a:solidFill>
                <a:srgbClr val="009D57"/>
              </a:solidFill>
            </a:rPr>
            <a:t>Get Results </a:t>
          </a:r>
        </a:p>
        <a:p>
          <a:pPr algn="ctr">
            <a:spcAft>
              <a:spcPts val="200"/>
            </a:spcAft>
          </a:pPr>
          <a:r>
            <a:rPr lang="en-US" sz="1100" b="0" dirty="0" smtClean="0">
              <a:solidFill>
                <a:srgbClr val="009D57"/>
              </a:solidFill>
            </a:rPr>
            <a:t>Project Management </a:t>
          </a:r>
        </a:p>
        <a:p>
          <a:pPr algn="ctr">
            <a:spcAft>
              <a:spcPct val="35000"/>
            </a:spcAft>
          </a:pPr>
          <a:r>
            <a:rPr lang="en-US" sz="1100" b="0" dirty="0" smtClean="0">
              <a:solidFill>
                <a:srgbClr val="009D57"/>
              </a:solidFill>
            </a:rPr>
            <a:t>Leading Change</a:t>
          </a:r>
        </a:p>
        <a:p>
          <a:pPr algn="ctr">
            <a:spcAft>
              <a:spcPct val="35000"/>
            </a:spcAft>
          </a:pPr>
          <a:endParaRPr lang="en-US" sz="200" dirty="0" smtClean="0">
            <a:solidFill>
              <a:srgbClr val="009D57"/>
            </a:solidFill>
          </a:endParaRPr>
        </a:p>
        <a:p>
          <a:pPr algn="ctr">
            <a:spcAft>
              <a:spcPct val="35000"/>
            </a:spcAft>
          </a:pPr>
          <a:r>
            <a:rPr lang="en-US" sz="1100" b="0" i="1" dirty="0" smtClean="0">
              <a:solidFill>
                <a:schemeClr val="tx1"/>
              </a:solidFill>
            </a:rPr>
            <a:t>Kick Off 360 Assessment</a:t>
          </a:r>
        </a:p>
      </dgm:t>
    </dgm:pt>
    <dgm:pt modelId="{D364FA5A-FACA-422A-B8CA-3FC2DE97BE3A}" type="parTrans" cxnId="{CD39846B-E435-449E-9C78-8A570621B79B}">
      <dgm:prSet/>
      <dgm:spPr/>
      <dgm:t>
        <a:bodyPr/>
        <a:lstStyle/>
        <a:p>
          <a:endParaRPr lang="en-US"/>
        </a:p>
      </dgm:t>
    </dgm:pt>
    <dgm:pt modelId="{876100E8-3820-49A2-B1FC-96A060448F67}" type="sibTrans" cxnId="{CD39846B-E435-449E-9C78-8A570621B79B}">
      <dgm:prSet/>
      <dgm:spPr>
        <a:solidFill>
          <a:srgbClr val="009D57">
            <a:alpha val="25000"/>
          </a:srgbClr>
        </a:solidFill>
        <a:ln>
          <a:noFill/>
        </a:ln>
      </dgm:spPr>
      <dgm:t>
        <a:bodyPr/>
        <a:lstStyle/>
        <a:p>
          <a:endParaRPr lang="en-US" dirty="0"/>
        </a:p>
      </dgm:t>
    </dgm:pt>
    <dgm:pt modelId="{9CB5CB6A-257B-48FB-9169-8440EBEE33BB}">
      <dgm:prSet custT="1"/>
      <dgm:spPr>
        <a:solidFill>
          <a:schemeClr val="bg1"/>
        </a:solidFill>
        <a:ln w="28575">
          <a:solidFill>
            <a:srgbClr val="009D57"/>
          </a:solidFill>
        </a:ln>
      </dgm:spPr>
      <dgm:t>
        <a:bodyPr/>
        <a:lstStyle/>
        <a:p>
          <a:pPr algn="ctr"/>
          <a:r>
            <a:rPr lang="en-US" sz="1400" b="1" dirty="0" smtClean="0">
              <a:solidFill>
                <a:schemeClr val="tx1"/>
              </a:solidFill>
            </a:rPr>
            <a:t>Graduation</a:t>
          </a:r>
        </a:p>
      </dgm:t>
    </dgm:pt>
    <dgm:pt modelId="{1195A216-BFE1-4970-8891-1B660843D3D8}" type="parTrans" cxnId="{7874C6FE-0041-467D-A83B-A4FCCFDE01F5}">
      <dgm:prSet/>
      <dgm:spPr/>
      <dgm:t>
        <a:bodyPr/>
        <a:lstStyle/>
        <a:p>
          <a:endParaRPr lang="en-US"/>
        </a:p>
      </dgm:t>
    </dgm:pt>
    <dgm:pt modelId="{5CA7343D-2F52-45FE-928D-819A8B429F11}" type="sibTrans" cxnId="{7874C6FE-0041-467D-A83B-A4FCCFDE01F5}">
      <dgm:prSet/>
      <dgm:spPr/>
      <dgm:t>
        <a:bodyPr/>
        <a:lstStyle/>
        <a:p>
          <a:endParaRPr lang="en-US"/>
        </a:p>
      </dgm:t>
    </dgm:pt>
    <dgm:pt modelId="{83F69A6E-42D9-46B0-9F32-D15C9DD10679}">
      <dgm:prSet phldrT="[Text]" custT="1"/>
      <dgm:spPr>
        <a:solidFill>
          <a:schemeClr val="bg1"/>
        </a:solidFill>
        <a:ln w="28575">
          <a:solidFill>
            <a:srgbClr val="009D57"/>
          </a:solidFill>
        </a:ln>
      </dgm:spPr>
      <dgm:t>
        <a:bodyPr anchor="t"/>
        <a:lstStyle/>
        <a:p>
          <a:pPr algn="ctr">
            <a:spcAft>
              <a:spcPct val="35000"/>
            </a:spcAft>
          </a:pPr>
          <a:r>
            <a:rPr lang="en-US" sz="1600" b="1" dirty="0" smtClean="0">
              <a:solidFill>
                <a:srgbClr val="009D57"/>
              </a:solidFill>
            </a:rPr>
            <a:t>Pre-Requisites</a:t>
          </a:r>
        </a:p>
        <a:p>
          <a:pPr algn="ctr">
            <a:spcAft>
              <a:spcPts val="200"/>
            </a:spcAft>
          </a:pPr>
          <a:r>
            <a:rPr lang="en-US" sz="1100" b="0" dirty="0" smtClean="0">
              <a:solidFill>
                <a:srgbClr val="009D57"/>
              </a:solidFill>
            </a:rPr>
            <a:t>Onboarding CBTs                        </a:t>
          </a:r>
        </a:p>
        <a:p>
          <a:pPr algn="ctr">
            <a:spcAft>
              <a:spcPts val="200"/>
            </a:spcAft>
          </a:pPr>
          <a:r>
            <a:rPr lang="en-US" sz="1100" b="0" dirty="0" smtClean="0">
              <a:solidFill>
                <a:srgbClr val="009D57"/>
              </a:solidFill>
            </a:rPr>
            <a:t>HR Policies</a:t>
          </a:r>
          <a:endParaRPr lang="en-US" sz="1100" b="0" dirty="0">
            <a:solidFill>
              <a:srgbClr val="009D57"/>
            </a:solidFill>
          </a:endParaRPr>
        </a:p>
      </dgm:t>
    </dgm:pt>
    <dgm:pt modelId="{4FE79C90-8837-4659-B4F7-0F654610A95B}" type="parTrans" cxnId="{38B79DFF-CEA6-4A4D-B989-37342DEC2937}">
      <dgm:prSet/>
      <dgm:spPr/>
      <dgm:t>
        <a:bodyPr/>
        <a:lstStyle/>
        <a:p>
          <a:endParaRPr lang="en-US"/>
        </a:p>
      </dgm:t>
    </dgm:pt>
    <dgm:pt modelId="{E9547D37-160E-4FC9-A6E5-1FE0DF1E06BF}" type="sibTrans" cxnId="{38B79DFF-CEA6-4A4D-B989-37342DEC2937}">
      <dgm:prSet/>
      <dgm:spPr>
        <a:solidFill>
          <a:srgbClr val="009D57">
            <a:alpha val="25000"/>
          </a:srgbClr>
        </a:solidFill>
        <a:ln>
          <a:noFill/>
        </a:ln>
      </dgm:spPr>
      <dgm:t>
        <a:bodyPr/>
        <a:lstStyle/>
        <a:p>
          <a:endParaRPr lang="en-US" dirty="0"/>
        </a:p>
      </dgm:t>
    </dgm:pt>
    <dgm:pt modelId="{CE069360-171B-46FA-9BFC-9350DA649A28}">
      <dgm:prSet custT="1"/>
      <dgm:spPr>
        <a:solidFill>
          <a:schemeClr val="bg1"/>
        </a:solidFill>
        <a:ln w="28575">
          <a:solidFill>
            <a:schemeClr val="tx1"/>
          </a:solidFill>
        </a:ln>
      </dgm:spPr>
      <dgm:t>
        <a:bodyPr vert="vert270"/>
        <a:lstStyle/>
        <a:p>
          <a:pPr algn="ctr"/>
          <a:r>
            <a:rPr lang="en-US" sz="1400" b="1" dirty="0" smtClean="0">
              <a:solidFill>
                <a:schemeClr val="tx1"/>
              </a:solidFill>
            </a:rPr>
            <a:t>Leader-Participant Application Discussion and Survey</a:t>
          </a:r>
          <a:endParaRPr lang="en-US" sz="1400" b="0" i="1" dirty="0">
            <a:solidFill>
              <a:schemeClr val="tx1"/>
            </a:solidFill>
          </a:endParaRPr>
        </a:p>
      </dgm:t>
    </dgm:pt>
    <dgm:pt modelId="{15CE65B5-C3E8-460A-A038-F5337FD23F2D}" type="parTrans" cxnId="{B8AD6CF3-55F1-477E-9E69-E5C3E9DF8A82}">
      <dgm:prSet/>
      <dgm:spPr/>
      <dgm:t>
        <a:bodyPr/>
        <a:lstStyle/>
        <a:p>
          <a:endParaRPr lang="en-US"/>
        </a:p>
      </dgm:t>
    </dgm:pt>
    <dgm:pt modelId="{FE132517-0076-413B-8B08-2DFEAC236633}" type="sibTrans" cxnId="{B8AD6CF3-55F1-477E-9E69-E5C3E9DF8A82}">
      <dgm:prSet/>
      <dgm:spPr>
        <a:solidFill>
          <a:srgbClr val="009D57">
            <a:alpha val="25000"/>
          </a:srgbClr>
        </a:solidFill>
      </dgm:spPr>
      <dgm:t>
        <a:bodyPr/>
        <a:lstStyle/>
        <a:p>
          <a:endParaRPr lang="en-US" dirty="0"/>
        </a:p>
      </dgm:t>
    </dgm:pt>
    <dgm:pt modelId="{8D54DCE8-5FC1-4ACF-905D-5A726FC3EAEC}">
      <dgm:prSet phldrT="[Text]" custT="1"/>
      <dgm:spPr>
        <a:solidFill>
          <a:schemeClr val="bg1"/>
        </a:solidFill>
        <a:ln w="28575">
          <a:solidFill>
            <a:srgbClr val="009D57"/>
          </a:solidFill>
        </a:ln>
      </dgm:spPr>
      <dgm:t>
        <a:bodyPr/>
        <a:lstStyle/>
        <a:p>
          <a:pPr algn="ctr">
            <a:spcAft>
              <a:spcPct val="35000"/>
            </a:spcAft>
          </a:pPr>
          <a:endParaRPr lang="en-US" sz="1600" b="1" dirty="0" smtClean="0">
            <a:solidFill>
              <a:schemeClr val="tx1"/>
            </a:solidFill>
          </a:endParaRPr>
        </a:p>
        <a:p>
          <a:pPr algn="ctr">
            <a:spcAft>
              <a:spcPct val="35000"/>
            </a:spcAft>
          </a:pPr>
          <a:r>
            <a:rPr lang="en-US" sz="1600" b="1" dirty="0" smtClean="0">
              <a:solidFill>
                <a:srgbClr val="009D57"/>
              </a:solidFill>
            </a:rPr>
            <a:t>Be Clear and Compelling</a:t>
          </a:r>
        </a:p>
        <a:p>
          <a:pPr algn="ctr">
            <a:spcAft>
              <a:spcPts val="200"/>
            </a:spcAft>
          </a:pPr>
          <a:r>
            <a:rPr lang="en-US" sz="1100" b="0" dirty="0" smtClean="0">
              <a:solidFill>
                <a:srgbClr val="009D57"/>
              </a:solidFill>
            </a:rPr>
            <a:t>Handling Conflict</a:t>
          </a:r>
        </a:p>
        <a:p>
          <a:pPr algn="ctr">
            <a:spcAft>
              <a:spcPts val="200"/>
            </a:spcAft>
          </a:pPr>
          <a:r>
            <a:rPr lang="en-US" sz="1100" b="0" dirty="0" smtClean="0">
              <a:solidFill>
                <a:srgbClr val="009D57"/>
              </a:solidFill>
            </a:rPr>
            <a:t>Crucial Conversations</a:t>
          </a:r>
        </a:p>
        <a:p>
          <a:pPr algn="ctr">
            <a:spcAft>
              <a:spcPct val="35000"/>
            </a:spcAft>
          </a:pPr>
          <a:endParaRPr lang="en-US" sz="1600" b="1" dirty="0" smtClean="0">
            <a:solidFill>
              <a:schemeClr val="tx1"/>
            </a:solidFill>
          </a:endParaRPr>
        </a:p>
      </dgm:t>
    </dgm:pt>
    <dgm:pt modelId="{6F209CCE-EFD1-4977-A2D1-D1BC2FE1392D}" type="sibTrans" cxnId="{D0F78F73-29C8-47DF-9CC6-5412F53DE0CE}">
      <dgm:prSet/>
      <dgm:spPr>
        <a:solidFill>
          <a:srgbClr val="009D57">
            <a:alpha val="25000"/>
          </a:srgbClr>
        </a:solidFill>
        <a:ln>
          <a:noFill/>
        </a:ln>
      </dgm:spPr>
      <dgm:t>
        <a:bodyPr/>
        <a:lstStyle/>
        <a:p>
          <a:pPr algn="ctr"/>
          <a:endParaRPr lang="en-US" dirty="0"/>
        </a:p>
      </dgm:t>
    </dgm:pt>
    <dgm:pt modelId="{38745467-8F90-4A87-BD4B-AEEAB37E9E6B}" type="parTrans" cxnId="{D0F78F73-29C8-47DF-9CC6-5412F53DE0CE}">
      <dgm:prSet/>
      <dgm:spPr/>
      <dgm:t>
        <a:bodyPr/>
        <a:lstStyle/>
        <a:p>
          <a:pPr algn="ctr"/>
          <a:endParaRPr lang="en-US"/>
        </a:p>
      </dgm:t>
    </dgm:pt>
    <dgm:pt modelId="{F05404F5-7249-43BD-B009-33DFEB97DF9B}" type="pres">
      <dgm:prSet presAssocID="{70B2050C-C357-4627-B941-7F98DD789F99}" presName="Name0" presStyleCnt="0">
        <dgm:presLayoutVars>
          <dgm:dir/>
          <dgm:resizeHandles/>
        </dgm:presLayoutVars>
      </dgm:prSet>
      <dgm:spPr/>
      <dgm:t>
        <a:bodyPr/>
        <a:lstStyle/>
        <a:p>
          <a:endParaRPr lang="en-US"/>
        </a:p>
      </dgm:t>
    </dgm:pt>
    <dgm:pt modelId="{4E5D2505-8A67-4B0D-A9DB-AA52325B238A}" type="pres">
      <dgm:prSet presAssocID="{83F69A6E-42D9-46B0-9F32-D15C9DD10679}" presName="compNode" presStyleCnt="0"/>
      <dgm:spPr/>
    </dgm:pt>
    <dgm:pt modelId="{7CFC8788-A238-4C5D-A2A1-3EF524CBA8EF}" type="pres">
      <dgm:prSet presAssocID="{83F69A6E-42D9-46B0-9F32-D15C9DD10679}" presName="dummyConnPt" presStyleCnt="0"/>
      <dgm:spPr/>
    </dgm:pt>
    <dgm:pt modelId="{7262383D-7B7C-4552-8B49-007037B0DB0B}" type="pres">
      <dgm:prSet presAssocID="{83F69A6E-42D9-46B0-9F32-D15C9DD10679}" presName="node" presStyleLbl="node1" presStyleIdx="0" presStyleCnt="11" custScaleX="136340" custLinFactNeighborX="-26118" custLinFactNeighborY="-20333">
        <dgm:presLayoutVars>
          <dgm:bulletEnabled val="1"/>
        </dgm:presLayoutVars>
      </dgm:prSet>
      <dgm:spPr/>
      <dgm:t>
        <a:bodyPr/>
        <a:lstStyle/>
        <a:p>
          <a:endParaRPr lang="en-US"/>
        </a:p>
      </dgm:t>
    </dgm:pt>
    <dgm:pt modelId="{0B8AECCA-B976-4802-BE8E-2B831E4DA6F5}" type="pres">
      <dgm:prSet presAssocID="{E9547D37-160E-4FC9-A6E5-1FE0DF1E06BF}" presName="sibTrans" presStyleLbl="bgSibTrans2D1" presStyleIdx="0" presStyleCnt="10"/>
      <dgm:spPr/>
      <dgm:t>
        <a:bodyPr/>
        <a:lstStyle/>
        <a:p>
          <a:endParaRPr lang="en-US"/>
        </a:p>
      </dgm:t>
    </dgm:pt>
    <dgm:pt modelId="{CCE8BE05-D00B-428D-8578-B0107B12BEC1}" type="pres">
      <dgm:prSet presAssocID="{945B2535-4822-46A3-B945-05FB8E0649CA}" presName="compNode" presStyleCnt="0"/>
      <dgm:spPr/>
    </dgm:pt>
    <dgm:pt modelId="{A017FCC0-1347-4CEE-B37F-A4FC84378FF8}" type="pres">
      <dgm:prSet presAssocID="{945B2535-4822-46A3-B945-05FB8E0649CA}" presName="dummyConnPt" presStyleCnt="0"/>
      <dgm:spPr/>
    </dgm:pt>
    <dgm:pt modelId="{D3C20E64-F628-4999-AACB-BDBA4B12FBBA}" type="pres">
      <dgm:prSet presAssocID="{945B2535-4822-46A3-B945-05FB8E0649CA}" presName="node" presStyleLbl="node1" presStyleIdx="1" presStyleCnt="11" custScaleX="137814" custLinFactNeighborX="-25381" custLinFactNeighborY="-16992">
        <dgm:presLayoutVars>
          <dgm:bulletEnabled val="1"/>
        </dgm:presLayoutVars>
      </dgm:prSet>
      <dgm:spPr/>
      <dgm:t>
        <a:bodyPr/>
        <a:lstStyle/>
        <a:p>
          <a:endParaRPr lang="en-US"/>
        </a:p>
      </dgm:t>
    </dgm:pt>
    <dgm:pt modelId="{3FF5A13A-EC6C-4837-9ED5-2AD4861716DA}" type="pres">
      <dgm:prSet presAssocID="{69F4A470-FF85-4D18-A9B8-572B2ED7785A}" presName="sibTrans" presStyleLbl="bgSibTrans2D1" presStyleIdx="1" presStyleCnt="10" custLinFactY="100000" custLinFactNeighborY="183073"/>
      <dgm:spPr/>
      <dgm:t>
        <a:bodyPr/>
        <a:lstStyle/>
        <a:p>
          <a:endParaRPr lang="en-US"/>
        </a:p>
      </dgm:t>
    </dgm:pt>
    <dgm:pt modelId="{42E511C7-4C6B-4FCA-9C82-4462F2239A09}" type="pres">
      <dgm:prSet presAssocID="{9F35D124-E4F7-490E-A31B-ED2A1FA883AD}" presName="compNode" presStyleCnt="0"/>
      <dgm:spPr/>
    </dgm:pt>
    <dgm:pt modelId="{AE522083-95E1-4845-95C0-5D8C9C55AD85}" type="pres">
      <dgm:prSet presAssocID="{9F35D124-E4F7-490E-A31B-ED2A1FA883AD}" presName="dummyConnPt" presStyleCnt="0"/>
      <dgm:spPr/>
    </dgm:pt>
    <dgm:pt modelId="{069F766A-9623-40A2-A995-1DAB314FF3FA}" type="pres">
      <dgm:prSet presAssocID="{9F35D124-E4F7-490E-A31B-ED2A1FA883AD}" presName="node" presStyleLbl="node1" presStyleIdx="2" presStyleCnt="11" custScaleX="136339" custScaleY="132325" custLinFactNeighborX="-88258" custLinFactNeighborY="-15035">
        <dgm:presLayoutVars>
          <dgm:bulletEnabled val="1"/>
        </dgm:presLayoutVars>
      </dgm:prSet>
      <dgm:spPr/>
      <dgm:t>
        <a:bodyPr/>
        <a:lstStyle/>
        <a:p>
          <a:endParaRPr lang="en-US"/>
        </a:p>
      </dgm:t>
    </dgm:pt>
    <dgm:pt modelId="{754E4B2E-158A-4B84-BBC6-8C56B81B2DDC}" type="pres">
      <dgm:prSet presAssocID="{6B7F66F4-AAC2-4EF1-A096-9E0E6E3B8CA9}" presName="sibTrans" presStyleLbl="bgSibTrans2D1" presStyleIdx="2" presStyleCnt="10" custLinFactY="100000" custLinFactNeighborY="183073"/>
      <dgm:spPr/>
      <dgm:t>
        <a:bodyPr/>
        <a:lstStyle/>
        <a:p>
          <a:endParaRPr lang="en-US"/>
        </a:p>
      </dgm:t>
    </dgm:pt>
    <dgm:pt modelId="{7CF676F3-3B31-477A-9308-3F7295EE8101}" type="pres">
      <dgm:prSet presAssocID="{5409334A-B5CD-4DE9-BD86-EA2D58B22F8E}" presName="compNode" presStyleCnt="0"/>
      <dgm:spPr/>
    </dgm:pt>
    <dgm:pt modelId="{8BB66A0B-64BB-4B23-B5C4-819B9D7E7AB9}" type="pres">
      <dgm:prSet presAssocID="{5409334A-B5CD-4DE9-BD86-EA2D58B22F8E}" presName="dummyConnPt" presStyleCnt="0"/>
      <dgm:spPr/>
    </dgm:pt>
    <dgm:pt modelId="{B5016A49-3FAA-4F56-AD0D-E0E0B8D07BD6}" type="pres">
      <dgm:prSet presAssocID="{5409334A-B5CD-4DE9-BD86-EA2D58B22F8E}" presName="node" presStyleLbl="node1" presStyleIdx="3" presStyleCnt="11" custScaleX="137814" custLinFactNeighborX="-88258" custLinFactNeighborY="-19475">
        <dgm:presLayoutVars>
          <dgm:bulletEnabled val="1"/>
        </dgm:presLayoutVars>
      </dgm:prSet>
      <dgm:spPr/>
      <dgm:t>
        <a:bodyPr/>
        <a:lstStyle/>
        <a:p>
          <a:endParaRPr lang="en-US"/>
        </a:p>
      </dgm:t>
    </dgm:pt>
    <dgm:pt modelId="{7F46DA2F-E48E-4BAE-B087-7FF3A02F5219}" type="pres">
      <dgm:prSet presAssocID="{388E88F0-5889-42A6-9427-F51858545DFF}" presName="sibTrans" presStyleLbl="bgSibTrans2D1" presStyleIdx="3" presStyleCnt="10" custAng="18360" custLinFactY="114006" custLinFactNeighborY="200000"/>
      <dgm:spPr/>
      <dgm:t>
        <a:bodyPr/>
        <a:lstStyle/>
        <a:p>
          <a:endParaRPr lang="en-US"/>
        </a:p>
      </dgm:t>
    </dgm:pt>
    <dgm:pt modelId="{A4DEA2A4-E10D-47D8-8E0B-771A40B34287}" type="pres">
      <dgm:prSet presAssocID="{AB515182-0AC1-4B63-985F-634B57FEB9A3}" presName="compNode" presStyleCnt="0"/>
      <dgm:spPr/>
    </dgm:pt>
    <dgm:pt modelId="{F9A31782-A204-4F92-967A-66BBFAF13237}" type="pres">
      <dgm:prSet presAssocID="{AB515182-0AC1-4B63-985F-634B57FEB9A3}" presName="dummyConnPt" presStyleCnt="0"/>
      <dgm:spPr/>
    </dgm:pt>
    <dgm:pt modelId="{33CD0A4B-33A5-433C-A878-8BD8D3C36BA8}" type="pres">
      <dgm:prSet presAssocID="{AB515182-0AC1-4B63-985F-634B57FEB9A3}" presName="node" presStyleLbl="node1" presStyleIdx="4" presStyleCnt="11" custScaleX="139135" custLinFactNeighborX="-3828" custLinFactNeighborY="-21159">
        <dgm:presLayoutVars>
          <dgm:bulletEnabled val="1"/>
        </dgm:presLayoutVars>
      </dgm:prSet>
      <dgm:spPr/>
      <dgm:t>
        <a:bodyPr/>
        <a:lstStyle/>
        <a:p>
          <a:endParaRPr lang="en-US"/>
        </a:p>
      </dgm:t>
    </dgm:pt>
    <dgm:pt modelId="{F0F3A0B2-E8D7-4468-8F25-553C54C23FA5}" type="pres">
      <dgm:prSet presAssocID="{818F9724-362F-463E-BCE7-786B4DFF7815}" presName="sibTrans" presStyleLbl="bgSibTrans2D1" presStyleIdx="4" presStyleCnt="10" custAng="21530291" custLinFactY="4958" custLinFactNeighborX="96398" custLinFactNeighborY="100000"/>
      <dgm:spPr/>
      <dgm:t>
        <a:bodyPr/>
        <a:lstStyle/>
        <a:p>
          <a:endParaRPr lang="en-US"/>
        </a:p>
      </dgm:t>
    </dgm:pt>
    <dgm:pt modelId="{0489C026-84CC-4A6F-B819-DA0353DB1953}" type="pres">
      <dgm:prSet presAssocID="{CE069360-171B-46FA-9BFC-9350DA649A28}" presName="compNode" presStyleCnt="0"/>
      <dgm:spPr/>
    </dgm:pt>
    <dgm:pt modelId="{1B75969F-C042-48D7-9ECA-8063A691940F}" type="pres">
      <dgm:prSet presAssocID="{CE069360-171B-46FA-9BFC-9350DA649A28}" presName="dummyConnPt" presStyleCnt="0"/>
      <dgm:spPr/>
    </dgm:pt>
    <dgm:pt modelId="{78B01F28-CECF-4092-9376-B00067B3ADEB}" type="pres">
      <dgm:prSet presAssocID="{CE069360-171B-46FA-9BFC-9350DA649A28}" presName="node" presStyleLbl="node1" presStyleIdx="5" presStyleCnt="11" custAng="5400000" custScaleX="71703" custScaleY="198651" custLinFactNeighborX="-3551" custLinFactNeighborY="20350">
        <dgm:presLayoutVars>
          <dgm:bulletEnabled val="1"/>
        </dgm:presLayoutVars>
      </dgm:prSet>
      <dgm:spPr>
        <a:prstGeom prst="ellipse">
          <a:avLst/>
        </a:prstGeom>
      </dgm:spPr>
      <dgm:t>
        <a:bodyPr/>
        <a:lstStyle/>
        <a:p>
          <a:endParaRPr lang="en-US"/>
        </a:p>
      </dgm:t>
    </dgm:pt>
    <dgm:pt modelId="{ABDFBA92-C436-4741-A5E5-71F0ED012576}" type="pres">
      <dgm:prSet presAssocID="{FE132517-0076-413B-8B08-2DFEAC236633}" presName="sibTrans" presStyleLbl="bgSibTrans2D1" presStyleIdx="5" presStyleCnt="10" custLinFactNeighborX="89909" custLinFactNeighborY="-37851"/>
      <dgm:spPr/>
      <dgm:t>
        <a:bodyPr/>
        <a:lstStyle/>
        <a:p>
          <a:endParaRPr lang="en-US"/>
        </a:p>
      </dgm:t>
    </dgm:pt>
    <dgm:pt modelId="{8F6E1FF2-C7AB-40AE-8A68-7651DCE8657D}" type="pres">
      <dgm:prSet presAssocID="{2FF62323-351F-4A88-B8E4-459DC5564016}" presName="compNode" presStyleCnt="0"/>
      <dgm:spPr/>
    </dgm:pt>
    <dgm:pt modelId="{A37DF3C9-6677-4C0F-A734-EAFB6A696D18}" type="pres">
      <dgm:prSet presAssocID="{2FF62323-351F-4A88-B8E4-459DC5564016}" presName="dummyConnPt" presStyleCnt="0"/>
      <dgm:spPr/>
    </dgm:pt>
    <dgm:pt modelId="{53AF887B-443A-4050-BEFD-25AB9CE10E6D}" type="pres">
      <dgm:prSet presAssocID="{2FF62323-351F-4A88-B8E4-459DC5564016}" presName="node" presStyleLbl="node1" presStyleIdx="6" presStyleCnt="11" custScaleX="136340" custLinFactNeighborX="-5095" custLinFactNeighborY="64265">
        <dgm:presLayoutVars>
          <dgm:bulletEnabled val="1"/>
        </dgm:presLayoutVars>
      </dgm:prSet>
      <dgm:spPr/>
      <dgm:t>
        <a:bodyPr/>
        <a:lstStyle/>
        <a:p>
          <a:endParaRPr lang="en-US"/>
        </a:p>
      </dgm:t>
    </dgm:pt>
    <dgm:pt modelId="{2F289DEF-D2CB-43B6-8E28-5D32DD28FB7A}" type="pres">
      <dgm:prSet presAssocID="{876100E8-3820-49A2-B1FC-96A060448F67}" presName="sibTrans" presStyleLbl="bgSibTrans2D1" presStyleIdx="6" presStyleCnt="10" custLinFactY="20402" custLinFactNeighborX="92153" custLinFactNeighborY="100000"/>
      <dgm:spPr/>
      <dgm:t>
        <a:bodyPr/>
        <a:lstStyle/>
        <a:p>
          <a:endParaRPr lang="en-US"/>
        </a:p>
      </dgm:t>
    </dgm:pt>
    <dgm:pt modelId="{7E7AE072-502E-474B-A8EC-544E30A68197}" type="pres">
      <dgm:prSet presAssocID="{8D54DCE8-5FC1-4ACF-905D-5A726FC3EAEC}" presName="compNode" presStyleCnt="0"/>
      <dgm:spPr/>
    </dgm:pt>
    <dgm:pt modelId="{C0E66440-240B-4A06-BF48-B1CDA267AA6D}" type="pres">
      <dgm:prSet presAssocID="{8D54DCE8-5FC1-4ACF-905D-5A726FC3EAEC}" presName="dummyConnPt" presStyleCnt="0"/>
      <dgm:spPr/>
    </dgm:pt>
    <dgm:pt modelId="{3C463B84-0A02-48B7-9A05-5EEAE75E0667}" type="pres">
      <dgm:prSet presAssocID="{8D54DCE8-5FC1-4ACF-905D-5A726FC3EAEC}" presName="node" presStyleLbl="node1" presStyleIdx="7" presStyleCnt="11" custScaleX="137814" custLinFactNeighborX="-5095" custLinFactNeighborY="53966">
        <dgm:presLayoutVars>
          <dgm:bulletEnabled val="1"/>
        </dgm:presLayoutVars>
      </dgm:prSet>
      <dgm:spPr/>
      <dgm:t>
        <a:bodyPr/>
        <a:lstStyle/>
        <a:p>
          <a:endParaRPr lang="en-US"/>
        </a:p>
      </dgm:t>
    </dgm:pt>
    <dgm:pt modelId="{AC2BE747-59C5-4485-BAE9-4B28682A1C0F}" type="pres">
      <dgm:prSet presAssocID="{6F209CCE-EFD1-4977-A2D1-D1BC2FE1392D}" presName="sibTrans" presStyleLbl="bgSibTrans2D1" presStyleIdx="7" presStyleCnt="10" custLinFactNeighborX="34124"/>
      <dgm:spPr/>
      <dgm:t>
        <a:bodyPr/>
        <a:lstStyle/>
        <a:p>
          <a:endParaRPr lang="en-US"/>
        </a:p>
      </dgm:t>
    </dgm:pt>
    <dgm:pt modelId="{E9DDB4D3-ABC8-4008-869C-65B43EEAFC49}" type="pres">
      <dgm:prSet presAssocID="{FB1B5A08-1780-4793-9512-821005987C17}" presName="compNode" presStyleCnt="0"/>
      <dgm:spPr/>
    </dgm:pt>
    <dgm:pt modelId="{D3157552-FE6B-425D-B939-AE198C2D8E00}" type="pres">
      <dgm:prSet presAssocID="{FB1B5A08-1780-4793-9512-821005987C17}" presName="dummyConnPt" presStyleCnt="0"/>
      <dgm:spPr/>
    </dgm:pt>
    <dgm:pt modelId="{EFF7C01B-D200-4E99-8DE7-80D86D020BF7}" type="pres">
      <dgm:prSet presAssocID="{FB1B5A08-1780-4793-9512-821005987C17}" presName="node" presStyleLbl="node1" presStyleIdx="8" presStyleCnt="11" custScaleX="132741" custLinFactNeighborX="27074" custLinFactNeighborY="53484">
        <dgm:presLayoutVars>
          <dgm:bulletEnabled val="1"/>
        </dgm:presLayoutVars>
      </dgm:prSet>
      <dgm:spPr/>
      <dgm:t>
        <a:bodyPr/>
        <a:lstStyle/>
        <a:p>
          <a:endParaRPr lang="en-US"/>
        </a:p>
      </dgm:t>
    </dgm:pt>
    <dgm:pt modelId="{E1EBF2F4-FA16-4BFA-B63B-9FC49781C2B7}" type="pres">
      <dgm:prSet presAssocID="{472AE4FC-1C9B-4AA9-AE4C-3E459D6BCE48}" presName="sibTrans" presStyleLbl="bgSibTrans2D1" presStyleIdx="8" presStyleCnt="10" custAng="21525912" custLinFactNeighborX="99225" custLinFactNeighborY="-37909"/>
      <dgm:spPr/>
      <dgm:t>
        <a:bodyPr/>
        <a:lstStyle/>
        <a:p>
          <a:endParaRPr lang="en-US"/>
        </a:p>
      </dgm:t>
    </dgm:pt>
    <dgm:pt modelId="{11F7FEF9-419A-49E4-A685-6D4E443B93AB}" type="pres">
      <dgm:prSet presAssocID="{8B5121F6-EC09-4A12-9B46-F184C94BBA72}" presName="compNode" presStyleCnt="0"/>
      <dgm:spPr/>
    </dgm:pt>
    <dgm:pt modelId="{83DED8BC-0664-4F0A-91B0-929CFF2AB464}" type="pres">
      <dgm:prSet presAssocID="{8B5121F6-EC09-4A12-9B46-F184C94BBA72}" presName="dummyConnPt" presStyleCnt="0"/>
      <dgm:spPr/>
    </dgm:pt>
    <dgm:pt modelId="{432C4AEE-BF91-496C-BAB6-2A5B764F7472}" type="pres">
      <dgm:prSet presAssocID="{8B5121F6-EC09-4A12-9B46-F184C94BBA72}" presName="node" presStyleLbl="node1" presStyleIdx="9" presStyleCnt="11" custScaleX="137448" custScaleY="98599" custLinFactNeighborX="25742" custLinFactNeighborY="36566">
        <dgm:presLayoutVars>
          <dgm:bulletEnabled val="1"/>
        </dgm:presLayoutVars>
      </dgm:prSet>
      <dgm:spPr/>
      <dgm:t>
        <a:bodyPr/>
        <a:lstStyle/>
        <a:p>
          <a:endParaRPr lang="en-US"/>
        </a:p>
      </dgm:t>
    </dgm:pt>
    <dgm:pt modelId="{05EF7FCC-E325-43CD-B088-65E6366072F3}" type="pres">
      <dgm:prSet presAssocID="{D23BF69A-39E2-4854-AC84-6C497658D904}" presName="sibTrans" presStyleLbl="bgSibTrans2D1" presStyleIdx="9" presStyleCnt="10" custAng="377491" custLinFactY="67722" custLinFactNeighborX="84320" custLinFactNeighborY="100000"/>
      <dgm:spPr/>
      <dgm:t>
        <a:bodyPr/>
        <a:lstStyle/>
        <a:p>
          <a:endParaRPr lang="en-US"/>
        </a:p>
      </dgm:t>
    </dgm:pt>
    <dgm:pt modelId="{7601CA3D-D274-4F02-8703-01DF5EE1642A}" type="pres">
      <dgm:prSet presAssocID="{9CB5CB6A-257B-48FB-9169-8440EBEE33BB}" presName="compNode" presStyleCnt="0"/>
      <dgm:spPr/>
    </dgm:pt>
    <dgm:pt modelId="{2B2381CD-32B4-4B0A-99E8-9F633BFD09A9}" type="pres">
      <dgm:prSet presAssocID="{9CB5CB6A-257B-48FB-9169-8440EBEE33BB}" presName="dummyConnPt" presStyleCnt="0"/>
      <dgm:spPr/>
    </dgm:pt>
    <dgm:pt modelId="{3335A2EF-0F2A-4F5E-9316-00E9CF7B6F0F}" type="pres">
      <dgm:prSet presAssocID="{9CB5CB6A-257B-48FB-9169-8440EBEE33BB}" presName="node" presStyleLbl="node1" presStyleIdx="10" presStyleCnt="11" custScaleX="132741" custLinFactNeighborX="33746" custLinFactNeighborY="18023">
        <dgm:presLayoutVars>
          <dgm:bulletEnabled val="1"/>
        </dgm:presLayoutVars>
      </dgm:prSet>
      <dgm:spPr>
        <a:prstGeom prst="wave">
          <a:avLst/>
        </a:prstGeom>
      </dgm:spPr>
      <dgm:t>
        <a:bodyPr/>
        <a:lstStyle/>
        <a:p>
          <a:endParaRPr lang="en-US"/>
        </a:p>
      </dgm:t>
    </dgm:pt>
  </dgm:ptLst>
  <dgm:cxnLst>
    <dgm:cxn modelId="{FCF4E985-A28C-4061-A4C2-020E10CF99DC}" type="presOf" srcId="{9F35D124-E4F7-490E-A31B-ED2A1FA883AD}" destId="{069F766A-9623-40A2-A995-1DAB314FF3FA}" srcOrd="0" destOrd="0" presId="urn:microsoft.com/office/officeart/2005/8/layout/bProcess4"/>
    <dgm:cxn modelId="{8E9C79B5-1CF3-4F59-8188-82A18C9A01BC}" type="presOf" srcId="{AB515182-0AC1-4B63-985F-634B57FEB9A3}" destId="{33CD0A4B-33A5-433C-A878-8BD8D3C36BA8}" srcOrd="0" destOrd="0" presId="urn:microsoft.com/office/officeart/2005/8/layout/bProcess4"/>
    <dgm:cxn modelId="{98AD18D9-328D-4E36-B119-5385559E7BFA}" srcId="{70B2050C-C357-4627-B941-7F98DD789F99}" destId="{FB1B5A08-1780-4793-9512-821005987C17}" srcOrd="8" destOrd="0" parTransId="{B669B376-2E19-4447-854E-9410A9CAEDA5}" sibTransId="{472AE4FC-1C9B-4AA9-AE4C-3E459D6BCE48}"/>
    <dgm:cxn modelId="{34AC6017-F481-4EF8-BCFC-745A53097220}" type="presOf" srcId="{CE069360-171B-46FA-9BFC-9350DA649A28}" destId="{78B01F28-CECF-4092-9376-B00067B3ADEB}" srcOrd="0" destOrd="0" presId="urn:microsoft.com/office/officeart/2005/8/layout/bProcess4"/>
    <dgm:cxn modelId="{41C2A615-77ED-4663-9049-30B554EB3A79}" type="presOf" srcId="{2FF62323-351F-4A88-B8E4-459DC5564016}" destId="{53AF887B-443A-4050-BEFD-25AB9CE10E6D}" srcOrd="0" destOrd="0" presId="urn:microsoft.com/office/officeart/2005/8/layout/bProcess4"/>
    <dgm:cxn modelId="{CD39846B-E435-449E-9C78-8A570621B79B}" srcId="{70B2050C-C357-4627-B941-7F98DD789F99}" destId="{2FF62323-351F-4A88-B8E4-459DC5564016}" srcOrd="6" destOrd="0" parTransId="{D364FA5A-FACA-422A-B8CA-3FC2DE97BE3A}" sibTransId="{876100E8-3820-49A2-B1FC-96A060448F67}"/>
    <dgm:cxn modelId="{FFA30CD9-F453-4E67-A689-4E471F77B297}" type="presOf" srcId="{FB1B5A08-1780-4793-9512-821005987C17}" destId="{EFF7C01B-D200-4E99-8DE7-80D86D020BF7}" srcOrd="0" destOrd="0" presId="urn:microsoft.com/office/officeart/2005/8/layout/bProcess4"/>
    <dgm:cxn modelId="{38B79DFF-CEA6-4A4D-B989-37342DEC2937}" srcId="{70B2050C-C357-4627-B941-7F98DD789F99}" destId="{83F69A6E-42D9-46B0-9F32-D15C9DD10679}" srcOrd="0" destOrd="0" parTransId="{4FE79C90-8837-4659-B4F7-0F654610A95B}" sibTransId="{E9547D37-160E-4FC9-A6E5-1FE0DF1E06BF}"/>
    <dgm:cxn modelId="{90F516F0-32C0-41F8-AC32-99EA46117026}" type="presOf" srcId="{70B2050C-C357-4627-B941-7F98DD789F99}" destId="{F05404F5-7249-43BD-B009-33DFEB97DF9B}" srcOrd="0" destOrd="0" presId="urn:microsoft.com/office/officeart/2005/8/layout/bProcess4"/>
    <dgm:cxn modelId="{644CF7BE-CEAA-42B6-8333-D10955FE56A1}" srcId="{70B2050C-C357-4627-B941-7F98DD789F99}" destId="{9F35D124-E4F7-490E-A31B-ED2A1FA883AD}" srcOrd="2" destOrd="0" parTransId="{25E8E45F-65E5-4822-82CA-802360390D02}" sibTransId="{6B7F66F4-AAC2-4EF1-A096-9E0E6E3B8CA9}"/>
    <dgm:cxn modelId="{9184612E-5416-4D6C-9B32-333F55C2C443}" type="presOf" srcId="{945B2535-4822-46A3-B945-05FB8E0649CA}" destId="{D3C20E64-F628-4999-AACB-BDBA4B12FBBA}" srcOrd="0" destOrd="0" presId="urn:microsoft.com/office/officeart/2005/8/layout/bProcess4"/>
    <dgm:cxn modelId="{8C1E0ADF-F093-47BB-BDF8-09BE8EDBA99D}" type="presOf" srcId="{6F209CCE-EFD1-4977-A2D1-D1BC2FE1392D}" destId="{AC2BE747-59C5-4485-BAE9-4B28682A1C0F}" srcOrd="0" destOrd="0" presId="urn:microsoft.com/office/officeart/2005/8/layout/bProcess4"/>
    <dgm:cxn modelId="{2D45A4DA-E452-47A6-B341-12C5EED94827}" type="presOf" srcId="{5409334A-B5CD-4DE9-BD86-EA2D58B22F8E}" destId="{B5016A49-3FAA-4F56-AD0D-E0E0B8D07BD6}" srcOrd="0" destOrd="0" presId="urn:microsoft.com/office/officeart/2005/8/layout/bProcess4"/>
    <dgm:cxn modelId="{9CC5DED0-A0E6-458D-8472-7E9F8EB33449}" type="presOf" srcId="{8D54DCE8-5FC1-4ACF-905D-5A726FC3EAEC}" destId="{3C463B84-0A02-48B7-9A05-5EEAE75E0667}" srcOrd="0" destOrd="0" presId="urn:microsoft.com/office/officeart/2005/8/layout/bProcess4"/>
    <dgm:cxn modelId="{F6D39F8C-D516-4F77-B9C7-E91EA0353402}" type="presOf" srcId="{818F9724-362F-463E-BCE7-786B4DFF7815}" destId="{F0F3A0B2-E8D7-4468-8F25-553C54C23FA5}" srcOrd="0" destOrd="0" presId="urn:microsoft.com/office/officeart/2005/8/layout/bProcess4"/>
    <dgm:cxn modelId="{7874C6FE-0041-467D-A83B-A4FCCFDE01F5}" srcId="{70B2050C-C357-4627-B941-7F98DD789F99}" destId="{9CB5CB6A-257B-48FB-9169-8440EBEE33BB}" srcOrd="10" destOrd="0" parTransId="{1195A216-BFE1-4970-8891-1B660843D3D8}" sibTransId="{5CA7343D-2F52-45FE-928D-819A8B429F11}"/>
    <dgm:cxn modelId="{2C004B6F-FCC2-4F76-8C46-330CD9F142F0}" type="presOf" srcId="{9CB5CB6A-257B-48FB-9169-8440EBEE33BB}" destId="{3335A2EF-0F2A-4F5E-9316-00E9CF7B6F0F}" srcOrd="0" destOrd="0" presId="urn:microsoft.com/office/officeart/2005/8/layout/bProcess4"/>
    <dgm:cxn modelId="{D0F78F73-29C8-47DF-9CC6-5412F53DE0CE}" srcId="{70B2050C-C357-4627-B941-7F98DD789F99}" destId="{8D54DCE8-5FC1-4ACF-905D-5A726FC3EAEC}" srcOrd="7" destOrd="0" parTransId="{38745467-8F90-4A87-BD4B-AEEAB37E9E6B}" sibTransId="{6F209CCE-EFD1-4977-A2D1-D1BC2FE1392D}"/>
    <dgm:cxn modelId="{4076DBFA-3F7C-4F85-8124-B8F4D13E4701}" type="presOf" srcId="{472AE4FC-1C9B-4AA9-AE4C-3E459D6BCE48}" destId="{E1EBF2F4-FA16-4BFA-B63B-9FC49781C2B7}" srcOrd="0" destOrd="0" presId="urn:microsoft.com/office/officeart/2005/8/layout/bProcess4"/>
    <dgm:cxn modelId="{961E3B50-4D17-4E61-ADC6-CF11714738FE}" srcId="{70B2050C-C357-4627-B941-7F98DD789F99}" destId="{8B5121F6-EC09-4A12-9B46-F184C94BBA72}" srcOrd="9" destOrd="0" parTransId="{7426B2DA-D727-4DDE-987A-FB0F48E81B42}" sibTransId="{D23BF69A-39E2-4854-AC84-6C497658D904}"/>
    <dgm:cxn modelId="{E899898B-8C82-401B-B7EE-3FF3ED45C8A2}" type="presOf" srcId="{D23BF69A-39E2-4854-AC84-6C497658D904}" destId="{05EF7FCC-E325-43CD-B088-65E6366072F3}" srcOrd="0" destOrd="0" presId="urn:microsoft.com/office/officeart/2005/8/layout/bProcess4"/>
    <dgm:cxn modelId="{91612029-F678-4D12-B5ED-E22CFE21C926}" type="presOf" srcId="{6B7F66F4-AAC2-4EF1-A096-9E0E6E3B8CA9}" destId="{754E4B2E-158A-4B84-BBC6-8C56B81B2DDC}" srcOrd="0" destOrd="0" presId="urn:microsoft.com/office/officeart/2005/8/layout/bProcess4"/>
    <dgm:cxn modelId="{B300CD0F-1779-4C09-8EDC-422F067B53A7}" type="presOf" srcId="{388E88F0-5889-42A6-9427-F51858545DFF}" destId="{7F46DA2F-E48E-4BAE-B087-7FF3A02F5219}" srcOrd="0" destOrd="0" presId="urn:microsoft.com/office/officeart/2005/8/layout/bProcess4"/>
    <dgm:cxn modelId="{69FCA297-3384-4564-925F-4A1EFDF1801A}" type="presOf" srcId="{83F69A6E-42D9-46B0-9F32-D15C9DD10679}" destId="{7262383D-7B7C-4552-8B49-007037B0DB0B}" srcOrd="0" destOrd="0" presId="urn:microsoft.com/office/officeart/2005/8/layout/bProcess4"/>
    <dgm:cxn modelId="{984ACAF0-4874-4504-97B5-7B030999105A}" type="presOf" srcId="{8B5121F6-EC09-4A12-9B46-F184C94BBA72}" destId="{432C4AEE-BF91-496C-BAB6-2A5B764F7472}" srcOrd="0" destOrd="0" presId="urn:microsoft.com/office/officeart/2005/8/layout/bProcess4"/>
    <dgm:cxn modelId="{B87AF37B-F184-44C4-9A97-A7D53A4A6667}" srcId="{70B2050C-C357-4627-B941-7F98DD789F99}" destId="{945B2535-4822-46A3-B945-05FB8E0649CA}" srcOrd="1" destOrd="0" parTransId="{3B82225C-A70E-4528-93A0-40EDD7C1D069}" sibTransId="{69F4A470-FF85-4D18-A9B8-572B2ED7785A}"/>
    <dgm:cxn modelId="{78DA7FC2-E4AD-492F-BCD8-AB5C66B3AE65}" type="presOf" srcId="{FE132517-0076-413B-8B08-2DFEAC236633}" destId="{ABDFBA92-C436-4741-A5E5-71F0ED012576}" srcOrd="0" destOrd="0" presId="urn:microsoft.com/office/officeart/2005/8/layout/bProcess4"/>
    <dgm:cxn modelId="{581CB28C-863B-4B9F-8EA7-D28C9875294F}" srcId="{70B2050C-C357-4627-B941-7F98DD789F99}" destId="{AB515182-0AC1-4B63-985F-634B57FEB9A3}" srcOrd="4" destOrd="0" parTransId="{76195747-BA65-4259-BA01-5E1035B362D0}" sibTransId="{818F9724-362F-463E-BCE7-786B4DFF7815}"/>
    <dgm:cxn modelId="{8928335D-7C97-45E4-A088-D226EDA82F71}" type="presOf" srcId="{876100E8-3820-49A2-B1FC-96A060448F67}" destId="{2F289DEF-D2CB-43B6-8E28-5D32DD28FB7A}" srcOrd="0" destOrd="0" presId="urn:microsoft.com/office/officeart/2005/8/layout/bProcess4"/>
    <dgm:cxn modelId="{C0CA2FCE-E7AB-4DFF-BCC3-AE25BE07B865}" type="presOf" srcId="{E9547D37-160E-4FC9-A6E5-1FE0DF1E06BF}" destId="{0B8AECCA-B976-4802-BE8E-2B831E4DA6F5}" srcOrd="0" destOrd="0" presId="urn:microsoft.com/office/officeart/2005/8/layout/bProcess4"/>
    <dgm:cxn modelId="{F56D7872-FCBC-44BC-9864-ADD1A71E2ADE}" type="presOf" srcId="{69F4A470-FF85-4D18-A9B8-572B2ED7785A}" destId="{3FF5A13A-EC6C-4837-9ED5-2AD4861716DA}" srcOrd="0" destOrd="0" presId="urn:microsoft.com/office/officeart/2005/8/layout/bProcess4"/>
    <dgm:cxn modelId="{44123906-751F-4100-9F76-81EEE1D8D6A0}" srcId="{70B2050C-C357-4627-B941-7F98DD789F99}" destId="{5409334A-B5CD-4DE9-BD86-EA2D58B22F8E}" srcOrd="3" destOrd="0" parTransId="{A9063243-DCEF-48F3-966A-A7570DBE8327}" sibTransId="{388E88F0-5889-42A6-9427-F51858545DFF}"/>
    <dgm:cxn modelId="{B8AD6CF3-55F1-477E-9E69-E5C3E9DF8A82}" srcId="{70B2050C-C357-4627-B941-7F98DD789F99}" destId="{CE069360-171B-46FA-9BFC-9350DA649A28}" srcOrd="5" destOrd="0" parTransId="{15CE65B5-C3E8-460A-A038-F5337FD23F2D}" sibTransId="{FE132517-0076-413B-8B08-2DFEAC236633}"/>
    <dgm:cxn modelId="{27E417DA-BEB8-463F-8271-C7D2EF953534}" type="presParOf" srcId="{F05404F5-7249-43BD-B009-33DFEB97DF9B}" destId="{4E5D2505-8A67-4B0D-A9DB-AA52325B238A}" srcOrd="0" destOrd="0" presId="urn:microsoft.com/office/officeart/2005/8/layout/bProcess4"/>
    <dgm:cxn modelId="{B5B9E37B-6D6B-4D23-A804-260132D12E1B}" type="presParOf" srcId="{4E5D2505-8A67-4B0D-A9DB-AA52325B238A}" destId="{7CFC8788-A238-4C5D-A2A1-3EF524CBA8EF}" srcOrd="0" destOrd="0" presId="urn:microsoft.com/office/officeart/2005/8/layout/bProcess4"/>
    <dgm:cxn modelId="{D405DED3-DE48-4AC6-AFC0-B2A89A411904}" type="presParOf" srcId="{4E5D2505-8A67-4B0D-A9DB-AA52325B238A}" destId="{7262383D-7B7C-4552-8B49-007037B0DB0B}" srcOrd="1" destOrd="0" presId="urn:microsoft.com/office/officeart/2005/8/layout/bProcess4"/>
    <dgm:cxn modelId="{9759250B-A012-453C-82C6-B2328DB7E077}" type="presParOf" srcId="{F05404F5-7249-43BD-B009-33DFEB97DF9B}" destId="{0B8AECCA-B976-4802-BE8E-2B831E4DA6F5}" srcOrd="1" destOrd="0" presId="urn:microsoft.com/office/officeart/2005/8/layout/bProcess4"/>
    <dgm:cxn modelId="{2A7C45A6-3D12-42B7-BCFD-2636FE460AD9}" type="presParOf" srcId="{F05404F5-7249-43BD-B009-33DFEB97DF9B}" destId="{CCE8BE05-D00B-428D-8578-B0107B12BEC1}" srcOrd="2" destOrd="0" presId="urn:microsoft.com/office/officeart/2005/8/layout/bProcess4"/>
    <dgm:cxn modelId="{209D5A6C-4A39-4658-A185-85AE0A114AF8}" type="presParOf" srcId="{CCE8BE05-D00B-428D-8578-B0107B12BEC1}" destId="{A017FCC0-1347-4CEE-B37F-A4FC84378FF8}" srcOrd="0" destOrd="0" presId="urn:microsoft.com/office/officeart/2005/8/layout/bProcess4"/>
    <dgm:cxn modelId="{BB503F6A-2864-44F5-8A51-F6E23F0F4763}" type="presParOf" srcId="{CCE8BE05-D00B-428D-8578-B0107B12BEC1}" destId="{D3C20E64-F628-4999-AACB-BDBA4B12FBBA}" srcOrd="1" destOrd="0" presId="urn:microsoft.com/office/officeart/2005/8/layout/bProcess4"/>
    <dgm:cxn modelId="{635762C4-2FF7-48E1-A7AC-3AE5001055A8}" type="presParOf" srcId="{F05404F5-7249-43BD-B009-33DFEB97DF9B}" destId="{3FF5A13A-EC6C-4837-9ED5-2AD4861716DA}" srcOrd="3" destOrd="0" presId="urn:microsoft.com/office/officeart/2005/8/layout/bProcess4"/>
    <dgm:cxn modelId="{47A2E064-4223-469C-82C5-29E352A32E7E}" type="presParOf" srcId="{F05404F5-7249-43BD-B009-33DFEB97DF9B}" destId="{42E511C7-4C6B-4FCA-9C82-4462F2239A09}" srcOrd="4" destOrd="0" presId="urn:microsoft.com/office/officeart/2005/8/layout/bProcess4"/>
    <dgm:cxn modelId="{76E30C0F-1A61-4F38-9631-D0B13F6B723F}" type="presParOf" srcId="{42E511C7-4C6B-4FCA-9C82-4462F2239A09}" destId="{AE522083-95E1-4845-95C0-5D8C9C55AD85}" srcOrd="0" destOrd="0" presId="urn:microsoft.com/office/officeart/2005/8/layout/bProcess4"/>
    <dgm:cxn modelId="{87A2AACF-46A9-4CB2-A7EB-885EA7E9CEC1}" type="presParOf" srcId="{42E511C7-4C6B-4FCA-9C82-4462F2239A09}" destId="{069F766A-9623-40A2-A995-1DAB314FF3FA}" srcOrd="1" destOrd="0" presId="urn:microsoft.com/office/officeart/2005/8/layout/bProcess4"/>
    <dgm:cxn modelId="{CB235580-6042-4FD4-A70D-E1B4B088818C}" type="presParOf" srcId="{F05404F5-7249-43BD-B009-33DFEB97DF9B}" destId="{754E4B2E-158A-4B84-BBC6-8C56B81B2DDC}" srcOrd="5" destOrd="0" presId="urn:microsoft.com/office/officeart/2005/8/layout/bProcess4"/>
    <dgm:cxn modelId="{DA3B0016-B9C9-47F3-908B-B92213284881}" type="presParOf" srcId="{F05404F5-7249-43BD-B009-33DFEB97DF9B}" destId="{7CF676F3-3B31-477A-9308-3F7295EE8101}" srcOrd="6" destOrd="0" presId="urn:microsoft.com/office/officeart/2005/8/layout/bProcess4"/>
    <dgm:cxn modelId="{6801A84E-E75F-407B-8AD0-018C36F6DFC3}" type="presParOf" srcId="{7CF676F3-3B31-477A-9308-3F7295EE8101}" destId="{8BB66A0B-64BB-4B23-B5C4-819B9D7E7AB9}" srcOrd="0" destOrd="0" presId="urn:microsoft.com/office/officeart/2005/8/layout/bProcess4"/>
    <dgm:cxn modelId="{04D0D7BB-1693-4889-919E-8987A8246351}" type="presParOf" srcId="{7CF676F3-3B31-477A-9308-3F7295EE8101}" destId="{B5016A49-3FAA-4F56-AD0D-E0E0B8D07BD6}" srcOrd="1" destOrd="0" presId="urn:microsoft.com/office/officeart/2005/8/layout/bProcess4"/>
    <dgm:cxn modelId="{20B34479-59A6-4D2A-95D6-10D300C10407}" type="presParOf" srcId="{F05404F5-7249-43BD-B009-33DFEB97DF9B}" destId="{7F46DA2F-E48E-4BAE-B087-7FF3A02F5219}" srcOrd="7" destOrd="0" presId="urn:microsoft.com/office/officeart/2005/8/layout/bProcess4"/>
    <dgm:cxn modelId="{39985920-7140-480E-B316-3C4728A935D9}" type="presParOf" srcId="{F05404F5-7249-43BD-B009-33DFEB97DF9B}" destId="{A4DEA2A4-E10D-47D8-8E0B-771A40B34287}" srcOrd="8" destOrd="0" presId="urn:microsoft.com/office/officeart/2005/8/layout/bProcess4"/>
    <dgm:cxn modelId="{A43E3CA0-9E16-4913-ACA0-8736D2D32003}" type="presParOf" srcId="{A4DEA2A4-E10D-47D8-8E0B-771A40B34287}" destId="{F9A31782-A204-4F92-967A-66BBFAF13237}" srcOrd="0" destOrd="0" presId="urn:microsoft.com/office/officeart/2005/8/layout/bProcess4"/>
    <dgm:cxn modelId="{31B26325-0B36-4830-B344-528C442B0BF0}" type="presParOf" srcId="{A4DEA2A4-E10D-47D8-8E0B-771A40B34287}" destId="{33CD0A4B-33A5-433C-A878-8BD8D3C36BA8}" srcOrd="1" destOrd="0" presId="urn:microsoft.com/office/officeart/2005/8/layout/bProcess4"/>
    <dgm:cxn modelId="{E1543B26-CEDB-4995-AB9D-5582FB3815BF}" type="presParOf" srcId="{F05404F5-7249-43BD-B009-33DFEB97DF9B}" destId="{F0F3A0B2-E8D7-4468-8F25-553C54C23FA5}" srcOrd="9" destOrd="0" presId="urn:microsoft.com/office/officeart/2005/8/layout/bProcess4"/>
    <dgm:cxn modelId="{B3BF71A9-2DBF-4CBE-85BB-745019C6655B}" type="presParOf" srcId="{F05404F5-7249-43BD-B009-33DFEB97DF9B}" destId="{0489C026-84CC-4A6F-B819-DA0353DB1953}" srcOrd="10" destOrd="0" presId="urn:microsoft.com/office/officeart/2005/8/layout/bProcess4"/>
    <dgm:cxn modelId="{64D68EFC-9BE6-4ACA-AFE1-7C20E5AFEC32}" type="presParOf" srcId="{0489C026-84CC-4A6F-B819-DA0353DB1953}" destId="{1B75969F-C042-48D7-9ECA-8063A691940F}" srcOrd="0" destOrd="0" presId="urn:microsoft.com/office/officeart/2005/8/layout/bProcess4"/>
    <dgm:cxn modelId="{B79906B3-7E15-4F5F-BDF1-755CCFB17529}" type="presParOf" srcId="{0489C026-84CC-4A6F-B819-DA0353DB1953}" destId="{78B01F28-CECF-4092-9376-B00067B3ADEB}" srcOrd="1" destOrd="0" presId="urn:microsoft.com/office/officeart/2005/8/layout/bProcess4"/>
    <dgm:cxn modelId="{38377DFC-60A7-49FC-8C47-E6533DC26D8C}" type="presParOf" srcId="{F05404F5-7249-43BD-B009-33DFEB97DF9B}" destId="{ABDFBA92-C436-4741-A5E5-71F0ED012576}" srcOrd="11" destOrd="0" presId="urn:microsoft.com/office/officeart/2005/8/layout/bProcess4"/>
    <dgm:cxn modelId="{2CAE235E-C295-4A91-B83C-633C898FA9ED}" type="presParOf" srcId="{F05404F5-7249-43BD-B009-33DFEB97DF9B}" destId="{8F6E1FF2-C7AB-40AE-8A68-7651DCE8657D}" srcOrd="12" destOrd="0" presId="urn:microsoft.com/office/officeart/2005/8/layout/bProcess4"/>
    <dgm:cxn modelId="{8F883836-0558-4B87-947A-96C4EEF7C529}" type="presParOf" srcId="{8F6E1FF2-C7AB-40AE-8A68-7651DCE8657D}" destId="{A37DF3C9-6677-4C0F-A734-EAFB6A696D18}" srcOrd="0" destOrd="0" presId="urn:microsoft.com/office/officeart/2005/8/layout/bProcess4"/>
    <dgm:cxn modelId="{617063D6-76AB-4C29-82A2-71798EA1A717}" type="presParOf" srcId="{8F6E1FF2-C7AB-40AE-8A68-7651DCE8657D}" destId="{53AF887B-443A-4050-BEFD-25AB9CE10E6D}" srcOrd="1" destOrd="0" presId="urn:microsoft.com/office/officeart/2005/8/layout/bProcess4"/>
    <dgm:cxn modelId="{524CB08E-C465-48C4-8A99-186CE387D6E1}" type="presParOf" srcId="{F05404F5-7249-43BD-B009-33DFEB97DF9B}" destId="{2F289DEF-D2CB-43B6-8E28-5D32DD28FB7A}" srcOrd="13" destOrd="0" presId="urn:microsoft.com/office/officeart/2005/8/layout/bProcess4"/>
    <dgm:cxn modelId="{DC5DEC5B-3CEC-4B77-9915-0C84EAEE3616}" type="presParOf" srcId="{F05404F5-7249-43BD-B009-33DFEB97DF9B}" destId="{7E7AE072-502E-474B-A8EC-544E30A68197}" srcOrd="14" destOrd="0" presId="urn:microsoft.com/office/officeart/2005/8/layout/bProcess4"/>
    <dgm:cxn modelId="{0B03561F-8081-4EBA-B267-0D2783082FAA}" type="presParOf" srcId="{7E7AE072-502E-474B-A8EC-544E30A68197}" destId="{C0E66440-240B-4A06-BF48-B1CDA267AA6D}" srcOrd="0" destOrd="0" presId="urn:microsoft.com/office/officeart/2005/8/layout/bProcess4"/>
    <dgm:cxn modelId="{4F78124A-8ADA-47E8-B8A3-B2D3FB7A2F06}" type="presParOf" srcId="{7E7AE072-502E-474B-A8EC-544E30A68197}" destId="{3C463B84-0A02-48B7-9A05-5EEAE75E0667}" srcOrd="1" destOrd="0" presId="urn:microsoft.com/office/officeart/2005/8/layout/bProcess4"/>
    <dgm:cxn modelId="{54269E30-C429-4C99-AEB2-ECE6E084F519}" type="presParOf" srcId="{F05404F5-7249-43BD-B009-33DFEB97DF9B}" destId="{AC2BE747-59C5-4485-BAE9-4B28682A1C0F}" srcOrd="15" destOrd="0" presId="urn:microsoft.com/office/officeart/2005/8/layout/bProcess4"/>
    <dgm:cxn modelId="{C0AB0484-57C3-477D-9A6B-B2633A4E2A08}" type="presParOf" srcId="{F05404F5-7249-43BD-B009-33DFEB97DF9B}" destId="{E9DDB4D3-ABC8-4008-869C-65B43EEAFC49}" srcOrd="16" destOrd="0" presId="urn:microsoft.com/office/officeart/2005/8/layout/bProcess4"/>
    <dgm:cxn modelId="{9CA791E8-0F95-4B4A-A76F-AB23042310CF}" type="presParOf" srcId="{E9DDB4D3-ABC8-4008-869C-65B43EEAFC49}" destId="{D3157552-FE6B-425D-B939-AE198C2D8E00}" srcOrd="0" destOrd="0" presId="urn:microsoft.com/office/officeart/2005/8/layout/bProcess4"/>
    <dgm:cxn modelId="{1CB612E2-3AE6-41F5-A983-80E170F75DA8}" type="presParOf" srcId="{E9DDB4D3-ABC8-4008-869C-65B43EEAFC49}" destId="{EFF7C01B-D200-4E99-8DE7-80D86D020BF7}" srcOrd="1" destOrd="0" presId="urn:microsoft.com/office/officeart/2005/8/layout/bProcess4"/>
    <dgm:cxn modelId="{A761AD0A-3277-4275-B203-2CB8ACBBCE7B}" type="presParOf" srcId="{F05404F5-7249-43BD-B009-33DFEB97DF9B}" destId="{E1EBF2F4-FA16-4BFA-B63B-9FC49781C2B7}" srcOrd="17" destOrd="0" presId="urn:microsoft.com/office/officeart/2005/8/layout/bProcess4"/>
    <dgm:cxn modelId="{48298F29-C7B0-4A70-9A11-88CA49894B91}" type="presParOf" srcId="{F05404F5-7249-43BD-B009-33DFEB97DF9B}" destId="{11F7FEF9-419A-49E4-A685-6D4E443B93AB}" srcOrd="18" destOrd="0" presId="urn:microsoft.com/office/officeart/2005/8/layout/bProcess4"/>
    <dgm:cxn modelId="{0F47C79A-5E39-48C5-B1D9-3F2DDACA9078}" type="presParOf" srcId="{11F7FEF9-419A-49E4-A685-6D4E443B93AB}" destId="{83DED8BC-0664-4F0A-91B0-929CFF2AB464}" srcOrd="0" destOrd="0" presId="urn:microsoft.com/office/officeart/2005/8/layout/bProcess4"/>
    <dgm:cxn modelId="{83A18EFC-1630-49BB-94E6-98A4C7066ED1}" type="presParOf" srcId="{11F7FEF9-419A-49E4-A685-6D4E443B93AB}" destId="{432C4AEE-BF91-496C-BAB6-2A5B764F7472}" srcOrd="1" destOrd="0" presId="urn:microsoft.com/office/officeart/2005/8/layout/bProcess4"/>
    <dgm:cxn modelId="{BEE9F1B5-AC06-416E-8E3A-BC7F5D1213F0}" type="presParOf" srcId="{F05404F5-7249-43BD-B009-33DFEB97DF9B}" destId="{05EF7FCC-E325-43CD-B088-65E6366072F3}" srcOrd="19" destOrd="0" presId="urn:microsoft.com/office/officeart/2005/8/layout/bProcess4"/>
    <dgm:cxn modelId="{F6089DA2-F7B3-402C-B01C-00F2A2E4054B}" type="presParOf" srcId="{F05404F5-7249-43BD-B009-33DFEB97DF9B}" destId="{7601CA3D-D274-4F02-8703-01DF5EE1642A}" srcOrd="20" destOrd="0" presId="urn:microsoft.com/office/officeart/2005/8/layout/bProcess4"/>
    <dgm:cxn modelId="{60D8F24C-117F-48C5-8D2E-BC4B01B79222}" type="presParOf" srcId="{7601CA3D-D274-4F02-8703-01DF5EE1642A}" destId="{2B2381CD-32B4-4B0A-99E8-9F633BFD09A9}" srcOrd="0" destOrd="0" presId="urn:microsoft.com/office/officeart/2005/8/layout/bProcess4"/>
    <dgm:cxn modelId="{14B3E93A-F69D-456F-982A-CA93A4BBA769}" type="presParOf" srcId="{7601CA3D-D274-4F02-8703-01DF5EE1642A}" destId="{3335A2EF-0F2A-4F5E-9316-00E9CF7B6F0F}" srcOrd="1" destOrd="0" presId="urn:microsoft.com/office/officeart/2005/8/layout/bProcess4"/>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FE7E91C-1D5B-4437-B95C-BD2F69A6F8D5}" type="doc">
      <dgm:prSet loTypeId="urn:microsoft.com/office/officeart/2005/8/layout/cycle6" loCatId="cycle" qsTypeId="urn:microsoft.com/office/officeart/2005/8/quickstyle/simple1" qsCatId="simple" csTypeId="urn:microsoft.com/office/officeart/2005/8/colors/accent6_1" csCatId="accent6" phldr="1"/>
      <dgm:spPr/>
      <dgm:t>
        <a:bodyPr/>
        <a:lstStyle/>
        <a:p>
          <a:endParaRPr lang="en-US"/>
        </a:p>
      </dgm:t>
    </dgm:pt>
    <dgm:pt modelId="{D443E844-8CC5-4664-B74D-386AA7E5C872}">
      <dgm:prSet phldrT="[Text]" custT="1"/>
      <dgm:spPr>
        <a:solidFill>
          <a:srgbClr val="009D57"/>
        </a:solidFill>
        <a:ln>
          <a:solidFill>
            <a:srgbClr val="0070C0"/>
          </a:solidFill>
        </a:ln>
      </dgm:spPr>
      <dgm:t>
        <a:bodyPr/>
        <a:lstStyle/>
        <a:p>
          <a:r>
            <a:rPr lang="en-US" sz="1200" b="1" dirty="0" smtClean="0">
              <a:solidFill>
                <a:schemeClr val="bg1"/>
              </a:solidFill>
            </a:rPr>
            <a:t>Be A Leader:</a:t>
          </a:r>
        </a:p>
        <a:p>
          <a:r>
            <a:rPr lang="en-US" sz="1000" b="1" dirty="0" smtClean="0">
              <a:solidFill>
                <a:schemeClr val="bg1"/>
              </a:solidFill>
            </a:rPr>
            <a:t>Flexing Leadership Style*</a:t>
          </a:r>
          <a:endParaRPr lang="en-US" sz="1000" b="1" dirty="0">
            <a:solidFill>
              <a:schemeClr val="bg1"/>
            </a:solidFill>
          </a:endParaRPr>
        </a:p>
      </dgm:t>
    </dgm:pt>
    <dgm:pt modelId="{C4E070AE-F90B-41B4-A82D-8521E417C9E1}" type="parTrans" cxnId="{2E7E928B-5F93-4F31-B0DD-581895434C38}">
      <dgm:prSet/>
      <dgm:spPr/>
      <dgm:t>
        <a:bodyPr/>
        <a:lstStyle/>
        <a:p>
          <a:endParaRPr lang="en-US" b="1"/>
        </a:p>
      </dgm:t>
    </dgm:pt>
    <dgm:pt modelId="{2E41D2C3-0A06-4124-9972-6A6BFD00D5BE}" type="sibTrans" cxnId="{2E7E928B-5F93-4F31-B0DD-581895434C38}">
      <dgm:prSet/>
      <dgm:spPr>
        <a:ln w="28575"/>
      </dgm:spPr>
      <dgm:t>
        <a:bodyPr/>
        <a:lstStyle/>
        <a:p>
          <a:endParaRPr lang="en-US" b="1" dirty="0"/>
        </a:p>
      </dgm:t>
    </dgm:pt>
    <dgm:pt modelId="{EC5E3958-718F-449B-A514-75149A89AFFC}">
      <dgm:prSet phldrT="[Text]" custT="1"/>
      <dgm:spPr>
        <a:solidFill>
          <a:srgbClr val="009D57"/>
        </a:solidFill>
        <a:ln>
          <a:solidFill>
            <a:srgbClr val="0070C0"/>
          </a:solidFill>
        </a:ln>
      </dgm:spPr>
      <dgm:t>
        <a:bodyPr/>
        <a:lstStyle/>
        <a:p>
          <a:r>
            <a:rPr lang="en-US" sz="1200" b="1" dirty="0" smtClean="0">
              <a:solidFill>
                <a:schemeClr val="bg1"/>
              </a:solidFill>
            </a:rPr>
            <a:t>Build a Strong Team: </a:t>
          </a:r>
        </a:p>
        <a:p>
          <a:r>
            <a:rPr lang="en-US" sz="1000" b="1" dirty="0" smtClean="0">
              <a:solidFill>
                <a:schemeClr val="bg1"/>
              </a:solidFill>
            </a:rPr>
            <a:t>Coaching and Feedback</a:t>
          </a:r>
          <a:endParaRPr lang="en-US" sz="1000" b="1" dirty="0">
            <a:solidFill>
              <a:schemeClr val="bg1"/>
            </a:solidFill>
          </a:endParaRPr>
        </a:p>
      </dgm:t>
    </dgm:pt>
    <dgm:pt modelId="{50EB92E6-44DC-4D5A-BE62-31BDEFAB6465}" type="parTrans" cxnId="{39438AE0-F603-489C-84BC-0B1814B15145}">
      <dgm:prSet/>
      <dgm:spPr/>
      <dgm:t>
        <a:bodyPr/>
        <a:lstStyle/>
        <a:p>
          <a:endParaRPr lang="en-US" b="1"/>
        </a:p>
      </dgm:t>
    </dgm:pt>
    <dgm:pt modelId="{1EE8A76D-CD85-4800-B31D-BC6773D9B5CF}" type="sibTrans" cxnId="{39438AE0-F603-489C-84BC-0B1814B15145}">
      <dgm:prSet/>
      <dgm:spPr>
        <a:ln w="28575"/>
      </dgm:spPr>
      <dgm:t>
        <a:bodyPr/>
        <a:lstStyle/>
        <a:p>
          <a:endParaRPr lang="en-US" b="1" dirty="0"/>
        </a:p>
      </dgm:t>
    </dgm:pt>
    <dgm:pt modelId="{5D54872B-8C77-431D-AE71-4A1CD00F91CD}">
      <dgm:prSet phldrT="[Text]" custT="1"/>
      <dgm:spPr>
        <a:solidFill>
          <a:srgbClr val="009D57"/>
        </a:solidFill>
        <a:ln>
          <a:solidFill>
            <a:srgbClr val="0070C0"/>
          </a:solidFill>
        </a:ln>
      </dgm:spPr>
      <dgm:t>
        <a:bodyPr/>
        <a:lstStyle/>
        <a:p>
          <a:r>
            <a:rPr lang="en-US" sz="1200" b="1" dirty="0" smtClean="0">
              <a:solidFill>
                <a:schemeClr val="bg1"/>
              </a:solidFill>
            </a:rPr>
            <a:t>Get Results:</a:t>
          </a:r>
        </a:p>
        <a:p>
          <a:r>
            <a:rPr lang="en-US" sz="1000" b="1" dirty="0" smtClean="0">
              <a:solidFill>
                <a:schemeClr val="bg1"/>
              </a:solidFill>
            </a:rPr>
            <a:t>LEAN Tools and Simulation</a:t>
          </a:r>
          <a:endParaRPr lang="en-US" sz="1000" b="1" dirty="0">
            <a:solidFill>
              <a:schemeClr val="bg1"/>
            </a:solidFill>
          </a:endParaRPr>
        </a:p>
      </dgm:t>
    </dgm:pt>
    <dgm:pt modelId="{39E223B7-BF32-45A7-8C63-A290191E25B1}" type="parTrans" cxnId="{306F65EC-FD5B-428D-8019-A31F881F552B}">
      <dgm:prSet/>
      <dgm:spPr/>
      <dgm:t>
        <a:bodyPr/>
        <a:lstStyle/>
        <a:p>
          <a:endParaRPr lang="en-US" b="1"/>
        </a:p>
      </dgm:t>
    </dgm:pt>
    <dgm:pt modelId="{B93B3A9F-C31C-4882-B338-9B26495DA10E}" type="sibTrans" cxnId="{306F65EC-FD5B-428D-8019-A31F881F552B}">
      <dgm:prSet/>
      <dgm:spPr>
        <a:ln w="28575"/>
      </dgm:spPr>
      <dgm:t>
        <a:bodyPr/>
        <a:lstStyle/>
        <a:p>
          <a:endParaRPr lang="en-US" b="1" dirty="0"/>
        </a:p>
      </dgm:t>
    </dgm:pt>
    <dgm:pt modelId="{2C3D2168-49B9-4467-8DC2-8D3758FFA693}">
      <dgm:prSet phldrT="[Text]" custT="1"/>
      <dgm:spPr>
        <a:solidFill>
          <a:srgbClr val="009D57"/>
        </a:solidFill>
        <a:ln>
          <a:solidFill>
            <a:srgbClr val="0070C0"/>
          </a:solidFill>
        </a:ln>
      </dgm:spPr>
      <dgm:t>
        <a:bodyPr/>
        <a:lstStyle/>
        <a:p>
          <a:r>
            <a:rPr lang="en-US" sz="1200" b="1" dirty="0" smtClean="0">
              <a:solidFill>
                <a:schemeClr val="bg1"/>
              </a:solidFill>
            </a:rPr>
            <a:t>Be Clear and Compelling:</a:t>
          </a:r>
        </a:p>
        <a:p>
          <a:r>
            <a:rPr lang="en-US" sz="1000" b="1" dirty="0" smtClean="0">
              <a:solidFill>
                <a:schemeClr val="bg1"/>
              </a:solidFill>
            </a:rPr>
            <a:t>Handling</a:t>
          </a:r>
        </a:p>
        <a:p>
          <a:r>
            <a:rPr lang="en-US" sz="1000" b="1" dirty="0" smtClean="0">
              <a:solidFill>
                <a:schemeClr val="bg1"/>
              </a:solidFill>
            </a:rPr>
            <a:t>Conflict*</a:t>
          </a:r>
          <a:endParaRPr lang="en-US" sz="1000" b="1" dirty="0">
            <a:solidFill>
              <a:schemeClr val="bg1"/>
            </a:solidFill>
          </a:endParaRPr>
        </a:p>
      </dgm:t>
    </dgm:pt>
    <dgm:pt modelId="{B8300969-DBA4-446D-A373-1B301C858BC4}" type="parTrans" cxnId="{9E6CC8F7-406E-4F2E-8645-72A28A85DBFC}">
      <dgm:prSet/>
      <dgm:spPr/>
      <dgm:t>
        <a:bodyPr/>
        <a:lstStyle/>
        <a:p>
          <a:endParaRPr lang="en-US" b="1"/>
        </a:p>
      </dgm:t>
    </dgm:pt>
    <dgm:pt modelId="{7BF54B98-A432-4822-B4AF-69DB6D0552B8}" type="sibTrans" cxnId="{9E6CC8F7-406E-4F2E-8645-72A28A85DBFC}">
      <dgm:prSet/>
      <dgm:spPr>
        <a:ln w="28575"/>
      </dgm:spPr>
      <dgm:t>
        <a:bodyPr/>
        <a:lstStyle/>
        <a:p>
          <a:endParaRPr lang="en-US" b="1" dirty="0"/>
        </a:p>
      </dgm:t>
    </dgm:pt>
    <dgm:pt modelId="{063E3B63-1A96-4311-83B9-B76F252731FE}">
      <dgm:prSet custT="1"/>
      <dgm:spPr>
        <a:solidFill>
          <a:srgbClr val="009D57"/>
        </a:solidFill>
        <a:ln>
          <a:solidFill>
            <a:srgbClr val="0070C0"/>
          </a:solidFill>
        </a:ln>
      </dgm:spPr>
      <dgm:t>
        <a:bodyPr/>
        <a:lstStyle/>
        <a:p>
          <a:r>
            <a:rPr lang="en-US" sz="1200" b="1" dirty="0" smtClean="0">
              <a:solidFill>
                <a:schemeClr val="bg1"/>
              </a:solidFill>
            </a:rPr>
            <a:t>Get Results:</a:t>
          </a:r>
        </a:p>
        <a:p>
          <a:r>
            <a:rPr lang="en-US" sz="1000" b="1" dirty="0" smtClean="0">
              <a:solidFill>
                <a:schemeClr val="bg1"/>
              </a:solidFill>
            </a:rPr>
            <a:t>Leading Change</a:t>
          </a:r>
          <a:endParaRPr lang="en-US" sz="1000" b="1" dirty="0">
            <a:solidFill>
              <a:schemeClr val="bg1"/>
            </a:solidFill>
          </a:endParaRPr>
        </a:p>
      </dgm:t>
    </dgm:pt>
    <dgm:pt modelId="{65B6704D-B9D1-450B-B668-1FAB190D9D4B}" type="parTrans" cxnId="{E6473331-74A2-4695-BA3C-B99CEEFA4EB0}">
      <dgm:prSet/>
      <dgm:spPr/>
      <dgm:t>
        <a:bodyPr/>
        <a:lstStyle/>
        <a:p>
          <a:endParaRPr lang="en-US" b="1"/>
        </a:p>
      </dgm:t>
    </dgm:pt>
    <dgm:pt modelId="{D10EB59D-B157-43BF-8116-263C453F0CBA}" type="sibTrans" cxnId="{E6473331-74A2-4695-BA3C-B99CEEFA4EB0}">
      <dgm:prSet/>
      <dgm:spPr>
        <a:ln w="28575"/>
      </dgm:spPr>
      <dgm:t>
        <a:bodyPr/>
        <a:lstStyle/>
        <a:p>
          <a:endParaRPr lang="en-US" b="1" dirty="0"/>
        </a:p>
      </dgm:t>
    </dgm:pt>
    <dgm:pt modelId="{FF12346B-03D1-4E47-B849-F71D092321C5}">
      <dgm:prSet custT="1"/>
      <dgm:spPr>
        <a:solidFill>
          <a:srgbClr val="009D57"/>
        </a:solidFill>
        <a:ln>
          <a:solidFill>
            <a:srgbClr val="0070C0"/>
          </a:solidFill>
        </a:ln>
      </dgm:spPr>
      <dgm:t>
        <a:bodyPr/>
        <a:lstStyle/>
        <a:p>
          <a:r>
            <a:rPr lang="en-US" sz="1200" b="1" dirty="0" smtClean="0">
              <a:solidFill>
                <a:schemeClr val="bg1"/>
              </a:solidFill>
            </a:rPr>
            <a:t>Build a Strong Team: </a:t>
          </a:r>
        </a:p>
        <a:p>
          <a:r>
            <a:rPr lang="en-US" sz="1000" b="1" dirty="0" smtClean="0">
              <a:solidFill>
                <a:schemeClr val="bg1"/>
              </a:solidFill>
            </a:rPr>
            <a:t>Building Your Team</a:t>
          </a:r>
          <a:endParaRPr lang="en-US" sz="1000" b="1" dirty="0">
            <a:solidFill>
              <a:schemeClr val="bg1"/>
            </a:solidFill>
          </a:endParaRPr>
        </a:p>
      </dgm:t>
    </dgm:pt>
    <dgm:pt modelId="{7430EFE1-828E-4FE0-ACBE-85FD94F058BC}" type="parTrans" cxnId="{F3CBA075-8655-49F7-82F1-751B90BDB84A}">
      <dgm:prSet/>
      <dgm:spPr/>
      <dgm:t>
        <a:bodyPr/>
        <a:lstStyle/>
        <a:p>
          <a:endParaRPr lang="en-US" b="1"/>
        </a:p>
      </dgm:t>
    </dgm:pt>
    <dgm:pt modelId="{BF4EE0D4-F0AE-4E6F-BDA1-41AB1C768C12}" type="sibTrans" cxnId="{F3CBA075-8655-49F7-82F1-751B90BDB84A}">
      <dgm:prSet/>
      <dgm:spPr>
        <a:ln w="28575"/>
      </dgm:spPr>
      <dgm:t>
        <a:bodyPr/>
        <a:lstStyle/>
        <a:p>
          <a:endParaRPr lang="en-US" b="1" dirty="0"/>
        </a:p>
      </dgm:t>
    </dgm:pt>
    <dgm:pt modelId="{8AA0247F-F2C2-443C-8184-0EEBEDEA93EB}" type="pres">
      <dgm:prSet presAssocID="{4FE7E91C-1D5B-4437-B95C-BD2F69A6F8D5}" presName="cycle" presStyleCnt="0">
        <dgm:presLayoutVars>
          <dgm:dir/>
          <dgm:resizeHandles val="exact"/>
        </dgm:presLayoutVars>
      </dgm:prSet>
      <dgm:spPr/>
      <dgm:t>
        <a:bodyPr/>
        <a:lstStyle/>
        <a:p>
          <a:endParaRPr lang="en-US"/>
        </a:p>
      </dgm:t>
    </dgm:pt>
    <dgm:pt modelId="{DA41197E-4ADB-4AE2-85CE-A1ACE283EACF}" type="pres">
      <dgm:prSet presAssocID="{D443E844-8CC5-4664-B74D-386AA7E5C872}" presName="node" presStyleLbl="node1" presStyleIdx="0" presStyleCnt="6">
        <dgm:presLayoutVars>
          <dgm:bulletEnabled val="1"/>
        </dgm:presLayoutVars>
      </dgm:prSet>
      <dgm:spPr/>
      <dgm:t>
        <a:bodyPr/>
        <a:lstStyle/>
        <a:p>
          <a:endParaRPr lang="en-US"/>
        </a:p>
      </dgm:t>
    </dgm:pt>
    <dgm:pt modelId="{578568E4-7288-45F8-B78A-0B5AA035D611}" type="pres">
      <dgm:prSet presAssocID="{D443E844-8CC5-4664-B74D-386AA7E5C872}" presName="spNode" presStyleCnt="0"/>
      <dgm:spPr/>
    </dgm:pt>
    <dgm:pt modelId="{C06D4EDA-37BF-4E17-9FE1-3FF398FDF8DB}" type="pres">
      <dgm:prSet presAssocID="{2E41D2C3-0A06-4124-9972-6A6BFD00D5BE}" presName="sibTrans" presStyleLbl="sibTrans1D1" presStyleIdx="0" presStyleCnt="6"/>
      <dgm:spPr/>
      <dgm:t>
        <a:bodyPr/>
        <a:lstStyle/>
        <a:p>
          <a:endParaRPr lang="en-US"/>
        </a:p>
      </dgm:t>
    </dgm:pt>
    <dgm:pt modelId="{7BFB7F2A-220D-453A-9650-157CF8951883}" type="pres">
      <dgm:prSet presAssocID="{EC5E3958-718F-449B-A514-75149A89AFFC}" presName="node" presStyleLbl="node1" presStyleIdx="1" presStyleCnt="6" custRadScaleRad="100785" custRadScaleInc="-7455">
        <dgm:presLayoutVars>
          <dgm:bulletEnabled val="1"/>
        </dgm:presLayoutVars>
      </dgm:prSet>
      <dgm:spPr/>
      <dgm:t>
        <a:bodyPr/>
        <a:lstStyle/>
        <a:p>
          <a:endParaRPr lang="en-US"/>
        </a:p>
      </dgm:t>
    </dgm:pt>
    <dgm:pt modelId="{543037BC-D373-4275-ADFD-8D9F77769C48}" type="pres">
      <dgm:prSet presAssocID="{EC5E3958-718F-449B-A514-75149A89AFFC}" presName="spNode" presStyleCnt="0"/>
      <dgm:spPr/>
    </dgm:pt>
    <dgm:pt modelId="{8FAA8702-81C9-471D-BE14-272CDCF9ECBF}" type="pres">
      <dgm:prSet presAssocID="{1EE8A76D-CD85-4800-B31D-BC6773D9B5CF}" presName="sibTrans" presStyleLbl="sibTrans1D1" presStyleIdx="1" presStyleCnt="6"/>
      <dgm:spPr/>
      <dgm:t>
        <a:bodyPr/>
        <a:lstStyle/>
        <a:p>
          <a:endParaRPr lang="en-US"/>
        </a:p>
      </dgm:t>
    </dgm:pt>
    <dgm:pt modelId="{258D5058-00A7-4F3A-B541-81B012E22B1E}" type="pres">
      <dgm:prSet presAssocID="{5D54872B-8C77-431D-AE71-4A1CD00F91CD}" presName="node" presStyleLbl="node1" presStyleIdx="2" presStyleCnt="6">
        <dgm:presLayoutVars>
          <dgm:bulletEnabled val="1"/>
        </dgm:presLayoutVars>
      </dgm:prSet>
      <dgm:spPr/>
      <dgm:t>
        <a:bodyPr/>
        <a:lstStyle/>
        <a:p>
          <a:endParaRPr lang="en-US"/>
        </a:p>
      </dgm:t>
    </dgm:pt>
    <dgm:pt modelId="{90C1378E-21E0-469D-A5C6-C5B7C166DD32}" type="pres">
      <dgm:prSet presAssocID="{5D54872B-8C77-431D-AE71-4A1CD00F91CD}" presName="spNode" presStyleCnt="0"/>
      <dgm:spPr/>
    </dgm:pt>
    <dgm:pt modelId="{0700CD42-306F-46C7-A4F4-1CCB9AC75D7C}" type="pres">
      <dgm:prSet presAssocID="{B93B3A9F-C31C-4882-B338-9B26495DA10E}" presName="sibTrans" presStyleLbl="sibTrans1D1" presStyleIdx="2" presStyleCnt="6"/>
      <dgm:spPr/>
      <dgm:t>
        <a:bodyPr/>
        <a:lstStyle/>
        <a:p>
          <a:endParaRPr lang="en-US"/>
        </a:p>
      </dgm:t>
    </dgm:pt>
    <dgm:pt modelId="{E5A2A6A7-16EF-4C50-8905-574AF33C7B41}" type="pres">
      <dgm:prSet presAssocID="{2C3D2168-49B9-4467-8DC2-8D3758FFA693}" presName="node" presStyleLbl="node1" presStyleIdx="3" presStyleCnt="6">
        <dgm:presLayoutVars>
          <dgm:bulletEnabled val="1"/>
        </dgm:presLayoutVars>
      </dgm:prSet>
      <dgm:spPr/>
      <dgm:t>
        <a:bodyPr/>
        <a:lstStyle/>
        <a:p>
          <a:endParaRPr lang="en-US"/>
        </a:p>
      </dgm:t>
    </dgm:pt>
    <dgm:pt modelId="{648215AB-B1C5-4ED1-B4BB-4D2392B7E6EC}" type="pres">
      <dgm:prSet presAssocID="{2C3D2168-49B9-4467-8DC2-8D3758FFA693}" presName="spNode" presStyleCnt="0"/>
      <dgm:spPr/>
    </dgm:pt>
    <dgm:pt modelId="{5B798AB5-9F72-4B65-9831-7B91580680F9}" type="pres">
      <dgm:prSet presAssocID="{7BF54B98-A432-4822-B4AF-69DB6D0552B8}" presName="sibTrans" presStyleLbl="sibTrans1D1" presStyleIdx="3" presStyleCnt="6"/>
      <dgm:spPr/>
      <dgm:t>
        <a:bodyPr/>
        <a:lstStyle/>
        <a:p>
          <a:endParaRPr lang="en-US"/>
        </a:p>
      </dgm:t>
    </dgm:pt>
    <dgm:pt modelId="{A19D5F7E-DC1B-4003-82BC-75DC90637933}" type="pres">
      <dgm:prSet presAssocID="{063E3B63-1A96-4311-83B9-B76F252731FE}" presName="node" presStyleLbl="node1" presStyleIdx="4" presStyleCnt="6">
        <dgm:presLayoutVars>
          <dgm:bulletEnabled val="1"/>
        </dgm:presLayoutVars>
      </dgm:prSet>
      <dgm:spPr/>
      <dgm:t>
        <a:bodyPr/>
        <a:lstStyle/>
        <a:p>
          <a:endParaRPr lang="en-US"/>
        </a:p>
      </dgm:t>
    </dgm:pt>
    <dgm:pt modelId="{EBEFE83E-FA4D-45F5-93A4-D65DA4427135}" type="pres">
      <dgm:prSet presAssocID="{063E3B63-1A96-4311-83B9-B76F252731FE}" presName="spNode" presStyleCnt="0"/>
      <dgm:spPr/>
    </dgm:pt>
    <dgm:pt modelId="{6EE516DE-D0D6-4A81-90C7-00E53CDA3FA2}" type="pres">
      <dgm:prSet presAssocID="{D10EB59D-B157-43BF-8116-263C453F0CBA}" presName="sibTrans" presStyleLbl="sibTrans1D1" presStyleIdx="4" presStyleCnt="6"/>
      <dgm:spPr/>
      <dgm:t>
        <a:bodyPr/>
        <a:lstStyle/>
        <a:p>
          <a:endParaRPr lang="en-US"/>
        </a:p>
      </dgm:t>
    </dgm:pt>
    <dgm:pt modelId="{58ED59DD-EC9F-4C05-A1CD-4350AD317261}" type="pres">
      <dgm:prSet presAssocID="{FF12346B-03D1-4E47-B849-F71D092321C5}" presName="node" presStyleLbl="node1" presStyleIdx="5" presStyleCnt="6">
        <dgm:presLayoutVars>
          <dgm:bulletEnabled val="1"/>
        </dgm:presLayoutVars>
      </dgm:prSet>
      <dgm:spPr/>
      <dgm:t>
        <a:bodyPr/>
        <a:lstStyle/>
        <a:p>
          <a:endParaRPr lang="en-US"/>
        </a:p>
      </dgm:t>
    </dgm:pt>
    <dgm:pt modelId="{A97EA7BD-EEE4-4063-841A-EE5AB552F19E}" type="pres">
      <dgm:prSet presAssocID="{FF12346B-03D1-4E47-B849-F71D092321C5}" presName="spNode" presStyleCnt="0"/>
      <dgm:spPr/>
    </dgm:pt>
    <dgm:pt modelId="{CDB0BB79-9116-43A5-BE6D-EF22E45A915E}" type="pres">
      <dgm:prSet presAssocID="{BF4EE0D4-F0AE-4E6F-BDA1-41AB1C768C12}" presName="sibTrans" presStyleLbl="sibTrans1D1" presStyleIdx="5" presStyleCnt="6"/>
      <dgm:spPr/>
      <dgm:t>
        <a:bodyPr/>
        <a:lstStyle/>
        <a:p>
          <a:endParaRPr lang="en-US"/>
        </a:p>
      </dgm:t>
    </dgm:pt>
  </dgm:ptLst>
  <dgm:cxnLst>
    <dgm:cxn modelId="{638A111A-F2FA-437A-AEB7-A83B83EF47FC}" type="presOf" srcId="{EC5E3958-718F-449B-A514-75149A89AFFC}" destId="{7BFB7F2A-220D-453A-9650-157CF8951883}" srcOrd="0" destOrd="0" presId="urn:microsoft.com/office/officeart/2005/8/layout/cycle6"/>
    <dgm:cxn modelId="{7E3A01AC-750D-481B-8FCF-98CA85E7E3CE}" type="presOf" srcId="{FF12346B-03D1-4E47-B849-F71D092321C5}" destId="{58ED59DD-EC9F-4C05-A1CD-4350AD317261}" srcOrd="0" destOrd="0" presId="urn:microsoft.com/office/officeart/2005/8/layout/cycle6"/>
    <dgm:cxn modelId="{5306455D-23A2-45DC-BD7D-D2E661295F1E}" type="presOf" srcId="{2C3D2168-49B9-4467-8DC2-8D3758FFA693}" destId="{E5A2A6A7-16EF-4C50-8905-574AF33C7B41}" srcOrd="0" destOrd="0" presId="urn:microsoft.com/office/officeart/2005/8/layout/cycle6"/>
    <dgm:cxn modelId="{30930FD6-775D-489F-A859-2ACFC3735EBF}" type="presOf" srcId="{4FE7E91C-1D5B-4437-B95C-BD2F69A6F8D5}" destId="{8AA0247F-F2C2-443C-8184-0EEBEDEA93EB}" srcOrd="0" destOrd="0" presId="urn:microsoft.com/office/officeart/2005/8/layout/cycle6"/>
    <dgm:cxn modelId="{ABE2D986-AD4B-4F9F-AD01-73562DA4E97E}" type="presOf" srcId="{D10EB59D-B157-43BF-8116-263C453F0CBA}" destId="{6EE516DE-D0D6-4A81-90C7-00E53CDA3FA2}" srcOrd="0" destOrd="0" presId="urn:microsoft.com/office/officeart/2005/8/layout/cycle6"/>
    <dgm:cxn modelId="{431DB7BF-D1A6-4331-806D-AC2B6447D034}" type="presOf" srcId="{1EE8A76D-CD85-4800-B31D-BC6773D9B5CF}" destId="{8FAA8702-81C9-471D-BE14-272CDCF9ECBF}" srcOrd="0" destOrd="0" presId="urn:microsoft.com/office/officeart/2005/8/layout/cycle6"/>
    <dgm:cxn modelId="{055FBFCC-C269-4867-9D20-72468086DCB3}" type="presOf" srcId="{B93B3A9F-C31C-4882-B338-9B26495DA10E}" destId="{0700CD42-306F-46C7-A4F4-1CCB9AC75D7C}" srcOrd="0" destOrd="0" presId="urn:microsoft.com/office/officeart/2005/8/layout/cycle6"/>
    <dgm:cxn modelId="{2E7E928B-5F93-4F31-B0DD-581895434C38}" srcId="{4FE7E91C-1D5B-4437-B95C-BD2F69A6F8D5}" destId="{D443E844-8CC5-4664-B74D-386AA7E5C872}" srcOrd="0" destOrd="0" parTransId="{C4E070AE-F90B-41B4-A82D-8521E417C9E1}" sibTransId="{2E41D2C3-0A06-4124-9972-6A6BFD00D5BE}"/>
    <dgm:cxn modelId="{EEF4A321-81DD-4DFC-A05E-F330722DC2CD}" type="presOf" srcId="{2E41D2C3-0A06-4124-9972-6A6BFD00D5BE}" destId="{C06D4EDA-37BF-4E17-9FE1-3FF398FDF8DB}" srcOrd="0" destOrd="0" presId="urn:microsoft.com/office/officeart/2005/8/layout/cycle6"/>
    <dgm:cxn modelId="{E6473331-74A2-4695-BA3C-B99CEEFA4EB0}" srcId="{4FE7E91C-1D5B-4437-B95C-BD2F69A6F8D5}" destId="{063E3B63-1A96-4311-83B9-B76F252731FE}" srcOrd="4" destOrd="0" parTransId="{65B6704D-B9D1-450B-B668-1FAB190D9D4B}" sibTransId="{D10EB59D-B157-43BF-8116-263C453F0CBA}"/>
    <dgm:cxn modelId="{2F6F5B64-6594-4290-B8E7-DBF01722AD10}" type="presOf" srcId="{BF4EE0D4-F0AE-4E6F-BDA1-41AB1C768C12}" destId="{CDB0BB79-9116-43A5-BE6D-EF22E45A915E}" srcOrd="0" destOrd="0" presId="urn:microsoft.com/office/officeart/2005/8/layout/cycle6"/>
    <dgm:cxn modelId="{C17E36CC-C8D5-44B9-98E5-8EBCC29B3B23}" type="presOf" srcId="{7BF54B98-A432-4822-B4AF-69DB6D0552B8}" destId="{5B798AB5-9F72-4B65-9831-7B91580680F9}" srcOrd="0" destOrd="0" presId="urn:microsoft.com/office/officeart/2005/8/layout/cycle6"/>
    <dgm:cxn modelId="{39438AE0-F603-489C-84BC-0B1814B15145}" srcId="{4FE7E91C-1D5B-4437-B95C-BD2F69A6F8D5}" destId="{EC5E3958-718F-449B-A514-75149A89AFFC}" srcOrd="1" destOrd="0" parTransId="{50EB92E6-44DC-4D5A-BE62-31BDEFAB6465}" sibTransId="{1EE8A76D-CD85-4800-B31D-BC6773D9B5CF}"/>
    <dgm:cxn modelId="{F3CBA075-8655-49F7-82F1-751B90BDB84A}" srcId="{4FE7E91C-1D5B-4437-B95C-BD2F69A6F8D5}" destId="{FF12346B-03D1-4E47-B849-F71D092321C5}" srcOrd="5" destOrd="0" parTransId="{7430EFE1-828E-4FE0-ACBE-85FD94F058BC}" sibTransId="{BF4EE0D4-F0AE-4E6F-BDA1-41AB1C768C12}"/>
    <dgm:cxn modelId="{FC7F73C0-0AE7-4E9E-B07F-3727F694E171}" type="presOf" srcId="{063E3B63-1A96-4311-83B9-B76F252731FE}" destId="{A19D5F7E-DC1B-4003-82BC-75DC90637933}" srcOrd="0" destOrd="0" presId="urn:microsoft.com/office/officeart/2005/8/layout/cycle6"/>
    <dgm:cxn modelId="{306F65EC-FD5B-428D-8019-A31F881F552B}" srcId="{4FE7E91C-1D5B-4437-B95C-BD2F69A6F8D5}" destId="{5D54872B-8C77-431D-AE71-4A1CD00F91CD}" srcOrd="2" destOrd="0" parTransId="{39E223B7-BF32-45A7-8C63-A290191E25B1}" sibTransId="{B93B3A9F-C31C-4882-B338-9B26495DA10E}"/>
    <dgm:cxn modelId="{740AD748-1A05-4C47-A46F-280607EC1F5C}" type="presOf" srcId="{5D54872B-8C77-431D-AE71-4A1CD00F91CD}" destId="{258D5058-00A7-4F3A-B541-81B012E22B1E}" srcOrd="0" destOrd="0" presId="urn:microsoft.com/office/officeart/2005/8/layout/cycle6"/>
    <dgm:cxn modelId="{9E6CC8F7-406E-4F2E-8645-72A28A85DBFC}" srcId="{4FE7E91C-1D5B-4437-B95C-BD2F69A6F8D5}" destId="{2C3D2168-49B9-4467-8DC2-8D3758FFA693}" srcOrd="3" destOrd="0" parTransId="{B8300969-DBA4-446D-A373-1B301C858BC4}" sibTransId="{7BF54B98-A432-4822-B4AF-69DB6D0552B8}"/>
    <dgm:cxn modelId="{AE0D0E26-8E06-4C3D-8C7D-463E9F0666DC}" type="presOf" srcId="{D443E844-8CC5-4664-B74D-386AA7E5C872}" destId="{DA41197E-4ADB-4AE2-85CE-A1ACE283EACF}" srcOrd="0" destOrd="0" presId="urn:microsoft.com/office/officeart/2005/8/layout/cycle6"/>
    <dgm:cxn modelId="{1BD99ED8-E276-41A2-8163-17D75D3D7042}" type="presParOf" srcId="{8AA0247F-F2C2-443C-8184-0EEBEDEA93EB}" destId="{DA41197E-4ADB-4AE2-85CE-A1ACE283EACF}" srcOrd="0" destOrd="0" presId="urn:microsoft.com/office/officeart/2005/8/layout/cycle6"/>
    <dgm:cxn modelId="{90AF21FA-1973-4C51-B1C1-5E03AF5B66AE}" type="presParOf" srcId="{8AA0247F-F2C2-443C-8184-0EEBEDEA93EB}" destId="{578568E4-7288-45F8-B78A-0B5AA035D611}" srcOrd="1" destOrd="0" presId="urn:microsoft.com/office/officeart/2005/8/layout/cycle6"/>
    <dgm:cxn modelId="{8363F0A8-00A0-473C-BD5F-4C3EAA13C8D5}" type="presParOf" srcId="{8AA0247F-F2C2-443C-8184-0EEBEDEA93EB}" destId="{C06D4EDA-37BF-4E17-9FE1-3FF398FDF8DB}" srcOrd="2" destOrd="0" presId="urn:microsoft.com/office/officeart/2005/8/layout/cycle6"/>
    <dgm:cxn modelId="{F1A19367-F83E-4560-95C3-92F08BBB78D3}" type="presParOf" srcId="{8AA0247F-F2C2-443C-8184-0EEBEDEA93EB}" destId="{7BFB7F2A-220D-453A-9650-157CF8951883}" srcOrd="3" destOrd="0" presId="urn:microsoft.com/office/officeart/2005/8/layout/cycle6"/>
    <dgm:cxn modelId="{4D298A2F-FDC0-4AF8-A46A-FE20CF33B7ED}" type="presParOf" srcId="{8AA0247F-F2C2-443C-8184-0EEBEDEA93EB}" destId="{543037BC-D373-4275-ADFD-8D9F77769C48}" srcOrd="4" destOrd="0" presId="urn:microsoft.com/office/officeart/2005/8/layout/cycle6"/>
    <dgm:cxn modelId="{3FC37ADE-DE6C-473F-A859-38FE6D6BC1EF}" type="presParOf" srcId="{8AA0247F-F2C2-443C-8184-0EEBEDEA93EB}" destId="{8FAA8702-81C9-471D-BE14-272CDCF9ECBF}" srcOrd="5" destOrd="0" presId="urn:microsoft.com/office/officeart/2005/8/layout/cycle6"/>
    <dgm:cxn modelId="{9B8C2788-BF4E-4F3F-9597-5E2884C04C8C}" type="presParOf" srcId="{8AA0247F-F2C2-443C-8184-0EEBEDEA93EB}" destId="{258D5058-00A7-4F3A-B541-81B012E22B1E}" srcOrd="6" destOrd="0" presId="urn:microsoft.com/office/officeart/2005/8/layout/cycle6"/>
    <dgm:cxn modelId="{5C05F2DF-14F4-46C7-9B6C-6F802E216FFE}" type="presParOf" srcId="{8AA0247F-F2C2-443C-8184-0EEBEDEA93EB}" destId="{90C1378E-21E0-469D-A5C6-C5B7C166DD32}" srcOrd="7" destOrd="0" presId="urn:microsoft.com/office/officeart/2005/8/layout/cycle6"/>
    <dgm:cxn modelId="{F8D80A36-BA72-47FE-9E91-41EC07A90CA5}" type="presParOf" srcId="{8AA0247F-F2C2-443C-8184-0EEBEDEA93EB}" destId="{0700CD42-306F-46C7-A4F4-1CCB9AC75D7C}" srcOrd="8" destOrd="0" presId="urn:microsoft.com/office/officeart/2005/8/layout/cycle6"/>
    <dgm:cxn modelId="{ED873033-B831-4800-92C2-41827C58C839}" type="presParOf" srcId="{8AA0247F-F2C2-443C-8184-0EEBEDEA93EB}" destId="{E5A2A6A7-16EF-4C50-8905-574AF33C7B41}" srcOrd="9" destOrd="0" presId="urn:microsoft.com/office/officeart/2005/8/layout/cycle6"/>
    <dgm:cxn modelId="{69333E17-ACB5-42D9-879C-2D3A3FDA3D60}" type="presParOf" srcId="{8AA0247F-F2C2-443C-8184-0EEBEDEA93EB}" destId="{648215AB-B1C5-4ED1-B4BB-4D2392B7E6EC}" srcOrd="10" destOrd="0" presId="urn:microsoft.com/office/officeart/2005/8/layout/cycle6"/>
    <dgm:cxn modelId="{77EA43F9-DBAD-47ED-96D3-791564EA773F}" type="presParOf" srcId="{8AA0247F-F2C2-443C-8184-0EEBEDEA93EB}" destId="{5B798AB5-9F72-4B65-9831-7B91580680F9}" srcOrd="11" destOrd="0" presId="urn:microsoft.com/office/officeart/2005/8/layout/cycle6"/>
    <dgm:cxn modelId="{68B74A59-3952-4344-80F0-D943572A5044}" type="presParOf" srcId="{8AA0247F-F2C2-443C-8184-0EEBEDEA93EB}" destId="{A19D5F7E-DC1B-4003-82BC-75DC90637933}" srcOrd="12" destOrd="0" presId="urn:microsoft.com/office/officeart/2005/8/layout/cycle6"/>
    <dgm:cxn modelId="{AC53F2EC-89A0-4818-9CE4-6FD35813C1CA}" type="presParOf" srcId="{8AA0247F-F2C2-443C-8184-0EEBEDEA93EB}" destId="{EBEFE83E-FA4D-45F5-93A4-D65DA4427135}" srcOrd="13" destOrd="0" presId="urn:microsoft.com/office/officeart/2005/8/layout/cycle6"/>
    <dgm:cxn modelId="{053A7F7F-6115-4E73-98D8-B50B342CE7CB}" type="presParOf" srcId="{8AA0247F-F2C2-443C-8184-0EEBEDEA93EB}" destId="{6EE516DE-D0D6-4A81-90C7-00E53CDA3FA2}" srcOrd="14" destOrd="0" presId="urn:microsoft.com/office/officeart/2005/8/layout/cycle6"/>
    <dgm:cxn modelId="{00AA244A-04EF-4946-9659-DC9E3D2E2503}" type="presParOf" srcId="{8AA0247F-F2C2-443C-8184-0EEBEDEA93EB}" destId="{58ED59DD-EC9F-4C05-A1CD-4350AD317261}" srcOrd="15" destOrd="0" presId="urn:microsoft.com/office/officeart/2005/8/layout/cycle6"/>
    <dgm:cxn modelId="{15A3D449-DAFE-472A-9C01-58294D33B8F0}" type="presParOf" srcId="{8AA0247F-F2C2-443C-8184-0EEBEDEA93EB}" destId="{A97EA7BD-EEE4-4063-841A-EE5AB552F19E}" srcOrd="16" destOrd="0" presId="urn:microsoft.com/office/officeart/2005/8/layout/cycle6"/>
    <dgm:cxn modelId="{D9C9B512-857E-4AB2-B5EB-A6EB9C1517A0}" type="presParOf" srcId="{8AA0247F-F2C2-443C-8184-0EEBEDEA93EB}" destId="{CDB0BB79-9116-43A5-BE6D-EF22E45A915E}" srcOrd="17" destOrd="0" presId="urn:microsoft.com/office/officeart/2005/8/layout/cycle6"/>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1539AA1-C9FA-4CBD-89FA-AD2DAB8B89D7}" type="doc">
      <dgm:prSet loTypeId="urn:microsoft.com/office/officeart/2005/8/layout/radial1" loCatId="relationship" qsTypeId="urn:microsoft.com/office/officeart/2005/8/quickstyle/simple1" qsCatId="simple" csTypeId="urn:microsoft.com/office/officeart/2005/8/colors/accent1_2" csCatId="accent1" phldr="1"/>
      <dgm:spPr/>
      <dgm:t>
        <a:bodyPr/>
        <a:lstStyle/>
        <a:p>
          <a:endParaRPr lang="en-US"/>
        </a:p>
      </dgm:t>
    </dgm:pt>
    <dgm:pt modelId="{1625FBBB-A508-4538-801D-A0F2534BF8BA}">
      <dgm:prSet phldrT="[Text]"/>
      <dgm:spPr>
        <a:solidFill>
          <a:srgbClr val="009D57"/>
        </a:solidFill>
      </dgm:spPr>
      <dgm:t>
        <a:bodyPr/>
        <a:lstStyle/>
        <a:p>
          <a:r>
            <a:rPr lang="en-US" dirty="0" smtClean="0"/>
            <a:t>Blended Learning</a:t>
          </a:r>
          <a:endParaRPr lang="en-US" dirty="0"/>
        </a:p>
      </dgm:t>
    </dgm:pt>
    <dgm:pt modelId="{C812CB3A-11A3-43C9-B077-BCD75C1CAC30}" type="parTrans" cxnId="{20005454-C4E6-4CEE-9381-406D64427A7D}">
      <dgm:prSet/>
      <dgm:spPr/>
      <dgm:t>
        <a:bodyPr/>
        <a:lstStyle/>
        <a:p>
          <a:endParaRPr lang="en-US"/>
        </a:p>
      </dgm:t>
    </dgm:pt>
    <dgm:pt modelId="{46145523-75C5-4DB3-A32D-3E48E9A34DCA}" type="sibTrans" cxnId="{20005454-C4E6-4CEE-9381-406D64427A7D}">
      <dgm:prSet/>
      <dgm:spPr/>
      <dgm:t>
        <a:bodyPr/>
        <a:lstStyle/>
        <a:p>
          <a:endParaRPr lang="en-US"/>
        </a:p>
      </dgm:t>
    </dgm:pt>
    <dgm:pt modelId="{88310B13-1C8A-4DB5-8128-5E570EB804FF}">
      <dgm:prSet phldrT="[Text]" custT="1"/>
      <dgm:spPr/>
      <dgm:t>
        <a:bodyPr/>
        <a:lstStyle/>
        <a:p>
          <a:r>
            <a:rPr lang="en-US" sz="900" dirty="0" smtClean="0"/>
            <a:t>Case Study</a:t>
          </a:r>
          <a:endParaRPr lang="en-US" sz="900" dirty="0"/>
        </a:p>
      </dgm:t>
    </dgm:pt>
    <dgm:pt modelId="{67D1B374-6E72-41FE-BD7C-177BF3371824}" type="parTrans" cxnId="{03E58F49-2855-4AEB-98F1-CDBB3F8654E9}">
      <dgm:prSet/>
      <dgm:spPr/>
      <dgm:t>
        <a:bodyPr/>
        <a:lstStyle/>
        <a:p>
          <a:endParaRPr lang="en-US" dirty="0"/>
        </a:p>
      </dgm:t>
    </dgm:pt>
    <dgm:pt modelId="{02F0439C-77FD-468C-A6BD-97417C8504C2}" type="sibTrans" cxnId="{03E58F49-2855-4AEB-98F1-CDBB3F8654E9}">
      <dgm:prSet/>
      <dgm:spPr/>
      <dgm:t>
        <a:bodyPr/>
        <a:lstStyle/>
        <a:p>
          <a:endParaRPr lang="en-US"/>
        </a:p>
      </dgm:t>
    </dgm:pt>
    <dgm:pt modelId="{95B98D55-3B5B-45B1-8997-BEBCF7709A8C}">
      <dgm:prSet phldrT="[Text]" custT="1"/>
      <dgm:spPr/>
      <dgm:t>
        <a:bodyPr/>
        <a:lstStyle/>
        <a:p>
          <a:r>
            <a:rPr lang="en-US" sz="900" dirty="0" smtClean="0"/>
            <a:t>Assessment</a:t>
          </a:r>
          <a:endParaRPr lang="en-US" sz="900" dirty="0"/>
        </a:p>
      </dgm:t>
    </dgm:pt>
    <dgm:pt modelId="{B8B9937D-4C3D-4B07-A223-2099DB2F5933}" type="parTrans" cxnId="{4F05C1D0-B9C1-422B-90AD-0222B8ECE831}">
      <dgm:prSet/>
      <dgm:spPr/>
      <dgm:t>
        <a:bodyPr/>
        <a:lstStyle/>
        <a:p>
          <a:endParaRPr lang="en-US" dirty="0"/>
        </a:p>
      </dgm:t>
    </dgm:pt>
    <dgm:pt modelId="{EFA964C2-288D-40E9-9DA5-B62F54000F35}" type="sibTrans" cxnId="{4F05C1D0-B9C1-422B-90AD-0222B8ECE831}">
      <dgm:prSet/>
      <dgm:spPr/>
      <dgm:t>
        <a:bodyPr/>
        <a:lstStyle/>
        <a:p>
          <a:endParaRPr lang="en-US"/>
        </a:p>
      </dgm:t>
    </dgm:pt>
    <dgm:pt modelId="{5D1C8F71-4615-4272-880C-3572FD7414B5}">
      <dgm:prSet phldrT="[Text]" custT="1"/>
      <dgm:spPr/>
      <dgm:t>
        <a:bodyPr/>
        <a:lstStyle/>
        <a:p>
          <a:r>
            <a:rPr lang="en-US" sz="900" dirty="0" smtClean="0"/>
            <a:t>Peer Coaching</a:t>
          </a:r>
          <a:endParaRPr lang="en-US" sz="900" dirty="0"/>
        </a:p>
      </dgm:t>
    </dgm:pt>
    <dgm:pt modelId="{CED04F5D-2A1F-4575-8D1A-79606CCD164C}" type="parTrans" cxnId="{862E067C-3324-4279-AF72-78D191D78FD0}">
      <dgm:prSet/>
      <dgm:spPr/>
      <dgm:t>
        <a:bodyPr/>
        <a:lstStyle/>
        <a:p>
          <a:endParaRPr lang="en-US" dirty="0"/>
        </a:p>
      </dgm:t>
    </dgm:pt>
    <dgm:pt modelId="{CDD41CF9-C331-41D3-816C-1D41D7B5FADD}" type="sibTrans" cxnId="{862E067C-3324-4279-AF72-78D191D78FD0}">
      <dgm:prSet/>
      <dgm:spPr/>
      <dgm:t>
        <a:bodyPr/>
        <a:lstStyle/>
        <a:p>
          <a:endParaRPr lang="en-US"/>
        </a:p>
      </dgm:t>
    </dgm:pt>
    <dgm:pt modelId="{FB4C0C33-6303-4FB7-B669-74180B78183E}">
      <dgm:prSet phldrT="[Text]" custT="1"/>
      <dgm:spPr/>
      <dgm:t>
        <a:bodyPr/>
        <a:lstStyle/>
        <a:p>
          <a:r>
            <a:rPr lang="en-US" sz="900" dirty="0" smtClean="0"/>
            <a:t>Lecture</a:t>
          </a:r>
          <a:endParaRPr lang="en-US" sz="900" dirty="0"/>
        </a:p>
      </dgm:t>
    </dgm:pt>
    <dgm:pt modelId="{465FB4FA-FFF1-4BF7-9C9C-E9C10708464F}" type="parTrans" cxnId="{943324EB-1BF3-4FEA-B4D3-76D123C0DC44}">
      <dgm:prSet/>
      <dgm:spPr/>
      <dgm:t>
        <a:bodyPr/>
        <a:lstStyle/>
        <a:p>
          <a:endParaRPr lang="en-US" dirty="0"/>
        </a:p>
      </dgm:t>
    </dgm:pt>
    <dgm:pt modelId="{2BAFC5CA-C3FB-41A5-B5FB-2CEF028310C3}" type="sibTrans" cxnId="{943324EB-1BF3-4FEA-B4D3-76D123C0DC44}">
      <dgm:prSet/>
      <dgm:spPr/>
      <dgm:t>
        <a:bodyPr/>
        <a:lstStyle/>
        <a:p>
          <a:endParaRPr lang="en-US"/>
        </a:p>
      </dgm:t>
    </dgm:pt>
    <dgm:pt modelId="{E8E7B61F-D61E-459F-8DD1-C36962D3D558}">
      <dgm:prSet phldrT="[Text]" custT="1"/>
      <dgm:spPr/>
      <dgm:t>
        <a:bodyPr/>
        <a:lstStyle/>
        <a:p>
          <a:r>
            <a:rPr lang="en-US" sz="900" dirty="0" smtClean="0"/>
            <a:t>Business Challenge</a:t>
          </a:r>
          <a:endParaRPr lang="en-US" sz="900" dirty="0"/>
        </a:p>
      </dgm:t>
    </dgm:pt>
    <dgm:pt modelId="{48F995F4-A2A3-42E1-9810-A51FB86B7BBD}" type="parTrans" cxnId="{813F0C94-F0AB-407C-BE0C-B3E02825FCE6}">
      <dgm:prSet/>
      <dgm:spPr/>
      <dgm:t>
        <a:bodyPr/>
        <a:lstStyle/>
        <a:p>
          <a:endParaRPr lang="en-US" dirty="0"/>
        </a:p>
      </dgm:t>
    </dgm:pt>
    <dgm:pt modelId="{D0C4C3B4-4B8F-4EAE-A3BB-84A9D1CFF83F}" type="sibTrans" cxnId="{813F0C94-F0AB-407C-BE0C-B3E02825FCE6}">
      <dgm:prSet/>
      <dgm:spPr/>
      <dgm:t>
        <a:bodyPr/>
        <a:lstStyle/>
        <a:p>
          <a:endParaRPr lang="en-US"/>
        </a:p>
      </dgm:t>
    </dgm:pt>
    <dgm:pt modelId="{64CE74E8-3303-46F7-A5B9-7D68F798E20D}">
      <dgm:prSet phldrT="[Text]" custT="1"/>
      <dgm:spPr/>
      <dgm:t>
        <a:bodyPr/>
        <a:lstStyle/>
        <a:p>
          <a:r>
            <a:rPr lang="en-US" sz="900" dirty="0" smtClean="0"/>
            <a:t>Team Building </a:t>
          </a:r>
          <a:endParaRPr lang="en-US" sz="900" dirty="0"/>
        </a:p>
      </dgm:t>
    </dgm:pt>
    <dgm:pt modelId="{82A24C9D-C89C-427C-9DB6-F6DB463C850B}" type="parTrans" cxnId="{998153F5-3D91-4423-9549-11837669B5B8}">
      <dgm:prSet/>
      <dgm:spPr/>
      <dgm:t>
        <a:bodyPr/>
        <a:lstStyle/>
        <a:p>
          <a:endParaRPr lang="en-US" dirty="0"/>
        </a:p>
      </dgm:t>
    </dgm:pt>
    <dgm:pt modelId="{8A591D40-9CF4-4DDA-924C-A3148F6BD017}" type="sibTrans" cxnId="{998153F5-3D91-4423-9549-11837669B5B8}">
      <dgm:prSet/>
      <dgm:spPr/>
      <dgm:t>
        <a:bodyPr/>
        <a:lstStyle/>
        <a:p>
          <a:endParaRPr lang="en-US"/>
        </a:p>
      </dgm:t>
    </dgm:pt>
    <dgm:pt modelId="{CB5386B0-303C-4A72-93C7-19F77C46F8A7}">
      <dgm:prSet phldrT="[Text]" custT="1"/>
      <dgm:spPr/>
      <dgm:t>
        <a:bodyPr/>
        <a:lstStyle/>
        <a:p>
          <a:r>
            <a:rPr lang="en-US" sz="900" dirty="0" smtClean="0"/>
            <a:t>Simulation</a:t>
          </a:r>
          <a:endParaRPr lang="en-US" sz="900" dirty="0"/>
        </a:p>
      </dgm:t>
    </dgm:pt>
    <dgm:pt modelId="{86CD5798-8C22-40E9-BEA2-836C0162A710}" type="parTrans" cxnId="{B93F66C6-7FFC-4ADE-9D47-50C54A2EC59E}">
      <dgm:prSet/>
      <dgm:spPr/>
      <dgm:t>
        <a:bodyPr/>
        <a:lstStyle/>
        <a:p>
          <a:endParaRPr lang="en-US" dirty="0"/>
        </a:p>
      </dgm:t>
    </dgm:pt>
    <dgm:pt modelId="{013EF4BC-57C4-4B4E-A5B3-B8FD92830E8E}" type="sibTrans" cxnId="{B93F66C6-7FFC-4ADE-9D47-50C54A2EC59E}">
      <dgm:prSet/>
      <dgm:spPr/>
      <dgm:t>
        <a:bodyPr/>
        <a:lstStyle/>
        <a:p>
          <a:endParaRPr lang="en-US"/>
        </a:p>
      </dgm:t>
    </dgm:pt>
    <dgm:pt modelId="{EBD74114-82B9-46BD-8D41-EA3AB53B4112}">
      <dgm:prSet phldrT="[Text]" custT="1"/>
      <dgm:spPr/>
      <dgm:t>
        <a:bodyPr/>
        <a:lstStyle/>
        <a:p>
          <a:r>
            <a:rPr lang="en-US" sz="900" dirty="0" smtClean="0"/>
            <a:t>Experiential</a:t>
          </a:r>
          <a:endParaRPr lang="en-US" sz="900" dirty="0"/>
        </a:p>
      </dgm:t>
    </dgm:pt>
    <dgm:pt modelId="{2E4B82A6-3C2C-4D1B-8B4B-7B6D8A2AE423}" type="parTrans" cxnId="{F2A58010-011D-4078-A6A8-ADCE7E0B53B7}">
      <dgm:prSet/>
      <dgm:spPr/>
      <dgm:t>
        <a:bodyPr/>
        <a:lstStyle/>
        <a:p>
          <a:endParaRPr lang="en-US" dirty="0"/>
        </a:p>
      </dgm:t>
    </dgm:pt>
    <dgm:pt modelId="{DE1AB983-EF90-46A5-BCF3-F6AB29E07234}" type="sibTrans" cxnId="{F2A58010-011D-4078-A6A8-ADCE7E0B53B7}">
      <dgm:prSet/>
      <dgm:spPr/>
      <dgm:t>
        <a:bodyPr/>
        <a:lstStyle/>
        <a:p>
          <a:endParaRPr lang="en-US"/>
        </a:p>
      </dgm:t>
    </dgm:pt>
    <dgm:pt modelId="{BC600DAD-B250-492E-B1D4-6634A992A353}" type="pres">
      <dgm:prSet presAssocID="{61539AA1-C9FA-4CBD-89FA-AD2DAB8B89D7}" presName="cycle" presStyleCnt="0">
        <dgm:presLayoutVars>
          <dgm:chMax val="1"/>
          <dgm:dir/>
          <dgm:animLvl val="ctr"/>
          <dgm:resizeHandles val="exact"/>
        </dgm:presLayoutVars>
      </dgm:prSet>
      <dgm:spPr/>
      <dgm:t>
        <a:bodyPr/>
        <a:lstStyle/>
        <a:p>
          <a:endParaRPr lang="en-US"/>
        </a:p>
      </dgm:t>
    </dgm:pt>
    <dgm:pt modelId="{76774E8E-E753-4369-96B2-05C93C9BA983}" type="pres">
      <dgm:prSet presAssocID="{1625FBBB-A508-4538-801D-A0F2534BF8BA}" presName="centerShape" presStyleLbl="node0" presStyleIdx="0" presStyleCnt="1"/>
      <dgm:spPr/>
      <dgm:t>
        <a:bodyPr/>
        <a:lstStyle/>
        <a:p>
          <a:endParaRPr lang="en-US"/>
        </a:p>
      </dgm:t>
    </dgm:pt>
    <dgm:pt modelId="{3468EC1A-ACD0-43AD-B86C-C6CC680015FC}" type="pres">
      <dgm:prSet presAssocID="{67D1B374-6E72-41FE-BD7C-177BF3371824}" presName="Name9" presStyleLbl="parChTrans1D2" presStyleIdx="0" presStyleCnt="8"/>
      <dgm:spPr/>
      <dgm:t>
        <a:bodyPr/>
        <a:lstStyle/>
        <a:p>
          <a:endParaRPr lang="en-US"/>
        </a:p>
      </dgm:t>
    </dgm:pt>
    <dgm:pt modelId="{0B8237B9-0D47-476D-B2D5-DACBDD5FA930}" type="pres">
      <dgm:prSet presAssocID="{67D1B374-6E72-41FE-BD7C-177BF3371824}" presName="connTx" presStyleLbl="parChTrans1D2" presStyleIdx="0" presStyleCnt="8"/>
      <dgm:spPr/>
      <dgm:t>
        <a:bodyPr/>
        <a:lstStyle/>
        <a:p>
          <a:endParaRPr lang="en-US"/>
        </a:p>
      </dgm:t>
    </dgm:pt>
    <dgm:pt modelId="{C3681490-8128-40D9-9909-B1FB451CB3F9}" type="pres">
      <dgm:prSet presAssocID="{88310B13-1C8A-4DB5-8128-5E570EB804FF}" presName="node" presStyleLbl="node1" presStyleIdx="0" presStyleCnt="8">
        <dgm:presLayoutVars>
          <dgm:bulletEnabled val="1"/>
        </dgm:presLayoutVars>
      </dgm:prSet>
      <dgm:spPr/>
      <dgm:t>
        <a:bodyPr/>
        <a:lstStyle/>
        <a:p>
          <a:endParaRPr lang="en-US"/>
        </a:p>
      </dgm:t>
    </dgm:pt>
    <dgm:pt modelId="{A55E9949-E311-4625-B7A2-26D2571B9EFF}" type="pres">
      <dgm:prSet presAssocID="{B8B9937D-4C3D-4B07-A223-2099DB2F5933}" presName="Name9" presStyleLbl="parChTrans1D2" presStyleIdx="1" presStyleCnt="8"/>
      <dgm:spPr/>
      <dgm:t>
        <a:bodyPr/>
        <a:lstStyle/>
        <a:p>
          <a:endParaRPr lang="en-US"/>
        </a:p>
      </dgm:t>
    </dgm:pt>
    <dgm:pt modelId="{704E4212-53DE-4498-B441-280B500F1C13}" type="pres">
      <dgm:prSet presAssocID="{B8B9937D-4C3D-4B07-A223-2099DB2F5933}" presName="connTx" presStyleLbl="parChTrans1D2" presStyleIdx="1" presStyleCnt="8"/>
      <dgm:spPr/>
      <dgm:t>
        <a:bodyPr/>
        <a:lstStyle/>
        <a:p>
          <a:endParaRPr lang="en-US"/>
        </a:p>
      </dgm:t>
    </dgm:pt>
    <dgm:pt modelId="{C804D149-332D-49A5-97EF-4F5E0E941B80}" type="pres">
      <dgm:prSet presAssocID="{95B98D55-3B5B-45B1-8997-BEBCF7709A8C}" presName="node" presStyleLbl="node1" presStyleIdx="1" presStyleCnt="8">
        <dgm:presLayoutVars>
          <dgm:bulletEnabled val="1"/>
        </dgm:presLayoutVars>
      </dgm:prSet>
      <dgm:spPr/>
      <dgm:t>
        <a:bodyPr/>
        <a:lstStyle/>
        <a:p>
          <a:endParaRPr lang="en-US"/>
        </a:p>
      </dgm:t>
    </dgm:pt>
    <dgm:pt modelId="{623AB608-378C-421A-A3DD-24022464C474}" type="pres">
      <dgm:prSet presAssocID="{2E4B82A6-3C2C-4D1B-8B4B-7B6D8A2AE423}" presName="Name9" presStyleLbl="parChTrans1D2" presStyleIdx="2" presStyleCnt="8"/>
      <dgm:spPr/>
      <dgm:t>
        <a:bodyPr/>
        <a:lstStyle/>
        <a:p>
          <a:endParaRPr lang="en-US"/>
        </a:p>
      </dgm:t>
    </dgm:pt>
    <dgm:pt modelId="{6D11C85C-9864-4A8E-94C3-F416C2831952}" type="pres">
      <dgm:prSet presAssocID="{2E4B82A6-3C2C-4D1B-8B4B-7B6D8A2AE423}" presName="connTx" presStyleLbl="parChTrans1D2" presStyleIdx="2" presStyleCnt="8"/>
      <dgm:spPr/>
      <dgm:t>
        <a:bodyPr/>
        <a:lstStyle/>
        <a:p>
          <a:endParaRPr lang="en-US"/>
        </a:p>
      </dgm:t>
    </dgm:pt>
    <dgm:pt modelId="{1B7BE6D7-9B44-477D-9088-8BCFE36A69E5}" type="pres">
      <dgm:prSet presAssocID="{EBD74114-82B9-46BD-8D41-EA3AB53B4112}" presName="node" presStyleLbl="node1" presStyleIdx="2" presStyleCnt="8" custScaleX="106928">
        <dgm:presLayoutVars>
          <dgm:bulletEnabled val="1"/>
        </dgm:presLayoutVars>
      </dgm:prSet>
      <dgm:spPr/>
      <dgm:t>
        <a:bodyPr/>
        <a:lstStyle/>
        <a:p>
          <a:endParaRPr lang="en-US"/>
        </a:p>
      </dgm:t>
    </dgm:pt>
    <dgm:pt modelId="{03055A8C-9887-401A-B5E8-0A248B02A5DD}" type="pres">
      <dgm:prSet presAssocID="{CED04F5D-2A1F-4575-8D1A-79606CCD164C}" presName="Name9" presStyleLbl="parChTrans1D2" presStyleIdx="3" presStyleCnt="8"/>
      <dgm:spPr/>
      <dgm:t>
        <a:bodyPr/>
        <a:lstStyle/>
        <a:p>
          <a:endParaRPr lang="en-US"/>
        </a:p>
      </dgm:t>
    </dgm:pt>
    <dgm:pt modelId="{323171E5-3AF1-4D52-A557-E178983ADA62}" type="pres">
      <dgm:prSet presAssocID="{CED04F5D-2A1F-4575-8D1A-79606CCD164C}" presName="connTx" presStyleLbl="parChTrans1D2" presStyleIdx="3" presStyleCnt="8"/>
      <dgm:spPr/>
      <dgm:t>
        <a:bodyPr/>
        <a:lstStyle/>
        <a:p>
          <a:endParaRPr lang="en-US"/>
        </a:p>
      </dgm:t>
    </dgm:pt>
    <dgm:pt modelId="{4E3DC5F0-38D7-4CBD-B854-D44DDC3DFE10}" type="pres">
      <dgm:prSet presAssocID="{5D1C8F71-4615-4272-880C-3572FD7414B5}" presName="node" presStyleLbl="node1" presStyleIdx="3" presStyleCnt="8">
        <dgm:presLayoutVars>
          <dgm:bulletEnabled val="1"/>
        </dgm:presLayoutVars>
      </dgm:prSet>
      <dgm:spPr/>
      <dgm:t>
        <a:bodyPr/>
        <a:lstStyle/>
        <a:p>
          <a:endParaRPr lang="en-US"/>
        </a:p>
      </dgm:t>
    </dgm:pt>
    <dgm:pt modelId="{22579969-32F3-4A5E-A15F-3EFAB6ACF6BD}" type="pres">
      <dgm:prSet presAssocID="{465FB4FA-FFF1-4BF7-9C9C-E9C10708464F}" presName="Name9" presStyleLbl="parChTrans1D2" presStyleIdx="4" presStyleCnt="8"/>
      <dgm:spPr/>
      <dgm:t>
        <a:bodyPr/>
        <a:lstStyle/>
        <a:p>
          <a:endParaRPr lang="en-US"/>
        </a:p>
      </dgm:t>
    </dgm:pt>
    <dgm:pt modelId="{6129523B-0AF6-42B4-B168-76F5F8A98679}" type="pres">
      <dgm:prSet presAssocID="{465FB4FA-FFF1-4BF7-9C9C-E9C10708464F}" presName="connTx" presStyleLbl="parChTrans1D2" presStyleIdx="4" presStyleCnt="8"/>
      <dgm:spPr/>
      <dgm:t>
        <a:bodyPr/>
        <a:lstStyle/>
        <a:p>
          <a:endParaRPr lang="en-US"/>
        </a:p>
      </dgm:t>
    </dgm:pt>
    <dgm:pt modelId="{0D013F92-90A7-45D9-A7E1-0F21486108DA}" type="pres">
      <dgm:prSet presAssocID="{FB4C0C33-6303-4FB7-B669-74180B78183E}" presName="node" presStyleLbl="node1" presStyleIdx="4" presStyleCnt="8">
        <dgm:presLayoutVars>
          <dgm:bulletEnabled val="1"/>
        </dgm:presLayoutVars>
      </dgm:prSet>
      <dgm:spPr/>
      <dgm:t>
        <a:bodyPr/>
        <a:lstStyle/>
        <a:p>
          <a:endParaRPr lang="en-US"/>
        </a:p>
      </dgm:t>
    </dgm:pt>
    <dgm:pt modelId="{76C9110D-40FF-4572-B272-B44339740C2C}" type="pres">
      <dgm:prSet presAssocID="{48F995F4-A2A3-42E1-9810-A51FB86B7BBD}" presName="Name9" presStyleLbl="parChTrans1D2" presStyleIdx="5" presStyleCnt="8"/>
      <dgm:spPr/>
      <dgm:t>
        <a:bodyPr/>
        <a:lstStyle/>
        <a:p>
          <a:endParaRPr lang="en-US"/>
        </a:p>
      </dgm:t>
    </dgm:pt>
    <dgm:pt modelId="{3BFD027D-1F93-4184-A431-6A671D871751}" type="pres">
      <dgm:prSet presAssocID="{48F995F4-A2A3-42E1-9810-A51FB86B7BBD}" presName="connTx" presStyleLbl="parChTrans1D2" presStyleIdx="5" presStyleCnt="8"/>
      <dgm:spPr/>
      <dgm:t>
        <a:bodyPr/>
        <a:lstStyle/>
        <a:p>
          <a:endParaRPr lang="en-US"/>
        </a:p>
      </dgm:t>
    </dgm:pt>
    <dgm:pt modelId="{F0F427FD-58A2-4851-88DA-CC2526F2E6FD}" type="pres">
      <dgm:prSet presAssocID="{E8E7B61F-D61E-459F-8DD1-C36962D3D558}" presName="node" presStyleLbl="node1" presStyleIdx="5" presStyleCnt="8">
        <dgm:presLayoutVars>
          <dgm:bulletEnabled val="1"/>
        </dgm:presLayoutVars>
      </dgm:prSet>
      <dgm:spPr/>
      <dgm:t>
        <a:bodyPr/>
        <a:lstStyle/>
        <a:p>
          <a:endParaRPr lang="en-US"/>
        </a:p>
      </dgm:t>
    </dgm:pt>
    <dgm:pt modelId="{35186717-69AD-47F5-B200-236F7F83A8C9}" type="pres">
      <dgm:prSet presAssocID="{82A24C9D-C89C-427C-9DB6-F6DB463C850B}" presName="Name9" presStyleLbl="parChTrans1D2" presStyleIdx="6" presStyleCnt="8"/>
      <dgm:spPr/>
      <dgm:t>
        <a:bodyPr/>
        <a:lstStyle/>
        <a:p>
          <a:endParaRPr lang="en-US"/>
        </a:p>
      </dgm:t>
    </dgm:pt>
    <dgm:pt modelId="{0464A2B9-19F6-4E04-835E-CB976C211220}" type="pres">
      <dgm:prSet presAssocID="{82A24C9D-C89C-427C-9DB6-F6DB463C850B}" presName="connTx" presStyleLbl="parChTrans1D2" presStyleIdx="6" presStyleCnt="8"/>
      <dgm:spPr/>
      <dgm:t>
        <a:bodyPr/>
        <a:lstStyle/>
        <a:p>
          <a:endParaRPr lang="en-US"/>
        </a:p>
      </dgm:t>
    </dgm:pt>
    <dgm:pt modelId="{1CF4C3F9-02CC-468E-BF45-CE80762BCFFE}" type="pres">
      <dgm:prSet presAssocID="{64CE74E8-3303-46F7-A5B9-7D68F798E20D}" presName="node" presStyleLbl="node1" presStyleIdx="6" presStyleCnt="8">
        <dgm:presLayoutVars>
          <dgm:bulletEnabled val="1"/>
        </dgm:presLayoutVars>
      </dgm:prSet>
      <dgm:spPr/>
      <dgm:t>
        <a:bodyPr/>
        <a:lstStyle/>
        <a:p>
          <a:endParaRPr lang="en-US"/>
        </a:p>
      </dgm:t>
    </dgm:pt>
    <dgm:pt modelId="{FCFA1FB1-AB8D-4A40-8952-73641E856960}" type="pres">
      <dgm:prSet presAssocID="{86CD5798-8C22-40E9-BEA2-836C0162A710}" presName="Name9" presStyleLbl="parChTrans1D2" presStyleIdx="7" presStyleCnt="8"/>
      <dgm:spPr/>
      <dgm:t>
        <a:bodyPr/>
        <a:lstStyle/>
        <a:p>
          <a:endParaRPr lang="en-US"/>
        </a:p>
      </dgm:t>
    </dgm:pt>
    <dgm:pt modelId="{F253C1FF-A5DE-4ADE-AB8A-FB7BB34BD515}" type="pres">
      <dgm:prSet presAssocID="{86CD5798-8C22-40E9-BEA2-836C0162A710}" presName="connTx" presStyleLbl="parChTrans1D2" presStyleIdx="7" presStyleCnt="8"/>
      <dgm:spPr/>
      <dgm:t>
        <a:bodyPr/>
        <a:lstStyle/>
        <a:p>
          <a:endParaRPr lang="en-US"/>
        </a:p>
      </dgm:t>
    </dgm:pt>
    <dgm:pt modelId="{2BEFEF90-393D-4DF3-B096-8DF38447B83E}" type="pres">
      <dgm:prSet presAssocID="{CB5386B0-303C-4A72-93C7-19F77C46F8A7}" presName="node" presStyleLbl="node1" presStyleIdx="7" presStyleCnt="8">
        <dgm:presLayoutVars>
          <dgm:bulletEnabled val="1"/>
        </dgm:presLayoutVars>
      </dgm:prSet>
      <dgm:spPr/>
      <dgm:t>
        <a:bodyPr/>
        <a:lstStyle/>
        <a:p>
          <a:endParaRPr lang="en-US"/>
        </a:p>
      </dgm:t>
    </dgm:pt>
  </dgm:ptLst>
  <dgm:cxnLst>
    <dgm:cxn modelId="{03E58F49-2855-4AEB-98F1-CDBB3F8654E9}" srcId="{1625FBBB-A508-4538-801D-A0F2534BF8BA}" destId="{88310B13-1C8A-4DB5-8128-5E570EB804FF}" srcOrd="0" destOrd="0" parTransId="{67D1B374-6E72-41FE-BD7C-177BF3371824}" sibTransId="{02F0439C-77FD-468C-A6BD-97417C8504C2}"/>
    <dgm:cxn modelId="{DE2FC6D3-7440-4CE0-B5A8-7E1AE63C8FCB}" type="presOf" srcId="{82A24C9D-C89C-427C-9DB6-F6DB463C850B}" destId="{0464A2B9-19F6-4E04-835E-CB976C211220}" srcOrd="1" destOrd="0" presId="urn:microsoft.com/office/officeart/2005/8/layout/radial1"/>
    <dgm:cxn modelId="{81078EE7-A021-4BF3-B249-E4195DD277FE}" type="presOf" srcId="{B8B9937D-4C3D-4B07-A223-2099DB2F5933}" destId="{704E4212-53DE-4498-B441-280B500F1C13}" srcOrd="1" destOrd="0" presId="urn:microsoft.com/office/officeart/2005/8/layout/radial1"/>
    <dgm:cxn modelId="{42228F71-9F0A-45C7-819A-E2B9B2650BA7}" type="presOf" srcId="{67D1B374-6E72-41FE-BD7C-177BF3371824}" destId="{0B8237B9-0D47-476D-B2D5-DACBDD5FA930}" srcOrd="1" destOrd="0" presId="urn:microsoft.com/office/officeart/2005/8/layout/radial1"/>
    <dgm:cxn modelId="{E45CA0AB-621D-46C1-A588-BFD4FC7C3B99}" type="presOf" srcId="{2E4B82A6-3C2C-4D1B-8B4B-7B6D8A2AE423}" destId="{6D11C85C-9864-4A8E-94C3-F416C2831952}" srcOrd="1" destOrd="0" presId="urn:microsoft.com/office/officeart/2005/8/layout/radial1"/>
    <dgm:cxn modelId="{EAEC2D04-E71F-4DD6-B85E-4918C8246F05}" type="presOf" srcId="{82A24C9D-C89C-427C-9DB6-F6DB463C850B}" destId="{35186717-69AD-47F5-B200-236F7F83A8C9}" srcOrd="0" destOrd="0" presId="urn:microsoft.com/office/officeart/2005/8/layout/radial1"/>
    <dgm:cxn modelId="{483AEC0C-9418-4BBF-92CC-2B944416FE33}" type="presOf" srcId="{48F995F4-A2A3-42E1-9810-A51FB86B7BBD}" destId="{76C9110D-40FF-4572-B272-B44339740C2C}" srcOrd="0" destOrd="0" presId="urn:microsoft.com/office/officeart/2005/8/layout/radial1"/>
    <dgm:cxn modelId="{4A4061D0-E853-443F-BB16-EEE7D3D9A924}" type="presOf" srcId="{64CE74E8-3303-46F7-A5B9-7D68F798E20D}" destId="{1CF4C3F9-02CC-468E-BF45-CE80762BCFFE}" srcOrd="0" destOrd="0" presId="urn:microsoft.com/office/officeart/2005/8/layout/radial1"/>
    <dgm:cxn modelId="{813F0C94-F0AB-407C-BE0C-B3E02825FCE6}" srcId="{1625FBBB-A508-4538-801D-A0F2534BF8BA}" destId="{E8E7B61F-D61E-459F-8DD1-C36962D3D558}" srcOrd="5" destOrd="0" parTransId="{48F995F4-A2A3-42E1-9810-A51FB86B7BBD}" sibTransId="{D0C4C3B4-4B8F-4EAE-A3BB-84A9D1CFF83F}"/>
    <dgm:cxn modelId="{E7B14B32-6E7E-4FB2-B345-F411EC12C719}" type="presOf" srcId="{1625FBBB-A508-4538-801D-A0F2534BF8BA}" destId="{76774E8E-E753-4369-96B2-05C93C9BA983}" srcOrd="0" destOrd="0" presId="urn:microsoft.com/office/officeart/2005/8/layout/radial1"/>
    <dgm:cxn modelId="{B54D71D5-AB9E-4D58-9DC8-9FF8B890CC18}" type="presOf" srcId="{CB5386B0-303C-4A72-93C7-19F77C46F8A7}" destId="{2BEFEF90-393D-4DF3-B096-8DF38447B83E}" srcOrd="0" destOrd="0" presId="urn:microsoft.com/office/officeart/2005/8/layout/radial1"/>
    <dgm:cxn modelId="{8754CC5E-686C-4FA2-9774-CE49B8091F91}" type="presOf" srcId="{465FB4FA-FFF1-4BF7-9C9C-E9C10708464F}" destId="{6129523B-0AF6-42B4-B168-76F5F8A98679}" srcOrd="1" destOrd="0" presId="urn:microsoft.com/office/officeart/2005/8/layout/radial1"/>
    <dgm:cxn modelId="{EF1BB45B-72AF-4B34-BDD0-9B1045F4E7B4}" type="presOf" srcId="{CED04F5D-2A1F-4575-8D1A-79606CCD164C}" destId="{323171E5-3AF1-4D52-A557-E178983ADA62}" srcOrd="1" destOrd="0" presId="urn:microsoft.com/office/officeart/2005/8/layout/radial1"/>
    <dgm:cxn modelId="{B3C516BD-6EB2-4CDE-BC82-3192E35FCC5F}" type="presOf" srcId="{5D1C8F71-4615-4272-880C-3572FD7414B5}" destId="{4E3DC5F0-38D7-4CBD-B854-D44DDC3DFE10}" srcOrd="0" destOrd="0" presId="urn:microsoft.com/office/officeart/2005/8/layout/radial1"/>
    <dgm:cxn modelId="{933C8EFF-0887-44A3-A272-89887343E319}" type="presOf" srcId="{B8B9937D-4C3D-4B07-A223-2099DB2F5933}" destId="{A55E9949-E311-4625-B7A2-26D2571B9EFF}" srcOrd="0" destOrd="0" presId="urn:microsoft.com/office/officeart/2005/8/layout/radial1"/>
    <dgm:cxn modelId="{BAD0D22E-B8CF-4ADA-A60D-AC981C448179}" type="presOf" srcId="{61539AA1-C9FA-4CBD-89FA-AD2DAB8B89D7}" destId="{BC600DAD-B250-492E-B1D4-6634A992A353}" srcOrd="0" destOrd="0" presId="urn:microsoft.com/office/officeart/2005/8/layout/radial1"/>
    <dgm:cxn modelId="{C8D05D44-4F44-468C-9A7E-B048D6EAEFD1}" type="presOf" srcId="{E8E7B61F-D61E-459F-8DD1-C36962D3D558}" destId="{F0F427FD-58A2-4851-88DA-CC2526F2E6FD}" srcOrd="0" destOrd="0" presId="urn:microsoft.com/office/officeart/2005/8/layout/radial1"/>
    <dgm:cxn modelId="{862E067C-3324-4279-AF72-78D191D78FD0}" srcId="{1625FBBB-A508-4538-801D-A0F2534BF8BA}" destId="{5D1C8F71-4615-4272-880C-3572FD7414B5}" srcOrd="3" destOrd="0" parTransId="{CED04F5D-2A1F-4575-8D1A-79606CCD164C}" sibTransId="{CDD41CF9-C331-41D3-816C-1D41D7B5FADD}"/>
    <dgm:cxn modelId="{998153F5-3D91-4423-9549-11837669B5B8}" srcId="{1625FBBB-A508-4538-801D-A0F2534BF8BA}" destId="{64CE74E8-3303-46F7-A5B9-7D68F798E20D}" srcOrd="6" destOrd="0" parTransId="{82A24C9D-C89C-427C-9DB6-F6DB463C850B}" sibTransId="{8A591D40-9CF4-4DDA-924C-A3148F6BD017}"/>
    <dgm:cxn modelId="{29FEEB9B-0069-41BA-9BB8-F76A10D98D92}" type="presOf" srcId="{EBD74114-82B9-46BD-8D41-EA3AB53B4112}" destId="{1B7BE6D7-9B44-477D-9088-8BCFE36A69E5}" srcOrd="0" destOrd="0" presId="urn:microsoft.com/office/officeart/2005/8/layout/radial1"/>
    <dgm:cxn modelId="{6576FE61-3916-46F8-AA30-028E9BCCAA58}" type="presOf" srcId="{86CD5798-8C22-40E9-BEA2-836C0162A710}" destId="{FCFA1FB1-AB8D-4A40-8952-73641E856960}" srcOrd="0" destOrd="0" presId="urn:microsoft.com/office/officeart/2005/8/layout/radial1"/>
    <dgm:cxn modelId="{4F05C1D0-B9C1-422B-90AD-0222B8ECE831}" srcId="{1625FBBB-A508-4538-801D-A0F2534BF8BA}" destId="{95B98D55-3B5B-45B1-8997-BEBCF7709A8C}" srcOrd="1" destOrd="0" parTransId="{B8B9937D-4C3D-4B07-A223-2099DB2F5933}" sibTransId="{EFA964C2-288D-40E9-9DA5-B62F54000F35}"/>
    <dgm:cxn modelId="{55A5D81A-CFF6-4864-83DB-AA6E21225054}" type="presOf" srcId="{86CD5798-8C22-40E9-BEA2-836C0162A710}" destId="{F253C1FF-A5DE-4ADE-AB8A-FB7BB34BD515}" srcOrd="1" destOrd="0" presId="urn:microsoft.com/office/officeart/2005/8/layout/radial1"/>
    <dgm:cxn modelId="{64EDBD21-C527-4CC4-8F5E-8456E7ABD107}" type="presOf" srcId="{88310B13-1C8A-4DB5-8128-5E570EB804FF}" destId="{C3681490-8128-40D9-9909-B1FB451CB3F9}" srcOrd="0" destOrd="0" presId="urn:microsoft.com/office/officeart/2005/8/layout/radial1"/>
    <dgm:cxn modelId="{943324EB-1BF3-4FEA-B4D3-76D123C0DC44}" srcId="{1625FBBB-A508-4538-801D-A0F2534BF8BA}" destId="{FB4C0C33-6303-4FB7-B669-74180B78183E}" srcOrd="4" destOrd="0" parTransId="{465FB4FA-FFF1-4BF7-9C9C-E9C10708464F}" sibTransId="{2BAFC5CA-C3FB-41A5-B5FB-2CEF028310C3}"/>
    <dgm:cxn modelId="{A873B4C9-9DCD-4A28-9DD6-41B951264563}" type="presOf" srcId="{2E4B82A6-3C2C-4D1B-8B4B-7B6D8A2AE423}" destId="{623AB608-378C-421A-A3DD-24022464C474}" srcOrd="0" destOrd="0" presId="urn:microsoft.com/office/officeart/2005/8/layout/radial1"/>
    <dgm:cxn modelId="{B93F66C6-7FFC-4ADE-9D47-50C54A2EC59E}" srcId="{1625FBBB-A508-4538-801D-A0F2534BF8BA}" destId="{CB5386B0-303C-4A72-93C7-19F77C46F8A7}" srcOrd="7" destOrd="0" parTransId="{86CD5798-8C22-40E9-BEA2-836C0162A710}" sibTransId="{013EF4BC-57C4-4B4E-A5B3-B8FD92830E8E}"/>
    <dgm:cxn modelId="{9C498C6F-34E2-4587-BDF1-A426149C71C6}" type="presOf" srcId="{67D1B374-6E72-41FE-BD7C-177BF3371824}" destId="{3468EC1A-ACD0-43AD-B86C-C6CC680015FC}" srcOrd="0" destOrd="0" presId="urn:microsoft.com/office/officeart/2005/8/layout/radial1"/>
    <dgm:cxn modelId="{988D331B-F25C-49E9-BDB1-1CF9DDFB0EBF}" type="presOf" srcId="{CED04F5D-2A1F-4575-8D1A-79606CCD164C}" destId="{03055A8C-9887-401A-B5E8-0A248B02A5DD}" srcOrd="0" destOrd="0" presId="urn:microsoft.com/office/officeart/2005/8/layout/radial1"/>
    <dgm:cxn modelId="{F2A58010-011D-4078-A6A8-ADCE7E0B53B7}" srcId="{1625FBBB-A508-4538-801D-A0F2534BF8BA}" destId="{EBD74114-82B9-46BD-8D41-EA3AB53B4112}" srcOrd="2" destOrd="0" parTransId="{2E4B82A6-3C2C-4D1B-8B4B-7B6D8A2AE423}" sibTransId="{DE1AB983-EF90-46A5-BCF3-F6AB29E07234}"/>
    <dgm:cxn modelId="{20005454-C4E6-4CEE-9381-406D64427A7D}" srcId="{61539AA1-C9FA-4CBD-89FA-AD2DAB8B89D7}" destId="{1625FBBB-A508-4538-801D-A0F2534BF8BA}" srcOrd="0" destOrd="0" parTransId="{C812CB3A-11A3-43C9-B077-BCD75C1CAC30}" sibTransId="{46145523-75C5-4DB3-A32D-3E48E9A34DCA}"/>
    <dgm:cxn modelId="{B829AEA4-2BD0-4913-ABC0-342B4074C49C}" type="presOf" srcId="{95B98D55-3B5B-45B1-8997-BEBCF7709A8C}" destId="{C804D149-332D-49A5-97EF-4F5E0E941B80}" srcOrd="0" destOrd="0" presId="urn:microsoft.com/office/officeart/2005/8/layout/radial1"/>
    <dgm:cxn modelId="{2B0CC970-28E5-4FFA-9CAA-0DF52B6BAF00}" type="presOf" srcId="{48F995F4-A2A3-42E1-9810-A51FB86B7BBD}" destId="{3BFD027D-1F93-4184-A431-6A671D871751}" srcOrd="1" destOrd="0" presId="urn:microsoft.com/office/officeart/2005/8/layout/radial1"/>
    <dgm:cxn modelId="{E864E13F-1335-42B0-B60F-963FB9E6AFBF}" type="presOf" srcId="{FB4C0C33-6303-4FB7-B669-74180B78183E}" destId="{0D013F92-90A7-45D9-A7E1-0F21486108DA}" srcOrd="0" destOrd="0" presId="urn:microsoft.com/office/officeart/2005/8/layout/radial1"/>
    <dgm:cxn modelId="{EFABB76B-A54F-4CA9-9443-D82C505C7626}" type="presOf" srcId="{465FB4FA-FFF1-4BF7-9C9C-E9C10708464F}" destId="{22579969-32F3-4A5E-A15F-3EFAB6ACF6BD}" srcOrd="0" destOrd="0" presId="urn:microsoft.com/office/officeart/2005/8/layout/radial1"/>
    <dgm:cxn modelId="{CA390329-05CA-4790-A54E-11D18EB674AE}" type="presParOf" srcId="{BC600DAD-B250-492E-B1D4-6634A992A353}" destId="{76774E8E-E753-4369-96B2-05C93C9BA983}" srcOrd="0" destOrd="0" presId="urn:microsoft.com/office/officeart/2005/8/layout/radial1"/>
    <dgm:cxn modelId="{D6FC667D-DECA-4957-82CA-70E3A3DACD82}" type="presParOf" srcId="{BC600DAD-B250-492E-B1D4-6634A992A353}" destId="{3468EC1A-ACD0-43AD-B86C-C6CC680015FC}" srcOrd="1" destOrd="0" presId="urn:microsoft.com/office/officeart/2005/8/layout/radial1"/>
    <dgm:cxn modelId="{2CB4B9A7-1DEB-463B-8AC8-2F9684723A0E}" type="presParOf" srcId="{3468EC1A-ACD0-43AD-B86C-C6CC680015FC}" destId="{0B8237B9-0D47-476D-B2D5-DACBDD5FA930}" srcOrd="0" destOrd="0" presId="urn:microsoft.com/office/officeart/2005/8/layout/radial1"/>
    <dgm:cxn modelId="{691CCE2D-E0E7-4624-9532-D01CABDF3FEF}" type="presParOf" srcId="{BC600DAD-B250-492E-B1D4-6634A992A353}" destId="{C3681490-8128-40D9-9909-B1FB451CB3F9}" srcOrd="2" destOrd="0" presId="urn:microsoft.com/office/officeart/2005/8/layout/radial1"/>
    <dgm:cxn modelId="{B33248D5-162B-4AFC-9EA9-AAABFACDF598}" type="presParOf" srcId="{BC600DAD-B250-492E-B1D4-6634A992A353}" destId="{A55E9949-E311-4625-B7A2-26D2571B9EFF}" srcOrd="3" destOrd="0" presId="urn:microsoft.com/office/officeart/2005/8/layout/radial1"/>
    <dgm:cxn modelId="{4A4B3938-FAC5-4EEB-8C64-2F808AE6F181}" type="presParOf" srcId="{A55E9949-E311-4625-B7A2-26D2571B9EFF}" destId="{704E4212-53DE-4498-B441-280B500F1C13}" srcOrd="0" destOrd="0" presId="urn:microsoft.com/office/officeart/2005/8/layout/radial1"/>
    <dgm:cxn modelId="{30191BB4-5D7D-45DD-8E0E-770A0D956591}" type="presParOf" srcId="{BC600DAD-B250-492E-B1D4-6634A992A353}" destId="{C804D149-332D-49A5-97EF-4F5E0E941B80}" srcOrd="4" destOrd="0" presId="urn:microsoft.com/office/officeart/2005/8/layout/radial1"/>
    <dgm:cxn modelId="{0E4EFB73-E3A7-4021-81DF-982F258F08BD}" type="presParOf" srcId="{BC600DAD-B250-492E-B1D4-6634A992A353}" destId="{623AB608-378C-421A-A3DD-24022464C474}" srcOrd="5" destOrd="0" presId="urn:microsoft.com/office/officeart/2005/8/layout/radial1"/>
    <dgm:cxn modelId="{9DD3952C-3425-4692-894E-78B28FD39BB6}" type="presParOf" srcId="{623AB608-378C-421A-A3DD-24022464C474}" destId="{6D11C85C-9864-4A8E-94C3-F416C2831952}" srcOrd="0" destOrd="0" presId="urn:microsoft.com/office/officeart/2005/8/layout/radial1"/>
    <dgm:cxn modelId="{B8D865DC-41C3-4EB6-A6AB-60510FEF47B8}" type="presParOf" srcId="{BC600DAD-B250-492E-B1D4-6634A992A353}" destId="{1B7BE6D7-9B44-477D-9088-8BCFE36A69E5}" srcOrd="6" destOrd="0" presId="urn:microsoft.com/office/officeart/2005/8/layout/radial1"/>
    <dgm:cxn modelId="{50CDE96A-819A-4955-A2DE-DE07096B28F9}" type="presParOf" srcId="{BC600DAD-B250-492E-B1D4-6634A992A353}" destId="{03055A8C-9887-401A-B5E8-0A248B02A5DD}" srcOrd="7" destOrd="0" presId="urn:microsoft.com/office/officeart/2005/8/layout/radial1"/>
    <dgm:cxn modelId="{6D42D227-A740-42D3-8111-D43C74EF3B62}" type="presParOf" srcId="{03055A8C-9887-401A-B5E8-0A248B02A5DD}" destId="{323171E5-3AF1-4D52-A557-E178983ADA62}" srcOrd="0" destOrd="0" presId="urn:microsoft.com/office/officeart/2005/8/layout/radial1"/>
    <dgm:cxn modelId="{FA549870-D233-4E93-9D3A-113DAC3F79E0}" type="presParOf" srcId="{BC600DAD-B250-492E-B1D4-6634A992A353}" destId="{4E3DC5F0-38D7-4CBD-B854-D44DDC3DFE10}" srcOrd="8" destOrd="0" presId="urn:microsoft.com/office/officeart/2005/8/layout/radial1"/>
    <dgm:cxn modelId="{6C7DA827-C830-4B27-BA86-7628E34250DF}" type="presParOf" srcId="{BC600DAD-B250-492E-B1D4-6634A992A353}" destId="{22579969-32F3-4A5E-A15F-3EFAB6ACF6BD}" srcOrd="9" destOrd="0" presId="urn:microsoft.com/office/officeart/2005/8/layout/radial1"/>
    <dgm:cxn modelId="{8414735B-CB41-45E0-A2CC-3E521060326B}" type="presParOf" srcId="{22579969-32F3-4A5E-A15F-3EFAB6ACF6BD}" destId="{6129523B-0AF6-42B4-B168-76F5F8A98679}" srcOrd="0" destOrd="0" presId="urn:microsoft.com/office/officeart/2005/8/layout/radial1"/>
    <dgm:cxn modelId="{460EDE9B-A9AE-4326-B313-89D16F53322F}" type="presParOf" srcId="{BC600DAD-B250-492E-B1D4-6634A992A353}" destId="{0D013F92-90A7-45D9-A7E1-0F21486108DA}" srcOrd="10" destOrd="0" presId="urn:microsoft.com/office/officeart/2005/8/layout/radial1"/>
    <dgm:cxn modelId="{52CA744E-01FC-42A2-8773-9B7FB0634880}" type="presParOf" srcId="{BC600DAD-B250-492E-B1D4-6634A992A353}" destId="{76C9110D-40FF-4572-B272-B44339740C2C}" srcOrd="11" destOrd="0" presId="urn:microsoft.com/office/officeart/2005/8/layout/radial1"/>
    <dgm:cxn modelId="{4DF45D57-0037-49DA-9D35-E3F675980E6C}" type="presParOf" srcId="{76C9110D-40FF-4572-B272-B44339740C2C}" destId="{3BFD027D-1F93-4184-A431-6A671D871751}" srcOrd="0" destOrd="0" presId="urn:microsoft.com/office/officeart/2005/8/layout/radial1"/>
    <dgm:cxn modelId="{9E1ABE6F-96C7-41EE-85C7-DA0C4F067A7F}" type="presParOf" srcId="{BC600DAD-B250-492E-B1D4-6634A992A353}" destId="{F0F427FD-58A2-4851-88DA-CC2526F2E6FD}" srcOrd="12" destOrd="0" presId="urn:microsoft.com/office/officeart/2005/8/layout/radial1"/>
    <dgm:cxn modelId="{BDAF8412-EAF8-465E-80E5-A7835C5786F4}" type="presParOf" srcId="{BC600DAD-B250-492E-B1D4-6634A992A353}" destId="{35186717-69AD-47F5-B200-236F7F83A8C9}" srcOrd="13" destOrd="0" presId="urn:microsoft.com/office/officeart/2005/8/layout/radial1"/>
    <dgm:cxn modelId="{5B605E0C-DD1B-4581-BF49-A41E6CEF68B4}" type="presParOf" srcId="{35186717-69AD-47F5-B200-236F7F83A8C9}" destId="{0464A2B9-19F6-4E04-835E-CB976C211220}" srcOrd="0" destOrd="0" presId="urn:microsoft.com/office/officeart/2005/8/layout/radial1"/>
    <dgm:cxn modelId="{87E7357E-FD25-479D-B09D-E5C53B054C93}" type="presParOf" srcId="{BC600DAD-B250-492E-B1D4-6634A992A353}" destId="{1CF4C3F9-02CC-468E-BF45-CE80762BCFFE}" srcOrd="14" destOrd="0" presId="urn:microsoft.com/office/officeart/2005/8/layout/radial1"/>
    <dgm:cxn modelId="{7E1A55FC-0169-4EC6-95AE-20C2031F11AE}" type="presParOf" srcId="{BC600DAD-B250-492E-B1D4-6634A992A353}" destId="{FCFA1FB1-AB8D-4A40-8952-73641E856960}" srcOrd="15" destOrd="0" presId="urn:microsoft.com/office/officeart/2005/8/layout/radial1"/>
    <dgm:cxn modelId="{B4E6C289-39CD-4CAB-91E4-733DE92FB4D1}" type="presParOf" srcId="{FCFA1FB1-AB8D-4A40-8952-73641E856960}" destId="{F253C1FF-A5DE-4ADE-AB8A-FB7BB34BD515}" srcOrd="0" destOrd="0" presId="urn:microsoft.com/office/officeart/2005/8/layout/radial1"/>
    <dgm:cxn modelId="{53C1A2AC-388F-4210-A811-B945B41ACA91}" type="presParOf" srcId="{BC600DAD-B250-492E-B1D4-6634A992A353}" destId="{2BEFEF90-393D-4DF3-B096-8DF38447B83E}" srcOrd="16" destOrd="0" presId="urn:microsoft.com/office/officeart/2005/8/layout/radial1"/>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FB3AB99-1A14-4901-BA16-D23B7CF214D7}">
      <dsp:nvSpPr>
        <dsp:cNvPr id="0" name=""/>
        <dsp:cNvSpPr/>
      </dsp:nvSpPr>
      <dsp:spPr>
        <a:xfrm>
          <a:off x="2123013" y="383528"/>
          <a:ext cx="3873934" cy="3873934"/>
        </a:xfrm>
        <a:prstGeom prst="blockArc">
          <a:avLst>
            <a:gd name="adj1" fmla="val 13800000"/>
            <a:gd name="adj2" fmla="val 16200000"/>
            <a:gd name="adj3" fmla="val 3056"/>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833FBFE-E012-4ABF-B903-F98678F4A9ED}">
      <dsp:nvSpPr>
        <dsp:cNvPr id="0" name=""/>
        <dsp:cNvSpPr/>
      </dsp:nvSpPr>
      <dsp:spPr>
        <a:xfrm>
          <a:off x="2123013" y="383528"/>
          <a:ext cx="3873934" cy="3873934"/>
        </a:xfrm>
        <a:prstGeom prst="blockArc">
          <a:avLst>
            <a:gd name="adj1" fmla="val 11400000"/>
            <a:gd name="adj2" fmla="val 13800000"/>
            <a:gd name="adj3" fmla="val 3056"/>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92F5051-C3AE-41F2-ADEC-3C987B93566E}">
      <dsp:nvSpPr>
        <dsp:cNvPr id="0" name=""/>
        <dsp:cNvSpPr/>
      </dsp:nvSpPr>
      <dsp:spPr>
        <a:xfrm>
          <a:off x="2123013" y="383528"/>
          <a:ext cx="3873934" cy="3873934"/>
        </a:xfrm>
        <a:prstGeom prst="blockArc">
          <a:avLst>
            <a:gd name="adj1" fmla="val 9000000"/>
            <a:gd name="adj2" fmla="val 11400000"/>
            <a:gd name="adj3" fmla="val 3056"/>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F5E3302-FF0D-4A1C-B869-EA1E4A75E01D}">
      <dsp:nvSpPr>
        <dsp:cNvPr id="0" name=""/>
        <dsp:cNvSpPr/>
      </dsp:nvSpPr>
      <dsp:spPr>
        <a:xfrm>
          <a:off x="2123013" y="383528"/>
          <a:ext cx="3873934" cy="3873934"/>
        </a:xfrm>
        <a:prstGeom prst="blockArc">
          <a:avLst>
            <a:gd name="adj1" fmla="val 6600000"/>
            <a:gd name="adj2" fmla="val 9000000"/>
            <a:gd name="adj3" fmla="val 3056"/>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40ED43E-4A25-4A31-81A2-94542F544D86}">
      <dsp:nvSpPr>
        <dsp:cNvPr id="0" name=""/>
        <dsp:cNvSpPr/>
      </dsp:nvSpPr>
      <dsp:spPr>
        <a:xfrm>
          <a:off x="2123013" y="383528"/>
          <a:ext cx="3873934" cy="3873934"/>
        </a:xfrm>
        <a:prstGeom prst="blockArc">
          <a:avLst>
            <a:gd name="adj1" fmla="val 4200000"/>
            <a:gd name="adj2" fmla="val 6600000"/>
            <a:gd name="adj3" fmla="val 3056"/>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2C2A907-2F90-4F80-B5FE-4937998F3DAB}">
      <dsp:nvSpPr>
        <dsp:cNvPr id="0" name=""/>
        <dsp:cNvSpPr/>
      </dsp:nvSpPr>
      <dsp:spPr>
        <a:xfrm>
          <a:off x="2123013" y="383528"/>
          <a:ext cx="3873934" cy="3873934"/>
        </a:xfrm>
        <a:prstGeom prst="blockArc">
          <a:avLst>
            <a:gd name="adj1" fmla="val 1800000"/>
            <a:gd name="adj2" fmla="val 4200000"/>
            <a:gd name="adj3" fmla="val 3056"/>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94C6B48-F62E-4DF4-B032-459D8C525DEB}">
      <dsp:nvSpPr>
        <dsp:cNvPr id="0" name=""/>
        <dsp:cNvSpPr/>
      </dsp:nvSpPr>
      <dsp:spPr>
        <a:xfrm>
          <a:off x="2123013" y="383528"/>
          <a:ext cx="3873934" cy="3873934"/>
        </a:xfrm>
        <a:prstGeom prst="blockArc">
          <a:avLst>
            <a:gd name="adj1" fmla="val 21000000"/>
            <a:gd name="adj2" fmla="val 1800000"/>
            <a:gd name="adj3" fmla="val 3056"/>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8FD0E94-0346-4E74-8EB6-1F5EE5C6D1BE}">
      <dsp:nvSpPr>
        <dsp:cNvPr id="0" name=""/>
        <dsp:cNvSpPr/>
      </dsp:nvSpPr>
      <dsp:spPr>
        <a:xfrm>
          <a:off x="2123013" y="383528"/>
          <a:ext cx="3873934" cy="3873934"/>
        </a:xfrm>
        <a:prstGeom prst="blockArc">
          <a:avLst>
            <a:gd name="adj1" fmla="val 18600000"/>
            <a:gd name="adj2" fmla="val 21000000"/>
            <a:gd name="adj3" fmla="val 3056"/>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F868255-63C3-4DCA-989A-9EF84AC439F3}">
      <dsp:nvSpPr>
        <dsp:cNvPr id="0" name=""/>
        <dsp:cNvSpPr/>
      </dsp:nvSpPr>
      <dsp:spPr>
        <a:xfrm>
          <a:off x="2123013" y="383528"/>
          <a:ext cx="3873934" cy="3873934"/>
        </a:xfrm>
        <a:prstGeom prst="blockArc">
          <a:avLst>
            <a:gd name="adj1" fmla="val 16200000"/>
            <a:gd name="adj2" fmla="val 18600000"/>
            <a:gd name="adj3" fmla="val 3056"/>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A74A29A-219B-4A93-812F-5085DBAACF96}">
      <dsp:nvSpPr>
        <dsp:cNvPr id="0" name=""/>
        <dsp:cNvSpPr/>
      </dsp:nvSpPr>
      <dsp:spPr>
        <a:xfrm>
          <a:off x="2497881" y="838199"/>
          <a:ext cx="3124198" cy="2964591"/>
        </a:xfrm>
        <a:prstGeom prst="ellipse">
          <a:avLst/>
        </a:prstGeom>
        <a:solidFill>
          <a:schemeClr val="tx2">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b="1" kern="1200" dirty="0" smtClean="0"/>
            <a:t>Learning &amp; Leadership Development</a:t>
          </a:r>
        </a:p>
      </dsp:txBody>
      <dsp:txXfrm>
        <a:off x="2497881" y="838199"/>
        <a:ext cx="3124198" cy="2964591"/>
      </dsp:txXfrm>
    </dsp:sp>
    <dsp:sp modelId="{A42DE395-93D3-4599-AAD4-E389B50C31F6}">
      <dsp:nvSpPr>
        <dsp:cNvPr id="0" name=""/>
        <dsp:cNvSpPr/>
      </dsp:nvSpPr>
      <dsp:spPr>
        <a:xfrm>
          <a:off x="3495311" y="-141440"/>
          <a:ext cx="1129337" cy="1109130"/>
        </a:xfrm>
        <a:prstGeom prst="ellipse">
          <a:avLst/>
        </a:prstGeom>
        <a:solidFill>
          <a:srgbClr val="009D57"/>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CFL</a:t>
          </a:r>
          <a:endParaRPr lang="en-US" sz="1200" kern="1200" dirty="0"/>
        </a:p>
      </dsp:txBody>
      <dsp:txXfrm>
        <a:off x="3495311" y="-141440"/>
        <a:ext cx="1129337" cy="1109130"/>
      </dsp:txXfrm>
    </dsp:sp>
    <dsp:sp modelId="{AEFC2EF2-2ACD-473A-A430-6CADD592AA28}">
      <dsp:nvSpPr>
        <dsp:cNvPr id="0" name=""/>
        <dsp:cNvSpPr/>
      </dsp:nvSpPr>
      <dsp:spPr>
        <a:xfrm>
          <a:off x="4721346" y="304799"/>
          <a:ext cx="1129337" cy="1109130"/>
        </a:xfrm>
        <a:prstGeom prst="ellipse">
          <a:avLst/>
        </a:prstGeom>
        <a:solidFill>
          <a:srgbClr val="009D57"/>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b="0" kern="1200" dirty="0" smtClean="0"/>
            <a:t>Leadership</a:t>
          </a:r>
        </a:p>
        <a:p>
          <a:pPr lvl="0" algn="ctr" defTabSz="533400">
            <a:lnSpc>
              <a:spcPct val="90000"/>
            </a:lnSpc>
            <a:spcBef>
              <a:spcPct val="0"/>
            </a:spcBef>
            <a:spcAft>
              <a:spcPct val="35000"/>
            </a:spcAft>
          </a:pPr>
          <a:r>
            <a:rPr lang="en-US" sz="1200" b="0" kern="1200" dirty="0" smtClean="0"/>
            <a:t>Effectiveness</a:t>
          </a:r>
          <a:endParaRPr lang="en-US" sz="1200" b="0" kern="1200" dirty="0"/>
        </a:p>
      </dsp:txBody>
      <dsp:txXfrm>
        <a:off x="4721346" y="304799"/>
        <a:ext cx="1129337" cy="1109130"/>
      </dsp:txXfrm>
    </dsp:sp>
    <dsp:sp modelId="{AEAE5296-6B31-4531-ACE9-28D05BD155C6}">
      <dsp:nvSpPr>
        <dsp:cNvPr id="0" name=""/>
        <dsp:cNvSpPr/>
      </dsp:nvSpPr>
      <dsp:spPr>
        <a:xfrm>
          <a:off x="5340266" y="1434718"/>
          <a:ext cx="1196216" cy="1109130"/>
        </a:xfrm>
        <a:prstGeom prst="ellipse">
          <a:avLst/>
        </a:prstGeom>
        <a:solidFill>
          <a:srgbClr val="009D57"/>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Succession Management</a:t>
          </a:r>
          <a:endParaRPr lang="en-US" sz="1200" kern="1200" dirty="0"/>
        </a:p>
      </dsp:txBody>
      <dsp:txXfrm>
        <a:off x="5340266" y="1434718"/>
        <a:ext cx="1196216" cy="1109130"/>
      </dsp:txXfrm>
    </dsp:sp>
    <dsp:sp modelId="{1F57A71D-A336-4489-8781-3676FE748D4E}">
      <dsp:nvSpPr>
        <dsp:cNvPr id="0" name=""/>
        <dsp:cNvSpPr/>
      </dsp:nvSpPr>
      <dsp:spPr>
        <a:xfrm>
          <a:off x="5147143" y="2719616"/>
          <a:ext cx="1129337" cy="1109130"/>
        </a:xfrm>
        <a:prstGeom prst="ellipse">
          <a:avLst/>
        </a:prstGeom>
        <a:solidFill>
          <a:srgbClr val="009D57"/>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Assessment</a:t>
          </a:r>
          <a:endParaRPr lang="en-US" sz="1200" kern="1200" dirty="0"/>
        </a:p>
      </dsp:txBody>
      <dsp:txXfrm>
        <a:off x="5147143" y="2719616"/>
        <a:ext cx="1129337" cy="1109130"/>
      </dsp:txXfrm>
    </dsp:sp>
    <dsp:sp modelId="{292B8C0D-AB48-44C4-9C6F-16F3086227AC}">
      <dsp:nvSpPr>
        <dsp:cNvPr id="0" name=""/>
        <dsp:cNvSpPr/>
      </dsp:nvSpPr>
      <dsp:spPr>
        <a:xfrm>
          <a:off x="4147670" y="3558273"/>
          <a:ext cx="1129337" cy="1109130"/>
        </a:xfrm>
        <a:prstGeom prst="ellipse">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US" sz="1100" kern="1200" dirty="0" smtClean="0"/>
            <a:t>Professional</a:t>
          </a:r>
        </a:p>
        <a:p>
          <a:pPr lvl="0" algn="ctr" defTabSz="488950">
            <a:lnSpc>
              <a:spcPct val="90000"/>
            </a:lnSpc>
            <a:spcBef>
              <a:spcPct val="0"/>
            </a:spcBef>
            <a:spcAft>
              <a:spcPct val="35000"/>
            </a:spcAft>
          </a:pPr>
          <a:r>
            <a:rPr lang="en-US" sz="1100" kern="1200" dirty="0" smtClean="0"/>
            <a:t>Staff Development</a:t>
          </a:r>
          <a:endParaRPr lang="en-US" sz="1100" kern="1200" dirty="0"/>
        </a:p>
      </dsp:txBody>
      <dsp:txXfrm>
        <a:off x="4147670" y="3558273"/>
        <a:ext cx="1129337" cy="1109130"/>
      </dsp:txXfrm>
    </dsp:sp>
    <dsp:sp modelId="{FC0946B6-8CAE-46D2-952E-1D8448E126B9}">
      <dsp:nvSpPr>
        <dsp:cNvPr id="0" name=""/>
        <dsp:cNvSpPr/>
      </dsp:nvSpPr>
      <dsp:spPr>
        <a:xfrm>
          <a:off x="2842951" y="3558273"/>
          <a:ext cx="1129337" cy="1109130"/>
        </a:xfrm>
        <a:prstGeom prst="ellipse">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US" sz="1100" kern="1200" dirty="0" smtClean="0"/>
            <a:t>Non-Clinical Staff Development</a:t>
          </a:r>
          <a:endParaRPr lang="en-US" sz="1100" kern="1200" dirty="0"/>
        </a:p>
      </dsp:txBody>
      <dsp:txXfrm>
        <a:off x="2842951" y="3558273"/>
        <a:ext cx="1129337" cy="1109130"/>
      </dsp:txXfrm>
    </dsp:sp>
    <dsp:sp modelId="{39564E41-9075-460C-8BF8-9F1D9219F921}">
      <dsp:nvSpPr>
        <dsp:cNvPr id="0" name=""/>
        <dsp:cNvSpPr/>
      </dsp:nvSpPr>
      <dsp:spPr>
        <a:xfrm>
          <a:off x="1843479" y="2719616"/>
          <a:ext cx="1129337" cy="1109130"/>
        </a:xfrm>
        <a:prstGeom prst="ellipse">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US" sz="1100" kern="1200" dirty="0" smtClean="0"/>
            <a:t>Clinical Staff Development</a:t>
          </a:r>
          <a:endParaRPr lang="en-US" sz="1100" kern="1200" dirty="0"/>
        </a:p>
      </dsp:txBody>
      <dsp:txXfrm>
        <a:off x="1843479" y="2719616"/>
        <a:ext cx="1129337" cy="1109130"/>
      </dsp:txXfrm>
    </dsp:sp>
    <dsp:sp modelId="{BB42B1AB-F712-4621-B2E1-CC6F80CA0817}">
      <dsp:nvSpPr>
        <dsp:cNvPr id="0" name=""/>
        <dsp:cNvSpPr/>
      </dsp:nvSpPr>
      <dsp:spPr>
        <a:xfrm>
          <a:off x="1616917" y="1434718"/>
          <a:ext cx="1129337" cy="1109130"/>
        </a:xfrm>
        <a:prstGeom prst="ellipse">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US" sz="1100" kern="1200" dirty="0" smtClean="0"/>
            <a:t>Physician CME</a:t>
          </a:r>
          <a:endParaRPr lang="en-US" sz="1100" kern="1200" dirty="0"/>
        </a:p>
      </dsp:txBody>
      <dsp:txXfrm>
        <a:off x="1616917" y="1434718"/>
        <a:ext cx="1129337" cy="1109130"/>
      </dsp:txXfrm>
    </dsp:sp>
    <dsp:sp modelId="{7F56D647-656F-4481-8495-1FE8D18F6AAB}">
      <dsp:nvSpPr>
        <dsp:cNvPr id="0" name=""/>
        <dsp:cNvSpPr/>
      </dsp:nvSpPr>
      <dsp:spPr>
        <a:xfrm>
          <a:off x="2269276" y="304799"/>
          <a:ext cx="1129337" cy="1109130"/>
        </a:xfrm>
        <a:prstGeom prst="ellipse">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US" sz="1100" kern="1200" dirty="0" smtClean="0"/>
            <a:t>Career Development</a:t>
          </a:r>
          <a:endParaRPr lang="en-US" sz="1100" kern="1200" dirty="0"/>
        </a:p>
      </dsp:txBody>
      <dsp:txXfrm>
        <a:off x="2269276" y="304799"/>
        <a:ext cx="1129337" cy="1109130"/>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0B8AECCA-B976-4802-BE8E-2B831E4DA6F5}">
      <dsp:nvSpPr>
        <dsp:cNvPr id="0" name=""/>
        <dsp:cNvSpPr/>
      </dsp:nvSpPr>
      <dsp:spPr>
        <a:xfrm rot="5393622">
          <a:off x="3948" y="1199879"/>
          <a:ext cx="1210153" cy="141437"/>
        </a:xfrm>
        <a:prstGeom prst="rect">
          <a:avLst/>
        </a:prstGeom>
        <a:solidFill>
          <a:srgbClr val="009D57">
            <a:alpha val="25000"/>
          </a:srgbClr>
        </a:solidFill>
        <a:ln>
          <a:noFill/>
        </a:ln>
        <a:effectLst/>
      </dsp:spPr>
      <dsp:style>
        <a:lnRef idx="0">
          <a:scrgbClr r="0" g="0" b="0"/>
        </a:lnRef>
        <a:fillRef idx="1">
          <a:scrgbClr r="0" g="0" b="0"/>
        </a:fillRef>
        <a:effectRef idx="0">
          <a:scrgbClr r="0" g="0" b="0"/>
        </a:effectRef>
        <a:fontRef idx="minor">
          <a:schemeClr val="lt1"/>
        </a:fontRef>
      </dsp:style>
    </dsp:sp>
    <dsp:sp modelId="{7262383D-7B7C-4552-8B49-007037B0DB0B}">
      <dsp:nvSpPr>
        <dsp:cNvPr id="0" name=""/>
        <dsp:cNvSpPr/>
      </dsp:nvSpPr>
      <dsp:spPr>
        <a:xfrm>
          <a:off x="0" y="434244"/>
          <a:ext cx="2142626" cy="942919"/>
        </a:xfrm>
        <a:prstGeom prst="roundRect">
          <a:avLst>
            <a:gd name="adj" fmla="val 10000"/>
          </a:avLst>
        </a:prstGeom>
        <a:solidFill>
          <a:schemeClr val="bg1"/>
        </a:solidFill>
        <a:ln w="28575" cap="flat" cmpd="sng" algn="ctr">
          <a:solidFill>
            <a:srgbClr val="009D57"/>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lvl="0" algn="ctr" defTabSz="711200">
            <a:lnSpc>
              <a:spcPct val="90000"/>
            </a:lnSpc>
            <a:spcBef>
              <a:spcPct val="0"/>
            </a:spcBef>
            <a:spcAft>
              <a:spcPct val="35000"/>
            </a:spcAft>
          </a:pPr>
          <a:r>
            <a:rPr lang="en-US" sz="1600" b="1" kern="1200" dirty="0" smtClean="0">
              <a:solidFill>
                <a:srgbClr val="009D57"/>
              </a:solidFill>
            </a:rPr>
            <a:t>Pre-Requisites</a:t>
          </a:r>
        </a:p>
        <a:p>
          <a:pPr lvl="0" algn="ctr" defTabSz="711200">
            <a:lnSpc>
              <a:spcPct val="90000"/>
            </a:lnSpc>
            <a:spcBef>
              <a:spcPct val="0"/>
            </a:spcBef>
            <a:spcAft>
              <a:spcPts val="200"/>
            </a:spcAft>
          </a:pPr>
          <a:r>
            <a:rPr lang="en-US" sz="1100" b="0" kern="1200" dirty="0" smtClean="0">
              <a:solidFill>
                <a:srgbClr val="009D57"/>
              </a:solidFill>
            </a:rPr>
            <a:t>Onboarding CBTs                        </a:t>
          </a:r>
        </a:p>
        <a:p>
          <a:pPr lvl="0" algn="ctr" defTabSz="711200">
            <a:lnSpc>
              <a:spcPct val="90000"/>
            </a:lnSpc>
            <a:spcBef>
              <a:spcPct val="0"/>
            </a:spcBef>
            <a:spcAft>
              <a:spcPts val="200"/>
            </a:spcAft>
          </a:pPr>
          <a:r>
            <a:rPr lang="en-US" sz="1100" b="0" kern="1200" dirty="0" smtClean="0">
              <a:solidFill>
                <a:srgbClr val="009D57"/>
              </a:solidFill>
            </a:rPr>
            <a:t>HR Policies</a:t>
          </a:r>
          <a:endParaRPr lang="en-US" sz="1100" b="0" kern="1200" dirty="0">
            <a:solidFill>
              <a:srgbClr val="009D57"/>
            </a:solidFill>
          </a:endParaRPr>
        </a:p>
      </dsp:txBody>
      <dsp:txXfrm>
        <a:off x="0" y="434244"/>
        <a:ext cx="2142626" cy="942919"/>
      </dsp:txXfrm>
    </dsp:sp>
    <dsp:sp modelId="{3FF5A13A-EC6C-4837-9ED5-2AD4861716DA}">
      <dsp:nvSpPr>
        <dsp:cNvPr id="0" name=""/>
        <dsp:cNvSpPr/>
      </dsp:nvSpPr>
      <dsp:spPr>
        <a:xfrm rot="5429698">
          <a:off x="-61772" y="2879527"/>
          <a:ext cx="1341638" cy="141437"/>
        </a:xfrm>
        <a:prstGeom prst="rect">
          <a:avLst/>
        </a:prstGeom>
        <a:solidFill>
          <a:srgbClr val="009D57">
            <a:alpha val="25000"/>
          </a:srgbClr>
        </a:solidFill>
        <a:ln>
          <a:noFill/>
        </a:ln>
        <a:effectLst/>
      </dsp:spPr>
      <dsp:style>
        <a:lnRef idx="0">
          <a:scrgbClr r="0" g="0" b="0"/>
        </a:lnRef>
        <a:fillRef idx="1">
          <a:scrgbClr r="0" g="0" b="0"/>
        </a:fillRef>
        <a:effectRef idx="0">
          <a:scrgbClr r="0" g="0" b="0"/>
        </a:effectRef>
        <a:fontRef idx="minor">
          <a:schemeClr val="lt1"/>
        </a:fontRef>
      </dsp:style>
    </dsp:sp>
    <dsp:sp modelId="{D3C20E64-F628-4999-AACB-BDBA4B12FBBA}">
      <dsp:nvSpPr>
        <dsp:cNvPr id="0" name=""/>
        <dsp:cNvSpPr/>
      </dsp:nvSpPr>
      <dsp:spPr>
        <a:xfrm>
          <a:off x="0" y="1644396"/>
          <a:ext cx="2165791" cy="942919"/>
        </a:xfrm>
        <a:prstGeom prst="roundRect">
          <a:avLst>
            <a:gd name="adj" fmla="val 10000"/>
          </a:avLst>
        </a:prstGeom>
        <a:solidFill>
          <a:schemeClr val="bg1"/>
        </a:solidFill>
        <a:ln w="28575" cap="flat" cmpd="sng" algn="ctr">
          <a:solidFill>
            <a:srgbClr val="009D57"/>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b="1" kern="1200" dirty="0" smtClean="0">
              <a:solidFill>
                <a:srgbClr val="009D57"/>
              </a:solidFill>
            </a:rPr>
            <a:t>Orientation</a:t>
          </a:r>
        </a:p>
        <a:p>
          <a:pPr lvl="0" algn="ctr" defTabSz="711200">
            <a:lnSpc>
              <a:spcPct val="90000"/>
            </a:lnSpc>
            <a:spcBef>
              <a:spcPct val="0"/>
            </a:spcBef>
            <a:spcAft>
              <a:spcPts val="200"/>
            </a:spcAft>
          </a:pPr>
          <a:r>
            <a:rPr lang="en-US" sz="1100" b="0" kern="1200" dirty="0" smtClean="0">
              <a:solidFill>
                <a:srgbClr val="009D57"/>
              </a:solidFill>
            </a:rPr>
            <a:t>Overview of program </a:t>
          </a:r>
        </a:p>
        <a:p>
          <a:pPr lvl="0" algn="ctr" defTabSz="711200">
            <a:lnSpc>
              <a:spcPct val="90000"/>
            </a:lnSpc>
            <a:spcBef>
              <a:spcPct val="0"/>
            </a:spcBef>
            <a:spcAft>
              <a:spcPts val="0"/>
            </a:spcAft>
          </a:pPr>
          <a:r>
            <a:rPr lang="en-US" sz="1100" b="0" kern="1200" dirty="0" smtClean="0">
              <a:solidFill>
                <a:srgbClr val="009D57"/>
              </a:solidFill>
            </a:rPr>
            <a:t>Crash Course: key skills </a:t>
          </a:r>
        </a:p>
        <a:p>
          <a:pPr lvl="0" algn="ctr" defTabSz="711200">
            <a:lnSpc>
              <a:spcPct val="90000"/>
            </a:lnSpc>
            <a:spcBef>
              <a:spcPct val="0"/>
            </a:spcBef>
            <a:spcAft>
              <a:spcPts val="0"/>
            </a:spcAft>
          </a:pPr>
          <a:r>
            <a:rPr lang="en-US" sz="1100" b="0" kern="1200" dirty="0" smtClean="0">
              <a:solidFill>
                <a:srgbClr val="009D57"/>
              </a:solidFill>
            </a:rPr>
            <a:t>managers need to know</a:t>
          </a:r>
        </a:p>
        <a:p>
          <a:pPr lvl="0" algn="ctr" defTabSz="711200">
            <a:lnSpc>
              <a:spcPct val="90000"/>
            </a:lnSpc>
            <a:spcBef>
              <a:spcPct val="0"/>
            </a:spcBef>
            <a:spcAft>
              <a:spcPct val="35000"/>
            </a:spcAft>
          </a:pPr>
          <a:r>
            <a:rPr lang="en-US" sz="1100" i="1" kern="1200" dirty="0" smtClean="0">
              <a:solidFill>
                <a:schemeClr val="tx1"/>
              </a:solidFill>
            </a:rPr>
            <a:t>Applied projects identified</a:t>
          </a:r>
        </a:p>
      </dsp:txBody>
      <dsp:txXfrm>
        <a:off x="0" y="1644396"/>
        <a:ext cx="2165791" cy="942919"/>
      </dsp:txXfrm>
    </dsp:sp>
    <dsp:sp modelId="{754E4B2E-158A-4B84-BBC6-8C56B81B2DDC}">
      <dsp:nvSpPr>
        <dsp:cNvPr id="0" name=""/>
        <dsp:cNvSpPr/>
      </dsp:nvSpPr>
      <dsp:spPr>
        <a:xfrm rot="5393992">
          <a:off x="-35570" y="4199420"/>
          <a:ext cx="1289184" cy="141437"/>
        </a:xfrm>
        <a:prstGeom prst="rect">
          <a:avLst/>
        </a:prstGeom>
        <a:solidFill>
          <a:srgbClr val="009D57">
            <a:alpha val="25000"/>
          </a:srgbClr>
        </a:solidFill>
        <a:ln>
          <a:noFill/>
        </a:ln>
        <a:effectLst/>
      </dsp:spPr>
      <dsp:style>
        <a:lnRef idx="0">
          <a:scrgbClr r="0" g="0" b="0"/>
        </a:lnRef>
        <a:fillRef idx="1">
          <a:scrgbClr r="0" g="0" b="0"/>
        </a:fillRef>
        <a:effectRef idx="0">
          <a:scrgbClr r="0" g="0" b="0"/>
        </a:effectRef>
        <a:fontRef idx="minor">
          <a:schemeClr val="lt1"/>
        </a:fontRef>
      </dsp:style>
    </dsp:sp>
    <dsp:sp modelId="{069F766A-9623-40A2-A995-1DAB314FF3FA}">
      <dsp:nvSpPr>
        <dsp:cNvPr id="0" name=""/>
        <dsp:cNvSpPr/>
      </dsp:nvSpPr>
      <dsp:spPr>
        <a:xfrm>
          <a:off x="0" y="2841497"/>
          <a:ext cx="2142610" cy="1247717"/>
        </a:xfrm>
        <a:prstGeom prst="roundRect">
          <a:avLst>
            <a:gd name="adj" fmla="val 10000"/>
          </a:avLst>
        </a:prstGeom>
        <a:solidFill>
          <a:schemeClr val="bg1"/>
        </a:solidFill>
        <a:ln w="28575" cap="flat" cmpd="sng" algn="ctr">
          <a:solidFill>
            <a:srgbClr val="009D57"/>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b="1" kern="1200" dirty="0" smtClean="0">
              <a:solidFill>
                <a:srgbClr val="009D57"/>
              </a:solidFill>
            </a:rPr>
            <a:t>Build a Strong Team</a:t>
          </a:r>
        </a:p>
        <a:p>
          <a:pPr lvl="0" algn="ctr" defTabSz="711200">
            <a:lnSpc>
              <a:spcPct val="90000"/>
            </a:lnSpc>
            <a:spcBef>
              <a:spcPct val="0"/>
            </a:spcBef>
            <a:spcAft>
              <a:spcPts val="200"/>
            </a:spcAft>
          </a:pPr>
          <a:r>
            <a:rPr lang="en-US" sz="1100" b="0" kern="1200" dirty="0" smtClean="0">
              <a:solidFill>
                <a:srgbClr val="009D57"/>
              </a:solidFill>
            </a:rPr>
            <a:t>Situational Leadership </a:t>
          </a:r>
        </a:p>
        <a:p>
          <a:pPr lvl="0" algn="ctr" defTabSz="711200">
            <a:lnSpc>
              <a:spcPct val="90000"/>
            </a:lnSpc>
            <a:spcBef>
              <a:spcPct val="0"/>
            </a:spcBef>
            <a:spcAft>
              <a:spcPts val="200"/>
            </a:spcAft>
          </a:pPr>
          <a:r>
            <a:rPr lang="en-US" sz="1100" b="0" kern="1200" dirty="0" smtClean="0">
              <a:solidFill>
                <a:srgbClr val="009D57"/>
              </a:solidFill>
            </a:rPr>
            <a:t>Coaching &amp; Feedback</a:t>
          </a:r>
        </a:p>
      </dsp:txBody>
      <dsp:txXfrm>
        <a:off x="0" y="2841497"/>
        <a:ext cx="2142610" cy="1247717"/>
      </dsp:txXfrm>
    </dsp:sp>
    <dsp:sp modelId="{7F46DA2F-E48E-4BAE-B087-7FF3A02F5219}">
      <dsp:nvSpPr>
        <dsp:cNvPr id="0" name=""/>
        <dsp:cNvSpPr/>
      </dsp:nvSpPr>
      <dsp:spPr>
        <a:xfrm rot="184">
          <a:off x="619514" y="4879822"/>
          <a:ext cx="3003331" cy="141437"/>
        </a:xfrm>
        <a:prstGeom prst="rect">
          <a:avLst/>
        </a:prstGeom>
        <a:solidFill>
          <a:srgbClr val="009D57">
            <a:alpha val="25000"/>
          </a:srgbClr>
        </a:solidFill>
        <a:ln>
          <a:noFill/>
        </a:ln>
        <a:effectLst/>
      </dsp:spPr>
      <dsp:style>
        <a:lnRef idx="0">
          <a:scrgbClr r="0" g="0" b="0"/>
        </a:lnRef>
        <a:fillRef idx="1">
          <a:scrgbClr r="0" g="0" b="0"/>
        </a:fillRef>
        <a:effectRef idx="0">
          <a:scrgbClr r="0" g="0" b="0"/>
        </a:effectRef>
        <a:fontRef idx="minor">
          <a:schemeClr val="lt1"/>
        </a:fontRef>
      </dsp:style>
    </dsp:sp>
    <dsp:sp modelId="{B5016A49-3FAA-4F56-AD0D-E0E0B8D07BD6}">
      <dsp:nvSpPr>
        <dsp:cNvPr id="0" name=""/>
        <dsp:cNvSpPr/>
      </dsp:nvSpPr>
      <dsp:spPr>
        <a:xfrm>
          <a:off x="0" y="4283079"/>
          <a:ext cx="2165791" cy="942919"/>
        </a:xfrm>
        <a:prstGeom prst="roundRect">
          <a:avLst>
            <a:gd name="adj" fmla="val 10000"/>
          </a:avLst>
        </a:prstGeom>
        <a:solidFill>
          <a:schemeClr val="bg1"/>
        </a:solidFill>
        <a:ln w="28575" cap="flat" cmpd="sng" algn="ctr">
          <a:solidFill>
            <a:srgbClr val="009D57"/>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b="1" kern="1200" dirty="0" smtClean="0">
              <a:solidFill>
                <a:srgbClr val="009D57"/>
              </a:solidFill>
            </a:rPr>
            <a:t>Build a Strong Team</a:t>
          </a:r>
        </a:p>
        <a:p>
          <a:pPr lvl="0" algn="ctr" defTabSz="711200">
            <a:lnSpc>
              <a:spcPct val="90000"/>
            </a:lnSpc>
            <a:spcBef>
              <a:spcPct val="0"/>
            </a:spcBef>
            <a:spcAft>
              <a:spcPts val="200"/>
            </a:spcAft>
          </a:pPr>
          <a:r>
            <a:rPr lang="en-US" sz="1100" b="0" kern="1200" dirty="0" smtClean="0">
              <a:solidFill>
                <a:srgbClr val="009D57"/>
              </a:solidFill>
            </a:rPr>
            <a:t>Targeted Selection</a:t>
          </a:r>
        </a:p>
      </dsp:txBody>
      <dsp:txXfrm>
        <a:off x="0" y="4283079"/>
        <a:ext cx="2165791" cy="942919"/>
      </dsp:txXfrm>
    </dsp:sp>
    <dsp:sp modelId="{F0F3A0B2-E8D7-4468-8F25-553C54C23FA5}">
      <dsp:nvSpPr>
        <dsp:cNvPr id="0" name=""/>
        <dsp:cNvSpPr/>
      </dsp:nvSpPr>
      <dsp:spPr>
        <a:xfrm rot="16142338">
          <a:off x="4206091" y="3951714"/>
          <a:ext cx="1242188" cy="141437"/>
        </a:xfrm>
        <a:prstGeom prst="rect">
          <a:avLst/>
        </a:prstGeom>
        <a:solidFill>
          <a:srgbClr val="009D57">
            <a:alpha val="25000"/>
          </a:srgbClr>
        </a:solidFill>
        <a:ln>
          <a:noFill/>
        </a:ln>
        <a:effectLst/>
      </dsp:spPr>
      <dsp:style>
        <a:lnRef idx="0">
          <a:scrgbClr r="0" g="0" b="0"/>
        </a:lnRef>
        <a:fillRef idx="1">
          <a:scrgbClr r="0" g="0" b="0"/>
        </a:fillRef>
        <a:effectRef idx="0">
          <a:scrgbClr r="0" g="0" b="0"/>
        </a:effectRef>
        <a:fontRef idx="minor">
          <a:schemeClr val="lt1"/>
        </a:fontRef>
      </dsp:style>
    </dsp:sp>
    <dsp:sp modelId="{33CD0A4B-33A5-433C-A878-8BD8D3C36BA8}">
      <dsp:nvSpPr>
        <dsp:cNvPr id="0" name=""/>
        <dsp:cNvSpPr/>
      </dsp:nvSpPr>
      <dsp:spPr>
        <a:xfrm>
          <a:off x="3002342" y="4267201"/>
          <a:ext cx="2186551" cy="942919"/>
        </a:xfrm>
        <a:prstGeom prst="roundRect">
          <a:avLst>
            <a:gd name="adj" fmla="val 10000"/>
          </a:avLst>
        </a:prstGeom>
        <a:solidFill>
          <a:schemeClr val="bg1"/>
        </a:solidFill>
        <a:ln w="28575" cap="flat" cmpd="sng" algn="ctr">
          <a:solidFill>
            <a:srgbClr val="009D57"/>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b="1" kern="1200" dirty="0" smtClean="0">
              <a:solidFill>
                <a:srgbClr val="009D57"/>
              </a:solidFill>
            </a:rPr>
            <a:t>Get Results </a:t>
          </a:r>
        </a:p>
        <a:p>
          <a:pPr lvl="0" algn="ctr" defTabSz="711200">
            <a:lnSpc>
              <a:spcPct val="90000"/>
            </a:lnSpc>
            <a:spcBef>
              <a:spcPct val="0"/>
            </a:spcBef>
            <a:spcAft>
              <a:spcPct val="35000"/>
            </a:spcAft>
          </a:pPr>
          <a:r>
            <a:rPr lang="en-US" sz="1100" b="0" kern="1200" dirty="0" smtClean="0">
              <a:solidFill>
                <a:srgbClr val="009D57"/>
              </a:solidFill>
            </a:rPr>
            <a:t>Critical Thinking</a:t>
          </a:r>
        </a:p>
        <a:p>
          <a:pPr lvl="0" algn="ctr" defTabSz="711200">
            <a:lnSpc>
              <a:spcPct val="90000"/>
            </a:lnSpc>
            <a:spcBef>
              <a:spcPct val="0"/>
            </a:spcBef>
            <a:spcAft>
              <a:spcPct val="35000"/>
            </a:spcAft>
          </a:pPr>
          <a:r>
            <a:rPr lang="en-US" sz="1100" b="0" i="1" kern="1200" dirty="0" smtClean="0">
              <a:solidFill>
                <a:schemeClr val="tx1"/>
              </a:solidFill>
            </a:rPr>
            <a:t>All CBTs must be complete</a:t>
          </a:r>
          <a:endParaRPr lang="en-US" sz="1100" b="0" i="1" kern="1200" dirty="0">
            <a:solidFill>
              <a:schemeClr val="tx1"/>
            </a:solidFill>
          </a:endParaRPr>
        </a:p>
      </dsp:txBody>
      <dsp:txXfrm>
        <a:off x="3002342" y="4267201"/>
        <a:ext cx="2186551" cy="942919"/>
      </dsp:txXfrm>
    </dsp:sp>
    <dsp:sp modelId="{ABDFBA92-C436-4741-A5E5-71F0ED012576}">
      <dsp:nvSpPr>
        <dsp:cNvPr id="0" name=""/>
        <dsp:cNvSpPr/>
      </dsp:nvSpPr>
      <dsp:spPr>
        <a:xfrm rot="16131608">
          <a:off x="4106569" y="2505359"/>
          <a:ext cx="1219735" cy="141437"/>
        </a:xfrm>
        <a:prstGeom prst="rect">
          <a:avLst/>
        </a:prstGeom>
        <a:solidFill>
          <a:srgbClr val="009D57">
            <a:alpha val="25000"/>
          </a:srgbClr>
        </a:solidFill>
        <a:ln>
          <a:noFill/>
        </a:ln>
        <a:effectLst/>
      </dsp:spPr>
      <dsp:style>
        <a:lnRef idx="0">
          <a:scrgbClr r="0" g="0" b="0"/>
        </a:lnRef>
        <a:fillRef idx="1">
          <a:scrgbClr r="0" g="0" b="0"/>
        </a:fillRef>
        <a:effectRef idx="0">
          <a:scrgbClr r="0" g="0" b="0"/>
        </a:effectRef>
        <a:fontRef idx="minor">
          <a:schemeClr val="lt1"/>
        </a:fontRef>
      </dsp:style>
    </dsp:sp>
    <dsp:sp modelId="{78B01F28-CECF-4092-9376-B00067B3ADEB}">
      <dsp:nvSpPr>
        <dsp:cNvPr id="0" name=""/>
        <dsp:cNvSpPr/>
      </dsp:nvSpPr>
      <dsp:spPr>
        <a:xfrm rot="5400000">
          <a:off x="3536553" y="2549749"/>
          <a:ext cx="1126835" cy="1873118"/>
        </a:xfrm>
        <a:prstGeom prst="ellipse">
          <a:avLst/>
        </a:prstGeom>
        <a:solidFill>
          <a:schemeClr val="bg1"/>
        </a:solidFill>
        <a:ln w="28575"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vert270" wrap="square" lIns="53340" tIns="53340" rIns="53340" bIns="53340" numCol="1" spcCol="1270" anchor="ctr" anchorCtr="0">
          <a:noAutofit/>
        </a:bodyPr>
        <a:lstStyle/>
        <a:p>
          <a:pPr lvl="0" algn="ctr" defTabSz="622300">
            <a:lnSpc>
              <a:spcPct val="90000"/>
            </a:lnSpc>
            <a:spcBef>
              <a:spcPct val="0"/>
            </a:spcBef>
            <a:spcAft>
              <a:spcPct val="35000"/>
            </a:spcAft>
          </a:pPr>
          <a:r>
            <a:rPr lang="en-US" sz="1400" b="1" kern="1200" dirty="0" smtClean="0">
              <a:solidFill>
                <a:schemeClr val="tx1"/>
              </a:solidFill>
            </a:rPr>
            <a:t>Leader-Participant Application Discussion and Survey</a:t>
          </a:r>
          <a:endParaRPr lang="en-US" sz="1400" b="0" i="1" kern="1200" dirty="0">
            <a:solidFill>
              <a:schemeClr val="tx1"/>
            </a:solidFill>
          </a:endParaRPr>
        </a:p>
      </dsp:txBody>
      <dsp:txXfrm rot="5400000">
        <a:off x="3536553" y="2549749"/>
        <a:ext cx="1126835" cy="1873118"/>
      </dsp:txXfrm>
    </dsp:sp>
    <dsp:sp modelId="{2F289DEF-D2CB-43B6-8E28-5D32DD28FB7A}">
      <dsp:nvSpPr>
        <dsp:cNvPr id="0" name=""/>
        <dsp:cNvSpPr/>
      </dsp:nvSpPr>
      <dsp:spPr>
        <a:xfrm rot="16200000">
          <a:off x="4142552" y="1478156"/>
          <a:ext cx="1268948" cy="141437"/>
        </a:xfrm>
        <a:prstGeom prst="rect">
          <a:avLst/>
        </a:prstGeom>
        <a:solidFill>
          <a:srgbClr val="009D57">
            <a:alpha val="25000"/>
          </a:srgbClr>
        </a:solidFill>
        <a:ln>
          <a:noFill/>
        </a:ln>
        <a:effectLst/>
      </dsp:spPr>
      <dsp:style>
        <a:lnRef idx="0">
          <a:scrgbClr r="0" g="0" b="0"/>
        </a:lnRef>
        <a:fillRef idx="1">
          <a:scrgbClr r="0" g="0" b="0"/>
        </a:fillRef>
        <a:effectRef idx="0">
          <a:scrgbClr r="0" g="0" b="0"/>
        </a:effectRef>
        <a:fontRef idx="minor">
          <a:schemeClr val="lt1"/>
        </a:fontRef>
      </dsp:style>
    </dsp:sp>
    <dsp:sp modelId="{53AF887B-443A-4050-BEFD-25AB9CE10E6D}">
      <dsp:nvSpPr>
        <dsp:cNvPr id="0" name=""/>
        <dsp:cNvSpPr/>
      </dsp:nvSpPr>
      <dsp:spPr>
        <a:xfrm>
          <a:off x="3004392" y="1785183"/>
          <a:ext cx="2142626" cy="942919"/>
        </a:xfrm>
        <a:prstGeom prst="roundRect">
          <a:avLst>
            <a:gd name="adj" fmla="val 10000"/>
          </a:avLst>
        </a:prstGeom>
        <a:solidFill>
          <a:schemeClr val="bg1"/>
        </a:solidFill>
        <a:ln w="28575" cap="flat" cmpd="sng" algn="ctr">
          <a:solidFill>
            <a:srgbClr val="009D57"/>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b="1" kern="1200" dirty="0" smtClean="0">
              <a:solidFill>
                <a:srgbClr val="009D57"/>
              </a:solidFill>
            </a:rPr>
            <a:t>Get Results </a:t>
          </a:r>
        </a:p>
        <a:p>
          <a:pPr lvl="0" algn="ctr" defTabSz="711200">
            <a:lnSpc>
              <a:spcPct val="90000"/>
            </a:lnSpc>
            <a:spcBef>
              <a:spcPct val="0"/>
            </a:spcBef>
            <a:spcAft>
              <a:spcPts val="200"/>
            </a:spcAft>
          </a:pPr>
          <a:r>
            <a:rPr lang="en-US" sz="1100" b="0" kern="1200" dirty="0" smtClean="0">
              <a:solidFill>
                <a:srgbClr val="009D57"/>
              </a:solidFill>
            </a:rPr>
            <a:t>Project Management </a:t>
          </a:r>
        </a:p>
        <a:p>
          <a:pPr lvl="0" algn="ctr" defTabSz="711200">
            <a:lnSpc>
              <a:spcPct val="90000"/>
            </a:lnSpc>
            <a:spcBef>
              <a:spcPct val="0"/>
            </a:spcBef>
            <a:spcAft>
              <a:spcPct val="35000"/>
            </a:spcAft>
          </a:pPr>
          <a:r>
            <a:rPr lang="en-US" sz="1100" b="0" kern="1200" dirty="0" smtClean="0">
              <a:solidFill>
                <a:srgbClr val="009D57"/>
              </a:solidFill>
            </a:rPr>
            <a:t>Leading Change</a:t>
          </a:r>
        </a:p>
        <a:p>
          <a:pPr lvl="0" algn="ctr" defTabSz="711200">
            <a:lnSpc>
              <a:spcPct val="90000"/>
            </a:lnSpc>
            <a:spcBef>
              <a:spcPct val="0"/>
            </a:spcBef>
            <a:spcAft>
              <a:spcPct val="35000"/>
            </a:spcAft>
          </a:pPr>
          <a:endParaRPr lang="en-US" sz="200" kern="1200" dirty="0" smtClean="0">
            <a:solidFill>
              <a:srgbClr val="009D57"/>
            </a:solidFill>
          </a:endParaRPr>
        </a:p>
        <a:p>
          <a:pPr lvl="0" algn="ctr" defTabSz="711200">
            <a:lnSpc>
              <a:spcPct val="90000"/>
            </a:lnSpc>
            <a:spcBef>
              <a:spcPct val="0"/>
            </a:spcBef>
            <a:spcAft>
              <a:spcPct val="35000"/>
            </a:spcAft>
          </a:pPr>
          <a:r>
            <a:rPr lang="en-US" sz="1100" b="0" i="1" kern="1200" dirty="0" smtClean="0">
              <a:solidFill>
                <a:schemeClr val="tx1"/>
              </a:solidFill>
            </a:rPr>
            <a:t>Kick Off 360 Assessment</a:t>
          </a:r>
        </a:p>
      </dsp:txBody>
      <dsp:txXfrm>
        <a:off x="3004392" y="1785183"/>
        <a:ext cx="2142626" cy="942919"/>
      </dsp:txXfrm>
    </dsp:sp>
    <dsp:sp modelId="{AC2BE747-59C5-4485-BAE9-4B28682A1C0F}">
      <dsp:nvSpPr>
        <dsp:cNvPr id="0" name=""/>
        <dsp:cNvSpPr/>
      </dsp:nvSpPr>
      <dsp:spPr>
        <a:xfrm rot="21595083">
          <a:off x="4696753" y="667709"/>
          <a:ext cx="3177848" cy="141437"/>
        </a:xfrm>
        <a:prstGeom prst="rect">
          <a:avLst/>
        </a:prstGeom>
        <a:solidFill>
          <a:srgbClr val="009D57">
            <a:alpha val="25000"/>
          </a:srgbClr>
        </a:solidFill>
        <a:ln>
          <a:noFill/>
        </a:ln>
        <a:effectLst/>
      </dsp:spPr>
      <dsp:style>
        <a:lnRef idx="0">
          <a:scrgbClr r="0" g="0" b="0"/>
        </a:lnRef>
        <a:fillRef idx="1">
          <a:scrgbClr r="0" g="0" b="0"/>
        </a:fillRef>
        <a:effectRef idx="0">
          <a:scrgbClr r="0" g="0" b="0"/>
        </a:effectRef>
        <a:fontRef idx="minor">
          <a:schemeClr val="lt1"/>
        </a:fontRef>
      </dsp:style>
    </dsp:sp>
    <dsp:sp modelId="{3C463B84-0A02-48B7-9A05-5EEAE75E0667}">
      <dsp:nvSpPr>
        <dsp:cNvPr id="0" name=""/>
        <dsp:cNvSpPr/>
      </dsp:nvSpPr>
      <dsp:spPr>
        <a:xfrm>
          <a:off x="2992810" y="509423"/>
          <a:ext cx="2165791" cy="942919"/>
        </a:xfrm>
        <a:prstGeom prst="roundRect">
          <a:avLst>
            <a:gd name="adj" fmla="val 10000"/>
          </a:avLst>
        </a:prstGeom>
        <a:solidFill>
          <a:schemeClr val="bg1"/>
        </a:solidFill>
        <a:ln w="28575" cap="flat" cmpd="sng" algn="ctr">
          <a:solidFill>
            <a:srgbClr val="009D57"/>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endParaRPr lang="en-US" sz="1600" b="1" kern="1200" dirty="0" smtClean="0">
            <a:solidFill>
              <a:schemeClr val="tx1"/>
            </a:solidFill>
          </a:endParaRPr>
        </a:p>
        <a:p>
          <a:pPr lvl="0" algn="ctr" defTabSz="711200">
            <a:lnSpc>
              <a:spcPct val="90000"/>
            </a:lnSpc>
            <a:spcBef>
              <a:spcPct val="0"/>
            </a:spcBef>
            <a:spcAft>
              <a:spcPct val="35000"/>
            </a:spcAft>
          </a:pPr>
          <a:r>
            <a:rPr lang="en-US" sz="1600" b="1" kern="1200" dirty="0" smtClean="0">
              <a:solidFill>
                <a:srgbClr val="009D57"/>
              </a:solidFill>
            </a:rPr>
            <a:t>Be Clear and Compelling</a:t>
          </a:r>
        </a:p>
        <a:p>
          <a:pPr lvl="0" algn="ctr" defTabSz="711200">
            <a:lnSpc>
              <a:spcPct val="90000"/>
            </a:lnSpc>
            <a:spcBef>
              <a:spcPct val="0"/>
            </a:spcBef>
            <a:spcAft>
              <a:spcPts val="200"/>
            </a:spcAft>
          </a:pPr>
          <a:r>
            <a:rPr lang="en-US" sz="1100" b="0" kern="1200" dirty="0" smtClean="0">
              <a:solidFill>
                <a:srgbClr val="009D57"/>
              </a:solidFill>
            </a:rPr>
            <a:t>Handling Conflict</a:t>
          </a:r>
        </a:p>
        <a:p>
          <a:pPr lvl="0" algn="ctr" defTabSz="711200">
            <a:lnSpc>
              <a:spcPct val="90000"/>
            </a:lnSpc>
            <a:spcBef>
              <a:spcPct val="0"/>
            </a:spcBef>
            <a:spcAft>
              <a:spcPts val="200"/>
            </a:spcAft>
          </a:pPr>
          <a:r>
            <a:rPr lang="en-US" sz="1100" b="0" kern="1200" dirty="0" smtClean="0">
              <a:solidFill>
                <a:srgbClr val="009D57"/>
              </a:solidFill>
            </a:rPr>
            <a:t>Crucial Conversations</a:t>
          </a:r>
        </a:p>
        <a:p>
          <a:pPr lvl="0" algn="ctr" defTabSz="711200">
            <a:lnSpc>
              <a:spcPct val="90000"/>
            </a:lnSpc>
            <a:spcBef>
              <a:spcPct val="0"/>
            </a:spcBef>
            <a:spcAft>
              <a:spcPct val="35000"/>
            </a:spcAft>
          </a:pPr>
          <a:endParaRPr lang="en-US" sz="1600" b="1" kern="1200" dirty="0" smtClean="0">
            <a:solidFill>
              <a:schemeClr val="tx1"/>
            </a:solidFill>
          </a:endParaRPr>
        </a:p>
      </dsp:txBody>
      <dsp:txXfrm>
        <a:off x="2992810" y="509423"/>
        <a:ext cx="2165791" cy="942919"/>
      </dsp:txXfrm>
    </dsp:sp>
    <dsp:sp modelId="{E1EBF2F4-FA16-4BFA-B63B-9FC49781C2B7}">
      <dsp:nvSpPr>
        <dsp:cNvPr id="0" name=""/>
        <dsp:cNvSpPr/>
      </dsp:nvSpPr>
      <dsp:spPr>
        <a:xfrm rot="5452276">
          <a:off x="7271638" y="1118103"/>
          <a:ext cx="1006436" cy="141437"/>
        </a:xfrm>
        <a:prstGeom prst="rect">
          <a:avLst/>
        </a:prstGeom>
        <a:solidFill>
          <a:srgbClr val="009D57">
            <a:alpha val="25000"/>
          </a:srgbClr>
        </a:solidFill>
        <a:ln>
          <a:noFill/>
        </a:ln>
        <a:effectLst/>
      </dsp:spPr>
      <dsp:style>
        <a:lnRef idx="0">
          <a:scrgbClr r="0" g="0" b="0"/>
        </a:lnRef>
        <a:fillRef idx="1">
          <a:scrgbClr r="0" g="0" b="0"/>
        </a:fillRef>
        <a:effectRef idx="0">
          <a:scrgbClr r="0" g="0" b="0"/>
        </a:effectRef>
        <a:fontRef idx="minor">
          <a:schemeClr val="lt1"/>
        </a:fontRef>
      </dsp:style>
    </dsp:sp>
    <dsp:sp modelId="{EFF7C01B-D200-4E99-8DE7-80D86D020BF7}">
      <dsp:nvSpPr>
        <dsp:cNvPr id="0" name=""/>
        <dsp:cNvSpPr/>
      </dsp:nvSpPr>
      <dsp:spPr>
        <a:xfrm>
          <a:off x="6219732" y="504878"/>
          <a:ext cx="2086067" cy="942919"/>
        </a:xfrm>
        <a:prstGeom prst="roundRect">
          <a:avLst>
            <a:gd name="adj" fmla="val 10000"/>
          </a:avLst>
        </a:prstGeom>
        <a:solidFill>
          <a:schemeClr val="bg1"/>
        </a:solidFill>
        <a:ln w="28575" cap="flat" cmpd="sng" algn="ctr">
          <a:solidFill>
            <a:srgbClr val="F79646"/>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b="1" kern="1200" dirty="0" smtClean="0">
              <a:solidFill>
                <a:srgbClr val="F79646"/>
              </a:solidFill>
            </a:rPr>
            <a:t>Applied Project Reviews</a:t>
          </a:r>
        </a:p>
      </dsp:txBody>
      <dsp:txXfrm>
        <a:off x="6219732" y="504878"/>
        <a:ext cx="2086067" cy="942919"/>
      </dsp:txXfrm>
    </dsp:sp>
    <dsp:sp modelId="{05EF7FCC-E325-43CD-B088-65E6366072F3}">
      <dsp:nvSpPr>
        <dsp:cNvPr id="0" name=""/>
        <dsp:cNvSpPr/>
      </dsp:nvSpPr>
      <dsp:spPr>
        <a:xfrm rot="5681733">
          <a:off x="7118670" y="2413779"/>
          <a:ext cx="997585" cy="141437"/>
        </a:xfrm>
        <a:prstGeom prst="rect">
          <a:avLst/>
        </a:prstGeom>
        <a:solidFill>
          <a:srgbClr val="009D57">
            <a:alpha val="25000"/>
          </a:srgbClr>
        </a:solidFill>
        <a:ln>
          <a:noFill/>
        </a:ln>
        <a:effectLst/>
      </dsp:spPr>
      <dsp:style>
        <a:lnRef idx="0">
          <a:scrgbClr r="0" g="0" b="0"/>
        </a:lnRef>
        <a:fillRef idx="1">
          <a:scrgbClr r="0" g="0" b="0"/>
        </a:fillRef>
        <a:effectRef idx="0">
          <a:scrgbClr r="0" g="0" b="0"/>
        </a:effectRef>
        <a:fontRef idx="minor">
          <a:schemeClr val="lt1"/>
        </a:fontRef>
      </dsp:style>
    </dsp:sp>
    <dsp:sp modelId="{432C4AEE-BF91-496C-BAB6-2A5B764F7472}">
      <dsp:nvSpPr>
        <dsp:cNvPr id="0" name=""/>
        <dsp:cNvSpPr/>
      </dsp:nvSpPr>
      <dsp:spPr>
        <a:xfrm>
          <a:off x="6145760" y="1524004"/>
          <a:ext cx="2160039" cy="929708"/>
        </a:xfrm>
        <a:prstGeom prst="roundRect">
          <a:avLst>
            <a:gd name="adj" fmla="val 10000"/>
          </a:avLst>
        </a:prstGeom>
        <a:solidFill>
          <a:schemeClr val="bg1"/>
        </a:solidFill>
        <a:ln w="28575" cap="flat" cmpd="sng" algn="ctr">
          <a:solidFill>
            <a:srgbClr val="009D57"/>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b="1" kern="1200" dirty="0" smtClean="0">
              <a:solidFill>
                <a:srgbClr val="009D57"/>
              </a:solidFill>
            </a:rPr>
            <a:t>Be a Leader</a:t>
          </a:r>
        </a:p>
        <a:p>
          <a:pPr lvl="0" algn="ctr" defTabSz="711200">
            <a:lnSpc>
              <a:spcPct val="90000"/>
            </a:lnSpc>
            <a:spcBef>
              <a:spcPct val="0"/>
            </a:spcBef>
            <a:spcAft>
              <a:spcPct val="35000"/>
            </a:spcAft>
          </a:pPr>
          <a:r>
            <a:rPr lang="en-US" sz="1100" b="0" kern="1200" dirty="0" smtClean="0">
              <a:solidFill>
                <a:srgbClr val="009D57"/>
              </a:solidFill>
            </a:rPr>
            <a:t>360 Results </a:t>
          </a:r>
        </a:p>
        <a:p>
          <a:pPr lvl="0" algn="ctr" defTabSz="711200">
            <a:lnSpc>
              <a:spcPct val="90000"/>
            </a:lnSpc>
            <a:spcBef>
              <a:spcPct val="0"/>
            </a:spcBef>
            <a:spcAft>
              <a:spcPct val="35000"/>
            </a:spcAft>
          </a:pPr>
          <a:r>
            <a:rPr lang="en-US" sz="1100" b="0" kern="1200" dirty="0" smtClean="0">
              <a:solidFill>
                <a:srgbClr val="009D57"/>
              </a:solidFill>
            </a:rPr>
            <a:t>Leadership Next</a:t>
          </a:r>
        </a:p>
      </dsp:txBody>
      <dsp:txXfrm>
        <a:off x="6145760" y="1524004"/>
        <a:ext cx="2160039" cy="929708"/>
      </dsp:txXfrm>
    </dsp:sp>
    <dsp:sp modelId="{3335A2EF-0F2A-4F5E-9316-00E9CF7B6F0F}">
      <dsp:nvSpPr>
        <dsp:cNvPr id="0" name=""/>
        <dsp:cNvSpPr/>
      </dsp:nvSpPr>
      <dsp:spPr>
        <a:xfrm>
          <a:off x="6219732" y="2514597"/>
          <a:ext cx="2086067" cy="942919"/>
        </a:xfrm>
        <a:prstGeom prst="wave">
          <a:avLst/>
        </a:prstGeom>
        <a:solidFill>
          <a:schemeClr val="bg1"/>
        </a:solidFill>
        <a:ln w="28575" cap="flat" cmpd="sng" algn="ctr">
          <a:solidFill>
            <a:srgbClr val="009D57"/>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b="1" kern="1200" dirty="0" smtClean="0">
              <a:solidFill>
                <a:schemeClr val="tx1"/>
              </a:solidFill>
            </a:rPr>
            <a:t>Graduation</a:t>
          </a:r>
        </a:p>
      </dsp:txBody>
      <dsp:txXfrm>
        <a:off x="6219732" y="2514597"/>
        <a:ext cx="2086067" cy="942919"/>
      </dsp:txXfrm>
    </dsp:sp>
  </dsp:spTree>
</dsp:drawing>
</file>

<file path=ppt/diagrams/drawing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DA41197E-4ADB-4AE2-85CE-A1ACE283EACF}">
      <dsp:nvSpPr>
        <dsp:cNvPr id="0" name=""/>
        <dsp:cNvSpPr/>
      </dsp:nvSpPr>
      <dsp:spPr>
        <a:xfrm>
          <a:off x="2609143" y="819"/>
          <a:ext cx="1258713" cy="818164"/>
        </a:xfrm>
        <a:prstGeom prst="roundRect">
          <a:avLst/>
        </a:prstGeom>
        <a:solidFill>
          <a:srgbClr val="009D57"/>
        </a:solidFill>
        <a:ln w="25400" cap="flat" cmpd="sng" algn="ctr">
          <a:solidFill>
            <a:srgbClr val="0070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b="1" kern="1200" dirty="0" smtClean="0">
              <a:solidFill>
                <a:schemeClr val="bg1"/>
              </a:solidFill>
            </a:rPr>
            <a:t>Be A Leader:</a:t>
          </a:r>
        </a:p>
        <a:p>
          <a:pPr lvl="0" algn="ctr" defTabSz="533400">
            <a:lnSpc>
              <a:spcPct val="90000"/>
            </a:lnSpc>
            <a:spcBef>
              <a:spcPct val="0"/>
            </a:spcBef>
            <a:spcAft>
              <a:spcPct val="35000"/>
            </a:spcAft>
          </a:pPr>
          <a:r>
            <a:rPr lang="en-US" sz="1000" b="1" kern="1200" dirty="0" smtClean="0">
              <a:solidFill>
                <a:schemeClr val="bg1"/>
              </a:solidFill>
            </a:rPr>
            <a:t>Flexing Leadership Style*</a:t>
          </a:r>
          <a:endParaRPr lang="en-US" sz="1000" b="1" kern="1200" dirty="0">
            <a:solidFill>
              <a:schemeClr val="bg1"/>
            </a:solidFill>
          </a:endParaRPr>
        </a:p>
      </dsp:txBody>
      <dsp:txXfrm>
        <a:off x="2609143" y="819"/>
        <a:ext cx="1258713" cy="818164"/>
      </dsp:txXfrm>
    </dsp:sp>
    <dsp:sp modelId="{C06D4EDA-37BF-4E17-9FE1-3FF398FDF8DB}">
      <dsp:nvSpPr>
        <dsp:cNvPr id="0" name=""/>
        <dsp:cNvSpPr/>
      </dsp:nvSpPr>
      <dsp:spPr>
        <a:xfrm>
          <a:off x="1344681" y="421755"/>
          <a:ext cx="3858560" cy="3858560"/>
        </a:xfrm>
        <a:custGeom>
          <a:avLst/>
          <a:gdLst/>
          <a:ahLst/>
          <a:cxnLst/>
          <a:rect l="0" t="0" r="0" b="0"/>
          <a:pathLst>
            <a:path>
              <a:moveTo>
                <a:pt x="2530784" y="96164"/>
              </a:moveTo>
              <a:arcTo wR="1929280" hR="1929280" stAng="17289981" swAng="1408025"/>
            </a:path>
          </a:pathLst>
        </a:custGeom>
        <a:noFill/>
        <a:ln w="28575" cap="flat" cmpd="sng" algn="ctr">
          <a:solidFill>
            <a:scrgbClr r="0" g="0" b="0">
              <a:shade val="95000"/>
              <a:satMod val="105000"/>
            </a:scrgbClr>
          </a:solidFill>
          <a:prstDash val="solid"/>
        </a:ln>
        <a:effectLst/>
      </dsp:spPr>
      <dsp:style>
        <a:lnRef idx="1">
          <a:scrgbClr r="0" g="0" b="0"/>
        </a:lnRef>
        <a:fillRef idx="0">
          <a:scrgbClr r="0" g="0" b="0"/>
        </a:fillRef>
        <a:effectRef idx="0">
          <a:scrgbClr r="0" g="0" b="0"/>
        </a:effectRef>
        <a:fontRef idx="minor"/>
      </dsp:style>
    </dsp:sp>
    <dsp:sp modelId="{7BFB7F2A-220D-453A-9650-157CF8951883}">
      <dsp:nvSpPr>
        <dsp:cNvPr id="0" name=""/>
        <dsp:cNvSpPr/>
      </dsp:nvSpPr>
      <dsp:spPr>
        <a:xfrm>
          <a:off x="4267197" y="914400"/>
          <a:ext cx="1258713" cy="818164"/>
        </a:xfrm>
        <a:prstGeom prst="roundRect">
          <a:avLst/>
        </a:prstGeom>
        <a:solidFill>
          <a:srgbClr val="009D57"/>
        </a:solidFill>
        <a:ln w="25400" cap="flat" cmpd="sng" algn="ctr">
          <a:solidFill>
            <a:srgbClr val="0070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b="1" kern="1200" dirty="0" smtClean="0">
              <a:solidFill>
                <a:schemeClr val="bg1"/>
              </a:solidFill>
            </a:rPr>
            <a:t>Build a Strong Team: </a:t>
          </a:r>
        </a:p>
        <a:p>
          <a:pPr lvl="0" algn="ctr" defTabSz="533400">
            <a:lnSpc>
              <a:spcPct val="90000"/>
            </a:lnSpc>
            <a:spcBef>
              <a:spcPct val="0"/>
            </a:spcBef>
            <a:spcAft>
              <a:spcPct val="35000"/>
            </a:spcAft>
          </a:pPr>
          <a:r>
            <a:rPr lang="en-US" sz="1000" b="1" kern="1200" dirty="0" smtClean="0">
              <a:solidFill>
                <a:schemeClr val="bg1"/>
              </a:solidFill>
            </a:rPr>
            <a:t>Coaching and Feedback</a:t>
          </a:r>
          <a:endParaRPr lang="en-US" sz="1000" b="1" kern="1200" dirty="0">
            <a:solidFill>
              <a:schemeClr val="bg1"/>
            </a:solidFill>
          </a:endParaRPr>
        </a:p>
      </dsp:txBody>
      <dsp:txXfrm>
        <a:off x="4267197" y="914400"/>
        <a:ext cx="1258713" cy="818164"/>
      </dsp:txXfrm>
    </dsp:sp>
    <dsp:sp modelId="{8FAA8702-81C9-471D-BE14-272CDCF9ECBF}">
      <dsp:nvSpPr>
        <dsp:cNvPr id="0" name=""/>
        <dsp:cNvSpPr/>
      </dsp:nvSpPr>
      <dsp:spPr>
        <a:xfrm>
          <a:off x="1316998" y="384660"/>
          <a:ext cx="3858560" cy="3858560"/>
        </a:xfrm>
        <a:custGeom>
          <a:avLst/>
          <a:gdLst/>
          <a:ahLst/>
          <a:cxnLst/>
          <a:rect l="0" t="0" r="0" b="0"/>
          <a:pathLst>
            <a:path>
              <a:moveTo>
                <a:pt x="3772347" y="1358996"/>
              </a:moveTo>
              <a:arcTo wR="1929280" hR="1929280" stAng="20568411" swAng="2062102"/>
            </a:path>
          </a:pathLst>
        </a:custGeom>
        <a:noFill/>
        <a:ln w="28575" cap="flat" cmpd="sng" algn="ctr">
          <a:solidFill>
            <a:scrgbClr r="0" g="0" b="0">
              <a:shade val="95000"/>
              <a:satMod val="105000"/>
            </a:scrgbClr>
          </a:solidFill>
          <a:prstDash val="solid"/>
        </a:ln>
        <a:effectLst/>
      </dsp:spPr>
      <dsp:style>
        <a:lnRef idx="1">
          <a:scrgbClr r="0" g="0" b="0"/>
        </a:lnRef>
        <a:fillRef idx="0">
          <a:scrgbClr r="0" g="0" b="0"/>
        </a:fillRef>
        <a:effectRef idx="0">
          <a:scrgbClr r="0" g="0" b="0"/>
        </a:effectRef>
        <a:fontRef idx="minor"/>
      </dsp:style>
    </dsp:sp>
    <dsp:sp modelId="{258D5058-00A7-4F3A-B541-81B012E22B1E}">
      <dsp:nvSpPr>
        <dsp:cNvPr id="0" name=""/>
        <dsp:cNvSpPr/>
      </dsp:nvSpPr>
      <dsp:spPr>
        <a:xfrm>
          <a:off x="4279948" y="2894739"/>
          <a:ext cx="1258713" cy="818164"/>
        </a:xfrm>
        <a:prstGeom prst="roundRect">
          <a:avLst/>
        </a:prstGeom>
        <a:solidFill>
          <a:srgbClr val="009D57"/>
        </a:solidFill>
        <a:ln w="25400" cap="flat" cmpd="sng" algn="ctr">
          <a:solidFill>
            <a:srgbClr val="0070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b="1" kern="1200" dirty="0" smtClean="0">
              <a:solidFill>
                <a:schemeClr val="bg1"/>
              </a:solidFill>
            </a:rPr>
            <a:t>Get Results:</a:t>
          </a:r>
        </a:p>
        <a:p>
          <a:pPr lvl="0" algn="ctr" defTabSz="533400">
            <a:lnSpc>
              <a:spcPct val="90000"/>
            </a:lnSpc>
            <a:spcBef>
              <a:spcPct val="0"/>
            </a:spcBef>
            <a:spcAft>
              <a:spcPct val="35000"/>
            </a:spcAft>
          </a:pPr>
          <a:r>
            <a:rPr lang="en-US" sz="1000" b="1" kern="1200" dirty="0" smtClean="0">
              <a:solidFill>
                <a:schemeClr val="bg1"/>
              </a:solidFill>
            </a:rPr>
            <a:t>LEAN Tools and Simulation</a:t>
          </a:r>
          <a:endParaRPr lang="en-US" sz="1000" b="1" kern="1200" dirty="0">
            <a:solidFill>
              <a:schemeClr val="bg1"/>
            </a:solidFill>
          </a:endParaRPr>
        </a:p>
      </dsp:txBody>
      <dsp:txXfrm>
        <a:off x="4279948" y="2894739"/>
        <a:ext cx="1258713" cy="818164"/>
      </dsp:txXfrm>
    </dsp:sp>
    <dsp:sp modelId="{0700CD42-306F-46C7-A4F4-1CCB9AC75D7C}">
      <dsp:nvSpPr>
        <dsp:cNvPr id="0" name=""/>
        <dsp:cNvSpPr/>
      </dsp:nvSpPr>
      <dsp:spPr>
        <a:xfrm>
          <a:off x="1309219" y="409901"/>
          <a:ext cx="3858560" cy="3858560"/>
        </a:xfrm>
        <a:custGeom>
          <a:avLst/>
          <a:gdLst/>
          <a:ahLst/>
          <a:cxnLst/>
          <a:rect l="0" t="0" r="0" b="0"/>
          <a:pathLst>
            <a:path>
              <a:moveTo>
                <a:pt x="3277814" y="3308981"/>
              </a:moveTo>
              <a:arcTo wR="1929280" hR="1929280" stAng="2739271" swAng="1503174"/>
            </a:path>
          </a:pathLst>
        </a:custGeom>
        <a:noFill/>
        <a:ln w="28575" cap="flat" cmpd="sng" algn="ctr">
          <a:solidFill>
            <a:scrgbClr r="0" g="0" b="0">
              <a:shade val="95000"/>
              <a:satMod val="105000"/>
            </a:scrgbClr>
          </a:solidFill>
          <a:prstDash val="solid"/>
        </a:ln>
        <a:effectLst/>
      </dsp:spPr>
      <dsp:style>
        <a:lnRef idx="1">
          <a:scrgbClr r="0" g="0" b="0"/>
        </a:lnRef>
        <a:fillRef idx="0">
          <a:scrgbClr r="0" g="0" b="0"/>
        </a:fillRef>
        <a:effectRef idx="0">
          <a:scrgbClr r="0" g="0" b="0"/>
        </a:effectRef>
        <a:fontRef idx="minor"/>
      </dsp:style>
    </dsp:sp>
    <dsp:sp modelId="{E5A2A6A7-16EF-4C50-8905-574AF33C7B41}">
      <dsp:nvSpPr>
        <dsp:cNvPr id="0" name=""/>
        <dsp:cNvSpPr/>
      </dsp:nvSpPr>
      <dsp:spPr>
        <a:xfrm>
          <a:off x="2609143" y="3859379"/>
          <a:ext cx="1258713" cy="818164"/>
        </a:xfrm>
        <a:prstGeom prst="roundRect">
          <a:avLst/>
        </a:prstGeom>
        <a:solidFill>
          <a:srgbClr val="009D57"/>
        </a:solidFill>
        <a:ln w="25400" cap="flat" cmpd="sng" algn="ctr">
          <a:solidFill>
            <a:srgbClr val="0070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b="1" kern="1200" dirty="0" smtClean="0">
              <a:solidFill>
                <a:schemeClr val="bg1"/>
              </a:solidFill>
            </a:rPr>
            <a:t>Be Clear and Compelling:</a:t>
          </a:r>
        </a:p>
        <a:p>
          <a:pPr lvl="0" algn="ctr" defTabSz="533400">
            <a:lnSpc>
              <a:spcPct val="90000"/>
            </a:lnSpc>
            <a:spcBef>
              <a:spcPct val="0"/>
            </a:spcBef>
            <a:spcAft>
              <a:spcPct val="35000"/>
            </a:spcAft>
          </a:pPr>
          <a:r>
            <a:rPr lang="en-US" sz="1000" b="1" kern="1200" dirty="0" smtClean="0">
              <a:solidFill>
                <a:schemeClr val="bg1"/>
              </a:solidFill>
            </a:rPr>
            <a:t>Handling</a:t>
          </a:r>
        </a:p>
        <a:p>
          <a:pPr lvl="0" algn="ctr" defTabSz="533400">
            <a:lnSpc>
              <a:spcPct val="90000"/>
            </a:lnSpc>
            <a:spcBef>
              <a:spcPct val="0"/>
            </a:spcBef>
            <a:spcAft>
              <a:spcPct val="35000"/>
            </a:spcAft>
          </a:pPr>
          <a:r>
            <a:rPr lang="en-US" sz="1000" b="1" kern="1200" dirty="0" smtClean="0">
              <a:solidFill>
                <a:schemeClr val="bg1"/>
              </a:solidFill>
            </a:rPr>
            <a:t>Conflict*</a:t>
          </a:r>
          <a:endParaRPr lang="en-US" sz="1000" b="1" kern="1200" dirty="0">
            <a:solidFill>
              <a:schemeClr val="bg1"/>
            </a:solidFill>
          </a:endParaRPr>
        </a:p>
      </dsp:txBody>
      <dsp:txXfrm>
        <a:off x="2609143" y="3859379"/>
        <a:ext cx="1258713" cy="818164"/>
      </dsp:txXfrm>
    </dsp:sp>
    <dsp:sp modelId="{5B798AB5-9F72-4B65-9831-7B91580680F9}">
      <dsp:nvSpPr>
        <dsp:cNvPr id="0" name=""/>
        <dsp:cNvSpPr/>
      </dsp:nvSpPr>
      <dsp:spPr>
        <a:xfrm>
          <a:off x="1309219" y="409901"/>
          <a:ext cx="3858560" cy="3858560"/>
        </a:xfrm>
        <a:custGeom>
          <a:avLst/>
          <a:gdLst/>
          <a:ahLst/>
          <a:cxnLst/>
          <a:rect l="0" t="0" r="0" b="0"/>
          <a:pathLst>
            <a:path>
              <a:moveTo>
                <a:pt x="1291860" y="3750219"/>
              </a:moveTo>
              <a:arcTo wR="1929280" hR="1929280" stAng="6557555" swAng="1503174"/>
            </a:path>
          </a:pathLst>
        </a:custGeom>
        <a:noFill/>
        <a:ln w="28575" cap="flat" cmpd="sng" algn="ctr">
          <a:solidFill>
            <a:scrgbClr r="0" g="0" b="0">
              <a:shade val="95000"/>
              <a:satMod val="105000"/>
            </a:scrgbClr>
          </a:solidFill>
          <a:prstDash val="solid"/>
        </a:ln>
        <a:effectLst/>
      </dsp:spPr>
      <dsp:style>
        <a:lnRef idx="1">
          <a:scrgbClr r="0" g="0" b="0"/>
        </a:lnRef>
        <a:fillRef idx="0">
          <a:scrgbClr r="0" g="0" b="0"/>
        </a:fillRef>
        <a:effectRef idx="0">
          <a:scrgbClr r="0" g="0" b="0"/>
        </a:effectRef>
        <a:fontRef idx="minor"/>
      </dsp:style>
    </dsp:sp>
    <dsp:sp modelId="{A19D5F7E-DC1B-4003-82BC-75DC90637933}">
      <dsp:nvSpPr>
        <dsp:cNvPr id="0" name=""/>
        <dsp:cNvSpPr/>
      </dsp:nvSpPr>
      <dsp:spPr>
        <a:xfrm>
          <a:off x="938337" y="2894739"/>
          <a:ext cx="1258713" cy="818164"/>
        </a:xfrm>
        <a:prstGeom prst="roundRect">
          <a:avLst/>
        </a:prstGeom>
        <a:solidFill>
          <a:srgbClr val="009D57"/>
        </a:solidFill>
        <a:ln w="25400" cap="flat" cmpd="sng" algn="ctr">
          <a:solidFill>
            <a:srgbClr val="0070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b="1" kern="1200" dirty="0" smtClean="0">
              <a:solidFill>
                <a:schemeClr val="bg1"/>
              </a:solidFill>
            </a:rPr>
            <a:t>Get Results:</a:t>
          </a:r>
        </a:p>
        <a:p>
          <a:pPr lvl="0" algn="ctr" defTabSz="533400">
            <a:lnSpc>
              <a:spcPct val="90000"/>
            </a:lnSpc>
            <a:spcBef>
              <a:spcPct val="0"/>
            </a:spcBef>
            <a:spcAft>
              <a:spcPct val="35000"/>
            </a:spcAft>
          </a:pPr>
          <a:r>
            <a:rPr lang="en-US" sz="1000" b="1" kern="1200" dirty="0" smtClean="0">
              <a:solidFill>
                <a:schemeClr val="bg1"/>
              </a:solidFill>
            </a:rPr>
            <a:t>Leading Change</a:t>
          </a:r>
          <a:endParaRPr lang="en-US" sz="1000" b="1" kern="1200" dirty="0">
            <a:solidFill>
              <a:schemeClr val="bg1"/>
            </a:solidFill>
          </a:endParaRPr>
        </a:p>
      </dsp:txBody>
      <dsp:txXfrm>
        <a:off x="938337" y="2894739"/>
        <a:ext cx="1258713" cy="818164"/>
      </dsp:txXfrm>
    </dsp:sp>
    <dsp:sp modelId="{6EE516DE-D0D6-4A81-90C7-00E53CDA3FA2}">
      <dsp:nvSpPr>
        <dsp:cNvPr id="0" name=""/>
        <dsp:cNvSpPr/>
      </dsp:nvSpPr>
      <dsp:spPr>
        <a:xfrm>
          <a:off x="1309219" y="409901"/>
          <a:ext cx="3858560" cy="3858560"/>
        </a:xfrm>
        <a:custGeom>
          <a:avLst/>
          <a:gdLst/>
          <a:ahLst/>
          <a:cxnLst/>
          <a:rect l="0" t="0" r="0" b="0"/>
          <a:pathLst>
            <a:path>
              <a:moveTo>
                <a:pt x="78551" y="2474188"/>
              </a:moveTo>
              <a:arcTo wR="1929280" hR="1929280" stAng="9815642" swAng="1968716"/>
            </a:path>
          </a:pathLst>
        </a:custGeom>
        <a:noFill/>
        <a:ln w="28575" cap="flat" cmpd="sng" algn="ctr">
          <a:solidFill>
            <a:scrgbClr r="0" g="0" b="0">
              <a:shade val="95000"/>
              <a:satMod val="105000"/>
            </a:scrgbClr>
          </a:solidFill>
          <a:prstDash val="solid"/>
        </a:ln>
        <a:effectLst/>
      </dsp:spPr>
      <dsp:style>
        <a:lnRef idx="1">
          <a:scrgbClr r="0" g="0" b="0"/>
        </a:lnRef>
        <a:fillRef idx="0">
          <a:scrgbClr r="0" g="0" b="0"/>
        </a:fillRef>
        <a:effectRef idx="0">
          <a:scrgbClr r="0" g="0" b="0"/>
        </a:effectRef>
        <a:fontRef idx="minor"/>
      </dsp:style>
    </dsp:sp>
    <dsp:sp modelId="{58ED59DD-EC9F-4C05-A1CD-4350AD317261}">
      <dsp:nvSpPr>
        <dsp:cNvPr id="0" name=""/>
        <dsp:cNvSpPr/>
      </dsp:nvSpPr>
      <dsp:spPr>
        <a:xfrm>
          <a:off x="938337" y="965459"/>
          <a:ext cx="1258713" cy="818164"/>
        </a:xfrm>
        <a:prstGeom prst="roundRect">
          <a:avLst/>
        </a:prstGeom>
        <a:solidFill>
          <a:srgbClr val="009D57"/>
        </a:solidFill>
        <a:ln w="25400" cap="flat" cmpd="sng" algn="ctr">
          <a:solidFill>
            <a:srgbClr val="0070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b="1" kern="1200" dirty="0" smtClean="0">
              <a:solidFill>
                <a:schemeClr val="bg1"/>
              </a:solidFill>
            </a:rPr>
            <a:t>Build a Strong Team: </a:t>
          </a:r>
        </a:p>
        <a:p>
          <a:pPr lvl="0" algn="ctr" defTabSz="533400">
            <a:lnSpc>
              <a:spcPct val="90000"/>
            </a:lnSpc>
            <a:spcBef>
              <a:spcPct val="0"/>
            </a:spcBef>
            <a:spcAft>
              <a:spcPct val="35000"/>
            </a:spcAft>
          </a:pPr>
          <a:r>
            <a:rPr lang="en-US" sz="1000" b="1" kern="1200" dirty="0" smtClean="0">
              <a:solidFill>
                <a:schemeClr val="bg1"/>
              </a:solidFill>
            </a:rPr>
            <a:t>Building Your Team</a:t>
          </a:r>
          <a:endParaRPr lang="en-US" sz="1000" b="1" kern="1200" dirty="0">
            <a:solidFill>
              <a:schemeClr val="bg1"/>
            </a:solidFill>
          </a:endParaRPr>
        </a:p>
      </dsp:txBody>
      <dsp:txXfrm>
        <a:off x="938337" y="965459"/>
        <a:ext cx="1258713" cy="818164"/>
      </dsp:txXfrm>
    </dsp:sp>
    <dsp:sp modelId="{CDB0BB79-9116-43A5-BE6D-EF22E45A915E}">
      <dsp:nvSpPr>
        <dsp:cNvPr id="0" name=""/>
        <dsp:cNvSpPr/>
      </dsp:nvSpPr>
      <dsp:spPr>
        <a:xfrm>
          <a:off x="1309219" y="409901"/>
          <a:ext cx="3858560" cy="3858560"/>
        </a:xfrm>
        <a:custGeom>
          <a:avLst/>
          <a:gdLst/>
          <a:ahLst/>
          <a:cxnLst/>
          <a:rect l="0" t="0" r="0" b="0"/>
          <a:pathLst>
            <a:path>
              <a:moveTo>
                <a:pt x="580745" y="549578"/>
              </a:moveTo>
              <a:arcTo wR="1929280" hR="1929280" stAng="13539271" swAng="1503174"/>
            </a:path>
          </a:pathLst>
        </a:custGeom>
        <a:noFill/>
        <a:ln w="28575" cap="flat" cmpd="sng" algn="ctr">
          <a:solidFill>
            <a:scrgbClr r="0" g="0" b="0">
              <a:shade val="95000"/>
              <a:satMod val="105000"/>
            </a:scrgbClr>
          </a:solidFill>
          <a:prstDash val="solid"/>
        </a:ln>
        <a:effectLst/>
      </dsp:spPr>
      <dsp:style>
        <a:lnRef idx="1">
          <a:scrgbClr r="0" g="0" b="0"/>
        </a:lnRef>
        <a:fillRef idx="0">
          <a:scrgbClr r="0" g="0" b="0"/>
        </a:fillRef>
        <a:effectRef idx="0">
          <a:scrgbClr r="0" g="0" b="0"/>
        </a:effectRef>
        <a:fontRef idx="minor"/>
      </dsp:style>
    </dsp:sp>
  </dsp:spTree>
</dsp:drawing>
</file>

<file path=ppt/diagrams/drawing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76774E8E-E753-4369-96B2-05C93C9BA983}">
      <dsp:nvSpPr>
        <dsp:cNvPr id="0" name=""/>
        <dsp:cNvSpPr/>
      </dsp:nvSpPr>
      <dsp:spPr>
        <a:xfrm>
          <a:off x="2156043" y="1318423"/>
          <a:ext cx="766752" cy="766752"/>
        </a:xfrm>
        <a:prstGeom prst="ellipse">
          <a:avLst/>
        </a:prstGeom>
        <a:solidFill>
          <a:srgbClr val="009D57"/>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Blended Learning</a:t>
          </a:r>
          <a:endParaRPr lang="en-US" sz="1200" kern="1200" dirty="0"/>
        </a:p>
      </dsp:txBody>
      <dsp:txXfrm>
        <a:off x="2156043" y="1318423"/>
        <a:ext cx="766752" cy="766752"/>
      </dsp:txXfrm>
    </dsp:sp>
    <dsp:sp modelId="{3468EC1A-ACD0-43AD-B86C-C6CC680015FC}">
      <dsp:nvSpPr>
        <dsp:cNvPr id="0" name=""/>
        <dsp:cNvSpPr/>
      </dsp:nvSpPr>
      <dsp:spPr>
        <a:xfrm rot="16200000">
          <a:off x="2270513" y="1036000"/>
          <a:ext cx="537813" cy="27033"/>
        </a:xfrm>
        <a:custGeom>
          <a:avLst/>
          <a:gdLst/>
          <a:ahLst/>
          <a:cxnLst/>
          <a:rect l="0" t="0" r="0" b="0"/>
          <a:pathLst>
            <a:path>
              <a:moveTo>
                <a:pt x="0" y="13516"/>
              </a:moveTo>
              <a:lnTo>
                <a:pt x="537813" y="1351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dirty="0"/>
        </a:p>
      </dsp:txBody>
      <dsp:txXfrm rot="16200000">
        <a:off x="2525974" y="1036071"/>
        <a:ext cx="26890" cy="26890"/>
      </dsp:txXfrm>
    </dsp:sp>
    <dsp:sp modelId="{C3681490-8128-40D9-9909-B1FB451CB3F9}">
      <dsp:nvSpPr>
        <dsp:cNvPr id="0" name=""/>
        <dsp:cNvSpPr/>
      </dsp:nvSpPr>
      <dsp:spPr>
        <a:xfrm>
          <a:off x="2156043" y="13857"/>
          <a:ext cx="766752" cy="76675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lvl="0" algn="ctr" defTabSz="400050">
            <a:lnSpc>
              <a:spcPct val="90000"/>
            </a:lnSpc>
            <a:spcBef>
              <a:spcPct val="0"/>
            </a:spcBef>
            <a:spcAft>
              <a:spcPct val="35000"/>
            </a:spcAft>
          </a:pPr>
          <a:r>
            <a:rPr lang="en-US" sz="900" kern="1200" dirty="0" smtClean="0"/>
            <a:t>Case Study</a:t>
          </a:r>
          <a:endParaRPr lang="en-US" sz="900" kern="1200" dirty="0"/>
        </a:p>
      </dsp:txBody>
      <dsp:txXfrm>
        <a:off x="2156043" y="13857"/>
        <a:ext cx="766752" cy="766752"/>
      </dsp:txXfrm>
    </dsp:sp>
    <dsp:sp modelId="{A55E9949-E311-4625-B7A2-26D2571B9EFF}">
      <dsp:nvSpPr>
        <dsp:cNvPr id="0" name=""/>
        <dsp:cNvSpPr/>
      </dsp:nvSpPr>
      <dsp:spPr>
        <a:xfrm rot="18900000">
          <a:off x="2731746" y="1227049"/>
          <a:ext cx="537813" cy="27033"/>
        </a:xfrm>
        <a:custGeom>
          <a:avLst/>
          <a:gdLst/>
          <a:ahLst/>
          <a:cxnLst/>
          <a:rect l="0" t="0" r="0" b="0"/>
          <a:pathLst>
            <a:path>
              <a:moveTo>
                <a:pt x="0" y="13516"/>
              </a:moveTo>
              <a:lnTo>
                <a:pt x="537813" y="1351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dirty="0"/>
        </a:p>
      </dsp:txBody>
      <dsp:txXfrm rot="18900000">
        <a:off x="2987208" y="1227120"/>
        <a:ext cx="26890" cy="26890"/>
      </dsp:txXfrm>
    </dsp:sp>
    <dsp:sp modelId="{C804D149-332D-49A5-97EF-4F5E0E941B80}">
      <dsp:nvSpPr>
        <dsp:cNvPr id="0" name=""/>
        <dsp:cNvSpPr/>
      </dsp:nvSpPr>
      <dsp:spPr>
        <a:xfrm>
          <a:off x="3078511" y="395956"/>
          <a:ext cx="766752" cy="76675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lvl="0" algn="ctr" defTabSz="400050">
            <a:lnSpc>
              <a:spcPct val="90000"/>
            </a:lnSpc>
            <a:spcBef>
              <a:spcPct val="0"/>
            </a:spcBef>
            <a:spcAft>
              <a:spcPct val="35000"/>
            </a:spcAft>
          </a:pPr>
          <a:r>
            <a:rPr lang="en-US" sz="900" kern="1200" dirty="0" smtClean="0"/>
            <a:t>Assessment</a:t>
          </a:r>
          <a:endParaRPr lang="en-US" sz="900" kern="1200" dirty="0"/>
        </a:p>
      </dsp:txBody>
      <dsp:txXfrm>
        <a:off x="3078511" y="395956"/>
        <a:ext cx="766752" cy="766752"/>
      </dsp:txXfrm>
    </dsp:sp>
    <dsp:sp modelId="{623AB608-378C-421A-A3DD-24022464C474}">
      <dsp:nvSpPr>
        <dsp:cNvPr id="0" name=""/>
        <dsp:cNvSpPr/>
      </dsp:nvSpPr>
      <dsp:spPr>
        <a:xfrm>
          <a:off x="2922796" y="1688283"/>
          <a:ext cx="511253" cy="27033"/>
        </a:xfrm>
        <a:custGeom>
          <a:avLst/>
          <a:gdLst/>
          <a:ahLst/>
          <a:cxnLst/>
          <a:rect l="0" t="0" r="0" b="0"/>
          <a:pathLst>
            <a:path>
              <a:moveTo>
                <a:pt x="0" y="13516"/>
              </a:moveTo>
              <a:lnTo>
                <a:pt x="511253" y="1351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dirty="0"/>
        </a:p>
      </dsp:txBody>
      <dsp:txXfrm>
        <a:off x="3165641" y="1689018"/>
        <a:ext cx="25562" cy="25562"/>
      </dsp:txXfrm>
    </dsp:sp>
    <dsp:sp modelId="{1B7BE6D7-9B44-477D-9088-8BCFE36A69E5}">
      <dsp:nvSpPr>
        <dsp:cNvPr id="0" name=""/>
        <dsp:cNvSpPr/>
      </dsp:nvSpPr>
      <dsp:spPr>
        <a:xfrm>
          <a:off x="3434049" y="1318423"/>
          <a:ext cx="819873" cy="76675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lvl="0" algn="ctr" defTabSz="400050">
            <a:lnSpc>
              <a:spcPct val="90000"/>
            </a:lnSpc>
            <a:spcBef>
              <a:spcPct val="0"/>
            </a:spcBef>
            <a:spcAft>
              <a:spcPct val="35000"/>
            </a:spcAft>
          </a:pPr>
          <a:r>
            <a:rPr lang="en-US" sz="900" kern="1200" dirty="0" smtClean="0"/>
            <a:t>Experiential</a:t>
          </a:r>
          <a:endParaRPr lang="en-US" sz="900" kern="1200" dirty="0"/>
        </a:p>
      </dsp:txBody>
      <dsp:txXfrm>
        <a:off x="3434049" y="1318423"/>
        <a:ext cx="819873" cy="766752"/>
      </dsp:txXfrm>
    </dsp:sp>
    <dsp:sp modelId="{03055A8C-9887-401A-B5E8-0A248B02A5DD}">
      <dsp:nvSpPr>
        <dsp:cNvPr id="0" name=""/>
        <dsp:cNvSpPr/>
      </dsp:nvSpPr>
      <dsp:spPr>
        <a:xfrm rot="2700000">
          <a:off x="2731746" y="2149517"/>
          <a:ext cx="537813" cy="27033"/>
        </a:xfrm>
        <a:custGeom>
          <a:avLst/>
          <a:gdLst/>
          <a:ahLst/>
          <a:cxnLst/>
          <a:rect l="0" t="0" r="0" b="0"/>
          <a:pathLst>
            <a:path>
              <a:moveTo>
                <a:pt x="0" y="13516"/>
              </a:moveTo>
              <a:lnTo>
                <a:pt x="537813" y="1351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dirty="0"/>
        </a:p>
      </dsp:txBody>
      <dsp:txXfrm rot="2700000">
        <a:off x="2987208" y="2149588"/>
        <a:ext cx="26890" cy="26890"/>
      </dsp:txXfrm>
    </dsp:sp>
    <dsp:sp modelId="{4E3DC5F0-38D7-4CBD-B854-D44DDC3DFE10}">
      <dsp:nvSpPr>
        <dsp:cNvPr id="0" name=""/>
        <dsp:cNvSpPr/>
      </dsp:nvSpPr>
      <dsp:spPr>
        <a:xfrm>
          <a:off x="3078511" y="2240891"/>
          <a:ext cx="766752" cy="76675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lvl="0" algn="ctr" defTabSz="400050">
            <a:lnSpc>
              <a:spcPct val="90000"/>
            </a:lnSpc>
            <a:spcBef>
              <a:spcPct val="0"/>
            </a:spcBef>
            <a:spcAft>
              <a:spcPct val="35000"/>
            </a:spcAft>
          </a:pPr>
          <a:r>
            <a:rPr lang="en-US" sz="900" kern="1200" dirty="0" smtClean="0"/>
            <a:t>Peer Coaching</a:t>
          </a:r>
          <a:endParaRPr lang="en-US" sz="900" kern="1200" dirty="0"/>
        </a:p>
      </dsp:txBody>
      <dsp:txXfrm>
        <a:off x="3078511" y="2240891"/>
        <a:ext cx="766752" cy="766752"/>
      </dsp:txXfrm>
    </dsp:sp>
    <dsp:sp modelId="{22579969-32F3-4A5E-A15F-3EFAB6ACF6BD}">
      <dsp:nvSpPr>
        <dsp:cNvPr id="0" name=""/>
        <dsp:cNvSpPr/>
      </dsp:nvSpPr>
      <dsp:spPr>
        <a:xfrm rot="5400000">
          <a:off x="2270513" y="2340566"/>
          <a:ext cx="537813" cy="27033"/>
        </a:xfrm>
        <a:custGeom>
          <a:avLst/>
          <a:gdLst/>
          <a:ahLst/>
          <a:cxnLst/>
          <a:rect l="0" t="0" r="0" b="0"/>
          <a:pathLst>
            <a:path>
              <a:moveTo>
                <a:pt x="0" y="13516"/>
              </a:moveTo>
              <a:lnTo>
                <a:pt x="537813" y="1351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dirty="0"/>
        </a:p>
      </dsp:txBody>
      <dsp:txXfrm rot="5400000">
        <a:off x="2525974" y="2340637"/>
        <a:ext cx="26890" cy="26890"/>
      </dsp:txXfrm>
    </dsp:sp>
    <dsp:sp modelId="{0D013F92-90A7-45D9-A7E1-0F21486108DA}">
      <dsp:nvSpPr>
        <dsp:cNvPr id="0" name=""/>
        <dsp:cNvSpPr/>
      </dsp:nvSpPr>
      <dsp:spPr>
        <a:xfrm>
          <a:off x="2156043" y="2622989"/>
          <a:ext cx="766752" cy="76675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lvl="0" algn="ctr" defTabSz="400050">
            <a:lnSpc>
              <a:spcPct val="90000"/>
            </a:lnSpc>
            <a:spcBef>
              <a:spcPct val="0"/>
            </a:spcBef>
            <a:spcAft>
              <a:spcPct val="35000"/>
            </a:spcAft>
          </a:pPr>
          <a:r>
            <a:rPr lang="en-US" sz="900" kern="1200" dirty="0" smtClean="0"/>
            <a:t>Lecture</a:t>
          </a:r>
          <a:endParaRPr lang="en-US" sz="900" kern="1200" dirty="0"/>
        </a:p>
      </dsp:txBody>
      <dsp:txXfrm>
        <a:off x="2156043" y="2622989"/>
        <a:ext cx="766752" cy="766752"/>
      </dsp:txXfrm>
    </dsp:sp>
    <dsp:sp modelId="{76C9110D-40FF-4572-B272-B44339740C2C}">
      <dsp:nvSpPr>
        <dsp:cNvPr id="0" name=""/>
        <dsp:cNvSpPr/>
      </dsp:nvSpPr>
      <dsp:spPr>
        <a:xfrm rot="8100000">
          <a:off x="1809279" y="2149517"/>
          <a:ext cx="537813" cy="27033"/>
        </a:xfrm>
        <a:custGeom>
          <a:avLst/>
          <a:gdLst/>
          <a:ahLst/>
          <a:cxnLst/>
          <a:rect l="0" t="0" r="0" b="0"/>
          <a:pathLst>
            <a:path>
              <a:moveTo>
                <a:pt x="0" y="13516"/>
              </a:moveTo>
              <a:lnTo>
                <a:pt x="537813" y="1351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dirty="0"/>
        </a:p>
      </dsp:txBody>
      <dsp:txXfrm rot="8100000">
        <a:off x="2064740" y="2149588"/>
        <a:ext cx="26890" cy="26890"/>
      </dsp:txXfrm>
    </dsp:sp>
    <dsp:sp modelId="{F0F427FD-58A2-4851-88DA-CC2526F2E6FD}">
      <dsp:nvSpPr>
        <dsp:cNvPr id="0" name=""/>
        <dsp:cNvSpPr/>
      </dsp:nvSpPr>
      <dsp:spPr>
        <a:xfrm>
          <a:off x="1233575" y="2240891"/>
          <a:ext cx="766752" cy="76675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lvl="0" algn="ctr" defTabSz="400050">
            <a:lnSpc>
              <a:spcPct val="90000"/>
            </a:lnSpc>
            <a:spcBef>
              <a:spcPct val="0"/>
            </a:spcBef>
            <a:spcAft>
              <a:spcPct val="35000"/>
            </a:spcAft>
          </a:pPr>
          <a:r>
            <a:rPr lang="en-US" sz="900" kern="1200" dirty="0" smtClean="0"/>
            <a:t>Business Challenge</a:t>
          </a:r>
          <a:endParaRPr lang="en-US" sz="900" kern="1200" dirty="0"/>
        </a:p>
      </dsp:txBody>
      <dsp:txXfrm>
        <a:off x="1233575" y="2240891"/>
        <a:ext cx="766752" cy="766752"/>
      </dsp:txXfrm>
    </dsp:sp>
    <dsp:sp modelId="{35186717-69AD-47F5-B200-236F7F83A8C9}">
      <dsp:nvSpPr>
        <dsp:cNvPr id="0" name=""/>
        <dsp:cNvSpPr/>
      </dsp:nvSpPr>
      <dsp:spPr>
        <a:xfrm rot="10800000">
          <a:off x="1618230" y="1688283"/>
          <a:ext cx="537813" cy="27033"/>
        </a:xfrm>
        <a:custGeom>
          <a:avLst/>
          <a:gdLst/>
          <a:ahLst/>
          <a:cxnLst/>
          <a:rect l="0" t="0" r="0" b="0"/>
          <a:pathLst>
            <a:path>
              <a:moveTo>
                <a:pt x="0" y="13516"/>
              </a:moveTo>
              <a:lnTo>
                <a:pt x="537813" y="1351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dirty="0"/>
        </a:p>
      </dsp:txBody>
      <dsp:txXfrm rot="10800000">
        <a:off x="1873691" y="1688354"/>
        <a:ext cx="26890" cy="26890"/>
      </dsp:txXfrm>
    </dsp:sp>
    <dsp:sp modelId="{1CF4C3F9-02CC-468E-BF45-CE80762BCFFE}">
      <dsp:nvSpPr>
        <dsp:cNvPr id="0" name=""/>
        <dsp:cNvSpPr/>
      </dsp:nvSpPr>
      <dsp:spPr>
        <a:xfrm>
          <a:off x="851477" y="1318423"/>
          <a:ext cx="766752" cy="76675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lvl="0" algn="ctr" defTabSz="400050">
            <a:lnSpc>
              <a:spcPct val="90000"/>
            </a:lnSpc>
            <a:spcBef>
              <a:spcPct val="0"/>
            </a:spcBef>
            <a:spcAft>
              <a:spcPct val="35000"/>
            </a:spcAft>
          </a:pPr>
          <a:r>
            <a:rPr lang="en-US" sz="900" kern="1200" dirty="0" smtClean="0"/>
            <a:t>Team Building </a:t>
          </a:r>
          <a:endParaRPr lang="en-US" sz="900" kern="1200" dirty="0"/>
        </a:p>
      </dsp:txBody>
      <dsp:txXfrm>
        <a:off x="851477" y="1318423"/>
        <a:ext cx="766752" cy="766752"/>
      </dsp:txXfrm>
    </dsp:sp>
    <dsp:sp modelId="{FCFA1FB1-AB8D-4A40-8952-73641E856960}">
      <dsp:nvSpPr>
        <dsp:cNvPr id="0" name=""/>
        <dsp:cNvSpPr/>
      </dsp:nvSpPr>
      <dsp:spPr>
        <a:xfrm rot="13500000">
          <a:off x="1809279" y="1227049"/>
          <a:ext cx="537813" cy="27033"/>
        </a:xfrm>
        <a:custGeom>
          <a:avLst/>
          <a:gdLst/>
          <a:ahLst/>
          <a:cxnLst/>
          <a:rect l="0" t="0" r="0" b="0"/>
          <a:pathLst>
            <a:path>
              <a:moveTo>
                <a:pt x="0" y="13516"/>
              </a:moveTo>
              <a:lnTo>
                <a:pt x="537813" y="1351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dirty="0"/>
        </a:p>
      </dsp:txBody>
      <dsp:txXfrm rot="13500000">
        <a:off x="2064740" y="1227120"/>
        <a:ext cx="26890" cy="26890"/>
      </dsp:txXfrm>
    </dsp:sp>
    <dsp:sp modelId="{2BEFEF90-393D-4DF3-B096-8DF38447B83E}">
      <dsp:nvSpPr>
        <dsp:cNvPr id="0" name=""/>
        <dsp:cNvSpPr/>
      </dsp:nvSpPr>
      <dsp:spPr>
        <a:xfrm>
          <a:off x="1233575" y="395956"/>
          <a:ext cx="766752" cy="76675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lvl="0" algn="ctr" defTabSz="400050">
            <a:lnSpc>
              <a:spcPct val="90000"/>
            </a:lnSpc>
            <a:spcBef>
              <a:spcPct val="0"/>
            </a:spcBef>
            <a:spcAft>
              <a:spcPct val="35000"/>
            </a:spcAft>
          </a:pPr>
          <a:r>
            <a:rPr lang="en-US" sz="900" kern="1200" dirty="0" smtClean="0"/>
            <a:t>Simulation</a:t>
          </a:r>
          <a:endParaRPr lang="en-US" sz="900" kern="1200" dirty="0"/>
        </a:p>
      </dsp:txBody>
      <dsp:txXfrm>
        <a:off x="1233575" y="395956"/>
        <a:ext cx="766752" cy="766752"/>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34050781-B1F5-4B92-87BC-E439C5246C8A}" type="datetimeFigureOut">
              <a:rPr lang="en-US" smtClean="0"/>
              <a:pPr/>
              <a:t>04/08/2013</a:t>
            </a:fld>
            <a:endParaRPr lang="en-US" dirty="0"/>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DD793ECC-2F91-413A-92E1-05225AF32749}" type="slidenum">
              <a:rPr lang="en-US" smtClean="0"/>
              <a:pPr/>
              <a:t>‹#›</a:t>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3177" tIns="46589" rIns="93177" bIns="46589" rtlCol="0"/>
          <a:lstStyle>
            <a:lvl1pPr algn="l" fontAlgn="auto">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970338" y="0"/>
            <a:ext cx="3038475" cy="465138"/>
          </a:xfrm>
          <a:prstGeom prst="rect">
            <a:avLst/>
          </a:prstGeom>
        </p:spPr>
        <p:txBody>
          <a:bodyPr vert="horz" lIns="93177" tIns="46589" rIns="93177" bIns="46589" rtlCol="0"/>
          <a:lstStyle>
            <a:lvl1pPr algn="r" fontAlgn="auto">
              <a:spcBef>
                <a:spcPts val="0"/>
              </a:spcBef>
              <a:spcAft>
                <a:spcPts val="0"/>
              </a:spcAft>
              <a:defRPr sz="1200">
                <a:latin typeface="+mn-lt"/>
              </a:defRPr>
            </a:lvl1pPr>
          </a:lstStyle>
          <a:p>
            <a:pPr>
              <a:defRPr/>
            </a:pPr>
            <a:fld id="{0796981D-1B90-48F0-8ACD-F504B659A3C4}" type="datetimeFigureOut">
              <a:rPr lang="en-US"/>
              <a:pPr>
                <a:defRPr/>
              </a:pPr>
              <a:t>04/08/2013</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pPr lvl="0"/>
            <a:endParaRPr lang="en-US" noProof="0" dirty="0"/>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3177" tIns="46589" rIns="93177" bIns="46589"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829675"/>
            <a:ext cx="3038475" cy="465138"/>
          </a:xfrm>
          <a:prstGeom prst="rect">
            <a:avLst/>
          </a:prstGeom>
        </p:spPr>
        <p:txBody>
          <a:bodyPr vert="horz" lIns="93177" tIns="46589" rIns="93177" bIns="46589" rtlCol="0" anchor="b"/>
          <a:lstStyle>
            <a:lvl1pPr algn="l" fontAlgn="auto">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3177" tIns="46589" rIns="93177" bIns="46589" rtlCol="0" anchor="b"/>
          <a:lstStyle>
            <a:lvl1pPr algn="r" fontAlgn="auto">
              <a:spcBef>
                <a:spcPts val="0"/>
              </a:spcBef>
              <a:spcAft>
                <a:spcPts val="0"/>
              </a:spcAft>
              <a:defRPr sz="1200">
                <a:latin typeface="+mn-lt"/>
              </a:defRPr>
            </a:lvl1pPr>
          </a:lstStyle>
          <a:p>
            <a:pPr>
              <a:defRPr/>
            </a:pPr>
            <a:fld id="{CB1E04C4-209E-42C0-BB16-60A19275D140}" type="slidenum">
              <a:rPr lang="en-US"/>
              <a:pPr>
                <a:defRPr/>
              </a:pPr>
              <a:t>‹#›</a:t>
            </a:fld>
            <a:endParaRPr lang="en-US" dirty="0"/>
          </a:p>
        </p:txBody>
      </p:sp>
    </p:spTree>
    <p:extLst>
      <p:ext uri="{BB962C8B-B14F-4D97-AF65-F5344CB8AC3E}">
        <p14:creationId xmlns:p14="http://schemas.microsoft.com/office/powerpoint/2010/main" xmlns="" val="196588876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bwMode="auto">
          <a:noFill/>
          <a:ln>
            <a:solidFill>
              <a:srgbClr val="000000"/>
            </a:solidFill>
            <a:miter lim="800000"/>
            <a:headEnd/>
            <a:tailEnd/>
          </a:ln>
        </p:spPr>
      </p:sp>
      <p:sp>
        <p:nvSpPr>
          <p:cNvPr id="32771" name="Notes Placeholder 2"/>
          <p:cNvSpPr>
            <a:spLocks noGrp="1"/>
          </p:cNvSpPr>
          <p:nvPr>
            <p:ph type="body" idx="1"/>
          </p:nvPr>
        </p:nvSpPr>
        <p:spPr bwMode="auto">
          <a:noFill/>
        </p:spPr>
        <p:txBody>
          <a:bodyPr wrap="square" numCol="1" anchor="t" anchorCtr="0" compatLnSpc="1">
            <a:prstTxWarp prst="textNoShape">
              <a:avLst/>
            </a:prstTxWarp>
            <a:normAutofit lnSpcReduction="10000"/>
          </a:bodyPr>
          <a:lstStyle/>
          <a:p>
            <a:pPr eaLnBrk="1" hangingPunct="1">
              <a:lnSpc>
                <a:spcPct val="150000"/>
              </a:lnSpc>
            </a:pPr>
            <a:endParaRPr lang="en-US" b="1" dirty="0" smtClean="0">
              <a:latin typeface="Tw Cen MT" pitchFamily="34" charset="0"/>
              <a:cs typeface="Times New Roman" pitchFamily="18" charset="0"/>
            </a:endParaRPr>
          </a:p>
        </p:txBody>
      </p:sp>
      <p:sp>
        <p:nvSpPr>
          <p:cNvPr id="4" name="Slide Number Placeholder 3"/>
          <p:cNvSpPr>
            <a:spLocks noGrp="1"/>
          </p:cNvSpPr>
          <p:nvPr>
            <p:ph type="sldNum" sz="quarter" idx="5"/>
          </p:nvPr>
        </p:nvSpPr>
        <p:spPr/>
        <p:txBody>
          <a:bodyPr/>
          <a:lstStyle/>
          <a:p>
            <a:pPr>
              <a:defRPr/>
            </a:pPr>
            <a:fld id="{0106D10A-9E57-4931-AB59-7F95947A1540}" type="slidenum">
              <a:rPr lang="en-US" smtClean="0"/>
              <a:pPr>
                <a:defRPr/>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lvl="1">
              <a:buFont typeface="Arial" pitchFamily="34" charset="0"/>
              <a:buChar char="•"/>
            </a:pPr>
            <a:endParaRPr lang="en-US" sz="1400" dirty="0" smtClean="0"/>
          </a:p>
          <a:p>
            <a:pPr lvl="1">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pPr>
              <a:defRPr/>
            </a:pPr>
            <a:fld id="{CB1E04C4-209E-42C0-BB16-60A19275D140}" type="slidenum">
              <a:rPr lang="en-US" smtClean="0"/>
              <a:pPr>
                <a:defRPr/>
              </a:pPr>
              <a:t>3</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bwMode="auto">
          <a:noFill/>
          <a:ln>
            <a:solidFill>
              <a:srgbClr val="000000"/>
            </a:solidFill>
            <a:miter lim="800000"/>
            <a:headEnd/>
            <a:tailEnd/>
          </a:ln>
        </p:spPr>
      </p:sp>
      <p:sp>
        <p:nvSpPr>
          <p:cNvPr id="1331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dirty="0" smtClean="0"/>
          </a:p>
        </p:txBody>
      </p:sp>
      <p:sp>
        <p:nvSpPr>
          <p:cNvPr id="4" name="Slide Number Placeholder 3"/>
          <p:cNvSpPr>
            <a:spLocks noGrp="1"/>
          </p:cNvSpPr>
          <p:nvPr>
            <p:ph type="sldNum" sz="quarter" idx="5"/>
          </p:nvPr>
        </p:nvSpPr>
        <p:spPr/>
        <p:txBody>
          <a:bodyPr/>
          <a:lstStyle/>
          <a:p>
            <a:pPr>
              <a:defRPr/>
            </a:pPr>
            <a:fld id="{1E2F4323-FE7E-4A23-A441-40E96F1EF1A1}" type="slidenum">
              <a:rPr lang="en-US" smtClean="0"/>
              <a:pPr>
                <a:defRPr/>
              </a:pPr>
              <a:t>4</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CB1E04C4-209E-42C0-BB16-60A19275D140}" type="slidenum">
              <a:rPr lang="en-US" smtClean="0"/>
              <a:pPr>
                <a:defRPr/>
              </a:pPr>
              <a:t>14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t>Cost: $200 per course for non-employed Physicians</a:t>
            </a:r>
          </a:p>
          <a:p>
            <a:pPr>
              <a:buNone/>
            </a:pPr>
            <a:endParaRPr lang="en-US" dirty="0" smtClean="0"/>
          </a:p>
          <a:p>
            <a:pPr>
              <a:buNone/>
            </a:pPr>
            <a:r>
              <a:rPr lang="en-US" dirty="0" smtClean="0"/>
              <a:t>20 Physicians Enrolled:</a:t>
            </a:r>
          </a:p>
          <a:p>
            <a:pPr lvl="1"/>
            <a:r>
              <a:rPr lang="en-US" dirty="0" smtClean="0"/>
              <a:t>6 Children’s</a:t>
            </a:r>
          </a:p>
          <a:p>
            <a:pPr lvl="1"/>
            <a:r>
              <a:rPr lang="en-US" dirty="0" smtClean="0"/>
              <a:t>3 ECC</a:t>
            </a:r>
          </a:p>
          <a:p>
            <a:pPr lvl="1"/>
            <a:r>
              <a:rPr lang="en-US" dirty="0" smtClean="0"/>
              <a:t>2 Sibley Heart</a:t>
            </a:r>
          </a:p>
          <a:p>
            <a:pPr lvl="1"/>
            <a:r>
              <a:rPr lang="en-US" dirty="0" smtClean="0"/>
              <a:t>9 Private</a:t>
            </a:r>
          </a:p>
          <a:p>
            <a:pPr lvl="1"/>
            <a:endParaRPr lang="en-US" dirty="0" smtClean="0"/>
          </a:p>
          <a:p>
            <a:pPr lvl="1">
              <a:buFont typeface="Arial" pitchFamily="34" charset="0"/>
              <a:buChar char="•"/>
            </a:pP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smtClean="0"/>
          </a:p>
          <a:p>
            <a:endParaRPr lang="en-US" dirty="0"/>
          </a:p>
        </p:txBody>
      </p:sp>
      <p:sp>
        <p:nvSpPr>
          <p:cNvPr id="4" name="Slide Number Placeholder 3"/>
          <p:cNvSpPr>
            <a:spLocks noGrp="1"/>
          </p:cNvSpPr>
          <p:nvPr>
            <p:ph type="sldNum" sz="quarter" idx="10"/>
          </p:nvPr>
        </p:nvSpPr>
        <p:spPr/>
        <p:txBody>
          <a:bodyPr/>
          <a:lstStyle/>
          <a:p>
            <a:pPr>
              <a:defRPr/>
            </a:pPr>
            <a:fld id="{CB1E04C4-209E-42C0-BB16-60A19275D140}" type="slidenum">
              <a:rPr lang="en-US" smtClean="0"/>
              <a:pPr>
                <a:defRPr/>
              </a:pPr>
              <a:t>15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CF446F3-5AAE-42F4-A9B4-2366903C996A}" type="slidenum">
              <a:rPr lang="en-US"/>
              <a:pPr/>
              <a:t>21</a:t>
            </a:fld>
            <a:endParaRPr lang="en-US" dirty="0"/>
          </a:p>
        </p:txBody>
      </p:sp>
      <p:sp>
        <p:nvSpPr>
          <p:cNvPr id="107522" name="Rectangle 2"/>
          <p:cNvSpPr>
            <a:spLocks noGrp="1" noRot="1" noChangeAspect="1" noChangeArrowheads="1" noTextEdit="1"/>
          </p:cNvSpPr>
          <p:nvPr>
            <p:ph type="sldImg"/>
          </p:nvPr>
        </p:nvSpPr>
        <p:spPr>
          <a:xfrm>
            <a:off x="241300" y="533400"/>
            <a:ext cx="6604000" cy="4953000"/>
          </a:xfrm>
          <a:ln/>
        </p:spPr>
      </p:sp>
      <p:sp>
        <p:nvSpPr>
          <p:cNvPr id="107523" name="Rectangle 3"/>
          <p:cNvSpPr>
            <a:spLocks noChangeArrowheads="1"/>
          </p:cNvSpPr>
          <p:nvPr/>
        </p:nvSpPr>
        <p:spPr bwMode="auto">
          <a:xfrm>
            <a:off x="228600" y="5562600"/>
            <a:ext cx="6553200" cy="274638"/>
          </a:xfrm>
          <a:prstGeom prst="rect">
            <a:avLst/>
          </a:prstGeom>
          <a:noFill/>
          <a:ln w="9525">
            <a:noFill/>
            <a:miter lim="800000"/>
            <a:headEnd/>
            <a:tailEnd/>
          </a:ln>
          <a:effectLst/>
        </p:spPr>
        <p:txBody>
          <a:bodyPr>
            <a:spAutoFit/>
          </a:bodyPr>
          <a:lstStyle/>
          <a:p>
            <a:pPr algn="ctr" eaLnBrk="1" hangingPunct="1">
              <a:spcBef>
                <a:spcPct val="30000"/>
              </a:spcBef>
            </a:pPr>
            <a:r>
              <a:rPr lang="en-US" sz="1200" b="1" u="sng" dirty="0"/>
              <a:t>Notes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CB1E04C4-209E-42C0-BB16-60A19275D140}" type="slidenum">
              <a:rPr lang="en-US" smtClean="0"/>
              <a:pPr>
                <a:defRPr/>
              </a:pPr>
              <a:t>26</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CB1E04C4-209E-42C0-BB16-60A19275D140}" type="slidenum">
              <a:rPr lang="en-US" smtClean="0"/>
              <a:pPr>
                <a:defRPr/>
              </a:pPr>
              <a:t>27</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CB1E04C4-209E-42C0-BB16-60A19275D140}" type="slidenum">
              <a:rPr lang="en-US" smtClean="0"/>
              <a:pPr>
                <a:defRPr/>
              </a:pPr>
              <a:t>28</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pPr>
              <a:defRPr/>
            </a:pPr>
            <a:fld id="{04333070-6ED2-4D81-BAD7-8CC17C189050}" type="slidenum">
              <a:rPr lang="en-US" smtClean="0"/>
              <a:pPr>
                <a:defRPr/>
              </a:pPr>
              <a:t>31</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cxnSp>
        <p:nvCxnSpPr>
          <p:cNvPr id="4" name="Straight Connector 3"/>
          <p:cNvCxnSpPr/>
          <p:nvPr userDrawn="1"/>
        </p:nvCxnSpPr>
        <p:spPr>
          <a:xfrm>
            <a:off x="685800" y="3733800"/>
            <a:ext cx="7772400" cy="0"/>
          </a:xfrm>
          <a:prstGeom prst="line">
            <a:avLst/>
          </a:prstGeom>
          <a:ln w="50800" cap="rnd">
            <a:solidFill>
              <a:srgbClr val="009D57"/>
            </a:solidFill>
          </a:ln>
        </p:spPr>
        <p:style>
          <a:lnRef idx="1">
            <a:schemeClr val="accent1"/>
          </a:lnRef>
          <a:fillRef idx="0">
            <a:schemeClr val="accent1"/>
          </a:fillRef>
          <a:effectRef idx="0">
            <a:schemeClr val="accent1"/>
          </a:effectRef>
          <a:fontRef idx="minor">
            <a:schemeClr val="tx1"/>
          </a:fontRef>
        </p:style>
      </p:cxnSp>
      <p:pic>
        <p:nvPicPr>
          <p:cNvPr id="5" name="Picture 6" descr="Hope-and-Will.jpg"/>
          <p:cNvPicPr>
            <a:picLocks noChangeAspect="1"/>
          </p:cNvPicPr>
          <p:nvPr userDrawn="1"/>
        </p:nvPicPr>
        <p:blipFill>
          <a:blip r:embed="rId2" cstate="screen"/>
          <a:srcRect/>
          <a:stretch>
            <a:fillRect/>
          </a:stretch>
        </p:blipFill>
        <p:spPr bwMode="auto">
          <a:xfrm>
            <a:off x="7197725" y="5249863"/>
            <a:ext cx="1946275" cy="1608137"/>
          </a:xfrm>
          <a:prstGeom prst="rect">
            <a:avLst/>
          </a:prstGeom>
          <a:noFill/>
          <a:ln w="9525">
            <a:noFill/>
            <a:miter lim="800000"/>
            <a:headEnd/>
            <a:tailEnd/>
          </a:ln>
        </p:spPr>
      </p:pic>
      <p:sp>
        <p:nvSpPr>
          <p:cNvPr id="2" name="Title 1"/>
          <p:cNvSpPr>
            <a:spLocks noGrp="1"/>
          </p:cNvSpPr>
          <p:nvPr>
            <p:ph type="ctrTitle"/>
          </p:nvPr>
        </p:nvSpPr>
        <p:spPr>
          <a:xfrm>
            <a:off x="685800" y="2130425"/>
            <a:ext cx="7772400" cy="1470025"/>
          </a:xfrm>
        </p:spPr>
        <p:txBody>
          <a:bodyPr anchor="b" anchorCtr="0">
            <a:normAutofit/>
          </a:bodyPr>
          <a:lstStyle>
            <a:lvl1pPr algn="l">
              <a:defRPr sz="4400"/>
            </a:lvl1pPr>
          </a:lstStyle>
          <a:p>
            <a:r>
              <a:rPr lang="en-US" dirty="0" smtClean="0"/>
              <a:t>Click to edit Master title style</a:t>
            </a:r>
            <a:endParaRPr lang="en-US" dirty="0"/>
          </a:p>
        </p:txBody>
      </p:sp>
      <p:sp>
        <p:nvSpPr>
          <p:cNvPr id="3" name="Subtitle 2"/>
          <p:cNvSpPr>
            <a:spLocks noGrp="1"/>
          </p:cNvSpPr>
          <p:nvPr>
            <p:ph type="subTitle" idx="1"/>
          </p:nvPr>
        </p:nvSpPr>
        <p:spPr>
          <a:xfrm>
            <a:off x="685800" y="3886200"/>
            <a:ext cx="6400800" cy="914400"/>
          </a:xfrm>
        </p:spPr>
        <p:txBody>
          <a:bodyPr/>
          <a:lstStyle>
            <a:lvl1pPr marL="0" indent="0" algn="l">
              <a:buNone/>
              <a:defRPr>
                <a:solidFill>
                  <a:schemeClr val="bg1">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cxnSp>
        <p:nvCxnSpPr>
          <p:cNvPr id="4" name="Straight Connector 3"/>
          <p:cNvCxnSpPr/>
          <p:nvPr userDrawn="1"/>
        </p:nvCxnSpPr>
        <p:spPr>
          <a:xfrm>
            <a:off x="685800" y="3733800"/>
            <a:ext cx="7772400" cy="0"/>
          </a:xfrm>
          <a:prstGeom prst="line">
            <a:avLst/>
          </a:prstGeom>
          <a:ln w="50800" cap="rnd">
            <a:solidFill>
              <a:srgbClr val="009D57"/>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685800" y="2130425"/>
            <a:ext cx="7772400" cy="1470025"/>
          </a:xfrm>
        </p:spPr>
        <p:txBody>
          <a:bodyPr anchor="b" anchorCtr="0">
            <a:normAutofit/>
          </a:bodyPr>
          <a:lstStyle>
            <a:lvl1pPr algn="l">
              <a:defRPr sz="4400"/>
            </a:lvl1pPr>
          </a:lstStyle>
          <a:p>
            <a:r>
              <a:rPr lang="en-US" dirty="0" smtClean="0"/>
              <a:t>Click to edit Master title style</a:t>
            </a:r>
            <a:endParaRPr lang="en-US" dirty="0"/>
          </a:p>
        </p:txBody>
      </p:sp>
      <p:sp>
        <p:nvSpPr>
          <p:cNvPr id="3" name="Subtitle 2"/>
          <p:cNvSpPr>
            <a:spLocks noGrp="1"/>
          </p:cNvSpPr>
          <p:nvPr>
            <p:ph type="subTitle" idx="1"/>
          </p:nvPr>
        </p:nvSpPr>
        <p:spPr>
          <a:xfrm>
            <a:off x="685800" y="3886200"/>
            <a:ext cx="4572000" cy="914400"/>
          </a:xfrm>
        </p:spPr>
        <p:txBody>
          <a:bodyPr/>
          <a:lstStyle>
            <a:lvl1pPr marL="0" indent="0" algn="l">
              <a:buNone/>
              <a:defRPr>
                <a:solidFill>
                  <a:schemeClr val="bg1">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pic>
        <p:nvPicPr>
          <p:cNvPr id="8" name="Picture 7" descr="logo with tag rgb horz.jpg"/>
          <p:cNvPicPr>
            <a:picLocks noChangeAspect="1"/>
          </p:cNvPicPr>
          <p:nvPr userDrawn="1"/>
        </p:nvPicPr>
        <p:blipFill>
          <a:blip r:embed="rId2" cstate="screen"/>
          <a:stretch>
            <a:fillRect/>
          </a:stretch>
        </p:blipFill>
        <p:spPr>
          <a:xfrm>
            <a:off x="5486400" y="5621020"/>
            <a:ext cx="3048000" cy="10541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pic>
        <p:nvPicPr>
          <p:cNvPr id="5" name="Picture 6" descr="Hope-and-Will.jpg"/>
          <p:cNvPicPr>
            <a:picLocks noChangeAspect="1"/>
          </p:cNvPicPr>
          <p:nvPr userDrawn="1"/>
        </p:nvPicPr>
        <p:blipFill>
          <a:blip r:embed="rId2" cstate="screen"/>
          <a:srcRect/>
          <a:stretch>
            <a:fillRect/>
          </a:stretch>
        </p:blipFill>
        <p:spPr bwMode="auto">
          <a:xfrm>
            <a:off x="7197725" y="5249863"/>
            <a:ext cx="1946275" cy="1608137"/>
          </a:xfrm>
          <a:prstGeom prst="rect">
            <a:avLst/>
          </a:prstGeom>
          <a:noFill/>
          <a:ln w="9525">
            <a:noFill/>
            <a:miter lim="800000"/>
            <a:headEnd/>
            <a:tailEnd/>
          </a:ln>
        </p:spPr>
      </p:pic>
      <p:sp>
        <p:nvSpPr>
          <p:cNvPr id="2" name="Title 1"/>
          <p:cNvSpPr>
            <a:spLocks noGrp="1"/>
          </p:cNvSpPr>
          <p:nvPr>
            <p:ph type="ctrTitle"/>
          </p:nvPr>
        </p:nvSpPr>
        <p:spPr>
          <a:xfrm>
            <a:off x="152400" y="5387975"/>
            <a:ext cx="7086600" cy="1317625"/>
          </a:xfrm>
        </p:spPr>
        <p:txBody>
          <a:bodyPr anchor="b" anchorCtr="0">
            <a:normAutofit/>
          </a:bodyPr>
          <a:lstStyle>
            <a:lvl1pPr algn="l">
              <a:defRPr sz="4400"/>
            </a:lvl1pPr>
          </a:lstStyle>
          <a:p>
            <a:r>
              <a:rPr lang="en-US" dirty="0" smtClean="0"/>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chorCtr="0"/>
          <a:lstStyle>
            <a:lvl1pPr>
              <a:defRPr>
                <a:latin typeface="+mj-lt"/>
              </a:defRPr>
            </a:lvl1pPr>
          </a:lstStyle>
          <a:p>
            <a:r>
              <a:rPr lang="en-US" smtClean="0"/>
              <a:t>Click to edit Master title style</a:t>
            </a:r>
            <a:endParaRPr lang="en-US"/>
          </a:p>
        </p:txBody>
      </p:sp>
      <p:cxnSp>
        <p:nvCxnSpPr>
          <p:cNvPr id="4" name="Straight Connector 3"/>
          <p:cNvCxnSpPr/>
          <p:nvPr userDrawn="1"/>
        </p:nvCxnSpPr>
        <p:spPr>
          <a:xfrm>
            <a:off x="457200" y="1219200"/>
            <a:ext cx="8229600" cy="0"/>
          </a:xfrm>
          <a:prstGeom prst="line">
            <a:avLst/>
          </a:prstGeom>
          <a:ln w="50800" cap="rnd">
            <a:solidFill>
              <a:srgbClr val="009D57"/>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457200" y="1371600"/>
            <a:ext cx="8229600" cy="4876800"/>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pic>
        <p:nvPicPr>
          <p:cNvPr id="8" name="Picture 6" descr="Hope-and-Will.jpg"/>
          <p:cNvPicPr>
            <a:picLocks noChangeAspect="1"/>
          </p:cNvPicPr>
          <p:nvPr userDrawn="1"/>
        </p:nvPicPr>
        <p:blipFill>
          <a:blip r:embed="rId2" cstate="screen"/>
          <a:srcRect/>
          <a:stretch>
            <a:fillRect/>
          </a:stretch>
        </p:blipFill>
        <p:spPr bwMode="auto">
          <a:xfrm>
            <a:off x="7269163" y="6299835"/>
            <a:ext cx="1112837" cy="558165"/>
          </a:xfrm>
          <a:prstGeom prst="rect">
            <a:avLst/>
          </a:prstGeom>
          <a:noFill/>
          <a:ln w="9525">
            <a:noFill/>
            <a:miter lim="800000"/>
            <a:headEnd/>
            <a:tailEnd/>
          </a:ln>
        </p:spPr>
      </p:pic>
      <p:sp>
        <p:nvSpPr>
          <p:cNvPr id="9" name="TextBox 8"/>
          <p:cNvSpPr txBox="1"/>
          <p:nvPr userDrawn="1"/>
        </p:nvSpPr>
        <p:spPr>
          <a:xfrm>
            <a:off x="990600" y="6550025"/>
            <a:ext cx="6477000" cy="307975"/>
          </a:xfrm>
          <a:prstGeom prst="rect">
            <a:avLst/>
          </a:prstGeom>
          <a:noFill/>
        </p:spPr>
        <p:txBody>
          <a:bodyPr>
            <a:spAutoFit/>
          </a:bodyPr>
          <a:lstStyle/>
          <a:p>
            <a:pPr algn="r">
              <a:defRPr/>
            </a:pPr>
            <a:r>
              <a:rPr lang="en-US" sz="1400" dirty="0">
                <a:solidFill>
                  <a:schemeClr val="bg1">
                    <a:lumMod val="75000"/>
                  </a:schemeClr>
                </a:solidFill>
                <a:latin typeface="+mj-lt"/>
              </a:rPr>
              <a:t>Children’s Healthcare of Atlanta</a:t>
            </a:r>
          </a:p>
        </p:txBody>
      </p:sp>
      <p:sp>
        <p:nvSpPr>
          <p:cNvPr id="10" name="Slide Number Placeholder 5"/>
          <p:cNvSpPr>
            <a:spLocks noGrp="1"/>
          </p:cNvSpPr>
          <p:nvPr>
            <p:ph type="sldNum" sz="quarter" idx="10"/>
          </p:nvPr>
        </p:nvSpPr>
        <p:spPr>
          <a:xfrm>
            <a:off x="8382000" y="6544310"/>
            <a:ext cx="381000" cy="365125"/>
          </a:xfrm>
        </p:spPr>
        <p:txBody>
          <a:bodyPr/>
          <a:lstStyle>
            <a:lvl1pPr>
              <a:defRPr sz="1100">
                <a:solidFill>
                  <a:schemeClr val="bg1">
                    <a:lumMod val="50000"/>
                  </a:schemeClr>
                </a:solidFill>
                <a:latin typeface="+mj-lt"/>
              </a:defRPr>
            </a:lvl1pPr>
          </a:lstStyle>
          <a:p>
            <a:pPr>
              <a:defRPr/>
            </a:pPr>
            <a:fld id="{01D945C9-0277-4107-B589-EC55ECD240BC}" type="slidenum">
              <a:rPr lang="en-US" smtClean="0"/>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chorCtr="0"/>
          <a:lstStyle/>
          <a:p>
            <a:r>
              <a:rPr lang="en-US" dirty="0" smtClean="0"/>
              <a:t>Click to edit Master title style</a:t>
            </a:r>
            <a:endParaRPr lang="en-US" dirty="0"/>
          </a:p>
        </p:txBody>
      </p:sp>
      <p:pic>
        <p:nvPicPr>
          <p:cNvPr id="5" name="Picture 6" descr="Hope-and-Will.jpg"/>
          <p:cNvPicPr>
            <a:picLocks noChangeAspect="1"/>
          </p:cNvPicPr>
          <p:nvPr userDrawn="1"/>
        </p:nvPicPr>
        <p:blipFill>
          <a:blip r:embed="rId2" cstate="screen"/>
          <a:srcRect/>
          <a:stretch>
            <a:fillRect/>
          </a:stretch>
        </p:blipFill>
        <p:spPr bwMode="auto">
          <a:xfrm>
            <a:off x="7269163" y="6299835"/>
            <a:ext cx="1112837" cy="558165"/>
          </a:xfrm>
          <a:prstGeom prst="rect">
            <a:avLst/>
          </a:prstGeom>
          <a:noFill/>
          <a:ln w="9525">
            <a:noFill/>
            <a:miter lim="800000"/>
            <a:headEnd/>
            <a:tailEnd/>
          </a:ln>
        </p:spPr>
      </p:pic>
      <p:sp>
        <p:nvSpPr>
          <p:cNvPr id="6" name="TextBox 5"/>
          <p:cNvSpPr txBox="1"/>
          <p:nvPr userDrawn="1"/>
        </p:nvSpPr>
        <p:spPr>
          <a:xfrm>
            <a:off x="990600" y="6550025"/>
            <a:ext cx="6477000" cy="307975"/>
          </a:xfrm>
          <a:prstGeom prst="rect">
            <a:avLst/>
          </a:prstGeom>
          <a:noFill/>
        </p:spPr>
        <p:txBody>
          <a:bodyPr>
            <a:spAutoFit/>
          </a:bodyPr>
          <a:lstStyle/>
          <a:p>
            <a:pPr algn="r">
              <a:defRPr/>
            </a:pPr>
            <a:r>
              <a:rPr lang="en-US" sz="1400" dirty="0">
                <a:solidFill>
                  <a:schemeClr val="bg1">
                    <a:lumMod val="75000"/>
                  </a:schemeClr>
                </a:solidFill>
                <a:latin typeface="+mn-lt"/>
              </a:rPr>
              <a:t>Children’s Healthcare of Atlanta</a:t>
            </a:r>
          </a:p>
        </p:txBody>
      </p:sp>
      <p:sp>
        <p:nvSpPr>
          <p:cNvPr id="3" name="Content Placeholder 2"/>
          <p:cNvSpPr>
            <a:spLocks noGrp="1"/>
          </p:cNvSpPr>
          <p:nvPr>
            <p:ph idx="1"/>
          </p:nvPr>
        </p:nvSpPr>
        <p:spPr>
          <a:xfrm>
            <a:off x="457200" y="1371600"/>
            <a:ext cx="8229600" cy="4876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Slide Number Placeholder 5"/>
          <p:cNvSpPr>
            <a:spLocks noGrp="1"/>
          </p:cNvSpPr>
          <p:nvPr>
            <p:ph type="sldNum" sz="quarter" idx="10"/>
          </p:nvPr>
        </p:nvSpPr>
        <p:spPr>
          <a:xfrm>
            <a:off x="8382000" y="6544310"/>
            <a:ext cx="381000" cy="365125"/>
          </a:xfrm>
        </p:spPr>
        <p:txBody>
          <a:bodyPr/>
          <a:lstStyle>
            <a:lvl1pPr>
              <a:defRPr sz="1100">
                <a:solidFill>
                  <a:schemeClr val="bg1">
                    <a:lumMod val="50000"/>
                  </a:schemeClr>
                </a:solidFill>
                <a:latin typeface="+mn-lt"/>
              </a:defRPr>
            </a:lvl1pPr>
          </a:lstStyle>
          <a:p>
            <a:pPr>
              <a:defRPr/>
            </a:pPr>
            <a:fld id="{01D945C9-0277-4107-B589-EC55ECD240BC}" type="slidenum">
              <a:rPr lang="en-US" smtClean="0"/>
              <a:pPr>
                <a:defRPr/>
              </a:pPr>
              <a:t>‹#›</a:t>
            </a:fld>
            <a:endParaRPr lang="en-US" dirty="0"/>
          </a:p>
        </p:txBody>
      </p:sp>
      <p:cxnSp>
        <p:nvCxnSpPr>
          <p:cNvPr id="8" name="Straight Connector 7"/>
          <p:cNvCxnSpPr/>
          <p:nvPr userDrawn="1"/>
        </p:nvCxnSpPr>
        <p:spPr>
          <a:xfrm>
            <a:off x="457200" y="1219200"/>
            <a:ext cx="8229600" cy="0"/>
          </a:xfrm>
          <a:prstGeom prst="line">
            <a:avLst/>
          </a:prstGeom>
          <a:ln w="50800" cap="rnd">
            <a:solidFill>
              <a:srgbClr val="009D57"/>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chorCtr="0"/>
          <a:lstStyle>
            <a:lvl1pPr>
              <a:defRPr>
                <a:latin typeface="+mj-lt"/>
              </a:defRPr>
            </a:lvl1p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754563"/>
          </a:xfrm>
        </p:spPr>
        <p:txBody>
          <a:bodyPr/>
          <a:lstStyle>
            <a:lvl1pPr>
              <a:defRPr sz="2800">
                <a:latin typeface="+mj-lt"/>
              </a:defRPr>
            </a:lvl1pPr>
            <a:lvl2pPr>
              <a:defRPr sz="2400">
                <a:latin typeface="+mj-lt"/>
              </a:defRPr>
            </a:lvl2pPr>
            <a:lvl3pPr>
              <a:defRPr sz="2000">
                <a:latin typeface="+mj-lt"/>
              </a:defRPr>
            </a:lvl3pPr>
            <a:lvl4pPr>
              <a:defRPr sz="1800">
                <a:latin typeface="+mj-lt"/>
              </a:defRPr>
            </a:lvl4pPr>
            <a:lvl5pPr>
              <a:defRPr sz="1800">
                <a:latin typeface="+mj-lt"/>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648200" y="1371600"/>
            <a:ext cx="4038600" cy="4754563"/>
          </a:xfrm>
        </p:spPr>
        <p:txBody>
          <a:bodyPr/>
          <a:lstStyle>
            <a:lvl1pPr>
              <a:defRPr sz="2800">
                <a:latin typeface="+mj-lt"/>
              </a:defRPr>
            </a:lvl1pPr>
            <a:lvl2pPr>
              <a:defRPr sz="2400">
                <a:latin typeface="+mj-lt"/>
              </a:defRPr>
            </a:lvl2pPr>
            <a:lvl3pPr>
              <a:defRPr sz="2000">
                <a:latin typeface="+mj-lt"/>
              </a:defRPr>
            </a:lvl3pPr>
            <a:lvl4pPr>
              <a:defRPr sz="1800">
                <a:latin typeface="+mj-lt"/>
              </a:defRPr>
            </a:lvl4pPr>
            <a:lvl5pPr>
              <a:defRPr sz="1800">
                <a:latin typeface="+mj-lt"/>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pic>
        <p:nvPicPr>
          <p:cNvPr id="8" name="Picture 6" descr="Hope-and-Will.jpg"/>
          <p:cNvPicPr>
            <a:picLocks noChangeAspect="1"/>
          </p:cNvPicPr>
          <p:nvPr userDrawn="1"/>
        </p:nvPicPr>
        <p:blipFill>
          <a:blip r:embed="rId2" cstate="screen"/>
          <a:srcRect/>
          <a:stretch>
            <a:fillRect/>
          </a:stretch>
        </p:blipFill>
        <p:spPr bwMode="auto">
          <a:xfrm>
            <a:off x="7269163" y="6299835"/>
            <a:ext cx="1112837" cy="558165"/>
          </a:xfrm>
          <a:prstGeom prst="rect">
            <a:avLst/>
          </a:prstGeom>
          <a:noFill/>
          <a:ln w="9525">
            <a:noFill/>
            <a:miter lim="800000"/>
            <a:headEnd/>
            <a:tailEnd/>
          </a:ln>
        </p:spPr>
      </p:pic>
      <p:sp>
        <p:nvSpPr>
          <p:cNvPr id="9" name="TextBox 8"/>
          <p:cNvSpPr txBox="1"/>
          <p:nvPr userDrawn="1"/>
        </p:nvSpPr>
        <p:spPr>
          <a:xfrm>
            <a:off x="990600" y="6550025"/>
            <a:ext cx="6477000" cy="307975"/>
          </a:xfrm>
          <a:prstGeom prst="rect">
            <a:avLst/>
          </a:prstGeom>
          <a:noFill/>
        </p:spPr>
        <p:txBody>
          <a:bodyPr>
            <a:spAutoFit/>
          </a:bodyPr>
          <a:lstStyle/>
          <a:p>
            <a:pPr algn="r">
              <a:defRPr/>
            </a:pPr>
            <a:r>
              <a:rPr lang="en-US" sz="1400" dirty="0">
                <a:solidFill>
                  <a:schemeClr val="bg1">
                    <a:lumMod val="75000"/>
                  </a:schemeClr>
                </a:solidFill>
                <a:latin typeface="+mj-lt"/>
              </a:rPr>
              <a:t>Children’s Healthcare of Atlanta</a:t>
            </a:r>
          </a:p>
        </p:txBody>
      </p:sp>
      <p:sp>
        <p:nvSpPr>
          <p:cNvPr id="10" name="Slide Number Placeholder 5"/>
          <p:cNvSpPr>
            <a:spLocks noGrp="1"/>
          </p:cNvSpPr>
          <p:nvPr>
            <p:ph type="sldNum" sz="quarter" idx="10"/>
          </p:nvPr>
        </p:nvSpPr>
        <p:spPr>
          <a:xfrm>
            <a:off x="8382000" y="6544310"/>
            <a:ext cx="381000" cy="365125"/>
          </a:xfrm>
        </p:spPr>
        <p:txBody>
          <a:bodyPr/>
          <a:lstStyle>
            <a:lvl1pPr>
              <a:defRPr sz="1100">
                <a:solidFill>
                  <a:schemeClr val="bg1">
                    <a:lumMod val="50000"/>
                  </a:schemeClr>
                </a:solidFill>
                <a:latin typeface="+mj-lt"/>
              </a:defRPr>
            </a:lvl1pPr>
          </a:lstStyle>
          <a:p>
            <a:pPr>
              <a:defRPr/>
            </a:pPr>
            <a:fld id="{01D945C9-0277-4107-B589-EC55ECD240BC}" type="slidenum">
              <a:rPr lang="en-US" smtClean="0"/>
              <a:pPr>
                <a:defRPr/>
              </a:pPr>
              <a:t>‹#›</a:t>
            </a:fld>
            <a:endParaRPr lang="en-US" dirty="0"/>
          </a:p>
        </p:txBody>
      </p:sp>
      <p:cxnSp>
        <p:nvCxnSpPr>
          <p:cNvPr id="11" name="Straight Connector 10"/>
          <p:cNvCxnSpPr/>
          <p:nvPr userDrawn="1"/>
        </p:nvCxnSpPr>
        <p:spPr>
          <a:xfrm>
            <a:off x="457200" y="1219200"/>
            <a:ext cx="8229600" cy="0"/>
          </a:xfrm>
          <a:prstGeom prst="line">
            <a:avLst/>
          </a:prstGeom>
          <a:ln w="50800" cap="rnd">
            <a:solidFill>
              <a:srgbClr val="009D57"/>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chorCtr="0"/>
          <a:lstStyle>
            <a:lvl1pPr>
              <a:defRPr>
                <a:latin typeface="+mj-lt"/>
              </a:defRPr>
            </a:lvl1pPr>
          </a:lstStyle>
          <a:p>
            <a:r>
              <a:rPr lang="en-US" smtClean="0"/>
              <a:t>Click to edit Master title style</a:t>
            </a:r>
            <a:endParaRPr lang="en-US"/>
          </a:p>
        </p:txBody>
      </p:sp>
      <p:cxnSp>
        <p:nvCxnSpPr>
          <p:cNvPr id="7" name="Straight Connector 6"/>
          <p:cNvCxnSpPr/>
          <p:nvPr userDrawn="1"/>
        </p:nvCxnSpPr>
        <p:spPr>
          <a:xfrm>
            <a:off x="457200" y="1219200"/>
            <a:ext cx="8229600" cy="0"/>
          </a:xfrm>
          <a:prstGeom prst="line">
            <a:avLst/>
          </a:prstGeom>
          <a:ln w="50800" cap="rnd">
            <a:solidFill>
              <a:srgbClr val="009D57"/>
            </a:solidFill>
          </a:ln>
        </p:spPr>
        <p:style>
          <a:lnRef idx="1">
            <a:schemeClr val="accent1"/>
          </a:lnRef>
          <a:fillRef idx="0">
            <a:schemeClr val="accent1"/>
          </a:fillRef>
          <a:effectRef idx="0">
            <a:schemeClr val="accent1"/>
          </a:effectRef>
          <a:fontRef idx="minor">
            <a:schemeClr val="tx1"/>
          </a:fontRef>
        </p:style>
      </p:cxnSp>
      <p:sp>
        <p:nvSpPr>
          <p:cNvPr id="3" name="Text Placeholder 2"/>
          <p:cNvSpPr>
            <a:spLocks noGrp="1"/>
          </p:cNvSpPr>
          <p:nvPr>
            <p:ph type="body" idx="1"/>
          </p:nvPr>
        </p:nvSpPr>
        <p:spPr>
          <a:xfrm>
            <a:off x="457200" y="1376608"/>
            <a:ext cx="4040188" cy="715962"/>
          </a:xfrm>
        </p:spPr>
        <p:txBody>
          <a:bodyPr anchor="b">
            <a:noAutofit/>
          </a:bodyPr>
          <a:lstStyle>
            <a:lvl1pPr marL="0" indent="0">
              <a:buNone/>
              <a:defRPr sz="2400" b="1">
                <a:solidFill>
                  <a:srgbClr val="009D57"/>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457200" y="2209800"/>
            <a:ext cx="4040188" cy="4038600"/>
          </a:xfrm>
        </p:spPr>
        <p:txBody>
          <a:bodyPr/>
          <a:lstStyle>
            <a:lvl1pPr>
              <a:defRPr sz="2400">
                <a:latin typeface="+mj-lt"/>
              </a:defRPr>
            </a:lvl1pPr>
            <a:lvl2pPr>
              <a:defRPr sz="2000">
                <a:latin typeface="+mj-lt"/>
              </a:defRPr>
            </a:lvl2pPr>
            <a:lvl3pPr>
              <a:defRPr sz="1800">
                <a:latin typeface="+mj-lt"/>
              </a:defRPr>
            </a:lvl3pPr>
            <a:lvl4pPr>
              <a:defRPr sz="1600">
                <a:latin typeface="+mj-lt"/>
              </a:defRPr>
            </a:lvl4pPr>
            <a:lvl5pPr>
              <a:defRPr sz="1600">
                <a:latin typeface="+mj-lt"/>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5025" y="1376608"/>
            <a:ext cx="4041775" cy="715962"/>
          </a:xfrm>
        </p:spPr>
        <p:txBody>
          <a:bodyPr anchor="b"/>
          <a:lstStyle>
            <a:lvl1pPr marL="0" indent="0">
              <a:buNone/>
              <a:defRPr sz="2400" b="1">
                <a:solidFill>
                  <a:srgbClr val="009D57"/>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209800"/>
            <a:ext cx="4041775" cy="4038600"/>
          </a:xfrm>
        </p:spPr>
        <p:txBody>
          <a:bodyPr/>
          <a:lstStyle>
            <a:lvl1pPr>
              <a:defRPr sz="2400">
                <a:latin typeface="+mj-lt"/>
              </a:defRPr>
            </a:lvl1pPr>
            <a:lvl2pPr>
              <a:defRPr sz="2000">
                <a:latin typeface="+mj-lt"/>
              </a:defRPr>
            </a:lvl2pPr>
            <a:lvl3pPr>
              <a:defRPr sz="1800">
                <a:latin typeface="+mj-lt"/>
              </a:defRPr>
            </a:lvl3pPr>
            <a:lvl4pPr>
              <a:defRPr sz="1600">
                <a:latin typeface="+mj-lt"/>
              </a:defRPr>
            </a:lvl4pPr>
            <a:lvl5pPr>
              <a:defRPr sz="1600">
                <a:latin typeface="+mj-lt"/>
              </a:defRPr>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pic>
        <p:nvPicPr>
          <p:cNvPr id="10" name="Picture 6" descr="Hope-and-Will.jpg"/>
          <p:cNvPicPr>
            <a:picLocks noChangeAspect="1"/>
          </p:cNvPicPr>
          <p:nvPr userDrawn="1"/>
        </p:nvPicPr>
        <p:blipFill>
          <a:blip r:embed="rId2" cstate="screen"/>
          <a:srcRect/>
          <a:stretch>
            <a:fillRect/>
          </a:stretch>
        </p:blipFill>
        <p:spPr bwMode="auto">
          <a:xfrm>
            <a:off x="7269163" y="6299835"/>
            <a:ext cx="1112837" cy="558165"/>
          </a:xfrm>
          <a:prstGeom prst="rect">
            <a:avLst/>
          </a:prstGeom>
          <a:noFill/>
          <a:ln w="9525">
            <a:noFill/>
            <a:miter lim="800000"/>
            <a:headEnd/>
            <a:tailEnd/>
          </a:ln>
        </p:spPr>
      </p:pic>
      <p:sp>
        <p:nvSpPr>
          <p:cNvPr id="11" name="TextBox 10"/>
          <p:cNvSpPr txBox="1"/>
          <p:nvPr userDrawn="1"/>
        </p:nvSpPr>
        <p:spPr>
          <a:xfrm>
            <a:off x="990600" y="6550025"/>
            <a:ext cx="6477000" cy="307975"/>
          </a:xfrm>
          <a:prstGeom prst="rect">
            <a:avLst/>
          </a:prstGeom>
          <a:noFill/>
        </p:spPr>
        <p:txBody>
          <a:bodyPr>
            <a:spAutoFit/>
          </a:bodyPr>
          <a:lstStyle/>
          <a:p>
            <a:pPr algn="r">
              <a:defRPr/>
            </a:pPr>
            <a:r>
              <a:rPr lang="en-US" sz="1400" dirty="0">
                <a:solidFill>
                  <a:schemeClr val="bg1">
                    <a:lumMod val="75000"/>
                  </a:schemeClr>
                </a:solidFill>
                <a:latin typeface="+mj-lt"/>
              </a:rPr>
              <a:t>Children’s Healthcare of Atlanta</a:t>
            </a:r>
          </a:p>
        </p:txBody>
      </p:sp>
      <p:sp>
        <p:nvSpPr>
          <p:cNvPr id="12" name="Slide Number Placeholder 5"/>
          <p:cNvSpPr>
            <a:spLocks noGrp="1"/>
          </p:cNvSpPr>
          <p:nvPr>
            <p:ph type="sldNum" sz="quarter" idx="10"/>
          </p:nvPr>
        </p:nvSpPr>
        <p:spPr>
          <a:xfrm>
            <a:off x="8382000" y="6544310"/>
            <a:ext cx="381000" cy="365125"/>
          </a:xfrm>
        </p:spPr>
        <p:txBody>
          <a:bodyPr/>
          <a:lstStyle>
            <a:lvl1pPr>
              <a:defRPr sz="1100">
                <a:solidFill>
                  <a:schemeClr val="bg1">
                    <a:lumMod val="50000"/>
                  </a:schemeClr>
                </a:solidFill>
                <a:latin typeface="+mj-lt"/>
              </a:defRPr>
            </a:lvl1pPr>
          </a:lstStyle>
          <a:p>
            <a:pPr>
              <a:defRPr/>
            </a:pPr>
            <a:fld id="{01D945C9-0277-4107-B589-EC55ECD240BC}" type="slidenum">
              <a:rPr lang="en-US" smtClean="0"/>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 name="Straight Connector 2"/>
          <p:cNvCxnSpPr/>
          <p:nvPr userDrawn="1"/>
        </p:nvCxnSpPr>
        <p:spPr>
          <a:xfrm>
            <a:off x="457200" y="1219200"/>
            <a:ext cx="8229600" cy="0"/>
          </a:xfrm>
          <a:prstGeom prst="line">
            <a:avLst/>
          </a:prstGeom>
          <a:ln w="50800" cap="rnd">
            <a:solidFill>
              <a:srgbClr val="009D57"/>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nchor="ctr" anchorCtr="0"/>
          <a:lstStyle>
            <a:lvl1pPr>
              <a:defRPr>
                <a:latin typeface="+mj-lt"/>
              </a:defRPr>
            </a:lvl1pPr>
          </a:lstStyle>
          <a:p>
            <a:r>
              <a:rPr lang="en-US" smtClean="0"/>
              <a:t>Click to edit Master title style</a:t>
            </a:r>
            <a:endParaRPr lang="en-US"/>
          </a:p>
        </p:txBody>
      </p:sp>
      <p:pic>
        <p:nvPicPr>
          <p:cNvPr id="6" name="Picture 6" descr="Hope-and-Will.jpg"/>
          <p:cNvPicPr>
            <a:picLocks noChangeAspect="1"/>
          </p:cNvPicPr>
          <p:nvPr userDrawn="1"/>
        </p:nvPicPr>
        <p:blipFill>
          <a:blip r:embed="rId2" cstate="screen"/>
          <a:srcRect/>
          <a:stretch>
            <a:fillRect/>
          </a:stretch>
        </p:blipFill>
        <p:spPr bwMode="auto">
          <a:xfrm>
            <a:off x="7269163" y="6299835"/>
            <a:ext cx="1112837" cy="558165"/>
          </a:xfrm>
          <a:prstGeom prst="rect">
            <a:avLst/>
          </a:prstGeom>
          <a:noFill/>
          <a:ln w="9525">
            <a:noFill/>
            <a:miter lim="800000"/>
            <a:headEnd/>
            <a:tailEnd/>
          </a:ln>
        </p:spPr>
      </p:pic>
      <p:sp>
        <p:nvSpPr>
          <p:cNvPr id="7" name="TextBox 6"/>
          <p:cNvSpPr txBox="1"/>
          <p:nvPr userDrawn="1"/>
        </p:nvSpPr>
        <p:spPr>
          <a:xfrm>
            <a:off x="990600" y="6550025"/>
            <a:ext cx="6477000" cy="307975"/>
          </a:xfrm>
          <a:prstGeom prst="rect">
            <a:avLst/>
          </a:prstGeom>
          <a:noFill/>
        </p:spPr>
        <p:txBody>
          <a:bodyPr>
            <a:spAutoFit/>
          </a:bodyPr>
          <a:lstStyle/>
          <a:p>
            <a:pPr algn="r">
              <a:defRPr/>
            </a:pPr>
            <a:r>
              <a:rPr lang="en-US" sz="1400" dirty="0">
                <a:solidFill>
                  <a:schemeClr val="bg1">
                    <a:lumMod val="75000"/>
                  </a:schemeClr>
                </a:solidFill>
                <a:latin typeface="+mj-lt"/>
              </a:rPr>
              <a:t>Children’s Healthcare of Atlanta</a:t>
            </a:r>
          </a:p>
        </p:txBody>
      </p:sp>
      <p:sp>
        <p:nvSpPr>
          <p:cNvPr id="8" name="Slide Number Placeholder 5"/>
          <p:cNvSpPr>
            <a:spLocks noGrp="1"/>
          </p:cNvSpPr>
          <p:nvPr>
            <p:ph type="sldNum" sz="quarter" idx="10"/>
          </p:nvPr>
        </p:nvSpPr>
        <p:spPr>
          <a:xfrm>
            <a:off x="8382000" y="6544310"/>
            <a:ext cx="381000" cy="365125"/>
          </a:xfrm>
        </p:spPr>
        <p:txBody>
          <a:bodyPr/>
          <a:lstStyle>
            <a:lvl1pPr>
              <a:defRPr sz="1100">
                <a:solidFill>
                  <a:schemeClr val="bg1">
                    <a:lumMod val="50000"/>
                  </a:schemeClr>
                </a:solidFill>
                <a:latin typeface="+mj-lt"/>
              </a:defRPr>
            </a:lvl1pPr>
          </a:lstStyle>
          <a:p>
            <a:pPr>
              <a:defRPr/>
            </a:pPr>
            <a:fld id="{01D945C9-0277-4107-B589-EC55ECD240BC}" type="slidenum">
              <a:rPr lang="en-US" smtClean="0"/>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2_Title Only">
    <p:spTree>
      <p:nvGrpSpPr>
        <p:cNvPr id="1" name=""/>
        <p:cNvGrpSpPr/>
        <p:nvPr/>
      </p:nvGrpSpPr>
      <p:grpSpPr>
        <a:xfrm>
          <a:off x="0" y="0"/>
          <a:ext cx="0" cy="0"/>
          <a:chOff x="0" y="0"/>
          <a:chExt cx="0" cy="0"/>
        </a:xfrm>
      </p:grpSpPr>
      <p:cxnSp>
        <p:nvCxnSpPr>
          <p:cNvPr id="3" name="Straight Connector 2"/>
          <p:cNvCxnSpPr/>
          <p:nvPr userDrawn="1"/>
        </p:nvCxnSpPr>
        <p:spPr>
          <a:xfrm>
            <a:off x="457200" y="1219200"/>
            <a:ext cx="8229600" cy="0"/>
          </a:xfrm>
          <a:prstGeom prst="line">
            <a:avLst/>
          </a:prstGeom>
          <a:ln w="50800" cap="rnd">
            <a:solidFill>
              <a:srgbClr val="009D57"/>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nchor="ctr" anchorCtr="0"/>
          <a:lstStyle>
            <a:lvl1pPr>
              <a:defRPr>
                <a:latin typeface="+mj-lt"/>
              </a:defRPr>
            </a:lvl1pPr>
          </a:lstStyle>
          <a:p>
            <a:r>
              <a:rPr lang="en-US" dirty="0" smtClean="0"/>
              <a:t>Click to edit Master title style</a:t>
            </a:r>
            <a:endParaRPr lang="en-US" dirty="0"/>
          </a:p>
        </p:txBody>
      </p:sp>
      <p:sp>
        <p:nvSpPr>
          <p:cNvPr id="7" name="TextBox 6"/>
          <p:cNvSpPr txBox="1"/>
          <p:nvPr userDrawn="1"/>
        </p:nvSpPr>
        <p:spPr>
          <a:xfrm>
            <a:off x="1752600" y="6550025"/>
            <a:ext cx="6477000" cy="307975"/>
          </a:xfrm>
          <a:prstGeom prst="rect">
            <a:avLst/>
          </a:prstGeom>
          <a:noFill/>
        </p:spPr>
        <p:txBody>
          <a:bodyPr>
            <a:spAutoFit/>
          </a:bodyPr>
          <a:lstStyle/>
          <a:p>
            <a:pPr algn="r">
              <a:defRPr/>
            </a:pPr>
            <a:r>
              <a:rPr lang="en-US" sz="1400" dirty="0">
                <a:solidFill>
                  <a:schemeClr val="bg1">
                    <a:lumMod val="75000"/>
                  </a:schemeClr>
                </a:solidFill>
                <a:latin typeface="+mj-lt"/>
              </a:rPr>
              <a:t>Children’s Healthcare of Atlanta</a:t>
            </a:r>
          </a:p>
        </p:txBody>
      </p:sp>
      <p:sp>
        <p:nvSpPr>
          <p:cNvPr id="8" name="Slide Number Placeholder 5"/>
          <p:cNvSpPr>
            <a:spLocks noGrp="1"/>
          </p:cNvSpPr>
          <p:nvPr>
            <p:ph type="sldNum" sz="quarter" idx="10"/>
          </p:nvPr>
        </p:nvSpPr>
        <p:spPr>
          <a:xfrm>
            <a:off x="8382000" y="6544310"/>
            <a:ext cx="381000" cy="365125"/>
          </a:xfrm>
        </p:spPr>
        <p:txBody>
          <a:bodyPr/>
          <a:lstStyle>
            <a:lvl1pPr>
              <a:defRPr sz="1100">
                <a:solidFill>
                  <a:schemeClr val="bg1">
                    <a:lumMod val="50000"/>
                  </a:schemeClr>
                </a:solidFill>
                <a:latin typeface="+mj-lt"/>
              </a:defRPr>
            </a:lvl1pPr>
          </a:lstStyle>
          <a:p>
            <a:pPr>
              <a:defRPr/>
            </a:pPr>
            <a:fld id="{01D945C9-0277-4107-B589-EC55ECD240BC}" type="slidenum">
              <a:rPr lang="en-US" smtClean="0"/>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4_Title Only">
    <p:spTree>
      <p:nvGrpSpPr>
        <p:cNvPr id="1" name=""/>
        <p:cNvGrpSpPr/>
        <p:nvPr/>
      </p:nvGrpSpPr>
      <p:grpSpPr>
        <a:xfrm>
          <a:off x="0" y="0"/>
          <a:ext cx="0" cy="0"/>
          <a:chOff x="0" y="0"/>
          <a:chExt cx="0" cy="0"/>
        </a:xfrm>
      </p:grpSpPr>
      <p:cxnSp>
        <p:nvCxnSpPr>
          <p:cNvPr id="3" name="Straight Connector 2"/>
          <p:cNvCxnSpPr/>
          <p:nvPr userDrawn="1"/>
        </p:nvCxnSpPr>
        <p:spPr>
          <a:xfrm>
            <a:off x="457200" y="1219200"/>
            <a:ext cx="8229600" cy="0"/>
          </a:xfrm>
          <a:prstGeom prst="line">
            <a:avLst/>
          </a:prstGeom>
          <a:ln w="50800" cap="rnd">
            <a:solidFill>
              <a:srgbClr val="009D57"/>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nchor="ctr" anchorCtr="0"/>
          <a:lstStyle>
            <a:lvl1pPr>
              <a:defRPr>
                <a:latin typeface="+mj-lt"/>
              </a:defRPr>
            </a:lvl1pPr>
          </a:lstStyle>
          <a:p>
            <a:r>
              <a:rPr lang="en-US" smtClean="0"/>
              <a:t>Click to edit Master title style</a:t>
            </a:r>
            <a:endParaRPr lang="en-US"/>
          </a:p>
        </p:txBody>
      </p:sp>
      <p:sp>
        <p:nvSpPr>
          <p:cNvPr id="8" name="Slide Number Placeholder 5"/>
          <p:cNvSpPr>
            <a:spLocks noGrp="1"/>
          </p:cNvSpPr>
          <p:nvPr>
            <p:ph type="sldNum" sz="quarter" idx="10"/>
          </p:nvPr>
        </p:nvSpPr>
        <p:spPr>
          <a:xfrm>
            <a:off x="8382000" y="6544310"/>
            <a:ext cx="381000" cy="365125"/>
          </a:xfrm>
        </p:spPr>
        <p:txBody>
          <a:bodyPr/>
          <a:lstStyle>
            <a:lvl1pPr>
              <a:defRPr sz="1100">
                <a:solidFill>
                  <a:schemeClr val="bg1">
                    <a:lumMod val="50000"/>
                  </a:schemeClr>
                </a:solidFill>
                <a:latin typeface="+mj-lt"/>
              </a:defRPr>
            </a:lvl1pPr>
          </a:lstStyle>
          <a:p>
            <a:pPr>
              <a:defRPr/>
            </a:pPr>
            <a:fld id="{01D945C9-0277-4107-B589-EC55ECD240BC}" type="slidenum">
              <a:rPr lang="en-US" smtClean="0"/>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pic>
        <p:nvPicPr>
          <p:cNvPr id="4" name="Picture 6" descr="Hope-and-Will.jpg"/>
          <p:cNvPicPr>
            <a:picLocks noChangeAspect="1"/>
          </p:cNvPicPr>
          <p:nvPr userDrawn="1"/>
        </p:nvPicPr>
        <p:blipFill>
          <a:blip r:embed="rId2" cstate="screen"/>
          <a:srcRect/>
          <a:stretch>
            <a:fillRect/>
          </a:stretch>
        </p:blipFill>
        <p:spPr bwMode="auto">
          <a:xfrm>
            <a:off x="7269163" y="6299835"/>
            <a:ext cx="1112837" cy="558165"/>
          </a:xfrm>
          <a:prstGeom prst="rect">
            <a:avLst/>
          </a:prstGeom>
          <a:noFill/>
          <a:ln w="9525">
            <a:noFill/>
            <a:miter lim="800000"/>
            <a:headEnd/>
            <a:tailEnd/>
          </a:ln>
        </p:spPr>
      </p:pic>
      <p:sp>
        <p:nvSpPr>
          <p:cNvPr id="5" name="TextBox 4"/>
          <p:cNvSpPr txBox="1"/>
          <p:nvPr userDrawn="1"/>
        </p:nvSpPr>
        <p:spPr>
          <a:xfrm>
            <a:off x="990600" y="6550025"/>
            <a:ext cx="6477000" cy="307975"/>
          </a:xfrm>
          <a:prstGeom prst="rect">
            <a:avLst/>
          </a:prstGeom>
          <a:noFill/>
        </p:spPr>
        <p:txBody>
          <a:bodyPr>
            <a:spAutoFit/>
          </a:bodyPr>
          <a:lstStyle/>
          <a:p>
            <a:pPr algn="r">
              <a:defRPr/>
            </a:pPr>
            <a:r>
              <a:rPr lang="en-US" sz="1400" dirty="0">
                <a:solidFill>
                  <a:schemeClr val="bg1">
                    <a:lumMod val="75000"/>
                  </a:schemeClr>
                </a:solidFill>
                <a:latin typeface="+mj-lt"/>
              </a:rPr>
              <a:t>Children’s Healthcare of Atlanta</a:t>
            </a:r>
          </a:p>
        </p:txBody>
      </p:sp>
      <p:sp>
        <p:nvSpPr>
          <p:cNvPr id="6" name="Slide Number Placeholder 5"/>
          <p:cNvSpPr>
            <a:spLocks noGrp="1"/>
          </p:cNvSpPr>
          <p:nvPr>
            <p:ph type="sldNum" sz="quarter" idx="10"/>
          </p:nvPr>
        </p:nvSpPr>
        <p:spPr>
          <a:xfrm>
            <a:off x="8382000" y="6544310"/>
            <a:ext cx="381000" cy="365125"/>
          </a:xfrm>
        </p:spPr>
        <p:txBody>
          <a:bodyPr/>
          <a:lstStyle>
            <a:lvl1pPr>
              <a:defRPr sz="1100">
                <a:solidFill>
                  <a:schemeClr val="bg1">
                    <a:lumMod val="50000"/>
                  </a:schemeClr>
                </a:solidFill>
                <a:latin typeface="+mj-lt"/>
              </a:defRPr>
            </a:lvl1pPr>
          </a:lstStyle>
          <a:p>
            <a:pPr>
              <a:defRPr/>
            </a:pPr>
            <a:fld id="{01D945C9-0277-4107-B589-EC55ECD240BC}" type="slidenum">
              <a:rPr lang="en-US" smtClean="0"/>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7" name="TextBox 6"/>
          <p:cNvSpPr txBox="1"/>
          <p:nvPr userDrawn="1"/>
        </p:nvSpPr>
        <p:spPr>
          <a:xfrm>
            <a:off x="1752600" y="6550025"/>
            <a:ext cx="6477000" cy="307975"/>
          </a:xfrm>
          <a:prstGeom prst="rect">
            <a:avLst/>
          </a:prstGeom>
          <a:noFill/>
        </p:spPr>
        <p:txBody>
          <a:bodyPr>
            <a:spAutoFit/>
          </a:bodyPr>
          <a:lstStyle/>
          <a:p>
            <a:pPr algn="r">
              <a:defRPr/>
            </a:pPr>
            <a:r>
              <a:rPr lang="en-US" sz="1400" dirty="0">
                <a:solidFill>
                  <a:schemeClr val="bg1">
                    <a:lumMod val="75000"/>
                  </a:schemeClr>
                </a:solidFill>
                <a:latin typeface="+mj-lt"/>
              </a:rPr>
              <a:t>Children’s Healthcare of Atlanta</a:t>
            </a:r>
          </a:p>
        </p:txBody>
      </p:sp>
      <p:sp>
        <p:nvSpPr>
          <p:cNvPr id="8" name="Slide Number Placeholder 5"/>
          <p:cNvSpPr>
            <a:spLocks noGrp="1"/>
          </p:cNvSpPr>
          <p:nvPr>
            <p:ph type="sldNum" sz="quarter" idx="10"/>
          </p:nvPr>
        </p:nvSpPr>
        <p:spPr>
          <a:xfrm>
            <a:off x="8382000" y="6544310"/>
            <a:ext cx="381000" cy="365125"/>
          </a:xfrm>
        </p:spPr>
        <p:txBody>
          <a:bodyPr/>
          <a:lstStyle>
            <a:lvl1pPr>
              <a:defRPr sz="1100">
                <a:solidFill>
                  <a:schemeClr val="bg1">
                    <a:lumMod val="50000"/>
                  </a:schemeClr>
                </a:solidFill>
                <a:latin typeface="+mj-lt"/>
              </a:defRPr>
            </a:lvl1pPr>
          </a:lstStyle>
          <a:p>
            <a:pPr>
              <a:defRPr/>
            </a:pPr>
            <a:fld id="{01D945C9-0277-4107-B589-EC55ECD240BC}" type="slidenum">
              <a:rPr lang="en-US" smtClean="0"/>
              <a:pPr>
                <a:defRPr/>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1524000" y="228600"/>
            <a:ext cx="7620000" cy="762000"/>
          </a:xfrm>
        </p:spPr>
        <p:txBody>
          <a:bodyPr/>
          <a:lstStyle/>
          <a:p>
            <a:r>
              <a:rPr lang="en-US" smtClean="0"/>
              <a:t>Click to edit Master title style</a:t>
            </a:r>
            <a:endParaRPr lang="en-US"/>
          </a:p>
        </p:txBody>
      </p:sp>
      <p:sp>
        <p:nvSpPr>
          <p:cNvPr id="3" name="ClipArt Placeholder 2"/>
          <p:cNvSpPr>
            <a:spLocks noGrp="1"/>
          </p:cNvSpPr>
          <p:nvPr>
            <p:ph type="clipArt" sz="half" idx="1"/>
          </p:nvPr>
        </p:nvSpPr>
        <p:spPr>
          <a:xfrm>
            <a:off x="685800" y="1905000"/>
            <a:ext cx="3810000" cy="3962400"/>
          </a:xfrm>
        </p:spPr>
        <p:txBody>
          <a:bodyPr/>
          <a:lstStyle/>
          <a:p>
            <a:pPr lvl="0"/>
            <a:endParaRPr lang="en-US" noProof="0" dirty="0"/>
          </a:p>
        </p:txBody>
      </p:sp>
      <p:sp>
        <p:nvSpPr>
          <p:cNvPr id="4" name="Text Placeholder 3"/>
          <p:cNvSpPr>
            <a:spLocks noGrp="1"/>
          </p:cNvSpPr>
          <p:nvPr>
            <p:ph type="body" sz="half" idx="2"/>
          </p:nvPr>
        </p:nvSpPr>
        <p:spPr>
          <a:xfrm>
            <a:off x="4648200" y="1905000"/>
            <a:ext cx="3810000" cy="3962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2209800" y="6400800"/>
            <a:ext cx="1905000" cy="457200"/>
          </a:xfrm>
          <a:prstGeom prst="rect">
            <a:avLst/>
          </a:prstGeom>
        </p:spPr>
        <p:txBody>
          <a:bodyPr/>
          <a:lstStyle>
            <a:lvl1pPr>
              <a:defRPr>
                <a:ea typeface="ＭＳ Ｐゴシック" pitchFamily="34" charset="-128"/>
                <a:cs typeface="+mn-cs"/>
              </a:defRPr>
            </a:lvl1pPr>
          </a:lstStyle>
          <a:p>
            <a:pPr>
              <a:defRPr/>
            </a:pPr>
            <a:endParaRPr lang="en-US" dirty="0"/>
          </a:p>
        </p:txBody>
      </p:sp>
      <p:sp>
        <p:nvSpPr>
          <p:cNvPr id="6" name="Footer Placeholder 5"/>
          <p:cNvSpPr>
            <a:spLocks noGrp="1"/>
          </p:cNvSpPr>
          <p:nvPr>
            <p:ph type="ftr" sz="quarter" idx="11"/>
          </p:nvPr>
        </p:nvSpPr>
        <p:spPr>
          <a:xfrm>
            <a:off x="4191000" y="6400800"/>
            <a:ext cx="2895600" cy="457200"/>
          </a:xfrm>
          <a:prstGeom prst="rect">
            <a:avLst/>
          </a:prstGeom>
        </p:spPr>
        <p:txBody>
          <a:bodyPr/>
          <a:lstStyle>
            <a:lvl1pPr>
              <a:defRPr>
                <a:ea typeface="ＭＳ Ｐゴシック" pitchFamily="34" charset="-128"/>
                <a:cs typeface="+mn-cs"/>
              </a:defRPr>
            </a:lvl1pPr>
          </a:lstStyle>
          <a:p>
            <a:pPr>
              <a:defRPr/>
            </a:pPr>
            <a:endParaRPr lang="en-US" dirty="0"/>
          </a:p>
        </p:txBody>
      </p:sp>
      <p:sp>
        <p:nvSpPr>
          <p:cNvPr id="7" name="Slide Number Placeholder 6"/>
          <p:cNvSpPr>
            <a:spLocks noGrp="1"/>
          </p:cNvSpPr>
          <p:nvPr>
            <p:ph type="sldNum" sz="quarter" idx="12"/>
          </p:nvPr>
        </p:nvSpPr>
        <p:spPr>
          <a:xfrm>
            <a:off x="7162800" y="6324600"/>
            <a:ext cx="1905000" cy="457200"/>
          </a:xfrm>
        </p:spPr>
        <p:txBody>
          <a:bodyPr/>
          <a:lstStyle>
            <a:lvl1pPr>
              <a:defRPr/>
            </a:lvl1pPr>
          </a:lstStyle>
          <a:p>
            <a:pPr>
              <a:defRPr/>
            </a:pPr>
            <a:fld id="{36A25779-B8A7-4B12-861E-B8CE40622900}" type="slidenum">
              <a:rPr lang="en-US"/>
              <a:pPr>
                <a:defRPr/>
              </a:pPr>
              <a:t>‹#›</a:t>
            </a:fld>
            <a:endParaRPr lang="en-US" sz="1400" dirty="0">
              <a:latin typeface="Times New Roman" pitchFamily="18"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152400"/>
            <a:ext cx="8229600" cy="990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smtClean="0"/>
              <a:t>Click to edit Master title style</a:t>
            </a:r>
          </a:p>
        </p:txBody>
      </p:sp>
      <p:sp>
        <p:nvSpPr>
          <p:cNvPr id="1027" name="Text Placeholder 2"/>
          <p:cNvSpPr>
            <a:spLocks noGrp="1"/>
          </p:cNvSpPr>
          <p:nvPr>
            <p:ph type="body" idx="1"/>
          </p:nvPr>
        </p:nvSpPr>
        <p:spPr bwMode="auto">
          <a:xfrm>
            <a:off x="457200" y="1295400"/>
            <a:ext cx="8229600" cy="48307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6" name="Slide Number Placeholder 5"/>
          <p:cNvSpPr>
            <a:spLocks noGrp="1"/>
          </p:cNvSpPr>
          <p:nvPr>
            <p:ph type="sldNum" sz="quarter" idx="4"/>
          </p:nvPr>
        </p:nvSpPr>
        <p:spPr>
          <a:xfrm>
            <a:off x="8305800" y="6356350"/>
            <a:ext cx="381000" cy="365125"/>
          </a:xfrm>
          <a:prstGeom prst="rect">
            <a:avLst/>
          </a:prstGeom>
        </p:spPr>
        <p:txBody>
          <a:bodyPr vert="horz" lIns="91440" tIns="45720" rIns="91440" bIns="45720" rtlCol="0" anchor="ctr"/>
          <a:lstStyle>
            <a:lvl1pPr algn="r" fontAlgn="auto">
              <a:spcBef>
                <a:spcPts val="0"/>
              </a:spcBef>
              <a:spcAft>
                <a:spcPts val="0"/>
              </a:spcAft>
              <a:defRPr sz="1000" b="0">
                <a:solidFill>
                  <a:schemeClr val="bg1">
                    <a:lumMod val="50000"/>
                  </a:schemeClr>
                </a:solidFill>
                <a:latin typeface="Archer Semibold" pitchFamily="50" charset="0"/>
              </a:defRPr>
            </a:lvl1pPr>
          </a:lstStyle>
          <a:p>
            <a:pPr>
              <a:defRPr/>
            </a:pPr>
            <a:fld id="{D423F924-74D2-45C3-9581-52674854CC09}"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01" r:id="rId1"/>
    <p:sldLayoutId id="2147483715" r:id="rId2"/>
    <p:sldLayoutId id="2147483718" r:id="rId3"/>
    <p:sldLayoutId id="2147483705" r:id="rId4"/>
    <p:sldLayoutId id="2147483706" r:id="rId5"/>
    <p:sldLayoutId id="2147483707" r:id="rId6"/>
    <p:sldLayoutId id="2147483708" r:id="rId7"/>
    <p:sldLayoutId id="2147483709" r:id="rId8"/>
    <p:sldLayoutId id="2147483716" r:id="rId9"/>
    <p:sldLayoutId id="2147483719" r:id="rId10"/>
    <p:sldLayoutId id="2147483710" r:id="rId11"/>
    <p:sldLayoutId id="2147483717" r:id="rId12"/>
    <p:sldLayoutId id="2147483714" r:id="rId13"/>
    <p:sldLayoutId id="2147483723" r:id="rId14"/>
    <p:sldLayoutId id="2147483725" r:id="rId15"/>
  </p:sldLayoutIdLst>
  <p:hf hdr="0" ftr="0" dt="0"/>
  <p:txStyles>
    <p:titleStyle>
      <a:lvl1pPr algn="l" rtl="0" eaLnBrk="0" fontAlgn="base" hangingPunct="0">
        <a:spcBef>
          <a:spcPct val="0"/>
        </a:spcBef>
        <a:spcAft>
          <a:spcPct val="0"/>
        </a:spcAft>
        <a:defRPr sz="3600" kern="1200">
          <a:solidFill>
            <a:srgbClr val="009D57"/>
          </a:solidFill>
          <a:latin typeface="+mj-lt"/>
          <a:ea typeface="+mj-ea"/>
          <a:cs typeface="+mj-cs"/>
        </a:defRPr>
      </a:lvl1pPr>
      <a:lvl2pPr algn="l" rtl="0" eaLnBrk="0" fontAlgn="base" hangingPunct="0">
        <a:spcBef>
          <a:spcPct val="0"/>
        </a:spcBef>
        <a:spcAft>
          <a:spcPct val="0"/>
        </a:spcAft>
        <a:defRPr sz="3600">
          <a:solidFill>
            <a:srgbClr val="009D57"/>
          </a:solidFill>
          <a:latin typeface="Archer Semibold" pitchFamily="50" charset="0"/>
        </a:defRPr>
      </a:lvl2pPr>
      <a:lvl3pPr algn="l" rtl="0" eaLnBrk="0" fontAlgn="base" hangingPunct="0">
        <a:spcBef>
          <a:spcPct val="0"/>
        </a:spcBef>
        <a:spcAft>
          <a:spcPct val="0"/>
        </a:spcAft>
        <a:defRPr sz="3600">
          <a:solidFill>
            <a:srgbClr val="009D57"/>
          </a:solidFill>
          <a:latin typeface="Archer Semibold" pitchFamily="50" charset="0"/>
        </a:defRPr>
      </a:lvl3pPr>
      <a:lvl4pPr algn="l" rtl="0" eaLnBrk="0" fontAlgn="base" hangingPunct="0">
        <a:spcBef>
          <a:spcPct val="0"/>
        </a:spcBef>
        <a:spcAft>
          <a:spcPct val="0"/>
        </a:spcAft>
        <a:defRPr sz="3600">
          <a:solidFill>
            <a:srgbClr val="009D57"/>
          </a:solidFill>
          <a:latin typeface="Archer Semibold" pitchFamily="50" charset="0"/>
        </a:defRPr>
      </a:lvl4pPr>
      <a:lvl5pPr algn="l" rtl="0" eaLnBrk="0" fontAlgn="base" hangingPunct="0">
        <a:spcBef>
          <a:spcPct val="0"/>
        </a:spcBef>
        <a:spcAft>
          <a:spcPct val="0"/>
        </a:spcAft>
        <a:defRPr sz="3600">
          <a:solidFill>
            <a:srgbClr val="009D57"/>
          </a:solidFill>
          <a:latin typeface="Archer Semibold" pitchFamily="50" charset="0"/>
        </a:defRPr>
      </a:lvl5pPr>
      <a:lvl6pPr marL="457200" algn="l" rtl="0" fontAlgn="base">
        <a:spcBef>
          <a:spcPct val="0"/>
        </a:spcBef>
        <a:spcAft>
          <a:spcPct val="0"/>
        </a:spcAft>
        <a:defRPr sz="3600">
          <a:solidFill>
            <a:srgbClr val="009D57"/>
          </a:solidFill>
          <a:latin typeface="Archer Semibold" pitchFamily="50" charset="0"/>
        </a:defRPr>
      </a:lvl6pPr>
      <a:lvl7pPr marL="914400" algn="l" rtl="0" fontAlgn="base">
        <a:spcBef>
          <a:spcPct val="0"/>
        </a:spcBef>
        <a:spcAft>
          <a:spcPct val="0"/>
        </a:spcAft>
        <a:defRPr sz="3600">
          <a:solidFill>
            <a:srgbClr val="009D57"/>
          </a:solidFill>
          <a:latin typeface="Archer Semibold" pitchFamily="50" charset="0"/>
        </a:defRPr>
      </a:lvl7pPr>
      <a:lvl8pPr marL="1371600" algn="l" rtl="0" fontAlgn="base">
        <a:spcBef>
          <a:spcPct val="0"/>
        </a:spcBef>
        <a:spcAft>
          <a:spcPct val="0"/>
        </a:spcAft>
        <a:defRPr sz="3600">
          <a:solidFill>
            <a:srgbClr val="009D57"/>
          </a:solidFill>
          <a:latin typeface="Archer Semibold" pitchFamily="50" charset="0"/>
        </a:defRPr>
      </a:lvl8pPr>
      <a:lvl9pPr marL="1828800" algn="l" rtl="0" fontAlgn="base">
        <a:spcBef>
          <a:spcPct val="0"/>
        </a:spcBef>
        <a:spcAft>
          <a:spcPct val="0"/>
        </a:spcAft>
        <a:defRPr sz="3600">
          <a:solidFill>
            <a:srgbClr val="009D57"/>
          </a:solidFill>
          <a:latin typeface="Archer Semibold" pitchFamily="50" charset="0"/>
        </a:defRPr>
      </a:lvl9pPr>
    </p:titleStyle>
    <p:bodyStyle>
      <a:lvl1pPr marL="342900" indent="-342900" algn="l" rtl="0" eaLnBrk="0" fontAlgn="base" hangingPunct="0">
        <a:spcBef>
          <a:spcPct val="20000"/>
        </a:spcBef>
        <a:spcAft>
          <a:spcPct val="0"/>
        </a:spcAft>
        <a:buFont typeface="Arial" charset="0"/>
        <a:buChar char="•"/>
        <a:defRPr sz="2800" kern="1200">
          <a:solidFill>
            <a:srgbClr val="262626"/>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400" kern="1200">
          <a:solidFill>
            <a:srgbClr val="262626"/>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000" kern="1200">
          <a:solidFill>
            <a:srgbClr val="262626"/>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1800" kern="1200">
          <a:solidFill>
            <a:srgbClr val="262626"/>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1800" kern="1200">
          <a:solidFill>
            <a:srgbClr val="262626"/>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3"/>
          <p:cNvSpPr>
            <a:spLocks noGrp="1"/>
          </p:cNvSpPr>
          <p:nvPr>
            <p:ph type="ctrTitle"/>
          </p:nvPr>
        </p:nvSpPr>
        <p:spPr>
          <a:xfrm>
            <a:off x="685800" y="2187575"/>
            <a:ext cx="7772400" cy="1470025"/>
          </a:xfrm>
        </p:spPr>
        <p:txBody>
          <a:bodyPr>
            <a:normAutofit/>
          </a:bodyPr>
          <a:lstStyle/>
          <a:p>
            <a:pPr eaLnBrk="1" hangingPunct="1"/>
            <a:r>
              <a:rPr lang="en-US" sz="4000" dirty="0" smtClean="0"/>
              <a:t>Children’s Leader Development Plan</a:t>
            </a:r>
          </a:p>
        </p:txBody>
      </p:sp>
      <p:sp>
        <p:nvSpPr>
          <p:cNvPr id="5" name="Subtitle 4"/>
          <p:cNvSpPr>
            <a:spLocks noGrp="1"/>
          </p:cNvSpPr>
          <p:nvPr>
            <p:ph type="subTitle" idx="1"/>
          </p:nvPr>
        </p:nvSpPr>
        <p:spPr>
          <a:xfrm>
            <a:off x="685800" y="3886200"/>
            <a:ext cx="6248400" cy="914400"/>
          </a:xfrm>
        </p:spPr>
        <p:txBody>
          <a:bodyPr/>
          <a:lstStyle/>
          <a:p>
            <a:pPr eaLnBrk="1" hangingPunct="1">
              <a:buFont typeface="Arial" pitchFamily="34" charset="0"/>
              <a:buNone/>
              <a:defRPr/>
            </a:pPr>
            <a:r>
              <a:rPr lang="en-US" dirty="0" smtClean="0"/>
              <a:t>2013</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2857500" y="1343025"/>
            <a:ext cx="5791200" cy="5029200"/>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381000" y="304800"/>
            <a:ext cx="6858000" cy="914400"/>
          </a:xfrm>
        </p:spPr>
        <p:txBody>
          <a:bodyPr/>
          <a:lstStyle/>
          <a:p>
            <a:r>
              <a:rPr lang="en-US" sz="3000" dirty="0" smtClean="0"/>
              <a:t>Previous Leadership Development Model</a:t>
            </a:r>
            <a:endParaRPr lang="en-US" sz="3000" dirty="0"/>
          </a:p>
        </p:txBody>
      </p:sp>
      <p:graphicFrame>
        <p:nvGraphicFramePr>
          <p:cNvPr id="5" name="Content Placeholder 4"/>
          <p:cNvGraphicFramePr>
            <a:graphicFrameLocks noGrp="1"/>
          </p:cNvGraphicFramePr>
          <p:nvPr>
            <p:ph idx="1"/>
          </p:nvPr>
        </p:nvGraphicFramePr>
        <p:xfrm>
          <a:off x="1752600" y="1571625"/>
          <a:ext cx="81534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6" name="TextBox 15"/>
          <p:cNvSpPr txBox="1"/>
          <p:nvPr/>
        </p:nvSpPr>
        <p:spPr>
          <a:xfrm>
            <a:off x="304800" y="2057400"/>
            <a:ext cx="2362201" cy="3539430"/>
          </a:xfrm>
          <a:prstGeom prst="rect">
            <a:avLst/>
          </a:prstGeom>
          <a:noFill/>
          <a:ln w="28575">
            <a:solidFill>
              <a:srgbClr val="009D57"/>
            </a:solidFill>
          </a:ln>
        </p:spPr>
        <p:txBody>
          <a:bodyPr wrap="square" rtlCol="0">
            <a:spAutoFit/>
          </a:bodyPr>
          <a:lstStyle/>
          <a:p>
            <a:pPr algn="ctr"/>
            <a:r>
              <a:rPr lang="en-US" sz="1600" dirty="0" smtClean="0">
                <a:latin typeface="+mn-lt"/>
              </a:rPr>
              <a:t>Children’s previous leadership model served us well as we introduced Center for Leadership and the first phase to leader development.</a:t>
            </a:r>
          </a:p>
          <a:p>
            <a:endParaRPr lang="en-US" sz="1600" dirty="0" smtClean="0">
              <a:latin typeface="+mn-lt"/>
            </a:endParaRPr>
          </a:p>
          <a:p>
            <a:pPr algn="ctr"/>
            <a:r>
              <a:rPr lang="en-US" sz="1600" dirty="0" smtClean="0">
                <a:latin typeface="+mn-lt"/>
              </a:rPr>
              <a:t>To build on and refresh our model, it was critical to look at how we might better address ongoing annual development and continue to prepare our leaders of the future. </a:t>
            </a:r>
            <a:endParaRPr lang="en-US" sz="1600" dirty="0">
              <a:latin typeface="+mn-lt"/>
            </a:endParaRPr>
          </a:p>
        </p:txBody>
      </p:sp>
      <p:sp>
        <p:nvSpPr>
          <p:cNvPr id="17" name="Slide Number Placeholder 16"/>
          <p:cNvSpPr>
            <a:spLocks noGrp="1"/>
          </p:cNvSpPr>
          <p:nvPr>
            <p:ph type="sldNum" sz="quarter" idx="10"/>
          </p:nvPr>
        </p:nvSpPr>
        <p:spPr/>
        <p:txBody>
          <a:bodyPr/>
          <a:lstStyle/>
          <a:p>
            <a:pPr>
              <a:defRPr/>
            </a:pPr>
            <a:fld id="{01D945C9-0277-4107-B589-EC55ECD240BC}" type="slidenum">
              <a:rPr lang="en-US" smtClean="0"/>
              <a:pPr>
                <a:defRPr/>
              </a:pPr>
              <a:t>2</a:t>
            </a:fld>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90600"/>
          </a:xfrm>
        </p:spPr>
        <p:txBody>
          <a:bodyPr/>
          <a:lstStyle/>
          <a:p>
            <a:r>
              <a:rPr lang="en-US" sz="3000" dirty="0" smtClean="0"/>
              <a:t>2013 Leader Development Plan</a:t>
            </a:r>
            <a:endParaRPr lang="en-US" sz="3000" dirty="0"/>
          </a:p>
        </p:txBody>
      </p:sp>
      <p:sp>
        <p:nvSpPr>
          <p:cNvPr id="10" name="Isosceles Triangle 9"/>
          <p:cNvSpPr/>
          <p:nvPr/>
        </p:nvSpPr>
        <p:spPr>
          <a:xfrm>
            <a:off x="762603" y="1276350"/>
            <a:ext cx="7543800" cy="914400"/>
          </a:xfrm>
          <a:prstGeom prst="triangl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bg1"/>
                </a:solidFill>
              </a:rPr>
              <a:t>Children’s Leadership Development</a:t>
            </a:r>
            <a:endParaRPr lang="en-US" b="1" dirty="0">
              <a:solidFill>
                <a:schemeClr val="bg1"/>
              </a:solidFill>
            </a:endParaRPr>
          </a:p>
        </p:txBody>
      </p:sp>
      <p:sp>
        <p:nvSpPr>
          <p:cNvPr id="11" name="Rectangle 10"/>
          <p:cNvSpPr/>
          <p:nvPr/>
        </p:nvSpPr>
        <p:spPr>
          <a:xfrm>
            <a:off x="3343275" y="2257425"/>
            <a:ext cx="2412340" cy="3505200"/>
          </a:xfrm>
          <a:prstGeom prst="rect">
            <a:avLst/>
          </a:prstGeom>
          <a:solidFill>
            <a:srgbClr val="009D57"/>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600" b="1" dirty="0" smtClean="0">
                <a:solidFill>
                  <a:schemeClr val="bg1"/>
                </a:solidFill>
              </a:rPr>
              <a:t>Leadership Now</a:t>
            </a:r>
          </a:p>
          <a:p>
            <a:pPr algn="ctr"/>
            <a:r>
              <a:rPr lang="en-US" sz="1300" dirty="0" smtClean="0">
                <a:solidFill>
                  <a:schemeClr val="bg1"/>
                </a:solidFill>
              </a:rPr>
              <a:t>(Annual Development)</a:t>
            </a:r>
          </a:p>
          <a:p>
            <a:endParaRPr lang="en-US" sz="1400" dirty="0" smtClean="0">
              <a:solidFill>
                <a:schemeClr val="bg1"/>
              </a:solidFill>
            </a:endParaRPr>
          </a:p>
          <a:p>
            <a:pPr>
              <a:buFont typeface="Arial" pitchFamily="34" charset="0"/>
              <a:buChar char="•"/>
            </a:pPr>
            <a:r>
              <a:rPr lang="en-US" sz="1400" dirty="0" smtClean="0">
                <a:solidFill>
                  <a:schemeClr val="bg1"/>
                </a:solidFill>
              </a:rPr>
              <a:t> </a:t>
            </a:r>
            <a:r>
              <a:rPr lang="en-US" sz="1600" dirty="0" smtClean="0">
                <a:solidFill>
                  <a:schemeClr val="bg1"/>
                </a:solidFill>
              </a:rPr>
              <a:t>Leader Series </a:t>
            </a:r>
          </a:p>
          <a:p>
            <a:r>
              <a:rPr lang="en-US" sz="1200" dirty="0" smtClean="0">
                <a:solidFill>
                  <a:schemeClr val="bg1"/>
                </a:solidFill>
              </a:rPr>
              <a:t>  (3 hours/year)</a:t>
            </a:r>
          </a:p>
          <a:p>
            <a:pPr>
              <a:buFont typeface="Arial" pitchFamily="34" charset="0"/>
              <a:buChar char="•"/>
            </a:pPr>
            <a:endParaRPr lang="en-US" sz="1400" dirty="0" smtClean="0">
              <a:solidFill>
                <a:schemeClr val="bg1"/>
              </a:solidFill>
            </a:endParaRPr>
          </a:p>
          <a:p>
            <a:pPr>
              <a:buFont typeface="Arial" pitchFamily="34" charset="0"/>
              <a:buChar char="•"/>
            </a:pPr>
            <a:r>
              <a:rPr lang="en-US" sz="1400" dirty="0" smtClean="0">
                <a:solidFill>
                  <a:schemeClr val="bg1"/>
                </a:solidFill>
              </a:rPr>
              <a:t> </a:t>
            </a:r>
            <a:r>
              <a:rPr lang="en-US" sz="1600" dirty="0" smtClean="0">
                <a:solidFill>
                  <a:schemeClr val="bg1"/>
                </a:solidFill>
              </a:rPr>
              <a:t>Take Out Training* </a:t>
            </a:r>
          </a:p>
          <a:p>
            <a:r>
              <a:rPr lang="en-US" sz="1200" dirty="0" smtClean="0">
                <a:solidFill>
                  <a:schemeClr val="bg1"/>
                </a:solidFill>
              </a:rPr>
              <a:t>  (3 hours/year)</a:t>
            </a:r>
          </a:p>
          <a:p>
            <a:pPr>
              <a:buFont typeface="Arial" pitchFamily="34" charset="0"/>
              <a:buChar char="•"/>
            </a:pPr>
            <a:endParaRPr lang="en-US" sz="1400" dirty="0" smtClean="0">
              <a:solidFill>
                <a:schemeClr val="bg1"/>
              </a:solidFill>
            </a:endParaRPr>
          </a:p>
          <a:p>
            <a:pPr>
              <a:buFont typeface="Arial" pitchFamily="34" charset="0"/>
              <a:buChar char="•"/>
            </a:pPr>
            <a:r>
              <a:rPr lang="en-US" sz="1400" dirty="0" smtClean="0">
                <a:solidFill>
                  <a:schemeClr val="bg1"/>
                </a:solidFill>
              </a:rPr>
              <a:t> </a:t>
            </a:r>
            <a:r>
              <a:rPr lang="en-US" sz="1600" dirty="0" smtClean="0">
                <a:solidFill>
                  <a:schemeClr val="bg1"/>
                </a:solidFill>
              </a:rPr>
              <a:t>All Manager Meeting </a:t>
            </a:r>
          </a:p>
          <a:p>
            <a:r>
              <a:rPr lang="en-US" sz="1400" dirty="0" smtClean="0">
                <a:solidFill>
                  <a:schemeClr val="bg1"/>
                </a:solidFill>
              </a:rPr>
              <a:t>  </a:t>
            </a:r>
            <a:r>
              <a:rPr lang="en-US" sz="1200" dirty="0" smtClean="0">
                <a:solidFill>
                  <a:schemeClr val="bg1"/>
                </a:solidFill>
              </a:rPr>
              <a:t>(6 hours/year)</a:t>
            </a:r>
          </a:p>
          <a:p>
            <a:pPr>
              <a:buFont typeface="Arial" pitchFamily="34" charset="0"/>
              <a:buChar char="•"/>
            </a:pPr>
            <a:endParaRPr lang="en-US" sz="1400" dirty="0" smtClean="0">
              <a:solidFill>
                <a:schemeClr val="bg1"/>
              </a:solidFill>
            </a:endParaRPr>
          </a:p>
          <a:p>
            <a:pPr>
              <a:buFont typeface="Arial" pitchFamily="34" charset="0"/>
              <a:buChar char="•"/>
            </a:pPr>
            <a:r>
              <a:rPr lang="en-US" sz="1400" dirty="0" smtClean="0">
                <a:solidFill>
                  <a:schemeClr val="bg1"/>
                </a:solidFill>
              </a:rPr>
              <a:t> </a:t>
            </a:r>
            <a:r>
              <a:rPr lang="en-US" sz="1600" dirty="0" smtClean="0">
                <a:solidFill>
                  <a:schemeClr val="bg1"/>
                </a:solidFill>
              </a:rPr>
              <a:t>New Manager Essentials </a:t>
            </a:r>
          </a:p>
          <a:p>
            <a:r>
              <a:rPr lang="en-US" sz="1600" dirty="0" smtClean="0">
                <a:solidFill>
                  <a:schemeClr val="bg1"/>
                </a:solidFill>
              </a:rPr>
              <a:t>  Program</a:t>
            </a:r>
          </a:p>
          <a:p>
            <a:r>
              <a:rPr lang="en-US" sz="1200" dirty="0" smtClean="0">
                <a:solidFill>
                  <a:schemeClr val="bg1"/>
                </a:solidFill>
              </a:rPr>
              <a:t>  (9 days/year)</a:t>
            </a:r>
            <a:endParaRPr lang="en-US" sz="1200" dirty="0">
              <a:solidFill>
                <a:schemeClr val="bg1"/>
              </a:solidFill>
            </a:endParaRPr>
          </a:p>
        </p:txBody>
      </p:sp>
      <p:sp>
        <p:nvSpPr>
          <p:cNvPr id="12" name="Rectangle 11"/>
          <p:cNvSpPr/>
          <p:nvPr/>
        </p:nvSpPr>
        <p:spPr>
          <a:xfrm>
            <a:off x="5810250" y="2257425"/>
            <a:ext cx="2353278" cy="3505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600" b="1" dirty="0" smtClean="0"/>
              <a:t>Leadership Next**</a:t>
            </a:r>
          </a:p>
          <a:p>
            <a:pPr algn="ctr"/>
            <a:r>
              <a:rPr lang="en-US" sz="1300" dirty="0" smtClean="0"/>
              <a:t>(Top Talent – Invitation only)</a:t>
            </a:r>
          </a:p>
          <a:p>
            <a:endParaRPr lang="en-US" sz="1400" dirty="0" smtClean="0"/>
          </a:p>
          <a:p>
            <a:pPr>
              <a:buFont typeface="Arial" pitchFamily="34" charset="0"/>
              <a:buChar char="•"/>
            </a:pPr>
            <a:r>
              <a:rPr lang="en-US" sz="1400" dirty="0" smtClean="0"/>
              <a:t> </a:t>
            </a:r>
            <a:r>
              <a:rPr lang="en-US" sz="1600" dirty="0" smtClean="0"/>
              <a:t>Leader Next</a:t>
            </a:r>
          </a:p>
          <a:p>
            <a:r>
              <a:rPr lang="en-US" sz="1200" dirty="0" smtClean="0"/>
              <a:t>  (7.5 days /year)</a:t>
            </a:r>
          </a:p>
          <a:p>
            <a:pPr>
              <a:buFont typeface="Arial" pitchFamily="34" charset="0"/>
              <a:buChar char="•"/>
            </a:pPr>
            <a:endParaRPr lang="en-US" sz="1400" dirty="0" smtClean="0"/>
          </a:p>
          <a:p>
            <a:pPr>
              <a:buFont typeface="Arial" pitchFamily="34" charset="0"/>
              <a:buChar char="•"/>
            </a:pPr>
            <a:r>
              <a:rPr lang="en-US" sz="1400" dirty="0" smtClean="0"/>
              <a:t> </a:t>
            </a:r>
            <a:r>
              <a:rPr lang="en-US" sz="1600" dirty="0" smtClean="0"/>
              <a:t>Generation Next</a:t>
            </a:r>
          </a:p>
          <a:p>
            <a:r>
              <a:rPr lang="en-US" sz="1200" dirty="0" smtClean="0"/>
              <a:t>  (9 days/year)</a:t>
            </a:r>
          </a:p>
          <a:p>
            <a:pPr>
              <a:buFont typeface="Arial" pitchFamily="34" charset="0"/>
              <a:buChar char="•"/>
            </a:pPr>
            <a:endParaRPr lang="en-US" sz="1400" dirty="0" smtClean="0"/>
          </a:p>
          <a:p>
            <a:pPr>
              <a:buFont typeface="Arial" pitchFamily="34" charset="0"/>
              <a:buChar char="•"/>
            </a:pPr>
            <a:r>
              <a:rPr lang="en-US" sz="1400" dirty="0" smtClean="0"/>
              <a:t> </a:t>
            </a:r>
            <a:r>
              <a:rPr lang="en-US" sz="1600" dirty="0" smtClean="0"/>
              <a:t>Chiefs Workshop</a:t>
            </a:r>
          </a:p>
          <a:p>
            <a:r>
              <a:rPr lang="en-US" sz="1400" dirty="0" smtClean="0"/>
              <a:t>  </a:t>
            </a:r>
            <a:r>
              <a:rPr lang="en-US" sz="1200" dirty="0" smtClean="0"/>
              <a:t>(4 days/year)</a:t>
            </a:r>
          </a:p>
          <a:p>
            <a:pPr>
              <a:buFont typeface="Arial" pitchFamily="34" charset="0"/>
              <a:buChar char="•"/>
            </a:pPr>
            <a:endParaRPr lang="en-US" sz="1400" dirty="0" smtClean="0"/>
          </a:p>
          <a:p>
            <a:endParaRPr lang="en-US" sz="1400" dirty="0" smtClean="0"/>
          </a:p>
        </p:txBody>
      </p:sp>
      <p:sp>
        <p:nvSpPr>
          <p:cNvPr id="13" name="Rectangle 12"/>
          <p:cNvSpPr/>
          <p:nvPr/>
        </p:nvSpPr>
        <p:spPr>
          <a:xfrm>
            <a:off x="905479" y="2257425"/>
            <a:ext cx="2382186" cy="3505200"/>
          </a:xfrm>
          <a:prstGeom prst="rect">
            <a:avLst/>
          </a:prstGeom>
          <a:solidFill>
            <a:srgbClr val="CC3300"/>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600" b="1" dirty="0" smtClean="0"/>
              <a:t>Leadership Essentials</a:t>
            </a:r>
          </a:p>
          <a:p>
            <a:pPr algn="ctr"/>
            <a:r>
              <a:rPr lang="en-US" sz="1300" dirty="0" smtClean="0"/>
              <a:t>(Required Operational Training)</a:t>
            </a:r>
          </a:p>
          <a:p>
            <a:pPr algn="ctr"/>
            <a:endParaRPr lang="en-US" sz="1400" dirty="0" smtClean="0"/>
          </a:p>
          <a:p>
            <a:pPr>
              <a:buFont typeface="Arial" pitchFamily="34" charset="0"/>
              <a:buChar char="•"/>
            </a:pPr>
            <a:r>
              <a:rPr lang="en-US" sz="1400" dirty="0" smtClean="0"/>
              <a:t> </a:t>
            </a:r>
            <a:r>
              <a:rPr lang="en-US" sz="1600" dirty="0" smtClean="0"/>
              <a:t>One is Not Zero Journey </a:t>
            </a:r>
          </a:p>
          <a:p>
            <a:r>
              <a:rPr lang="en-US" sz="1200" dirty="0" smtClean="0"/>
              <a:t>  (3 hours/year)</a:t>
            </a:r>
          </a:p>
          <a:p>
            <a:endParaRPr lang="en-US" sz="1400" dirty="0" smtClean="0"/>
          </a:p>
          <a:p>
            <a:pPr>
              <a:buFont typeface="Arial" pitchFamily="34" charset="0"/>
              <a:buChar char="•"/>
            </a:pPr>
            <a:r>
              <a:rPr lang="en-US" sz="1400" dirty="0" smtClean="0"/>
              <a:t> </a:t>
            </a:r>
            <a:r>
              <a:rPr lang="en-US" sz="1600" dirty="0" smtClean="0"/>
              <a:t>Compliance – HIPAA </a:t>
            </a:r>
          </a:p>
          <a:p>
            <a:r>
              <a:rPr lang="en-US" sz="1200" dirty="0" smtClean="0"/>
              <a:t>  (2 hours/year)</a:t>
            </a:r>
          </a:p>
          <a:p>
            <a:pPr>
              <a:buFont typeface="Arial" pitchFamily="34" charset="0"/>
              <a:buChar char="•"/>
            </a:pPr>
            <a:endParaRPr lang="en-US" sz="1400" dirty="0" smtClean="0"/>
          </a:p>
          <a:p>
            <a:pPr>
              <a:buFont typeface="Arial" pitchFamily="34" charset="0"/>
              <a:buChar char="•"/>
            </a:pPr>
            <a:r>
              <a:rPr lang="en-US" sz="1400" dirty="0" smtClean="0"/>
              <a:t> </a:t>
            </a:r>
            <a:r>
              <a:rPr lang="en-US" sz="1600" dirty="0" smtClean="0"/>
              <a:t>Strata Budget Training </a:t>
            </a:r>
          </a:p>
          <a:p>
            <a:r>
              <a:rPr lang="en-US" sz="1200" dirty="0" smtClean="0"/>
              <a:t>  (2 hours/year)</a:t>
            </a:r>
            <a:endParaRPr lang="en-US" sz="1200" dirty="0"/>
          </a:p>
        </p:txBody>
      </p:sp>
      <p:sp>
        <p:nvSpPr>
          <p:cNvPr id="18" name="TextBox 17"/>
          <p:cNvSpPr txBox="1"/>
          <p:nvPr/>
        </p:nvSpPr>
        <p:spPr>
          <a:xfrm>
            <a:off x="0" y="5842337"/>
            <a:ext cx="4572000" cy="1015663"/>
          </a:xfrm>
          <a:prstGeom prst="rect">
            <a:avLst/>
          </a:prstGeom>
          <a:noFill/>
        </p:spPr>
        <p:txBody>
          <a:bodyPr wrap="square" rtlCol="0">
            <a:spAutoFit/>
          </a:bodyPr>
          <a:lstStyle/>
          <a:p>
            <a:r>
              <a:rPr lang="en-US" sz="1200" b="1" dirty="0" smtClean="0">
                <a:latin typeface="+mn-lt"/>
              </a:rPr>
              <a:t>  *Optional: </a:t>
            </a:r>
            <a:r>
              <a:rPr lang="en-US" sz="1200" dirty="0" smtClean="0">
                <a:latin typeface="+mn-lt"/>
              </a:rPr>
              <a:t>Directors and above can participate voluntarily</a:t>
            </a:r>
            <a:endParaRPr lang="en-US" sz="1200" b="1" dirty="0" smtClean="0">
              <a:latin typeface="+mn-lt"/>
            </a:endParaRPr>
          </a:p>
          <a:p>
            <a:r>
              <a:rPr lang="en-US" sz="1200" b="1" dirty="0" smtClean="0">
                <a:latin typeface="+mn-lt"/>
              </a:rPr>
              <a:t>**New labels for Programs: </a:t>
            </a:r>
          </a:p>
          <a:p>
            <a:pPr>
              <a:buFont typeface="Arial" pitchFamily="34" charset="0"/>
              <a:buChar char="•"/>
            </a:pPr>
            <a:r>
              <a:rPr lang="en-US" sz="1200" b="1" dirty="0" smtClean="0">
                <a:latin typeface="+mn-lt"/>
              </a:rPr>
              <a:t>  </a:t>
            </a:r>
            <a:r>
              <a:rPr lang="en-US" sz="1200" dirty="0" smtClean="0">
                <a:latin typeface="+mn-lt"/>
              </a:rPr>
              <a:t>Leadership Next (formerly CFL)</a:t>
            </a:r>
          </a:p>
          <a:p>
            <a:pPr>
              <a:buFont typeface="Arial" pitchFamily="34" charset="0"/>
              <a:buChar char="•"/>
            </a:pPr>
            <a:r>
              <a:rPr lang="en-US" sz="1200" dirty="0" smtClean="0">
                <a:latin typeface="+mn-lt"/>
              </a:rPr>
              <a:t>  Leader Next (formerly Executive Experience)</a:t>
            </a:r>
          </a:p>
          <a:p>
            <a:pPr>
              <a:buFont typeface="Arial" pitchFamily="34" charset="0"/>
              <a:buChar char="•"/>
            </a:pPr>
            <a:r>
              <a:rPr lang="en-US" sz="1200" dirty="0" smtClean="0">
                <a:latin typeface="+mn-lt"/>
              </a:rPr>
              <a:t>  Generation Next (formerly Manager Acceleration Experience – MAE)</a:t>
            </a:r>
            <a:endParaRPr lang="en-US" sz="1200" dirty="0">
              <a:latin typeface="+mn-lt"/>
            </a:endParaRPr>
          </a:p>
        </p:txBody>
      </p:sp>
      <p:sp>
        <p:nvSpPr>
          <p:cNvPr id="20" name="Slide Number Placeholder 19"/>
          <p:cNvSpPr>
            <a:spLocks noGrp="1"/>
          </p:cNvSpPr>
          <p:nvPr>
            <p:ph type="sldNum" sz="quarter" idx="10"/>
          </p:nvPr>
        </p:nvSpPr>
        <p:spPr/>
        <p:txBody>
          <a:bodyPr/>
          <a:lstStyle/>
          <a:p>
            <a:pPr>
              <a:defRPr/>
            </a:pPr>
            <a:fld id="{01D945C9-0277-4107-B589-EC55ECD240BC}" type="slidenum">
              <a:rPr lang="en-US" smtClean="0"/>
              <a:pPr>
                <a:defRPr/>
              </a:pPr>
              <a:t>3</a:t>
            </a:fld>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p:cNvSpPr/>
          <p:nvPr/>
        </p:nvSpPr>
        <p:spPr bwMode="auto">
          <a:xfrm>
            <a:off x="447675" y="1524000"/>
            <a:ext cx="8458200" cy="2057400"/>
          </a:xfrm>
          <a:prstGeom prst="rect">
            <a:avLst/>
          </a:prstGeom>
          <a:solidFill>
            <a:schemeClr val="accent3">
              <a:lumMod val="20000"/>
              <a:lumOff val="80000"/>
            </a:schemeClr>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2">
                  <a:lumMod val="75000"/>
                </a:schemeClr>
              </a:solidFill>
            </a:endParaRPr>
          </a:p>
        </p:txBody>
      </p:sp>
      <p:sp>
        <p:nvSpPr>
          <p:cNvPr id="11279" name="Text Box 13"/>
          <p:cNvSpPr txBox="1">
            <a:spLocks noChangeArrowheads="1"/>
          </p:cNvSpPr>
          <p:nvPr/>
        </p:nvSpPr>
        <p:spPr bwMode="auto">
          <a:xfrm>
            <a:off x="3352800" y="1695450"/>
            <a:ext cx="885825" cy="769441"/>
          </a:xfrm>
          <a:prstGeom prst="rect">
            <a:avLst/>
          </a:prstGeom>
          <a:noFill/>
          <a:ln w="9525">
            <a:noFill/>
            <a:miter lim="800000"/>
            <a:headEnd/>
            <a:tailEnd/>
          </a:ln>
        </p:spPr>
        <p:txBody>
          <a:bodyPr>
            <a:spAutoFit/>
          </a:bodyPr>
          <a:lstStyle/>
          <a:p>
            <a:pPr algn="ctr">
              <a:spcBef>
                <a:spcPts val="0"/>
              </a:spcBef>
            </a:pPr>
            <a:r>
              <a:rPr lang="en-US" sz="1100" b="1" dirty="0" smtClean="0">
                <a:solidFill>
                  <a:srgbClr val="7030A0"/>
                </a:solidFill>
                <a:latin typeface="Tw Cen MT" pitchFamily="34" charset="0"/>
              </a:rPr>
              <a:t>Leader Next</a:t>
            </a:r>
          </a:p>
          <a:p>
            <a:pPr algn="ctr">
              <a:spcBef>
                <a:spcPts val="0"/>
              </a:spcBef>
            </a:pPr>
            <a:r>
              <a:rPr lang="en-US" sz="1100" dirty="0" smtClean="0">
                <a:solidFill>
                  <a:srgbClr val="7030A0"/>
                </a:solidFill>
                <a:latin typeface="Tw Cen MT" pitchFamily="34" charset="0"/>
              </a:rPr>
              <a:t>Workshop 1</a:t>
            </a:r>
          </a:p>
          <a:p>
            <a:pPr algn="ctr">
              <a:spcBef>
                <a:spcPts val="0"/>
              </a:spcBef>
            </a:pPr>
            <a:r>
              <a:rPr lang="en-US" sz="1100" dirty="0" smtClean="0">
                <a:solidFill>
                  <a:srgbClr val="7030A0"/>
                </a:solidFill>
                <a:latin typeface="Tw Cen MT" pitchFamily="34" charset="0"/>
              </a:rPr>
              <a:t>Directors +</a:t>
            </a:r>
            <a:endParaRPr lang="en-US" sz="1100" dirty="0">
              <a:solidFill>
                <a:srgbClr val="7030A0"/>
              </a:solidFill>
              <a:latin typeface="Tw Cen MT" pitchFamily="34" charset="0"/>
            </a:endParaRPr>
          </a:p>
          <a:p>
            <a:pPr algn="ctr">
              <a:spcBef>
                <a:spcPts val="0"/>
              </a:spcBef>
            </a:pPr>
            <a:r>
              <a:rPr lang="en-US" sz="1100" dirty="0" smtClean="0">
                <a:solidFill>
                  <a:srgbClr val="7030A0"/>
                </a:solidFill>
                <a:latin typeface="Tw Cen MT" pitchFamily="34" charset="0"/>
              </a:rPr>
              <a:t>(Cohort 1)</a:t>
            </a:r>
          </a:p>
        </p:txBody>
      </p:sp>
      <p:sp>
        <p:nvSpPr>
          <p:cNvPr id="11266" name="Title 1"/>
          <p:cNvSpPr>
            <a:spLocks noGrp="1"/>
          </p:cNvSpPr>
          <p:nvPr>
            <p:ph type="title"/>
          </p:nvPr>
        </p:nvSpPr>
        <p:spPr>
          <a:xfrm>
            <a:off x="152400" y="304800"/>
            <a:ext cx="8229600" cy="609600"/>
          </a:xfrm>
        </p:spPr>
        <p:txBody>
          <a:bodyPr/>
          <a:lstStyle/>
          <a:p>
            <a:r>
              <a:rPr lang="en-US" sz="2400" b="1" dirty="0" smtClean="0">
                <a:latin typeface="Tw Cen MT" pitchFamily="34" charset="0"/>
              </a:rPr>
              <a:t>2013 Leader Development Plan Timeline</a:t>
            </a:r>
          </a:p>
        </p:txBody>
      </p:sp>
      <p:sp>
        <p:nvSpPr>
          <p:cNvPr id="41" name="Rectangle 40"/>
          <p:cNvSpPr/>
          <p:nvPr/>
        </p:nvSpPr>
        <p:spPr bwMode="auto">
          <a:xfrm>
            <a:off x="466725" y="4133849"/>
            <a:ext cx="8458200" cy="2114551"/>
          </a:xfrm>
          <a:prstGeom prst="rect">
            <a:avLst/>
          </a:prstGeom>
          <a:solidFill>
            <a:schemeClr val="accent3">
              <a:lumMod val="20000"/>
              <a:lumOff val="80000"/>
            </a:schemeClr>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9900"/>
              </a:solidFill>
            </a:endParaRPr>
          </a:p>
        </p:txBody>
      </p:sp>
      <p:sp>
        <p:nvSpPr>
          <p:cNvPr id="43" name="Line 26"/>
          <p:cNvSpPr>
            <a:spLocks noChangeShapeType="1"/>
          </p:cNvSpPr>
          <p:nvPr/>
        </p:nvSpPr>
        <p:spPr bwMode="auto">
          <a:xfrm>
            <a:off x="4695825" y="4506913"/>
            <a:ext cx="0" cy="115887"/>
          </a:xfrm>
          <a:prstGeom prst="line">
            <a:avLst/>
          </a:prstGeom>
          <a:noFill/>
          <a:ln w="25400">
            <a:solidFill>
              <a:schemeClr val="bg1">
                <a:lumMod val="65000"/>
              </a:schemeClr>
            </a:solidFill>
            <a:prstDash val="dash"/>
            <a:round/>
            <a:headEnd/>
            <a:tailEnd/>
          </a:ln>
          <a:effectLst/>
        </p:spPr>
        <p:txBody>
          <a:bodyPr/>
          <a:lstStyle/>
          <a:p>
            <a:pPr>
              <a:defRPr/>
            </a:pPr>
            <a:endParaRPr lang="en-US" sz="1050" dirty="0">
              <a:ln>
                <a:solidFill>
                  <a:schemeClr val="bg1">
                    <a:lumMod val="65000"/>
                  </a:schemeClr>
                </a:solidFill>
              </a:ln>
              <a:solidFill>
                <a:srgbClr val="FF9900"/>
              </a:solidFill>
            </a:endParaRPr>
          </a:p>
        </p:txBody>
      </p:sp>
      <p:sp>
        <p:nvSpPr>
          <p:cNvPr id="44" name="Line 26"/>
          <p:cNvSpPr>
            <a:spLocks noChangeShapeType="1"/>
          </p:cNvSpPr>
          <p:nvPr/>
        </p:nvSpPr>
        <p:spPr bwMode="auto">
          <a:xfrm flipH="1">
            <a:off x="6650038" y="4506913"/>
            <a:ext cx="0" cy="276225"/>
          </a:xfrm>
          <a:prstGeom prst="line">
            <a:avLst/>
          </a:prstGeom>
          <a:noFill/>
          <a:ln w="25400">
            <a:solidFill>
              <a:schemeClr val="bg1">
                <a:lumMod val="65000"/>
              </a:schemeClr>
            </a:solidFill>
            <a:prstDash val="dash"/>
            <a:round/>
            <a:headEnd/>
            <a:tailEnd/>
          </a:ln>
          <a:effectLst/>
        </p:spPr>
        <p:txBody>
          <a:bodyPr/>
          <a:lstStyle/>
          <a:p>
            <a:pPr>
              <a:defRPr/>
            </a:pPr>
            <a:endParaRPr lang="en-US" sz="1050" dirty="0">
              <a:ln>
                <a:solidFill>
                  <a:schemeClr val="bg1">
                    <a:lumMod val="65000"/>
                  </a:schemeClr>
                </a:solidFill>
              </a:ln>
              <a:solidFill>
                <a:srgbClr val="FF9900"/>
              </a:solidFill>
            </a:endParaRPr>
          </a:p>
        </p:txBody>
      </p:sp>
      <p:sp>
        <p:nvSpPr>
          <p:cNvPr id="45" name="Line 5"/>
          <p:cNvSpPr>
            <a:spLocks noChangeShapeType="1"/>
          </p:cNvSpPr>
          <p:nvPr/>
        </p:nvSpPr>
        <p:spPr bwMode="auto">
          <a:xfrm>
            <a:off x="627063" y="4997450"/>
            <a:ext cx="8005762" cy="0"/>
          </a:xfrm>
          <a:prstGeom prst="line">
            <a:avLst/>
          </a:prstGeom>
          <a:noFill/>
          <a:ln w="38100">
            <a:solidFill>
              <a:schemeClr val="tx1"/>
            </a:solidFill>
            <a:round/>
            <a:headEnd type="triangle" w="med" len="med"/>
            <a:tailEnd type="triangle" w="med" len="med"/>
          </a:ln>
        </p:spPr>
        <p:txBody>
          <a:bodyPr/>
          <a:lstStyle/>
          <a:p>
            <a:pPr>
              <a:defRPr/>
            </a:pPr>
            <a:endParaRPr lang="en-US" sz="1050" dirty="0">
              <a:solidFill>
                <a:srgbClr val="FF9900"/>
              </a:solidFill>
              <a:latin typeface="Arial" pitchFamily="34" charset="0"/>
            </a:endParaRPr>
          </a:p>
        </p:txBody>
      </p:sp>
      <p:sp>
        <p:nvSpPr>
          <p:cNvPr id="50" name="Line 26"/>
          <p:cNvSpPr>
            <a:spLocks noChangeShapeType="1"/>
          </p:cNvSpPr>
          <p:nvPr/>
        </p:nvSpPr>
        <p:spPr bwMode="auto">
          <a:xfrm flipH="1">
            <a:off x="6659563" y="5065713"/>
            <a:ext cx="0" cy="452437"/>
          </a:xfrm>
          <a:prstGeom prst="line">
            <a:avLst/>
          </a:prstGeom>
          <a:noFill/>
          <a:ln w="25400">
            <a:solidFill>
              <a:schemeClr val="bg1">
                <a:lumMod val="65000"/>
              </a:schemeClr>
            </a:solidFill>
            <a:prstDash val="dash"/>
            <a:round/>
            <a:headEnd/>
            <a:tailEnd/>
          </a:ln>
          <a:effectLst/>
        </p:spPr>
        <p:txBody>
          <a:bodyPr/>
          <a:lstStyle/>
          <a:p>
            <a:pPr>
              <a:defRPr/>
            </a:pPr>
            <a:endParaRPr lang="en-US" sz="1050" dirty="0">
              <a:ln>
                <a:solidFill>
                  <a:schemeClr val="bg1">
                    <a:lumMod val="65000"/>
                  </a:schemeClr>
                </a:solidFill>
              </a:ln>
              <a:solidFill>
                <a:srgbClr val="FF9900"/>
              </a:solidFill>
            </a:endParaRPr>
          </a:p>
        </p:txBody>
      </p:sp>
      <p:sp>
        <p:nvSpPr>
          <p:cNvPr id="11319" name="Text Box 21"/>
          <p:cNvSpPr txBox="1">
            <a:spLocks noChangeArrowheads="1"/>
          </p:cNvSpPr>
          <p:nvPr/>
        </p:nvSpPr>
        <p:spPr bwMode="auto">
          <a:xfrm>
            <a:off x="1500401" y="4249016"/>
            <a:ext cx="800822" cy="230832"/>
          </a:xfrm>
          <a:prstGeom prst="rect">
            <a:avLst/>
          </a:prstGeom>
          <a:noFill/>
          <a:ln w="9525">
            <a:noFill/>
            <a:miter lim="800000"/>
            <a:headEnd/>
            <a:tailEnd/>
          </a:ln>
        </p:spPr>
        <p:txBody>
          <a:bodyPr>
            <a:spAutoFit/>
          </a:bodyPr>
          <a:lstStyle/>
          <a:p>
            <a:pPr algn="ctr">
              <a:spcBef>
                <a:spcPct val="50000"/>
              </a:spcBef>
            </a:pPr>
            <a:r>
              <a:rPr lang="en-US" sz="900" b="1" dirty="0">
                <a:latin typeface="Tw Cen MT" pitchFamily="34" charset="0"/>
              </a:rPr>
              <a:t>Q1</a:t>
            </a:r>
          </a:p>
        </p:txBody>
      </p:sp>
      <p:sp>
        <p:nvSpPr>
          <p:cNvPr id="11320" name="Text Box 21"/>
          <p:cNvSpPr txBox="1">
            <a:spLocks noChangeArrowheads="1"/>
          </p:cNvSpPr>
          <p:nvPr/>
        </p:nvSpPr>
        <p:spPr bwMode="auto">
          <a:xfrm>
            <a:off x="5211876" y="4249016"/>
            <a:ext cx="800823" cy="230832"/>
          </a:xfrm>
          <a:prstGeom prst="rect">
            <a:avLst/>
          </a:prstGeom>
          <a:noFill/>
          <a:ln w="9525">
            <a:noFill/>
            <a:miter lim="800000"/>
            <a:headEnd/>
            <a:tailEnd/>
          </a:ln>
        </p:spPr>
        <p:txBody>
          <a:bodyPr>
            <a:spAutoFit/>
          </a:bodyPr>
          <a:lstStyle/>
          <a:p>
            <a:pPr algn="ctr">
              <a:spcBef>
                <a:spcPct val="50000"/>
              </a:spcBef>
            </a:pPr>
            <a:r>
              <a:rPr lang="en-US" sz="900" b="1" dirty="0">
                <a:latin typeface="Tw Cen MT" pitchFamily="34" charset="0"/>
              </a:rPr>
              <a:t>Q3</a:t>
            </a:r>
          </a:p>
        </p:txBody>
      </p:sp>
      <p:sp>
        <p:nvSpPr>
          <p:cNvPr id="11321" name="Text Box 21"/>
          <p:cNvSpPr txBox="1">
            <a:spLocks noChangeArrowheads="1"/>
          </p:cNvSpPr>
          <p:nvPr/>
        </p:nvSpPr>
        <p:spPr bwMode="auto">
          <a:xfrm>
            <a:off x="7249333" y="4249016"/>
            <a:ext cx="800822" cy="230832"/>
          </a:xfrm>
          <a:prstGeom prst="rect">
            <a:avLst/>
          </a:prstGeom>
          <a:noFill/>
          <a:ln w="9525">
            <a:noFill/>
            <a:miter lim="800000"/>
            <a:headEnd/>
            <a:tailEnd/>
          </a:ln>
        </p:spPr>
        <p:txBody>
          <a:bodyPr>
            <a:spAutoFit/>
          </a:bodyPr>
          <a:lstStyle/>
          <a:p>
            <a:pPr algn="ctr">
              <a:spcBef>
                <a:spcPct val="50000"/>
              </a:spcBef>
            </a:pPr>
            <a:r>
              <a:rPr lang="en-US" sz="900" b="1" dirty="0">
                <a:latin typeface="Tw Cen MT" pitchFamily="34" charset="0"/>
              </a:rPr>
              <a:t>Q4</a:t>
            </a:r>
          </a:p>
        </p:txBody>
      </p:sp>
      <p:sp>
        <p:nvSpPr>
          <p:cNvPr id="11323" name="Text Box 17"/>
          <p:cNvSpPr txBox="1">
            <a:spLocks noChangeArrowheads="1"/>
          </p:cNvSpPr>
          <p:nvPr/>
        </p:nvSpPr>
        <p:spPr bwMode="auto">
          <a:xfrm>
            <a:off x="1371600" y="2514600"/>
            <a:ext cx="963613" cy="430888"/>
          </a:xfrm>
          <a:prstGeom prst="rect">
            <a:avLst/>
          </a:prstGeom>
          <a:noFill/>
          <a:ln w="9525">
            <a:noFill/>
            <a:miter lim="800000"/>
            <a:headEnd/>
            <a:tailEnd/>
          </a:ln>
        </p:spPr>
        <p:txBody>
          <a:bodyPr>
            <a:spAutoFit/>
          </a:bodyPr>
          <a:lstStyle/>
          <a:p>
            <a:pPr algn="ctr">
              <a:spcBef>
                <a:spcPct val="50000"/>
              </a:spcBef>
            </a:pPr>
            <a:r>
              <a:rPr lang="en-US" sz="1100" b="1" dirty="0">
                <a:solidFill>
                  <a:srgbClr val="7030A0"/>
                </a:solidFill>
                <a:latin typeface="Tw Cen MT" pitchFamily="34" charset="0"/>
              </a:rPr>
              <a:t>Talent Sessions</a:t>
            </a:r>
          </a:p>
        </p:txBody>
      </p:sp>
      <p:sp>
        <p:nvSpPr>
          <p:cNvPr id="61" name="Line 26"/>
          <p:cNvSpPr>
            <a:spLocks noChangeShapeType="1"/>
          </p:cNvSpPr>
          <p:nvPr/>
        </p:nvSpPr>
        <p:spPr bwMode="auto">
          <a:xfrm flipH="1">
            <a:off x="4695825" y="4999038"/>
            <a:ext cx="0" cy="525462"/>
          </a:xfrm>
          <a:prstGeom prst="line">
            <a:avLst/>
          </a:prstGeom>
          <a:noFill/>
          <a:ln w="25400">
            <a:solidFill>
              <a:schemeClr val="bg1">
                <a:lumMod val="65000"/>
              </a:schemeClr>
            </a:solidFill>
            <a:prstDash val="dash"/>
            <a:round/>
            <a:headEnd/>
            <a:tailEnd/>
          </a:ln>
          <a:effectLst/>
        </p:spPr>
        <p:txBody>
          <a:bodyPr/>
          <a:lstStyle/>
          <a:p>
            <a:pPr>
              <a:defRPr/>
            </a:pPr>
            <a:endParaRPr lang="en-US" sz="1050" dirty="0">
              <a:ln>
                <a:solidFill>
                  <a:schemeClr val="bg1">
                    <a:lumMod val="65000"/>
                  </a:schemeClr>
                </a:solidFill>
              </a:ln>
              <a:solidFill>
                <a:srgbClr val="FF9900"/>
              </a:solidFill>
            </a:endParaRPr>
          </a:p>
        </p:txBody>
      </p:sp>
      <p:sp>
        <p:nvSpPr>
          <p:cNvPr id="11325" name="Text Box 21"/>
          <p:cNvSpPr txBox="1">
            <a:spLocks noChangeArrowheads="1"/>
          </p:cNvSpPr>
          <p:nvPr/>
        </p:nvSpPr>
        <p:spPr bwMode="auto">
          <a:xfrm>
            <a:off x="3319165" y="4249016"/>
            <a:ext cx="800822" cy="230832"/>
          </a:xfrm>
          <a:prstGeom prst="rect">
            <a:avLst/>
          </a:prstGeom>
          <a:noFill/>
          <a:ln w="9525">
            <a:noFill/>
            <a:miter lim="800000"/>
            <a:headEnd/>
            <a:tailEnd/>
          </a:ln>
        </p:spPr>
        <p:txBody>
          <a:bodyPr>
            <a:spAutoFit/>
          </a:bodyPr>
          <a:lstStyle/>
          <a:p>
            <a:pPr algn="ctr">
              <a:spcBef>
                <a:spcPct val="50000"/>
              </a:spcBef>
            </a:pPr>
            <a:r>
              <a:rPr lang="en-US" sz="900" b="1" dirty="0">
                <a:latin typeface="Tw Cen MT" pitchFamily="34" charset="0"/>
              </a:rPr>
              <a:t>Q2</a:t>
            </a:r>
          </a:p>
        </p:txBody>
      </p:sp>
      <p:sp>
        <p:nvSpPr>
          <p:cNvPr id="66" name="Line 26"/>
          <p:cNvSpPr>
            <a:spLocks noChangeShapeType="1"/>
          </p:cNvSpPr>
          <p:nvPr/>
        </p:nvSpPr>
        <p:spPr bwMode="auto">
          <a:xfrm flipH="1">
            <a:off x="2789238" y="4506913"/>
            <a:ext cx="0" cy="447675"/>
          </a:xfrm>
          <a:prstGeom prst="line">
            <a:avLst/>
          </a:prstGeom>
          <a:noFill/>
          <a:ln w="25400">
            <a:solidFill>
              <a:schemeClr val="bg1">
                <a:lumMod val="65000"/>
              </a:schemeClr>
            </a:solidFill>
            <a:prstDash val="dash"/>
            <a:round/>
            <a:headEnd/>
            <a:tailEnd/>
          </a:ln>
          <a:effectLst/>
        </p:spPr>
        <p:txBody>
          <a:bodyPr/>
          <a:lstStyle/>
          <a:p>
            <a:pPr>
              <a:defRPr/>
            </a:pPr>
            <a:endParaRPr lang="en-US" sz="1050" dirty="0">
              <a:ln>
                <a:solidFill>
                  <a:schemeClr val="bg1">
                    <a:lumMod val="65000"/>
                  </a:schemeClr>
                </a:solidFill>
              </a:ln>
              <a:solidFill>
                <a:srgbClr val="FF9900"/>
              </a:solidFill>
            </a:endParaRPr>
          </a:p>
        </p:txBody>
      </p:sp>
      <p:sp>
        <p:nvSpPr>
          <p:cNvPr id="67" name="Line 26"/>
          <p:cNvSpPr>
            <a:spLocks noChangeShapeType="1"/>
          </p:cNvSpPr>
          <p:nvPr/>
        </p:nvSpPr>
        <p:spPr bwMode="auto">
          <a:xfrm>
            <a:off x="2789238" y="5000625"/>
            <a:ext cx="0" cy="523875"/>
          </a:xfrm>
          <a:prstGeom prst="line">
            <a:avLst/>
          </a:prstGeom>
          <a:noFill/>
          <a:ln w="25400">
            <a:solidFill>
              <a:schemeClr val="bg1">
                <a:lumMod val="65000"/>
              </a:schemeClr>
            </a:solidFill>
            <a:prstDash val="dash"/>
            <a:round/>
            <a:headEnd/>
            <a:tailEnd/>
          </a:ln>
          <a:effectLst/>
        </p:spPr>
        <p:txBody>
          <a:bodyPr/>
          <a:lstStyle/>
          <a:p>
            <a:pPr>
              <a:defRPr/>
            </a:pPr>
            <a:endParaRPr lang="en-US" sz="1050" dirty="0">
              <a:ln>
                <a:solidFill>
                  <a:schemeClr val="bg1">
                    <a:lumMod val="65000"/>
                  </a:schemeClr>
                </a:solidFill>
              </a:ln>
              <a:solidFill>
                <a:srgbClr val="FF9900"/>
              </a:solidFill>
            </a:endParaRPr>
          </a:p>
        </p:txBody>
      </p:sp>
      <p:sp>
        <p:nvSpPr>
          <p:cNvPr id="81" name="Title 1"/>
          <p:cNvSpPr txBox="1">
            <a:spLocks/>
          </p:cNvSpPr>
          <p:nvPr/>
        </p:nvSpPr>
        <p:spPr bwMode="auto">
          <a:xfrm>
            <a:off x="381000" y="990600"/>
            <a:ext cx="8229600" cy="609600"/>
          </a:xfrm>
          <a:prstGeom prst="rect">
            <a:avLst/>
          </a:prstGeom>
          <a:noFill/>
          <a:ln w="9525">
            <a:noFill/>
            <a:miter lim="800000"/>
            <a:headEnd/>
            <a:tailEnd/>
          </a:ln>
        </p:spPr>
        <p:txBody>
          <a:bodyPr anchor="ctr"/>
          <a:lstStyle/>
          <a:p>
            <a:pPr eaLnBrk="0" hangingPunct="0">
              <a:defRPr/>
            </a:pPr>
            <a:r>
              <a:rPr lang="en-US" sz="1400" b="1" dirty="0" smtClean="0">
                <a:solidFill>
                  <a:srgbClr val="009D57"/>
                </a:solidFill>
                <a:latin typeface="Tw Cen MT" pitchFamily="34" charset="0"/>
                <a:ea typeface="+mj-ea"/>
                <a:cs typeface="+mj-cs"/>
              </a:rPr>
              <a:t>Top Talent Development – </a:t>
            </a:r>
            <a:r>
              <a:rPr lang="en-US" sz="1400" b="1" dirty="0" smtClean="0">
                <a:solidFill>
                  <a:srgbClr val="7030A0"/>
                </a:solidFill>
                <a:latin typeface="Tw Cen MT" pitchFamily="34" charset="0"/>
                <a:ea typeface="+mj-ea"/>
                <a:cs typeface="+mj-cs"/>
              </a:rPr>
              <a:t>Leadership Next</a:t>
            </a:r>
            <a:endParaRPr lang="en-US" sz="1400" b="1" dirty="0">
              <a:solidFill>
                <a:srgbClr val="7030A0"/>
              </a:solidFill>
              <a:latin typeface="Tw Cen MT" pitchFamily="34" charset="0"/>
              <a:ea typeface="+mj-ea"/>
              <a:cs typeface="+mj-cs"/>
            </a:endParaRPr>
          </a:p>
        </p:txBody>
      </p:sp>
      <p:sp>
        <p:nvSpPr>
          <p:cNvPr id="46" name="Line 26"/>
          <p:cNvSpPr>
            <a:spLocks noChangeShapeType="1"/>
          </p:cNvSpPr>
          <p:nvPr/>
        </p:nvSpPr>
        <p:spPr bwMode="auto">
          <a:xfrm flipH="1">
            <a:off x="6630988" y="1992313"/>
            <a:ext cx="0" cy="276225"/>
          </a:xfrm>
          <a:prstGeom prst="line">
            <a:avLst/>
          </a:prstGeom>
          <a:noFill/>
          <a:ln w="25400">
            <a:solidFill>
              <a:schemeClr val="bg1">
                <a:lumMod val="65000"/>
              </a:schemeClr>
            </a:solidFill>
            <a:prstDash val="dash"/>
            <a:round/>
            <a:headEnd/>
            <a:tailEnd/>
          </a:ln>
          <a:effectLst/>
        </p:spPr>
        <p:txBody>
          <a:bodyPr/>
          <a:lstStyle/>
          <a:p>
            <a:pPr>
              <a:defRPr/>
            </a:pPr>
            <a:endParaRPr lang="en-US" sz="1050" dirty="0">
              <a:ln>
                <a:solidFill>
                  <a:schemeClr val="bg1">
                    <a:lumMod val="65000"/>
                  </a:schemeClr>
                </a:solidFill>
              </a:ln>
              <a:solidFill>
                <a:srgbClr val="969696"/>
              </a:solidFill>
            </a:endParaRPr>
          </a:p>
        </p:txBody>
      </p:sp>
      <p:sp>
        <p:nvSpPr>
          <p:cNvPr id="47" name="Line 5"/>
          <p:cNvSpPr>
            <a:spLocks noChangeShapeType="1"/>
          </p:cNvSpPr>
          <p:nvPr/>
        </p:nvSpPr>
        <p:spPr bwMode="auto">
          <a:xfrm>
            <a:off x="608013" y="2482850"/>
            <a:ext cx="8005762" cy="0"/>
          </a:xfrm>
          <a:prstGeom prst="line">
            <a:avLst/>
          </a:prstGeom>
          <a:noFill/>
          <a:ln w="38100">
            <a:solidFill>
              <a:schemeClr val="tx1"/>
            </a:solidFill>
            <a:round/>
            <a:headEnd type="triangle" w="med" len="med"/>
            <a:tailEnd type="triangle" w="med" len="med"/>
          </a:ln>
        </p:spPr>
        <p:txBody>
          <a:bodyPr/>
          <a:lstStyle/>
          <a:p>
            <a:pPr>
              <a:defRPr/>
            </a:pPr>
            <a:endParaRPr lang="en-US" sz="1050" dirty="0">
              <a:latin typeface="Arial" pitchFamily="34" charset="0"/>
            </a:endParaRPr>
          </a:p>
        </p:txBody>
      </p:sp>
      <p:sp>
        <p:nvSpPr>
          <p:cNvPr id="11302" name="Text Box 13"/>
          <p:cNvSpPr txBox="1">
            <a:spLocks noChangeArrowheads="1"/>
          </p:cNvSpPr>
          <p:nvPr/>
        </p:nvSpPr>
        <p:spPr bwMode="auto">
          <a:xfrm>
            <a:off x="1905000" y="4400550"/>
            <a:ext cx="901700" cy="600164"/>
          </a:xfrm>
          <a:prstGeom prst="rect">
            <a:avLst/>
          </a:prstGeom>
          <a:noFill/>
          <a:ln w="9525">
            <a:noFill/>
            <a:miter lim="800000"/>
            <a:headEnd/>
            <a:tailEnd/>
          </a:ln>
        </p:spPr>
        <p:txBody>
          <a:bodyPr>
            <a:spAutoFit/>
          </a:bodyPr>
          <a:lstStyle/>
          <a:p>
            <a:pPr algn="ctr">
              <a:spcBef>
                <a:spcPct val="50000"/>
              </a:spcBef>
            </a:pPr>
            <a:r>
              <a:rPr lang="en-US" sz="1100" b="1" dirty="0">
                <a:solidFill>
                  <a:schemeClr val="accent6">
                    <a:lumMod val="75000"/>
                  </a:schemeClr>
                </a:solidFill>
                <a:latin typeface="Tw Cen MT" pitchFamily="34" charset="0"/>
              </a:rPr>
              <a:t>Leadership Series </a:t>
            </a:r>
            <a:r>
              <a:rPr lang="en-US" sz="1100" dirty="0" smtClean="0">
                <a:solidFill>
                  <a:schemeClr val="accent6">
                    <a:lumMod val="75000"/>
                  </a:schemeClr>
                </a:solidFill>
                <a:latin typeface="Tw Cen MT" pitchFamily="34" charset="0"/>
              </a:rPr>
              <a:t>(</a:t>
            </a:r>
            <a:r>
              <a:rPr lang="en-US" sz="1100" dirty="0">
                <a:solidFill>
                  <a:schemeClr val="accent6">
                    <a:lumMod val="75000"/>
                  </a:schemeClr>
                </a:solidFill>
                <a:latin typeface="Tw Cen MT" pitchFamily="34" charset="0"/>
              </a:rPr>
              <a:t>Director +)</a:t>
            </a:r>
            <a:endParaRPr lang="en-US" sz="1100" b="1" dirty="0">
              <a:solidFill>
                <a:schemeClr val="accent6">
                  <a:lumMod val="75000"/>
                </a:schemeClr>
              </a:solidFill>
              <a:latin typeface="Tw Cen MT" pitchFamily="34" charset="0"/>
            </a:endParaRPr>
          </a:p>
        </p:txBody>
      </p:sp>
      <p:sp>
        <p:nvSpPr>
          <p:cNvPr id="11303" name="Text Box 14"/>
          <p:cNvSpPr txBox="1">
            <a:spLocks noChangeArrowheads="1"/>
          </p:cNvSpPr>
          <p:nvPr/>
        </p:nvSpPr>
        <p:spPr bwMode="auto">
          <a:xfrm>
            <a:off x="5257800" y="4410075"/>
            <a:ext cx="944563" cy="600164"/>
          </a:xfrm>
          <a:prstGeom prst="rect">
            <a:avLst/>
          </a:prstGeom>
          <a:noFill/>
          <a:ln w="9525">
            <a:noFill/>
            <a:miter lim="800000"/>
            <a:headEnd/>
            <a:tailEnd/>
          </a:ln>
        </p:spPr>
        <p:txBody>
          <a:bodyPr>
            <a:spAutoFit/>
          </a:bodyPr>
          <a:lstStyle/>
          <a:p>
            <a:pPr algn="ctr">
              <a:spcBef>
                <a:spcPct val="50000"/>
              </a:spcBef>
            </a:pPr>
            <a:r>
              <a:rPr lang="en-US" sz="1100" b="1" dirty="0">
                <a:solidFill>
                  <a:schemeClr val="accent6">
                    <a:lumMod val="75000"/>
                  </a:schemeClr>
                </a:solidFill>
                <a:latin typeface="Tw Cen MT" pitchFamily="34" charset="0"/>
              </a:rPr>
              <a:t>Leadership </a:t>
            </a:r>
            <a:r>
              <a:rPr lang="en-US" sz="1100" b="1" dirty="0" smtClean="0">
                <a:solidFill>
                  <a:schemeClr val="accent6">
                    <a:lumMod val="75000"/>
                  </a:schemeClr>
                </a:solidFill>
                <a:latin typeface="Tw Cen MT" pitchFamily="34" charset="0"/>
              </a:rPr>
              <a:t>Essentials  </a:t>
            </a:r>
            <a:r>
              <a:rPr lang="en-US" sz="1100" dirty="0" smtClean="0">
                <a:solidFill>
                  <a:schemeClr val="accent6">
                    <a:lumMod val="75000"/>
                  </a:schemeClr>
                </a:solidFill>
                <a:latin typeface="Tw Cen MT" pitchFamily="34" charset="0"/>
              </a:rPr>
              <a:t>(Director </a:t>
            </a:r>
            <a:r>
              <a:rPr lang="en-US" sz="1100" dirty="0">
                <a:solidFill>
                  <a:schemeClr val="accent6">
                    <a:lumMod val="75000"/>
                  </a:schemeClr>
                </a:solidFill>
                <a:latin typeface="Tw Cen MT" pitchFamily="34" charset="0"/>
              </a:rPr>
              <a:t>+)</a:t>
            </a:r>
            <a:endParaRPr lang="en-US" sz="1100" b="1" dirty="0">
              <a:solidFill>
                <a:schemeClr val="accent6">
                  <a:lumMod val="75000"/>
                </a:schemeClr>
              </a:solidFill>
              <a:latin typeface="Tw Cen MT" pitchFamily="34" charset="0"/>
            </a:endParaRPr>
          </a:p>
        </p:txBody>
      </p:sp>
      <p:sp>
        <p:nvSpPr>
          <p:cNvPr id="53" name="Line 26"/>
          <p:cNvSpPr>
            <a:spLocks noChangeShapeType="1"/>
          </p:cNvSpPr>
          <p:nvPr/>
        </p:nvSpPr>
        <p:spPr bwMode="auto">
          <a:xfrm flipH="1">
            <a:off x="6640513" y="2484438"/>
            <a:ext cx="0" cy="452437"/>
          </a:xfrm>
          <a:prstGeom prst="line">
            <a:avLst/>
          </a:prstGeom>
          <a:noFill/>
          <a:ln w="25400">
            <a:solidFill>
              <a:schemeClr val="bg1">
                <a:lumMod val="65000"/>
              </a:schemeClr>
            </a:solidFill>
            <a:prstDash val="dash"/>
            <a:round/>
            <a:headEnd/>
            <a:tailEnd/>
          </a:ln>
          <a:effectLst/>
        </p:spPr>
        <p:txBody>
          <a:bodyPr/>
          <a:lstStyle/>
          <a:p>
            <a:pPr>
              <a:defRPr/>
            </a:pPr>
            <a:endParaRPr lang="en-US" sz="1050" dirty="0">
              <a:ln>
                <a:solidFill>
                  <a:schemeClr val="bg1">
                    <a:lumMod val="65000"/>
                  </a:schemeClr>
                </a:solidFill>
              </a:ln>
              <a:solidFill>
                <a:srgbClr val="969696"/>
              </a:solidFill>
            </a:endParaRPr>
          </a:p>
        </p:txBody>
      </p:sp>
      <p:sp>
        <p:nvSpPr>
          <p:cNvPr id="11305" name="Text Box 21"/>
          <p:cNvSpPr txBox="1">
            <a:spLocks noChangeArrowheads="1"/>
          </p:cNvSpPr>
          <p:nvPr/>
        </p:nvSpPr>
        <p:spPr bwMode="auto">
          <a:xfrm>
            <a:off x="1481351" y="1515361"/>
            <a:ext cx="800822" cy="230873"/>
          </a:xfrm>
          <a:prstGeom prst="rect">
            <a:avLst/>
          </a:prstGeom>
          <a:noFill/>
          <a:ln w="9525">
            <a:noFill/>
            <a:miter lim="800000"/>
            <a:headEnd/>
            <a:tailEnd/>
          </a:ln>
        </p:spPr>
        <p:txBody>
          <a:bodyPr>
            <a:spAutoFit/>
          </a:bodyPr>
          <a:lstStyle/>
          <a:p>
            <a:pPr algn="ctr">
              <a:spcBef>
                <a:spcPct val="50000"/>
              </a:spcBef>
            </a:pPr>
            <a:r>
              <a:rPr lang="en-US" sz="900" b="1" dirty="0">
                <a:latin typeface="Tw Cen MT" pitchFamily="34" charset="0"/>
              </a:rPr>
              <a:t>Q1</a:t>
            </a:r>
          </a:p>
        </p:txBody>
      </p:sp>
      <p:sp>
        <p:nvSpPr>
          <p:cNvPr id="11306" name="Text Box 21"/>
          <p:cNvSpPr txBox="1">
            <a:spLocks noChangeArrowheads="1"/>
          </p:cNvSpPr>
          <p:nvPr/>
        </p:nvSpPr>
        <p:spPr bwMode="auto">
          <a:xfrm>
            <a:off x="5192826" y="1515361"/>
            <a:ext cx="800823" cy="230873"/>
          </a:xfrm>
          <a:prstGeom prst="rect">
            <a:avLst/>
          </a:prstGeom>
          <a:noFill/>
          <a:ln w="9525">
            <a:noFill/>
            <a:miter lim="800000"/>
            <a:headEnd/>
            <a:tailEnd/>
          </a:ln>
        </p:spPr>
        <p:txBody>
          <a:bodyPr>
            <a:spAutoFit/>
          </a:bodyPr>
          <a:lstStyle/>
          <a:p>
            <a:pPr algn="ctr">
              <a:spcBef>
                <a:spcPct val="50000"/>
              </a:spcBef>
            </a:pPr>
            <a:r>
              <a:rPr lang="en-US" sz="900" b="1" dirty="0">
                <a:latin typeface="Tw Cen MT" pitchFamily="34" charset="0"/>
              </a:rPr>
              <a:t>Q3</a:t>
            </a:r>
          </a:p>
        </p:txBody>
      </p:sp>
      <p:sp>
        <p:nvSpPr>
          <p:cNvPr id="11307" name="Text Box 21"/>
          <p:cNvSpPr txBox="1">
            <a:spLocks noChangeArrowheads="1"/>
          </p:cNvSpPr>
          <p:nvPr/>
        </p:nvSpPr>
        <p:spPr bwMode="auto">
          <a:xfrm>
            <a:off x="7230283" y="1515361"/>
            <a:ext cx="800822" cy="230873"/>
          </a:xfrm>
          <a:prstGeom prst="rect">
            <a:avLst/>
          </a:prstGeom>
          <a:noFill/>
          <a:ln w="9525">
            <a:noFill/>
            <a:miter lim="800000"/>
            <a:headEnd/>
            <a:tailEnd/>
          </a:ln>
        </p:spPr>
        <p:txBody>
          <a:bodyPr>
            <a:spAutoFit/>
          </a:bodyPr>
          <a:lstStyle/>
          <a:p>
            <a:pPr algn="ctr">
              <a:spcBef>
                <a:spcPct val="50000"/>
              </a:spcBef>
            </a:pPr>
            <a:r>
              <a:rPr lang="en-US" sz="900" b="1" dirty="0">
                <a:latin typeface="Tw Cen MT" pitchFamily="34" charset="0"/>
              </a:rPr>
              <a:t>Q4</a:t>
            </a:r>
          </a:p>
        </p:txBody>
      </p:sp>
      <p:sp>
        <p:nvSpPr>
          <p:cNvPr id="59" name="Line 26"/>
          <p:cNvSpPr>
            <a:spLocks noChangeShapeType="1"/>
          </p:cNvSpPr>
          <p:nvPr/>
        </p:nvSpPr>
        <p:spPr bwMode="auto">
          <a:xfrm flipH="1">
            <a:off x="4676775" y="2484438"/>
            <a:ext cx="0" cy="525462"/>
          </a:xfrm>
          <a:prstGeom prst="line">
            <a:avLst/>
          </a:prstGeom>
          <a:noFill/>
          <a:ln w="25400">
            <a:solidFill>
              <a:schemeClr val="bg1">
                <a:lumMod val="65000"/>
              </a:schemeClr>
            </a:solidFill>
            <a:prstDash val="dash"/>
            <a:round/>
            <a:headEnd/>
            <a:tailEnd/>
          </a:ln>
          <a:effectLst/>
        </p:spPr>
        <p:txBody>
          <a:bodyPr/>
          <a:lstStyle/>
          <a:p>
            <a:pPr>
              <a:defRPr/>
            </a:pPr>
            <a:endParaRPr lang="en-US" sz="1050" dirty="0">
              <a:ln>
                <a:solidFill>
                  <a:schemeClr val="bg1">
                    <a:lumMod val="65000"/>
                  </a:schemeClr>
                </a:solidFill>
              </a:ln>
              <a:solidFill>
                <a:srgbClr val="969696"/>
              </a:solidFill>
            </a:endParaRPr>
          </a:p>
        </p:txBody>
      </p:sp>
      <p:sp>
        <p:nvSpPr>
          <p:cNvPr id="11309" name="Text Box 21"/>
          <p:cNvSpPr txBox="1">
            <a:spLocks noChangeArrowheads="1"/>
          </p:cNvSpPr>
          <p:nvPr/>
        </p:nvSpPr>
        <p:spPr bwMode="auto">
          <a:xfrm>
            <a:off x="3038475" y="1524000"/>
            <a:ext cx="800822" cy="230873"/>
          </a:xfrm>
          <a:prstGeom prst="rect">
            <a:avLst/>
          </a:prstGeom>
          <a:noFill/>
          <a:ln w="9525">
            <a:noFill/>
            <a:miter lim="800000"/>
            <a:headEnd/>
            <a:tailEnd/>
          </a:ln>
        </p:spPr>
        <p:txBody>
          <a:bodyPr>
            <a:spAutoFit/>
          </a:bodyPr>
          <a:lstStyle/>
          <a:p>
            <a:pPr algn="ctr">
              <a:spcBef>
                <a:spcPct val="50000"/>
              </a:spcBef>
            </a:pPr>
            <a:r>
              <a:rPr lang="en-US" sz="900" b="1" dirty="0">
                <a:latin typeface="Tw Cen MT" pitchFamily="34" charset="0"/>
              </a:rPr>
              <a:t>Q2</a:t>
            </a:r>
          </a:p>
        </p:txBody>
      </p:sp>
      <p:sp>
        <p:nvSpPr>
          <p:cNvPr id="73" name="Line 26"/>
          <p:cNvSpPr>
            <a:spLocks noChangeShapeType="1"/>
          </p:cNvSpPr>
          <p:nvPr/>
        </p:nvSpPr>
        <p:spPr bwMode="auto">
          <a:xfrm flipH="1">
            <a:off x="2770188" y="1992313"/>
            <a:ext cx="0" cy="447675"/>
          </a:xfrm>
          <a:prstGeom prst="line">
            <a:avLst/>
          </a:prstGeom>
          <a:noFill/>
          <a:ln w="25400">
            <a:solidFill>
              <a:schemeClr val="bg1">
                <a:lumMod val="65000"/>
              </a:schemeClr>
            </a:solidFill>
            <a:prstDash val="dash"/>
            <a:round/>
            <a:headEnd/>
            <a:tailEnd/>
          </a:ln>
          <a:effectLst/>
        </p:spPr>
        <p:txBody>
          <a:bodyPr/>
          <a:lstStyle/>
          <a:p>
            <a:pPr>
              <a:defRPr/>
            </a:pPr>
            <a:endParaRPr lang="en-US" sz="1050" dirty="0">
              <a:ln>
                <a:solidFill>
                  <a:schemeClr val="bg1">
                    <a:lumMod val="65000"/>
                  </a:schemeClr>
                </a:solidFill>
              </a:ln>
              <a:solidFill>
                <a:srgbClr val="969696"/>
              </a:solidFill>
            </a:endParaRPr>
          </a:p>
        </p:txBody>
      </p:sp>
      <p:sp>
        <p:nvSpPr>
          <p:cNvPr id="74" name="Line 26"/>
          <p:cNvSpPr>
            <a:spLocks noChangeShapeType="1"/>
          </p:cNvSpPr>
          <p:nvPr/>
        </p:nvSpPr>
        <p:spPr bwMode="auto">
          <a:xfrm>
            <a:off x="2770188" y="2486025"/>
            <a:ext cx="0" cy="523875"/>
          </a:xfrm>
          <a:prstGeom prst="line">
            <a:avLst/>
          </a:prstGeom>
          <a:noFill/>
          <a:ln w="25400">
            <a:solidFill>
              <a:schemeClr val="bg1">
                <a:lumMod val="65000"/>
              </a:schemeClr>
            </a:solidFill>
            <a:prstDash val="dash"/>
            <a:round/>
            <a:headEnd/>
            <a:tailEnd/>
          </a:ln>
          <a:effectLst/>
        </p:spPr>
        <p:txBody>
          <a:bodyPr/>
          <a:lstStyle/>
          <a:p>
            <a:pPr>
              <a:defRPr/>
            </a:pPr>
            <a:endParaRPr lang="en-US" sz="1050" dirty="0">
              <a:ln>
                <a:solidFill>
                  <a:schemeClr val="bg1">
                    <a:lumMod val="65000"/>
                  </a:schemeClr>
                </a:solidFill>
              </a:ln>
              <a:solidFill>
                <a:srgbClr val="969696"/>
              </a:solidFill>
            </a:endParaRPr>
          </a:p>
        </p:txBody>
      </p:sp>
      <p:sp>
        <p:nvSpPr>
          <p:cNvPr id="11278" name="Text Box 13"/>
          <p:cNvSpPr txBox="1">
            <a:spLocks noChangeArrowheads="1"/>
          </p:cNvSpPr>
          <p:nvPr/>
        </p:nvSpPr>
        <p:spPr bwMode="auto">
          <a:xfrm>
            <a:off x="3086100" y="5038725"/>
            <a:ext cx="1295400" cy="600164"/>
          </a:xfrm>
          <a:prstGeom prst="rect">
            <a:avLst/>
          </a:prstGeom>
          <a:noFill/>
          <a:ln w="9525">
            <a:noFill/>
            <a:miter lim="800000"/>
            <a:headEnd/>
            <a:tailEnd/>
          </a:ln>
        </p:spPr>
        <p:txBody>
          <a:bodyPr wrap="square">
            <a:spAutoFit/>
          </a:bodyPr>
          <a:lstStyle/>
          <a:p>
            <a:pPr algn="ctr">
              <a:spcBef>
                <a:spcPts val="0"/>
              </a:spcBef>
            </a:pPr>
            <a:r>
              <a:rPr lang="en-US" sz="1100" b="1" dirty="0" smtClean="0">
                <a:solidFill>
                  <a:schemeClr val="accent6">
                    <a:lumMod val="75000"/>
                  </a:schemeClr>
                </a:solidFill>
                <a:latin typeface="Tw Cen MT" pitchFamily="34" charset="0"/>
              </a:rPr>
              <a:t>All Manager</a:t>
            </a:r>
          </a:p>
          <a:p>
            <a:pPr algn="ctr">
              <a:spcBef>
                <a:spcPts val="0"/>
              </a:spcBef>
            </a:pPr>
            <a:r>
              <a:rPr lang="en-US" sz="1100" b="1" dirty="0" smtClean="0">
                <a:solidFill>
                  <a:schemeClr val="accent6">
                    <a:lumMod val="75000"/>
                  </a:schemeClr>
                </a:solidFill>
                <a:latin typeface="Tw Cen MT" pitchFamily="34" charset="0"/>
              </a:rPr>
              <a:t>Meeting</a:t>
            </a:r>
            <a:r>
              <a:rPr lang="en-US" sz="1100" dirty="0">
                <a:solidFill>
                  <a:schemeClr val="accent6">
                    <a:lumMod val="75000"/>
                  </a:schemeClr>
                </a:solidFill>
                <a:latin typeface="Tw Cen MT" pitchFamily="34" charset="0"/>
              </a:rPr>
              <a:t> </a:t>
            </a:r>
            <a:r>
              <a:rPr lang="en-US" sz="1100" dirty="0" smtClean="0">
                <a:solidFill>
                  <a:schemeClr val="accent6">
                    <a:lumMod val="75000"/>
                  </a:schemeClr>
                </a:solidFill>
                <a:latin typeface="Tw Cen MT" pitchFamily="34" charset="0"/>
              </a:rPr>
              <a:t>            (People Managers)</a:t>
            </a:r>
            <a:endParaRPr lang="en-US" sz="1100" b="1" dirty="0" smtClean="0">
              <a:solidFill>
                <a:schemeClr val="accent6">
                  <a:lumMod val="75000"/>
                </a:schemeClr>
              </a:solidFill>
              <a:latin typeface="Tw Cen MT" pitchFamily="34" charset="0"/>
            </a:endParaRPr>
          </a:p>
        </p:txBody>
      </p:sp>
      <p:sp>
        <p:nvSpPr>
          <p:cNvPr id="88" name="Line 26"/>
          <p:cNvSpPr>
            <a:spLocks noChangeShapeType="1"/>
          </p:cNvSpPr>
          <p:nvPr/>
        </p:nvSpPr>
        <p:spPr bwMode="auto">
          <a:xfrm flipH="1">
            <a:off x="4686300" y="1990725"/>
            <a:ext cx="0" cy="447675"/>
          </a:xfrm>
          <a:prstGeom prst="line">
            <a:avLst/>
          </a:prstGeom>
          <a:noFill/>
          <a:ln w="25400">
            <a:solidFill>
              <a:schemeClr val="bg1">
                <a:lumMod val="65000"/>
              </a:schemeClr>
            </a:solidFill>
            <a:prstDash val="dash"/>
            <a:round/>
            <a:headEnd/>
            <a:tailEnd/>
          </a:ln>
          <a:effectLst/>
        </p:spPr>
        <p:txBody>
          <a:bodyPr/>
          <a:lstStyle/>
          <a:p>
            <a:pPr>
              <a:defRPr/>
            </a:pPr>
            <a:endParaRPr lang="en-US" sz="1050" dirty="0">
              <a:ln>
                <a:solidFill>
                  <a:schemeClr val="bg1">
                    <a:lumMod val="65000"/>
                  </a:schemeClr>
                </a:solidFill>
              </a:ln>
              <a:solidFill>
                <a:srgbClr val="969696"/>
              </a:solidFill>
            </a:endParaRPr>
          </a:p>
        </p:txBody>
      </p:sp>
      <p:sp>
        <p:nvSpPr>
          <p:cNvPr id="11295" name="Text Box 18"/>
          <p:cNvSpPr txBox="1">
            <a:spLocks noChangeArrowheads="1"/>
          </p:cNvSpPr>
          <p:nvPr/>
        </p:nvSpPr>
        <p:spPr bwMode="auto">
          <a:xfrm>
            <a:off x="3352800" y="5943600"/>
            <a:ext cx="5562600" cy="246221"/>
          </a:xfrm>
          <a:prstGeom prst="rect">
            <a:avLst/>
          </a:prstGeom>
          <a:noFill/>
          <a:ln w="9525">
            <a:noFill/>
            <a:miter lim="800000"/>
            <a:headEnd/>
            <a:tailEnd/>
          </a:ln>
        </p:spPr>
        <p:txBody>
          <a:bodyPr wrap="square">
            <a:spAutoFit/>
          </a:bodyPr>
          <a:lstStyle/>
          <a:p>
            <a:pPr algn="ctr">
              <a:spcBef>
                <a:spcPct val="50000"/>
              </a:spcBef>
            </a:pPr>
            <a:r>
              <a:rPr lang="en-US" sz="1000" b="1" dirty="0" smtClean="0">
                <a:solidFill>
                  <a:schemeClr val="bg1">
                    <a:lumMod val="50000"/>
                  </a:schemeClr>
                </a:solidFill>
                <a:latin typeface="Tw Cen MT" pitchFamily="34" charset="0"/>
              </a:rPr>
              <a:t>SLA/VP 360 Feedback (those in Leader Next will complete at time of program) </a:t>
            </a:r>
            <a:endParaRPr lang="en-US" sz="1000" b="1" dirty="0">
              <a:solidFill>
                <a:schemeClr val="bg1">
                  <a:lumMod val="50000"/>
                </a:schemeClr>
              </a:solidFill>
              <a:latin typeface="Tw Cen MT" pitchFamily="34" charset="0"/>
            </a:endParaRPr>
          </a:p>
        </p:txBody>
      </p:sp>
      <p:sp>
        <p:nvSpPr>
          <p:cNvPr id="52" name="Title 1"/>
          <p:cNvSpPr txBox="1">
            <a:spLocks/>
          </p:cNvSpPr>
          <p:nvPr/>
        </p:nvSpPr>
        <p:spPr bwMode="auto">
          <a:xfrm>
            <a:off x="457200" y="3648075"/>
            <a:ext cx="8229600" cy="609600"/>
          </a:xfrm>
          <a:prstGeom prst="rect">
            <a:avLst/>
          </a:prstGeom>
          <a:noFill/>
          <a:ln w="9525">
            <a:noFill/>
            <a:miter lim="800000"/>
            <a:headEnd/>
            <a:tailEnd/>
          </a:ln>
        </p:spPr>
        <p:txBody>
          <a:bodyPr anchor="ctr"/>
          <a:lstStyle/>
          <a:p>
            <a:pPr eaLnBrk="0" hangingPunct="0">
              <a:defRPr/>
            </a:pPr>
            <a:r>
              <a:rPr lang="en-US" sz="1400" b="1" dirty="0" smtClean="0">
                <a:solidFill>
                  <a:srgbClr val="009D57"/>
                </a:solidFill>
                <a:latin typeface="Tw Cen MT" pitchFamily="34" charset="0"/>
                <a:ea typeface="+mj-ea"/>
                <a:cs typeface="+mj-cs"/>
              </a:rPr>
              <a:t>All Leader Development – </a:t>
            </a:r>
            <a:r>
              <a:rPr lang="en-US" sz="1400" b="1" dirty="0" smtClean="0">
                <a:solidFill>
                  <a:schemeClr val="accent6">
                    <a:lumMod val="75000"/>
                  </a:schemeClr>
                </a:solidFill>
                <a:latin typeface="Tw Cen MT" pitchFamily="34" charset="0"/>
                <a:ea typeface="+mj-ea"/>
                <a:cs typeface="+mj-cs"/>
              </a:rPr>
              <a:t>Leadership Now and Leadership Essentials</a:t>
            </a:r>
            <a:endParaRPr lang="en-US" sz="1400" b="1" dirty="0">
              <a:solidFill>
                <a:schemeClr val="accent6">
                  <a:lumMod val="75000"/>
                </a:schemeClr>
              </a:solidFill>
              <a:latin typeface="Tw Cen MT" pitchFamily="34" charset="0"/>
              <a:ea typeface="+mj-ea"/>
              <a:cs typeface="+mj-cs"/>
            </a:endParaRPr>
          </a:p>
        </p:txBody>
      </p:sp>
      <p:sp>
        <p:nvSpPr>
          <p:cNvPr id="55" name="Text Box 13"/>
          <p:cNvSpPr txBox="1">
            <a:spLocks noChangeArrowheads="1"/>
          </p:cNvSpPr>
          <p:nvPr/>
        </p:nvSpPr>
        <p:spPr bwMode="auto">
          <a:xfrm>
            <a:off x="4686300" y="2514600"/>
            <a:ext cx="990600" cy="600164"/>
          </a:xfrm>
          <a:prstGeom prst="rect">
            <a:avLst/>
          </a:prstGeom>
          <a:noFill/>
          <a:ln w="9525">
            <a:noFill/>
            <a:miter lim="800000"/>
            <a:headEnd/>
            <a:tailEnd/>
          </a:ln>
        </p:spPr>
        <p:txBody>
          <a:bodyPr wrap="square">
            <a:spAutoFit/>
          </a:bodyPr>
          <a:lstStyle/>
          <a:p>
            <a:pPr algn="ctr">
              <a:spcBef>
                <a:spcPts val="0"/>
              </a:spcBef>
            </a:pPr>
            <a:r>
              <a:rPr lang="en-US" sz="1100" b="1" dirty="0" smtClean="0">
                <a:solidFill>
                  <a:srgbClr val="7030A0"/>
                </a:solidFill>
                <a:latin typeface="Tw Cen MT" pitchFamily="34" charset="0"/>
              </a:rPr>
              <a:t>Generation Next</a:t>
            </a:r>
            <a:endParaRPr lang="en-US" sz="1100" dirty="0">
              <a:solidFill>
                <a:srgbClr val="7030A0"/>
              </a:solidFill>
              <a:latin typeface="Tw Cen MT" pitchFamily="34" charset="0"/>
            </a:endParaRPr>
          </a:p>
          <a:p>
            <a:pPr algn="ctr">
              <a:spcBef>
                <a:spcPts val="0"/>
              </a:spcBef>
            </a:pPr>
            <a:r>
              <a:rPr lang="en-US" sz="1100" dirty="0" smtClean="0">
                <a:solidFill>
                  <a:srgbClr val="7030A0"/>
                </a:solidFill>
                <a:latin typeface="Tw Cen MT" pitchFamily="34" charset="0"/>
              </a:rPr>
              <a:t>(Next Cohort)</a:t>
            </a:r>
          </a:p>
        </p:txBody>
      </p:sp>
      <p:sp>
        <p:nvSpPr>
          <p:cNvPr id="56" name="Text Box 13"/>
          <p:cNvSpPr txBox="1">
            <a:spLocks noChangeArrowheads="1"/>
          </p:cNvSpPr>
          <p:nvPr/>
        </p:nvSpPr>
        <p:spPr bwMode="auto">
          <a:xfrm>
            <a:off x="609600" y="5019675"/>
            <a:ext cx="1123950" cy="1015663"/>
          </a:xfrm>
          <a:prstGeom prst="rect">
            <a:avLst/>
          </a:prstGeom>
          <a:noFill/>
          <a:ln w="9525">
            <a:noFill/>
            <a:miter lim="800000"/>
            <a:headEnd/>
            <a:tailEnd/>
          </a:ln>
        </p:spPr>
        <p:txBody>
          <a:bodyPr wrap="square">
            <a:spAutoFit/>
          </a:bodyPr>
          <a:lstStyle/>
          <a:p>
            <a:pPr algn="ctr">
              <a:spcBef>
                <a:spcPts val="0"/>
              </a:spcBef>
            </a:pPr>
            <a:r>
              <a:rPr lang="en-US" sz="1100" b="1" dirty="0" smtClean="0">
                <a:solidFill>
                  <a:schemeClr val="accent6">
                    <a:lumMod val="75000"/>
                  </a:schemeClr>
                </a:solidFill>
                <a:latin typeface="Tw Cen MT" pitchFamily="34" charset="0"/>
              </a:rPr>
              <a:t>Management Essentials Program</a:t>
            </a:r>
          </a:p>
          <a:p>
            <a:pPr algn="ctr">
              <a:spcBef>
                <a:spcPts val="0"/>
              </a:spcBef>
            </a:pPr>
            <a:r>
              <a:rPr lang="en-US" sz="900" dirty="0" smtClean="0">
                <a:solidFill>
                  <a:schemeClr val="accent6">
                    <a:lumMod val="75000"/>
                  </a:schemeClr>
                </a:solidFill>
                <a:latin typeface="Tw Cen MT" pitchFamily="34" charset="0"/>
              </a:rPr>
              <a:t>(Next Cohort – New cohort launched every 3 months)</a:t>
            </a:r>
            <a:r>
              <a:rPr lang="en-US" sz="900" b="1" dirty="0" smtClean="0">
                <a:solidFill>
                  <a:schemeClr val="accent6">
                    <a:lumMod val="75000"/>
                  </a:schemeClr>
                </a:solidFill>
                <a:latin typeface="Tw Cen MT" pitchFamily="34" charset="0"/>
              </a:rPr>
              <a:t> </a:t>
            </a:r>
            <a:endParaRPr lang="en-US" sz="900" dirty="0" smtClean="0">
              <a:solidFill>
                <a:schemeClr val="accent6">
                  <a:lumMod val="75000"/>
                </a:schemeClr>
              </a:solidFill>
              <a:latin typeface="Tw Cen MT" pitchFamily="34" charset="0"/>
            </a:endParaRPr>
          </a:p>
        </p:txBody>
      </p:sp>
      <p:sp>
        <p:nvSpPr>
          <p:cNvPr id="42" name="Text Box 13"/>
          <p:cNvSpPr txBox="1">
            <a:spLocks noChangeArrowheads="1"/>
          </p:cNvSpPr>
          <p:nvPr/>
        </p:nvSpPr>
        <p:spPr bwMode="auto">
          <a:xfrm>
            <a:off x="2705100" y="2476500"/>
            <a:ext cx="885825" cy="600164"/>
          </a:xfrm>
          <a:prstGeom prst="rect">
            <a:avLst/>
          </a:prstGeom>
          <a:noFill/>
          <a:ln w="9525">
            <a:noFill/>
            <a:miter lim="800000"/>
            <a:headEnd/>
            <a:tailEnd/>
          </a:ln>
        </p:spPr>
        <p:txBody>
          <a:bodyPr>
            <a:spAutoFit/>
          </a:bodyPr>
          <a:lstStyle/>
          <a:p>
            <a:pPr algn="ctr">
              <a:spcBef>
                <a:spcPts val="0"/>
              </a:spcBef>
            </a:pPr>
            <a:r>
              <a:rPr lang="en-US" sz="1100" b="1" dirty="0" smtClean="0">
                <a:solidFill>
                  <a:srgbClr val="7030A0"/>
                </a:solidFill>
                <a:latin typeface="Tw Cen MT" pitchFamily="34" charset="0"/>
              </a:rPr>
              <a:t>Chiefs Workshop</a:t>
            </a:r>
            <a:endParaRPr lang="en-US" sz="1100" dirty="0">
              <a:solidFill>
                <a:srgbClr val="7030A0"/>
              </a:solidFill>
              <a:latin typeface="Tw Cen MT" pitchFamily="34" charset="0"/>
            </a:endParaRPr>
          </a:p>
          <a:p>
            <a:pPr algn="ctr">
              <a:spcBef>
                <a:spcPts val="0"/>
              </a:spcBef>
            </a:pPr>
            <a:r>
              <a:rPr lang="en-US" sz="1100" dirty="0" smtClean="0">
                <a:solidFill>
                  <a:srgbClr val="7030A0"/>
                </a:solidFill>
                <a:latin typeface="Tw Cen MT" pitchFamily="34" charset="0"/>
              </a:rPr>
              <a:t>(Class 5)</a:t>
            </a:r>
          </a:p>
        </p:txBody>
      </p:sp>
      <p:sp>
        <p:nvSpPr>
          <p:cNvPr id="48" name="Text Box 13"/>
          <p:cNvSpPr txBox="1">
            <a:spLocks noChangeArrowheads="1"/>
          </p:cNvSpPr>
          <p:nvPr/>
        </p:nvSpPr>
        <p:spPr bwMode="auto">
          <a:xfrm>
            <a:off x="5715000" y="5019675"/>
            <a:ext cx="990600" cy="938719"/>
          </a:xfrm>
          <a:prstGeom prst="rect">
            <a:avLst/>
          </a:prstGeom>
          <a:noFill/>
          <a:ln w="9525">
            <a:noFill/>
            <a:miter lim="800000"/>
            <a:headEnd/>
            <a:tailEnd/>
          </a:ln>
        </p:spPr>
        <p:txBody>
          <a:bodyPr wrap="square">
            <a:spAutoFit/>
          </a:bodyPr>
          <a:lstStyle/>
          <a:p>
            <a:pPr algn="ctr">
              <a:spcBef>
                <a:spcPts val="0"/>
              </a:spcBef>
            </a:pPr>
            <a:r>
              <a:rPr lang="en-US" sz="1100" b="1" dirty="0" smtClean="0">
                <a:solidFill>
                  <a:schemeClr val="accent6">
                    <a:lumMod val="75000"/>
                  </a:schemeClr>
                </a:solidFill>
                <a:latin typeface="Tw Cen MT" pitchFamily="34" charset="0"/>
              </a:rPr>
              <a:t>Physician Management</a:t>
            </a:r>
          </a:p>
          <a:p>
            <a:pPr algn="ctr">
              <a:spcBef>
                <a:spcPts val="0"/>
              </a:spcBef>
            </a:pPr>
            <a:r>
              <a:rPr lang="en-US" sz="1100" b="1" dirty="0" smtClean="0">
                <a:solidFill>
                  <a:schemeClr val="accent6">
                    <a:lumMod val="75000"/>
                  </a:schemeClr>
                </a:solidFill>
                <a:latin typeface="Tw Cen MT" pitchFamily="34" charset="0"/>
              </a:rPr>
              <a:t>Essentials Program</a:t>
            </a:r>
          </a:p>
          <a:p>
            <a:pPr algn="ctr">
              <a:spcBef>
                <a:spcPts val="0"/>
              </a:spcBef>
            </a:pPr>
            <a:r>
              <a:rPr lang="en-US" sz="1100" dirty="0" smtClean="0">
                <a:solidFill>
                  <a:schemeClr val="accent6">
                    <a:lumMod val="75000"/>
                  </a:schemeClr>
                </a:solidFill>
                <a:latin typeface="Tw Cen MT" pitchFamily="34" charset="0"/>
              </a:rPr>
              <a:t>(Next Cohort)</a:t>
            </a:r>
            <a:r>
              <a:rPr lang="en-US" sz="1100" b="1" dirty="0" smtClean="0">
                <a:solidFill>
                  <a:schemeClr val="accent6">
                    <a:lumMod val="75000"/>
                  </a:schemeClr>
                </a:solidFill>
                <a:latin typeface="Tw Cen MT" pitchFamily="34" charset="0"/>
              </a:rPr>
              <a:t> </a:t>
            </a:r>
            <a:endParaRPr lang="en-US" sz="1100" dirty="0" smtClean="0">
              <a:solidFill>
                <a:schemeClr val="accent6">
                  <a:lumMod val="75000"/>
                </a:schemeClr>
              </a:solidFill>
              <a:latin typeface="Tw Cen MT" pitchFamily="34" charset="0"/>
            </a:endParaRPr>
          </a:p>
        </p:txBody>
      </p:sp>
      <p:sp>
        <p:nvSpPr>
          <p:cNvPr id="49" name="Text Box 13"/>
          <p:cNvSpPr txBox="1">
            <a:spLocks noChangeArrowheads="1"/>
          </p:cNvSpPr>
          <p:nvPr/>
        </p:nvSpPr>
        <p:spPr bwMode="auto">
          <a:xfrm>
            <a:off x="3810000" y="4400550"/>
            <a:ext cx="901700" cy="600164"/>
          </a:xfrm>
          <a:prstGeom prst="rect">
            <a:avLst/>
          </a:prstGeom>
          <a:noFill/>
          <a:ln w="9525">
            <a:noFill/>
            <a:miter lim="800000"/>
            <a:headEnd/>
            <a:tailEnd/>
          </a:ln>
        </p:spPr>
        <p:txBody>
          <a:bodyPr>
            <a:spAutoFit/>
          </a:bodyPr>
          <a:lstStyle/>
          <a:p>
            <a:pPr algn="ctr">
              <a:spcBef>
                <a:spcPct val="50000"/>
              </a:spcBef>
            </a:pPr>
            <a:r>
              <a:rPr lang="en-US" sz="1100" b="1" dirty="0" smtClean="0">
                <a:solidFill>
                  <a:schemeClr val="accent6">
                    <a:lumMod val="75000"/>
                  </a:schemeClr>
                </a:solidFill>
                <a:latin typeface="Tw Cen MT" pitchFamily="34" charset="0"/>
              </a:rPr>
              <a:t>Take Out Training </a:t>
            </a:r>
            <a:r>
              <a:rPr lang="en-US" sz="1100" dirty="0" smtClean="0">
                <a:solidFill>
                  <a:schemeClr val="accent6">
                    <a:lumMod val="75000"/>
                  </a:schemeClr>
                </a:solidFill>
                <a:latin typeface="Tw Cen MT" pitchFamily="34" charset="0"/>
              </a:rPr>
              <a:t>(Director </a:t>
            </a:r>
            <a:r>
              <a:rPr lang="en-US" sz="1100" dirty="0">
                <a:solidFill>
                  <a:schemeClr val="accent6">
                    <a:lumMod val="75000"/>
                  </a:schemeClr>
                </a:solidFill>
                <a:latin typeface="Tw Cen MT" pitchFamily="34" charset="0"/>
              </a:rPr>
              <a:t>+)</a:t>
            </a:r>
            <a:endParaRPr lang="en-US" sz="1100" b="1" dirty="0">
              <a:solidFill>
                <a:schemeClr val="accent6">
                  <a:lumMod val="75000"/>
                </a:schemeClr>
              </a:solidFill>
              <a:latin typeface="Tw Cen MT" pitchFamily="34" charset="0"/>
            </a:endParaRPr>
          </a:p>
        </p:txBody>
      </p:sp>
      <p:sp>
        <p:nvSpPr>
          <p:cNvPr id="51" name="Text Box 13"/>
          <p:cNvSpPr txBox="1">
            <a:spLocks noChangeArrowheads="1"/>
          </p:cNvSpPr>
          <p:nvPr/>
        </p:nvSpPr>
        <p:spPr bwMode="auto">
          <a:xfrm>
            <a:off x="6629400" y="4410075"/>
            <a:ext cx="901700" cy="600164"/>
          </a:xfrm>
          <a:prstGeom prst="rect">
            <a:avLst/>
          </a:prstGeom>
          <a:noFill/>
          <a:ln w="9525">
            <a:noFill/>
            <a:miter lim="800000"/>
            <a:headEnd/>
            <a:tailEnd/>
          </a:ln>
        </p:spPr>
        <p:txBody>
          <a:bodyPr>
            <a:spAutoFit/>
          </a:bodyPr>
          <a:lstStyle/>
          <a:p>
            <a:pPr algn="ctr">
              <a:spcBef>
                <a:spcPct val="50000"/>
              </a:spcBef>
            </a:pPr>
            <a:r>
              <a:rPr lang="en-US" sz="1100" b="1" dirty="0" smtClean="0">
                <a:solidFill>
                  <a:schemeClr val="accent6">
                    <a:lumMod val="75000"/>
                  </a:schemeClr>
                </a:solidFill>
                <a:latin typeface="Tw Cen MT" pitchFamily="34" charset="0"/>
              </a:rPr>
              <a:t>Take Out Training </a:t>
            </a:r>
            <a:r>
              <a:rPr lang="en-US" sz="1100" dirty="0" smtClean="0">
                <a:solidFill>
                  <a:schemeClr val="accent6">
                    <a:lumMod val="75000"/>
                  </a:schemeClr>
                </a:solidFill>
                <a:latin typeface="Tw Cen MT" pitchFamily="34" charset="0"/>
              </a:rPr>
              <a:t>(Director </a:t>
            </a:r>
            <a:r>
              <a:rPr lang="en-US" sz="1100" dirty="0">
                <a:solidFill>
                  <a:schemeClr val="accent6">
                    <a:lumMod val="75000"/>
                  </a:schemeClr>
                </a:solidFill>
                <a:latin typeface="Tw Cen MT" pitchFamily="34" charset="0"/>
              </a:rPr>
              <a:t>+)</a:t>
            </a:r>
            <a:endParaRPr lang="en-US" sz="1100" b="1" dirty="0">
              <a:solidFill>
                <a:schemeClr val="accent6">
                  <a:lumMod val="75000"/>
                </a:schemeClr>
              </a:solidFill>
              <a:latin typeface="Tw Cen MT" pitchFamily="34" charset="0"/>
            </a:endParaRPr>
          </a:p>
        </p:txBody>
      </p:sp>
      <p:sp>
        <p:nvSpPr>
          <p:cNvPr id="54" name="TextBox 53"/>
          <p:cNvSpPr txBox="1"/>
          <p:nvPr/>
        </p:nvSpPr>
        <p:spPr>
          <a:xfrm>
            <a:off x="838200" y="3219450"/>
            <a:ext cx="1710725" cy="246221"/>
          </a:xfrm>
          <a:prstGeom prst="rect">
            <a:avLst/>
          </a:prstGeom>
          <a:noFill/>
        </p:spPr>
        <p:txBody>
          <a:bodyPr wrap="none" rtlCol="0">
            <a:spAutoFit/>
          </a:bodyPr>
          <a:lstStyle/>
          <a:p>
            <a:r>
              <a:rPr lang="en-US" sz="1000" b="1" dirty="0" smtClean="0">
                <a:solidFill>
                  <a:schemeClr val="bg1">
                    <a:lumMod val="50000"/>
                  </a:schemeClr>
                </a:solidFill>
                <a:latin typeface="+mn-lt"/>
              </a:rPr>
              <a:t>Performance Review Process</a:t>
            </a:r>
            <a:endParaRPr lang="en-US" sz="1000" b="1" dirty="0">
              <a:solidFill>
                <a:schemeClr val="bg1">
                  <a:lumMod val="50000"/>
                </a:schemeClr>
              </a:solidFill>
              <a:latin typeface="+mn-lt"/>
            </a:endParaRPr>
          </a:p>
        </p:txBody>
      </p:sp>
      <p:sp>
        <p:nvSpPr>
          <p:cNvPr id="57" name="TextBox 56"/>
          <p:cNvSpPr txBox="1"/>
          <p:nvPr/>
        </p:nvSpPr>
        <p:spPr>
          <a:xfrm>
            <a:off x="5562600" y="3219450"/>
            <a:ext cx="3048000" cy="246221"/>
          </a:xfrm>
          <a:prstGeom prst="rect">
            <a:avLst/>
          </a:prstGeom>
          <a:noFill/>
        </p:spPr>
        <p:txBody>
          <a:bodyPr wrap="square" rtlCol="0">
            <a:spAutoFit/>
          </a:bodyPr>
          <a:lstStyle/>
          <a:p>
            <a:pPr algn="ctr"/>
            <a:r>
              <a:rPr lang="en-US" sz="1000" b="1" dirty="0" smtClean="0">
                <a:solidFill>
                  <a:schemeClr val="bg1">
                    <a:lumMod val="50000"/>
                  </a:schemeClr>
                </a:solidFill>
                <a:latin typeface="+mn-lt"/>
              </a:rPr>
              <a:t>Budget Process</a:t>
            </a:r>
            <a:endParaRPr lang="en-US" sz="1000" b="1" dirty="0">
              <a:solidFill>
                <a:schemeClr val="bg1">
                  <a:lumMod val="50000"/>
                </a:schemeClr>
              </a:solidFill>
              <a:latin typeface="+mn-lt"/>
            </a:endParaRPr>
          </a:p>
        </p:txBody>
      </p:sp>
      <p:cxnSp>
        <p:nvCxnSpPr>
          <p:cNvPr id="60" name="Straight Arrow Connector 59"/>
          <p:cNvCxnSpPr/>
          <p:nvPr/>
        </p:nvCxnSpPr>
        <p:spPr>
          <a:xfrm flipV="1">
            <a:off x="7543800" y="3371850"/>
            <a:ext cx="1143000" cy="0"/>
          </a:xfrm>
          <a:prstGeom prst="straightConnector1">
            <a:avLst/>
          </a:prstGeom>
          <a:ln>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rot="10800000">
            <a:off x="5334000" y="3371850"/>
            <a:ext cx="1295400" cy="1588"/>
          </a:xfrm>
          <a:prstGeom prst="straightConnector1">
            <a:avLst/>
          </a:prstGeom>
          <a:ln>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70" name="Text Box 13"/>
          <p:cNvSpPr txBox="1">
            <a:spLocks noChangeArrowheads="1"/>
          </p:cNvSpPr>
          <p:nvPr/>
        </p:nvSpPr>
        <p:spPr bwMode="auto">
          <a:xfrm>
            <a:off x="6705600" y="2486025"/>
            <a:ext cx="885825" cy="600164"/>
          </a:xfrm>
          <a:prstGeom prst="rect">
            <a:avLst/>
          </a:prstGeom>
          <a:noFill/>
          <a:ln w="9525">
            <a:noFill/>
            <a:miter lim="800000"/>
            <a:headEnd/>
            <a:tailEnd/>
          </a:ln>
        </p:spPr>
        <p:txBody>
          <a:bodyPr>
            <a:spAutoFit/>
          </a:bodyPr>
          <a:lstStyle/>
          <a:p>
            <a:pPr algn="ctr">
              <a:spcBef>
                <a:spcPts val="0"/>
              </a:spcBef>
            </a:pPr>
            <a:r>
              <a:rPr lang="en-US" sz="1100" b="1" dirty="0" smtClean="0">
                <a:solidFill>
                  <a:srgbClr val="7030A0"/>
                </a:solidFill>
                <a:latin typeface="Tw Cen MT" pitchFamily="34" charset="0"/>
              </a:rPr>
              <a:t>Chiefs Workshop</a:t>
            </a:r>
            <a:endParaRPr lang="en-US" sz="1100" dirty="0">
              <a:solidFill>
                <a:srgbClr val="7030A0"/>
              </a:solidFill>
              <a:latin typeface="Tw Cen MT" pitchFamily="34" charset="0"/>
            </a:endParaRPr>
          </a:p>
          <a:p>
            <a:pPr algn="ctr">
              <a:spcBef>
                <a:spcPts val="0"/>
              </a:spcBef>
            </a:pPr>
            <a:r>
              <a:rPr lang="en-US" sz="1100" dirty="0" smtClean="0">
                <a:solidFill>
                  <a:srgbClr val="7030A0"/>
                </a:solidFill>
                <a:latin typeface="Tw Cen MT" pitchFamily="34" charset="0"/>
              </a:rPr>
              <a:t>(Class 6)</a:t>
            </a:r>
          </a:p>
        </p:txBody>
      </p:sp>
      <p:sp>
        <p:nvSpPr>
          <p:cNvPr id="58" name="Text Box 13"/>
          <p:cNvSpPr txBox="1">
            <a:spLocks noChangeArrowheads="1"/>
          </p:cNvSpPr>
          <p:nvPr/>
        </p:nvSpPr>
        <p:spPr bwMode="auto">
          <a:xfrm>
            <a:off x="4724400" y="1676400"/>
            <a:ext cx="885825" cy="769441"/>
          </a:xfrm>
          <a:prstGeom prst="rect">
            <a:avLst/>
          </a:prstGeom>
          <a:noFill/>
          <a:ln w="9525">
            <a:noFill/>
            <a:miter lim="800000"/>
            <a:headEnd/>
            <a:tailEnd/>
          </a:ln>
        </p:spPr>
        <p:txBody>
          <a:bodyPr>
            <a:spAutoFit/>
          </a:bodyPr>
          <a:lstStyle/>
          <a:p>
            <a:pPr algn="ctr">
              <a:spcBef>
                <a:spcPts val="0"/>
              </a:spcBef>
            </a:pPr>
            <a:r>
              <a:rPr lang="en-US" sz="1100" b="1" dirty="0" smtClean="0">
                <a:solidFill>
                  <a:srgbClr val="7030A0"/>
                </a:solidFill>
                <a:latin typeface="Tw Cen MT" pitchFamily="34" charset="0"/>
              </a:rPr>
              <a:t>Leader Next</a:t>
            </a:r>
          </a:p>
          <a:p>
            <a:pPr algn="ctr">
              <a:spcBef>
                <a:spcPts val="0"/>
              </a:spcBef>
            </a:pPr>
            <a:r>
              <a:rPr lang="en-US" sz="1100" dirty="0" smtClean="0">
                <a:solidFill>
                  <a:srgbClr val="7030A0"/>
                </a:solidFill>
                <a:latin typeface="Tw Cen MT" pitchFamily="34" charset="0"/>
              </a:rPr>
              <a:t>Workshop 2</a:t>
            </a:r>
          </a:p>
          <a:p>
            <a:pPr algn="ctr">
              <a:spcBef>
                <a:spcPts val="0"/>
              </a:spcBef>
            </a:pPr>
            <a:r>
              <a:rPr lang="en-US" sz="1100" dirty="0" smtClean="0">
                <a:solidFill>
                  <a:srgbClr val="7030A0"/>
                </a:solidFill>
                <a:latin typeface="Tw Cen MT" pitchFamily="34" charset="0"/>
              </a:rPr>
              <a:t>Directors +</a:t>
            </a:r>
          </a:p>
          <a:p>
            <a:pPr algn="ctr">
              <a:spcBef>
                <a:spcPts val="0"/>
              </a:spcBef>
            </a:pPr>
            <a:r>
              <a:rPr lang="en-US" sz="1100" dirty="0" smtClean="0">
                <a:solidFill>
                  <a:srgbClr val="7030A0"/>
                </a:solidFill>
                <a:latin typeface="Tw Cen MT" pitchFamily="34" charset="0"/>
              </a:rPr>
              <a:t>(Cohort 1)</a:t>
            </a:r>
            <a:endParaRPr lang="en-US" sz="1100" dirty="0">
              <a:solidFill>
                <a:srgbClr val="7030A0"/>
              </a:solidFill>
              <a:latin typeface="Tw Cen MT" pitchFamily="34" charset="0"/>
            </a:endParaRPr>
          </a:p>
        </p:txBody>
      </p:sp>
      <p:sp>
        <p:nvSpPr>
          <p:cNvPr id="63" name="Text Box 13"/>
          <p:cNvSpPr txBox="1">
            <a:spLocks noChangeArrowheads="1"/>
          </p:cNvSpPr>
          <p:nvPr/>
        </p:nvSpPr>
        <p:spPr bwMode="auto">
          <a:xfrm>
            <a:off x="7162800" y="1676400"/>
            <a:ext cx="885825" cy="769441"/>
          </a:xfrm>
          <a:prstGeom prst="rect">
            <a:avLst/>
          </a:prstGeom>
          <a:noFill/>
          <a:ln w="9525">
            <a:noFill/>
            <a:miter lim="800000"/>
            <a:headEnd/>
            <a:tailEnd/>
          </a:ln>
        </p:spPr>
        <p:txBody>
          <a:bodyPr>
            <a:spAutoFit/>
          </a:bodyPr>
          <a:lstStyle/>
          <a:p>
            <a:pPr algn="ctr">
              <a:spcBef>
                <a:spcPts val="0"/>
              </a:spcBef>
            </a:pPr>
            <a:r>
              <a:rPr lang="en-US" sz="1100" b="1" dirty="0" smtClean="0">
                <a:solidFill>
                  <a:srgbClr val="7030A0"/>
                </a:solidFill>
                <a:latin typeface="Tw Cen MT" pitchFamily="34" charset="0"/>
              </a:rPr>
              <a:t>Leader Next</a:t>
            </a:r>
          </a:p>
          <a:p>
            <a:pPr algn="ctr">
              <a:spcBef>
                <a:spcPts val="0"/>
              </a:spcBef>
            </a:pPr>
            <a:r>
              <a:rPr lang="en-US" sz="1100" dirty="0" smtClean="0">
                <a:solidFill>
                  <a:srgbClr val="7030A0"/>
                </a:solidFill>
                <a:latin typeface="Tw Cen MT" pitchFamily="34" charset="0"/>
              </a:rPr>
              <a:t>Workshop 3</a:t>
            </a:r>
          </a:p>
          <a:p>
            <a:pPr algn="ctr">
              <a:spcBef>
                <a:spcPts val="0"/>
              </a:spcBef>
            </a:pPr>
            <a:r>
              <a:rPr lang="en-US" sz="1100" dirty="0" smtClean="0">
                <a:solidFill>
                  <a:srgbClr val="7030A0"/>
                </a:solidFill>
                <a:latin typeface="Tw Cen MT" pitchFamily="34" charset="0"/>
              </a:rPr>
              <a:t>Directors +</a:t>
            </a:r>
          </a:p>
          <a:p>
            <a:pPr algn="ctr">
              <a:spcBef>
                <a:spcPts val="0"/>
              </a:spcBef>
            </a:pPr>
            <a:r>
              <a:rPr lang="en-US" sz="1100" dirty="0" smtClean="0">
                <a:solidFill>
                  <a:srgbClr val="7030A0"/>
                </a:solidFill>
                <a:latin typeface="Tw Cen MT" pitchFamily="34" charset="0"/>
              </a:rPr>
              <a:t>(Cohort 1)</a:t>
            </a:r>
            <a:endParaRPr lang="en-US" sz="1100" dirty="0">
              <a:solidFill>
                <a:srgbClr val="7030A0"/>
              </a:solidFill>
              <a:latin typeface="Tw Cen MT" pitchFamily="34" charset="0"/>
            </a:endParaRPr>
          </a:p>
        </p:txBody>
      </p:sp>
      <p:cxnSp>
        <p:nvCxnSpPr>
          <p:cNvPr id="64" name="Straight Arrow Connector 63"/>
          <p:cNvCxnSpPr/>
          <p:nvPr/>
        </p:nvCxnSpPr>
        <p:spPr>
          <a:xfrm rot="10800000">
            <a:off x="3352800" y="6096000"/>
            <a:ext cx="762000" cy="1588"/>
          </a:xfrm>
          <a:prstGeom prst="straightConnector1">
            <a:avLst/>
          </a:prstGeom>
          <a:ln>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p:nvPr/>
        </p:nvCxnSpPr>
        <p:spPr>
          <a:xfrm>
            <a:off x="8153400" y="6096000"/>
            <a:ext cx="609600" cy="1588"/>
          </a:xfrm>
          <a:prstGeom prst="straightConnector1">
            <a:avLst/>
          </a:prstGeom>
          <a:ln>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71" name="Slide Number Placeholder 11"/>
          <p:cNvSpPr txBox="1">
            <a:spLocks/>
          </p:cNvSpPr>
          <p:nvPr/>
        </p:nvSpPr>
        <p:spPr>
          <a:xfrm>
            <a:off x="8382000" y="6544310"/>
            <a:ext cx="3810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01D945C9-0277-4107-B589-EC55ECD240BC}" type="slidenum">
              <a:rPr kumimoji="0" lang="en-US" sz="1200" b="0" i="0" u="none" strike="noStrike" kern="1200" cap="none" spc="0" normalizeH="0" baseline="0" noProof="0" smtClean="0">
                <a:ln>
                  <a:noFill/>
                </a:ln>
                <a:solidFill>
                  <a:schemeClr val="bg1">
                    <a:lumMod val="50000"/>
                  </a:schemeClr>
                </a:solidFill>
                <a:effectLst/>
                <a:uLnTx/>
                <a:uFillTx/>
                <a:latin typeface="+mn-lt"/>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dirty="0">
              <a:ln>
                <a:noFill/>
              </a:ln>
              <a:solidFill>
                <a:schemeClr val="bg1">
                  <a:lumMod val="50000"/>
                </a:schemeClr>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990600"/>
          </a:xfrm>
        </p:spPr>
        <p:txBody>
          <a:bodyPr/>
          <a:lstStyle/>
          <a:p>
            <a:r>
              <a:rPr lang="en-US" sz="3000" dirty="0" smtClean="0"/>
              <a:t>Children’s Competencies lead the way</a:t>
            </a:r>
            <a:endParaRPr lang="en-US" sz="3000" dirty="0"/>
          </a:p>
        </p:txBody>
      </p:sp>
      <p:sp>
        <p:nvSpPr>
          <p:cNvPr id="3" name="Content Placeholder 2"/>
          <p:cNvSpPr>
            <a:spLocks noGrp="1"/>
          </p:cNvSpPr>
          <p:nvPr>
            <p:ph idx="1"/>
          </p:nvPr>
        </p:nvSpPr>
        <p:spPr>
          <a:xfrm>
            <a:off x="457200" y="1371600"/>
            <a:ext cx="8229600" cy="1981200"/>
          </a:xfrm>
        </p:spPr>
        <p:txBody>
          <a:bodyPr/>
          <a:lstStyle/>
          <a:p>
            <a:r>
              <a:rPr lang="en-US" sz="2200" dirty="0" smtClean="0"/>
              <a:t>Children’s Leadership Competencies will be the foundation for all curriculum and content related to leader development. </a:t>
            </a:r>
          </a:p>
          <a:p>
            <a:r>
              <a:rPr lang="en-US" sz="2200" dirty="0" smtClean="0"/>
              <a:t>Connecting the competencies to the strategy will help leaders understand and apply learning. </a:t>
            </a:r>
          </a:p>
          <a:p>
            <a:r>
              <a:rPr lang="en-US" sz="2200" dirty="0" smtClean="0"/>
              <a:t>Competencies will ensure we develop the “total leader”.</a:t>
            </a:r>
            <a:endParaRPr lang="en-US" sz="2200" dirty="0"/>
          </a:p>
        </p:txBody>
      </p:sp>
      <p:sp>
        <p:nvSpPr>
          <p:cNvPr id="7" name="TextBox 81"/>
          <p:cNvSpPr txBox="1">
            <a:spLocks noChangeArrowheads="1"/>
          </p:cNvSpPr>
          <p:nvPr/>
        </p:nvSpPr>
        <p:spPr bwMode="auto">
          <a:xfrm>
            <a:off x="1881187" y="3771900"/>
            <a:ext cx="1695450" cy="2251899"/>
          </a:xfrm>
          <a:prstGeom prst="rect">
            <a:avLst/>
          </a:prstGeom>
          <a:solidFill>
            <a:schemeClr val="bg1"/>
          </a:solidFill>
          <a:ln w="28575">
            <a:solidFill>
              <a:srgbClr val="009D57"/>
            </a:solidFill>
            <a:miter lim="800000"/>
            <a:headEnd/>
            <a:tailEnd/>
          </a:ln>
        </p:spPr>
        <p:txBody>
          <a:bodyPr>
            <a:spAutoFit/>
          </a:bodyPr>
          <a:lstStyle/>
          <a:p>
            <a:pPr algn="ctr">
              <a:defRPr/>
            </a:pPr>
            <a:r>
              <a:rPr lang="en-US" sz="1400" b="1" dirty="0" smtClean="0">
                <a:latin typeface="Tw Cen MT" pitchFamily="34" charset="0"/>
              </a:rPr>
              <a:t>Build a Strong Team</a:t>
            </a:r>
          </a:p>
          <a:p>
            <a:pPr algn="ctr">
              <a:defRPr/>
            </a:pPr>
            <a:endParaRPr lang="en-US" sz="1400" dirty="0">
              <a:latin typeface="Tw Cen MT" pitchFamily="34" charset="0"/>
            </a:endParaRPr>
          </a:p>
          <a:p>
            <a:pPr marL="117475" indent="-117475">
              <a:spcBef>
                <a:spcPts val="400"/>
              </a:spcBef>
              <a:spcAft>
                <a:spcPts val="200"/>
              </a:spcAft>
              <a:buFont typeface="Arial" pitchFamily="34" charset="0"/>
              <a:buChar char="•"/>
              <a:defRPr/>
            </a:pPr>
            <a:r>
              <a:rPr lang="en-US" sz="1200" dirty="0" smtClean="0">
                <a:latin typeface="Tw Cen MT" pitchFamily="34" charset="0"/>
              </a:rPr>
              <a:t>Hire </a:t>
            </a:r>
            <a:r>
              <a:rPr lang="en-US" sz="1200" dirty="0">
                <a:latin typeface="Tw Cen MT" pitchFamily="34" charset="0"/>
              </a:rPr>
              <a:t>and keep the best</a:t>
            </a:r>
          </a:p>
          <a:p>
            <a:pPr marL="117475" indent="-117475">
              <a:spcBef>
                <a:spcPts val="400"/>
              </a:spcBef>
              <a:spcAft>
                <a:spcPts val="200"/>
              </a:spcAft>
              <a:buFont typeface="Arial" pitchFamily="34" charset="0"/>
              <a:buChar char="•"/>
              <a:defRPr/>
            </a:pPr>
            <a:r>
              <a:rPr lang="en-US" sz="1200" dirty="0">
                <a:latin typeface="Tw Cen MT" pitchFamily="34" charset="0"/>
              </a:rPr>
              <a:t>Delegate authority</a:t>
            </a:r>
          </a:p>
          <a:p>
            <a:pPr marL="117475" indent="-117475">
              <a:spcBef>
                <a:spcPts val="400"/>
              </a:spcBef>
              <a:spcAft>
                <a:spcPts val="200"/>
              </a:spcAft>
              <a:buFont typeface="Arial" pitchFamily="34" charset="0"/>
              <a:buChar char="•"/>
              <a:defRPr/>
            </a:pPr>
            <a:r>
              <a:rPr lang="en-US" sz="1200" dirty="0">
                <a:latin typeface="Tw Cen MT" pitchFamily="34" charset="0"/>
              </a:rPr>
              <a:t>Trust your team</a:t>
            </a:r>
          </a:p>
          <a:p>
            <a:pPr marL="117475" indent="-117475">
              <a:spcBef>
                <a:spcPts val="400"/>
              </a:spcBef>
              <a:spcAft>
                <a:spcPts val="200"/>
              </a:spcAft>
              <a:buFont typeface="Arial" pitchFamily="34" charset="0"/>
              <a:buChar char="•"/>
              <a:defRPr/>
            </a:pPr>
            <a:r>
              <a:rPr lang="en-US" sz="1200" dirty="0">
                <a:latin typeface="Tw Cen MT" pitchFamily="34" charset="0"/>
              </a:rPr>
              <a:t>Celebrate success</a:t>
            </a:r>
          </a:p>
          <a:p>
            <a:pPr marL="117475" indent="-117475">
              <a:spcBef>
                <a:spcPts val="400"/>
              </a:spcBef>
              <a:spcAft>
                <a:spcPts val="200"/>
              </a:spcAft>
              <a:buFont typeface="Arial" pitchFamily="34" charset="0"/>
              <a:buChar char="•"/>
              <a:defRPr/>
            </a:pPr>
            <a:r>
              <a:rPr lang="en-US" sz="1200" dirty="0">
                <a:latin typeface="Tw Cen MT" pitchFamily="34" charset="0"/>
              </a:rPr>
              <a:t>Promote   development</a:t>
            </a:r>
            <a:endParaRPr lang="en-US" sz="1200" b="1" dirty="0">
              <a:latin typeface="Tw Cen MT" pitchFamily="34" charset="0"/>
            </a:endParaRPr>
          </a:p>
          <a:p>
            <a:pPr marL="117475" indent="-117475">
              <a:spcBef>
                <a:spcPts val="400"/>
              </a:spcBef>
              <a:spcAft>
                <a:spcPts val="200"/>
              </a:spcAft>
              <a:buFont typeface="Arial" pitchFamily="34" charset="0"/>
              <a:buChar char="•"/>
              <a:defRPr/>
            </a:pPr>
            <a:endParaRPr lang="en-US" sz="1200" dirty="0">
              <a:latin typeface="Tw Cen MT" pitchFamily="34" charset="0"/>
            </a:endParaRPr>
          </a:p>
        </p:txBody>
      </p:sp>
      <p:sp>
        <p:nvSpPr>
          <p:cNvPr id="8" name="TextBox 43"/>
          <p:cNvSpPr txBox="1">
            <a:spLocks noChangeArrowheads="1"/>
          </p:cNvSpPr>
          <p:nvPr/>
        </p:nvSpPr>
        <p:spPr bwMode="auto">
          <a:xfrm>
            <a:off x="152400" y="3771900"/>
            <a:ext cx="1666875" cy="2247900"/>
          </a:xfrm>
          <a:prstGeom prst="rect">
            <a:avLst/>
          </a:prstGeom>
          <a:solidFill>
            <a:schemeClr val="bg1"/>
          </a:solidFill>
          <a:ln w="28575">
            <a:solidFill>
              <a:srgbClr val="F7941E"/>
            </a:solidFill>
            <a:miter lim="800000"/>
            <a:headEnd/>
            <a:tailEnd/>
          </a:ln>
        </p:spPr>
        <p:txBody>
          <a:bodyPr wrap="square">
            <a:spAutoFit/>
          </a:bodyPr>
          <a:lstStyle/>
          <a:p>
            <a:pPr algn="ctr">
              <a:defRPr/>
            </a:pPr>
            <a:r>
              <a:rPr lang="en-US" sz="1400" b="1" dirty="0">
                <a:latin typeface="Tw Cen MT" pitchFamily="34" charset="0"/>
              </a:rPr>
              <a:t>Get Results</a:t>
            </a:r>
          </a:p>
          <a:p>
            <a:pPr>
              <a:defRPr/>
            </a:pPr>
            <a:endParaRPr lang="en-US" sz="1200" b="1" dirty="0">
              <a:latin typeface="Tw Cen MT" pitchFamily="34" charset="0"/>
            </a:endParaRPr>
          </a:p>
          <a:p>
            <a:pPr marL="117475" indent="-117475">
              <a:spcBef>
                <a:spcPts val="400"/>
              </a:spcBef>
              <a:spcAft>
                <a:spcPts val="200"/>
              </a:spcAft>
              <a:buFont typeface="Arial" pitchFamily="34" charset="0"/>
              <a:buChar char="•"/>
              <a:defRPr/>
            </a:pPr>
            <a:r>
              <a:rPr lang="en-US" sz="1200" dirty="0">
                <a:latin typeface="Tw Cen MT" pitchFamily="34" charset="0"/>
              </a:rPr>
              <a:t>Understand issues</a:t>
            </a:r>
          </a:p>
          <a:p>
            <a:pPr marL="117475" indent="-117475">
              <a:spcBef>
                <a:spcPts val="400"/>
              </a:spcBef>
              <a:spcAft>
                <a:spcPts val="200"/>
              </a:spcAft>
              <a:buFont typeface="Arial" pitchFamily="34" charset="0"/>
              <a:buChar char="•"/>
              <a:defRPr/>
            </a:pPr>
            <a:r>
              <a:rPr lang="en-US" sz="1200" dirty="0">
                <a:latin typeface="Tw Cen MT" pitchFamily="34" charset="0"/>
              </a:rPr>
              <a:t>Connect the dots</a:t>
            </a:r>
          </a:p>
          <a:p>
            <a:pPr marL="117475" indent="-117475">
              <a:spcBef>
                <a:spcPts val="400"/>
              </a:spcBef>
              <a:spcAft>
                <a:spcPts val="200"/>
              </a:spcAft>
              <a:buFont typeface="Arial" pitchFamily="34" charset="0"/>
              <a:buChar char="•"/>
              <a:defRPr/>
            </a:pPr>
            <a:r>
              <a:rPr lang="en-US" sz="1200" dirty="0">
                <a:latin typeface="Tw Cen MT" pitchFamily="34" charset="0"/>
              </a:rPr>
              <a:t>Make decisions</a:t>
            </a:r>
          </a:p>
          <a:p>
            <a:pPr marL="117475" indent="-117475">
              <a:spcBef>
                <a:spcPts val="400"/>
              </a:spcBef>
              <a:spcAft>
                <a:spcPts val="200"/>
              </a:spcAft>
              <a:buFont typeface="Arial" pitchFamily="34" charset="0"/>
              <a:buChar char="•"/>
              <a:defRPr/>
            </a:pPr>
            <a:r>
              <a:rPr lang="en-US" sz="1200" dirty="0">
                <a:latin typeface="Tw Cen MT" pitchFamily="34" charset="0"/>
              </a:rPr>
              <a:t>Be efficient and consistent</a:t>
            </a:r>
          </a:p>
          <a:p>
            <a:pPr marL="117475" indent="-117475">
              <a:spcBef>
                <a:spcPts val="400"/>
              </a:spcBef>
              <a:spcAft>
                <a:spcPts val="200"/>
              </a:spcAft>
              <a:buFont typeface="Arial" pitchFamily="34" charset="0"/>
              <a:buChar char="•"/>
              <a:defRPr/>
            </a:pPr>
            <a:r>
              <a:rPr lang="en-US" sz="1200" dirty="0">
                <a:latin typeface="Tw Cen MT" pitchFamily="34" charset="0"/>
              </a:rPr>
              <a:t>Set expectations</a:t>
            </a:r>
          </a:p>
          <a:p>
            <a:pPr marL="117475" indent="-117475">
              <a:spcBef>
                <a:spcPts val="400"/>
              </a:spcBef>
              <a:spcAft>
                <a:spcPts val="200"/>
              </a:spcAft>
              <a:buFont typeface="Arial" pitchFamily="34" charset="0"/>
              <a:buChar char="•"/>
              <a:defRPr/>
            </a:pPr>
            <a:endParaRPr lang="en-US" sz="1200" dirty="0">
              <a:latin typeface="Tw Cen MT" pitchFamily="34" charset="0"/>
            </a:endParaRPr>
          </a:p>
        </p:txBody>
      </p:sp>
      <p:sp>
        <p:nvSpPr>
          <p:cNvPr id="9" name="TextBox 39"/>
          <p:cNvSpPr txBox="1">
            <a:spLocks noChangeArrowheads="1"/>
          </p:cNvSpPr>
          <p:nvPr/>
        </p:nvSpPr>
        <p:spPr bwMode="auto">
          <a:xfrm>
            <a:off x="3629025" y="3771901"/>
            <a:ext cx="1752600" cy="2251899"/>
          </a:xfrm>
          <a:prstGeom prst="rect">
            <a:avLst/>
          </a:prstGeom>
          <a:solidFill>
            <a:schemeClr val="bg1"/>
          </a:solidFill>
          <a:ln w="28575">
            <a:solidFill>
              <a:srgbClr val="009DDC"/>
            </a:solidFill>
            <a:miter lim="800000"/>
            <a:headEnd/>
            <a:tailEnd/>
          </a:ln>
        </p:spPr>
        <p:txBody>
          <a:bodyPr wrap="square">
            <a:spAutoFit/>
          </a:bodyPr>
          <a:lstStyle/>
          <a:p>
            <a:pPr algn="ctr">
              <a:defRPr/>
            </a:pPr>
            <a:r>
              <a:rPr lang="en-US" sz="1400" b="1" dirty="0">
                <a:latin typeface="Tw Cen MT" pitchFamily="34" charset="0"/>
              </a:rPr>
              <a:t>Be Clear and Compelling</a:t>
            </a:r>
            <a:endParaRPr lang="en-US" sz="1400" dirty="0">
              <a:latin typeface="Tw Cen MT" pitchFamily="34" charset="0"/>
            </a:endParaRPr>
          </a:p>
          <a:p>
            <a:pPr marL="117475" indent="-117475">
              <a:spcBef>
                <a:spcPts val="400"/>
              </a:spcBef>
              <a:spcAft>
                <a:spcPts val="200"/>
              </a:spcAft>
              <a:buFont typeface="Arial" pitchFamily="34" charset="0"/>
              <a:buChar char="•"/>
              <a:defRPr/>
            </a:pPr>
            <a:r>
              <a:rPr lang="en-US" sz="1200" dirty="0" smtClean="0">
                <a:latin typeface="Tw Cen MT" pitchFamily="34" charset="0"/>
              </a:rPr>
              <a:t>Know </a:t>
            </a:r>
            <a:r>
              <a:rPr lang="en-US" sz="1200" dirty="0">
                <a:latin typeface="Tw Cen MT" pitchFamily="34" charset="0"/>
              </a:rPr>
              <a:t>your audience</a:t>
            </a:r>
          </a:p>
          <a:p>
            <a:pPr marL="117475" indent="-117475">
              <a:spcBef>
                <a:spcPts val="400"/>
              </a:spcBef>
              <a:spcAft>
                <a:spcPts val="200"/>
              </a:spcAft>
              <a:buFont typeface="Arial" pitchFamily="34" charset="0"/>
              <a:buChar char="•"/>
              <a:defRPr/>
            </a:pPr>
            <a:r>
              <a:rPr lang="en-US" sz="1200" dirty="0">
                <a:latin typeface="Tw Cen MT" pitchFamily="34" charset="0"/>
              </a:rPr>
              <a:t>Set context</a:t>
            </a:r>
          </a:p>
          <a:p>
            <a:pPr marL="117475" indent="-117475">
              <a:spcBef>
                <a:spcPts val="400"/>
              </a:spcBef>
              <a:spcAft>
                <a:spcPts val="200"/>
              </a:spcAft>
              <a:buFont typeface="Arial" pitchFamily="34" charset="0"/>
              <a:buChar char="•"/>
              <a:defRPr/>
            </a:pPr>
            <a:r>
              <a:rPr lang="en-US" sz="1200" dirty="0">
                <a:latin typeface="Tw Cen MT" pitchFamily="34" charset="0"/>
              </a:rPr>
              <a:t>Manage the message</a:t>
            </a:r>
          </a:p>
          <a:p>
            <a:pPr marL="117475" indent="-117475">
              <a:spcBef>
                <a:spcPts val="400"/>
              </a:spcBef>
              <a:spcAft>
                <a:spcPts val="200"/>
              </a:spcAft>
              <a:buFont typeface="Arial" pitchFamily="34" charset="0"/>
              <a:buChar char="•"/>
              <a:defRPr/>
            </a:pPr>
            <a:r>
              <a:rPr lang="en-US" sz="1200" dirty="0">
                <a:latin typeface="Tw Cen MT" pitchFamily="34" charset="0"/>
              </a:rPr>
              <a:t>Make your point</a:t>
            </a:r>
          </a:p>
          <a:p>
            <a:pPr marL="117475" indent="-117475">
              <a:spcBef>
                <a:spcPts val="400"/>
              </a:spcBef>
              <a:spcAft>
                <a:spcPts val="200"/>
              </a:spcAft>
              <a:buFont typeface="Arial" pitchFamily="34" charset="0"/>
              <a:buChar char="•"/>
              <a:defRPr/>
            </a:pPr>
            <a:r>
              <a:rPr lang="en-US" sz="1200" dirty="0">
                <a:latin typeface="Tw Cen MT" pitchFamily="34" charset="0"/>
              </a:rPr>
              <a:t>Exercise clarity and </a:t>
            </a:r>
            <a:r>
              <a:rPr lang="en-US" sz="1200" dirty="0" smtClean="0">
                <a:latin typeface="Tw Cen MT" pitchFamily="34" charset="0"/>
              </a:rPr>
              <a:t>brevity</a:t>
            </a:r>
          </a:p>
          <a:p>
            <a:pPr marL="117475" indent="-117475">
              <a:spcBef>
                <a:spcPts val="400"/>
              </a:spcBef>
              <a:spcAft>
                <a:spcPts val="200"/>
              </a:spcAft>
              <a:defRPr/>
            </a:pPr>
            <a:endParaRPr lang="en-US" sz="1200" dirty="0">
              <a:latin typeface="Tw Cen MT" pitchFamily="34" charset="0"/>
            </a:endParaRPr>
          </a:p>
        </p:txBody>
      </p:sp>
      <p:sp>
        <p:nvSpPr>
          <p:cNvPr id="10" name="TextBox 40"/>
          <p:cNvSpPr txBox="1">
            <a:spLocks noChangeArrowheads="1"/>
          </p:cNvSpPr>
          <p:nvPr/>
        </p:nvSpPr>
        <p:spPr bwMode="auto">
          <a:xfrm>
            <a:off x="7343775" y="3762374"/>
            <a:ext cx="1676400" cy="2257425"/>
          </a:xfrm>
          <a:prstGeom prst="rect">
            <a:avLst/>
          </a:prstGeom>
          <a:noFill/>
          <a:ln w="28575">
            <a:solidFill>
              <a:srgbClr val="7030A0"/>
            </a:solidFill>
            <a:miter lim="800000"/>
            <a:headEnd/>
            <a:tailEnd/>
          </a:ln>
        </p:spPr>
        <p:txBody>
          <a:bodyPr wrap="square">
            <a:spAutoFit/>
          </a:bodyPr>
          <a:lstStyle/>
          <a:p>
            <a:pPr algn="ctr">
              <a:defRPr/>
            </a:pPr>
            <a:r>
              <a:rPr lang="en-US" sz="1400" b="1" dirty="0">
                <a:latin typeface="Tw Cen MT" pitchFamily="34" charset="0"/>
              </a:rPr>
              <a:t>Grow Relationships</a:t>
            </a:r>
            <a:endParaRPr lang="en-US" sz="1400" dirty="0">
              <a:latin typeface="Tw Cen MT" pitchFamily="34" charset="0"/>
            </a:endParaRPr>
          </a:p>
          <a:p>
            <a:pPr>
              <a:defRPr/>
            </a:pPr>
            <a:endParaRPr lang="en-US" sz="1200" b="1" dirty="0">
              <a:latin typeface="Tw Cen MT" pitchFamily="34" charset="0"/>
            </a:endParaRPr>
          </a:p>
          <a:p>
            <a:pPr marL="117475" indent="-117475">
              <a:spcBef>
                <a:spcPts val="400"/>
              </a:spcBef>
              <a:spcAft>
                <a:spcPts val="200"/>
              </a:spcAft>
              <a:buFont typeface="Arial" pitchFamily="34" charset="0"/>
              <a:buChar char="•"/>
              <a:defRPr/>
            </a:pPr>
            <a:r>
              <a:rPr lang="en-US" sz="1200" dirty="0" smtClean="0">
                <a:latin typeface="Tw Cen MT" pitchFamily="34" charset="0"/>
              </a:rPr>
              <a:t>Know </a:t>
            </a:r>
            <a:r>
              <a:rPr lang="en-US" sz="1200" dirty="0">
                <a:latin typeface="Tw Cen MT" pitchFamily="34" charset="0"/>
              </a:rPr>
              <a:t>your customer</a:t>
            </a:r>
          </a:p>
          <a:p>
            <a:pPr marL="117475" indent="-117475">
              <a:spcBef>
                <a:spcPts val="400"/>
              </a:spcBef>
              <a:spcAft>
                <a:spcPts val="200"/>
              </a:spcAft>
              <a:buFont typeface="Arial" pitchFamily="34" charset="0"/>
              <a:buChar char="•"/>
              <a:defRPr/>
            </a:pPr>
            <a:r>
              <a:rPr lang="en-US" sz="1200" dirty="0">
                <a:latin typeface="Tw Cen MT" pitchFamily="34" charset="0"/>
              </a:rPr>
              <a:t>Work across    boundaries</a:t>
            </a:r>
          </a:p>
          <a:p>
            <a:pPr marL="117475" indent="-117475">
              <a:spcBef>
                <a:spcPts val="400"/>
              </a:spcBef>
              <a:spcAft>
                <a:spcPts val="200"/>
              </a:spcAft>
              <a:buFont typeface="Arial" pitchFamily="34" charset="0"/>
              <a:buChar char="•"/>
              <a:defRPr/>
            </a:pPr>
            <a:r>
              <a:rPr lang="en-US" sz="1200" dirty="0">
                <a:latin typeface="Tw Cen MT" pitchFamily="34" charset="0"/>
              </a:rPr>
              <a:t>Value perspectives</a:t>
            </a:r>
          </a:p>
          <a:p>
            <a:pPr marL="117475" indent="-117475">
              <a:spcBef>
                <a:spcPts val="400"/>
              </a:spcBef>
              <a:spcAft>
                <a:spcPts val="200"/>
              </a:spcAft>
              <a:buFont typeface="Arial" pitchFamily="34" charset="0"/>
              <a:buChar char="•"/>
              <a:defRPr/>
            </a:pPr>
            <a:r>
              <a:rPr lang="en-US" sz="1200" dirty="0">
                <a:latin typeface="Tw Cen MT" pitchFamily="34" charset="0"/>
              </a:rPr>
              <a:t>Play well with others</a:t>
            </a:r>
          </a:p>
          <a:p>
            <a:pPr marL="117475" indent="-117475">
              <a:spcBef>
                <a:spcPts val="400"/>
              </a:spcBef>
              <a:spcAft>
                <a:spcPts val="200"/>
              </a:spcAft>
              <a:buFont typeface="Arial" pitchFamily="34" charset="0"/>
              <a:buChar char="•"/>
              <a:defRPr/>
            </a:pPr>
            <a:r>
              <a:rPr lang="en-US" sz="1200" dirty="0">
                <a:latin typeface="Tw Cen MT" pitchFamily="34" charset="0"/>
              </a:rPr>
              <a:t>Foster trust</a:t>
            </a:r>
          </a:p>
          <a:p>
            <a:pPr>
              <a:buFont typeface="Arial" charset="0"/>
              <a:buChar char="•"/>
              <a:defRPr/>
            </a:pPr>
            <a:endParaRPr lang="en-US" sz="800" b="1" dirty="0" smtClean="0">
              <a:latin typeface="Tw Cen MT" pitchFamily="34" charset="0"/>
            </a:endParaRPr>
          </a:p>
          <a:p>
            <a:pPr>
              <a:buFont typeface="Arial" charset="0"/>
              <a:buChar char="•"/>
              <a:defRPr/>
            </a:pPr>
            <a:endParaRPr lang="en-US" sz="800" b="1" dirty="0">
              <a:latin typeface="Tw Cen MT" pitchFamily="34" charset="0"/>
            </a:endParaRPr>
          </a:p>
        </p:txBody>
      </p:sp>
      <p:sp>
        <p:nvSpPr>
          <p:cNvPr id="11" name="TextBox 42"/>
          <p:cNvSpPr txBox="1">
            <a:spLocks noChangeArrowheads="1"/>
          </p:cNvSpPr>
          <p:nvPr/>
        </p:nvSpPr>
        <p:spPr bwMode="auto">
          <a:xfrm>
            <a:off x="5434013" y="3762375"/>
            <a:ext cx="1852612" cy="2257425"/>
          </a:xfrm>
          <a:prstGeom prst="rect">
            <a:avLst/>
          </a:prstGeom>
          <a:noFill/>
          <a:ln w="28575">
            <a:solidFill>
              <a:srgbClr val="ED1B2F"/>
            </a:solidFill>
            <a:miter lim="800000"/>
            <a:headEnd/>
            <a:tailEnd/>
          </a:ln>
        </p:spPr>
        <p:txBody>
          <a:bodyPr wrap="square">
            <a:spAutoFit/>
          </a:bodyPr>
          <a:lstStyle/>
          <a:p>
            <a:pPr algn="ctr">
              <a:defRPr/>
            </a:pPr>
            <a:r>
              <a:rPr lang="en-US" sz="1400" b="1" dirty="0">
                <a:latin typeface="Tw Cen MT" pitchFamily="34" charset="0"/>
              </a:rPr>
              <a:t>Be a Leader</a:t>
            </a:r>
            <a:endParaRPr lang="en-US" sz="1400" dirty="0">
              <a:latin typeface="Tw Cen MT" pitchFamily="34" charset="0"/>
            </a:endParaRPr>
          </a:p>
          <a:p>
            <a:pPr>
              <a:defRPr/>
            </a:pPr>
            <a:endParaRPr lang="en-US" sz="1200" b="1" dirty="0">
              <a:latin typeface="Tw Cen MT" pitchFamily="34" charset="0"/>
            </a:endParaRPr>
          </a:p>
          <a:p>
            <a:pPr marL="117475" indent="-117475">
              <a:spcBef>
                <a:spcPts val="400"/>
              </a:spcBef>
              <a:spcAft>
                <a:spcPts val="200"/>
              </a:spcAft>
              <a:buFont typeface="Arial" pitchFamily="34" charset="0"/>
              <a:buChar char="•"/>
              <a:defRPr/>
            </a:pPr>
            <a:r>
              <a:rPr lang="en-US" sz="1200" dirty="0" smtClean="0">
                <a:latin typeface="Tw Cen MT" pitchFamily="34" charset="0"/>
              </a:rPr>
              <a:t>Work </a:t>
            </a:r>
            <a:r>
              <a:rPr lang="en-US" sz="1200" dirty="0">
                <a:latin typeface="Tw Cen MT" pitchFamily="34" charset="0"/>
              </a:rPr>
              <a:t>with energy</a:t>
            </a:r>
          </a:p>
          <a:p>
            <a:pPr marL="117475" indent="-117475">
              <a:spcBef>
                <a:spcPts val="400"/>
              </a:spcBef>
              <a:spcAft>
                <a:spcPts val="200"/>
              </a:spcAft>
              <a:buFont typeface="Arial" pitchFamily="34" charset="0"/>
              <a:buChar char="•"/>
              <a:defRPr/>
            </a:pPr>
            <a:r>
              <a:rPr lang="en-US" sz="1200" dirty="0">
                <a:latin typeface="Tw Cen MT" pitchFamily="34" charset="0"/>
              </a:rPr>
              <a:t>Be confident and </a:t>
            </a:r>
            <a:r>
              <a:rPr lang="en-US" sz="1200" dirty="0" smtClean="0">
                <a:latin typeface="Tw Cen MT" pitchFamily="34" charset="0"/>
              </a:rPr>
              <a:t>decisive</a:t>
            </a:r>
            <a:endParaRPr lang="en-US" sz="1200" dirty="0">
              <a:latin typeface="Tw Cen MT" pitchFamily="34" charset="0"/>
            </a:endParaRPr>
          </a:p>
          <a:p>
            <a:pPr marL="117475" indent="-117475">
              <a:spcBef>
                <a:spcPts val="400"/>
              </a:spcBef>
              <a:spcAft>
                <a:spcPts val="200"/>
              </a:spcAft>
              <a:buFont typeface="Arial" pitchFamily="34" charset="0"/>
              <a:buChar char="•"/>
              <a:defRPr/>
            </a:pPr>
            <a:r>
              <a:rPr lang="en-US" sz="1200" dirty="0">
                <a:latin typeface="Tw Cen MT" pitchFamily="34" charset="0"/>
              </a:rPr>
              <a:t>Balance listening and responding  </a:t>
            </a:r>
          </a:p>
          <a:p>
            <a:pPr marL="117475" indent="-117475">
              <a:spcBef>
                <a:spcPts val="400"/>
              </a:spcBef>
              <a:spcAft>
                <a:spcPts val="200"/>
              </a:spcAft>
              <a:buFont typeface="Arial" pitchFamily="34" charset="0"/>
              <a:buChar char="•"/>
              <a:defRPr/>
            </a:pPr>
            <a:r>
              <a:rPr lang="en-US" sz="1200" dirty="0">
                <a:latin typeface="Tw Cen MT" pitchFamily="34" charset="0"/>
              </a:rPr>
              <a:t>Admit your mistakes</a:t>
            </a:r>
          </a:p>
          <a:p>
            <a:pPr marL="117475" indent="-117475">
              <a:spcBef>
                <a:spcPts val="400"/>
              </a:spcBef>
              <a:spcAft>
                <a:spcPts val="200"/>
              </a:spcAft>
              <a:buFont typeface="Arial" pitchFamily="34" charset="0"/>
              <a:buChar char="•"/>
              <a:defRPr/>
            </a:pPr>
            <a:r>
              <a:rPr lang="en-US" sz="1200" dirty="0">
                <a:latin typeface="Tw Cen MT" pitchFamily="34" charset="0"/>
              </a:rPr>
              <a:t>Be polished </a:t>
            </a:r>
            <a:r>
              <a:rPr lang="en-US" sz="1200" dirty="0" smtClean="0">
                <a:latin typeface="Tw Cen MT" pitchFamily="34" charset="0"/>
              </a:rPr>
              <a:t>and poised</a:t>
            </a:r>
            <a:r>
              <a:rPr lang="en-US" sz="300" dirty="0" smtClean="0">
                <a:latin typeface="Tw Cen MT" pitchFamily="34" charset="0"/>
              </a:rPr>
              <a:t> </a:t>
            </a:r>
          </a:p>
          <a:p>
            <a:pPr marL="117475" indent="-117475">
              <a:spcBef>
                <a:spcPts val="400"/>
              </a:spcBef>
              <a:spcAft>
                <a:spcPts val="200"/>
              </a:spcAft>
              <a:defRPr/>
            </a:pPr>
            <a:endParaRPr lang="en-US" sz="1200" dirty="0">
              <a:latin typeface="Tw Cen MT" pitchFamily="34" charset="0"/>
            </a:endParaRPr>
          </a:p>
        </p:txBody>
      </p:sp>
      <p:sp>
        <p:nvSpPr>
          <p:cNvPr id="12" name="Slide Number Placeholder 11"/>
          <p:cNvSpPr>
            <a:spLocks noGrp="1"/>
          </p:cNvSpPr>
          <p:nvPr>
            <p:ph type="sldNum" sz="quarter" idx="10"/>
          </p:nvPr>
        </p:nvSpPr>
        <p:spPr/>
        <p:txBody>
          <a:bodyPr/>
          <a:lstStyle/>
          <a:p>
            <a:pPr>
              <a:defRPr/>
            </a:pPr>
            <a:fld id="{01D945C9-0277-4107-B589-EC55ECD240BC}" type="slidenum">
              <a:rPr lang="en-US" smtClean="0"/>
              <a:pPr>
                <a:defRPr/>
              </a:pPr>
              <a:t>5</a:t>
            </a:fld>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200" dirty="0" smtClean="0"/>
              <a:t>Leadership Essentials</a:t>
            </a:r>
            <a:endParaRPr lang="en-US" sz="3200" dirty="0"/>
          </a:p>
        </p:txBody>
      </p:sp>
      <p:sp>
        <p:nvSpPr>
          <p:cNvPr id="3" name="Subtitle 4"/>
          <p:cNvSpPr>
            <a:spLocks noGrp="1"/>
          </p:cNvSpPr>
          <p:nvPr>
            <p:ph type="subTitle" idx="1"/>
          </p:nvPr>
        </p:nvSpPr>
        <p:spPr>
          <a:xfrm>
            <a:off x="685800" y="3810000"/>
            <a:ext cx="6248400" cy="1676400"/>
          </a:xfrm>
        </p:spPr>
        <p:txBody>
          <a:bodyPr/>
          <a:lstStyle/>
          <a:p>
            <a:pPr eaLnBrk="1" hangingPunct="1">
              <a:spcBef>
                <a:spcPts val="0"/>
              </a:spcBef>
              <a:buFont typeface="Arial" pitchFamily="34" charset="0"/>
              <a:buNone/>
              <a:defRPr/>
            </a:pPr>
            <a:r>
              <a:rPr lang="en-US" sz="2000" dirty="0" smtClean="0"/>
              <a:t>Required Operational Training</a:t>
            </a:r>
          </a:p>
          <a:p>
            <a:pPr eaLnBrk="1" hangingPunct="1">
              <a:spcBef>
                <a:spcPts val="0"/>
              </a:spcBef>
              <a:buFont typeface="Arial" pitchFamily="34" charset="0"/>
              <a:buNone/>
              <a:defRPr/>
            </a:pPr>
            <a:endParaRPr lang="en-US" sz="2000" dirty="0" smtClean="0"/>
          </a:p>
          <a:p>
            <a:pPr eaLnBrk="1" hangingPunct="1">
              <a:spcBef>
                <a:spcPts val="0"/>
              </a:spcBef>
              <a:buFont typeface="Arial" pitchFamily="34" charset="0"/>
              <a:buNone/>
              <a:defRPr/>
            </a:pPr>
            <a:endParaRPr lang="en-US" sz="2000" dirty="0"/>
          </a:p>
        </p:txBody>
      </p:sp>
      <p:sp>
        <p:nvSpPr>
          <p:cNvPr id="4" name="Slide Number Placeholder 11"/>
          <p:cNvSpPr txBox="1">
            <a:spLocks/>
          </p:cNvSpPr>
          <p:nvPr/>
        </p:nvSpPr>
        <p:spPr>
          <a:xfrm>
            <a:off x="8763000" y="6492875"/>
            <a:ext cx="381000" cy="365125"/>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01D945C9-0277-4107-B589-EC55ECD240BC}" type="slidenum">
              <a:rPr kumimoji="0" lang="en-US" sz="1200" b="0" i="0" u="none" strike="noStrike" kern="1200" cap="none" spc="0" normalizeH="0" baseline="0" noProof="0" smtClean="0">
                <a:ln>
                  <a:noFill/>
                </a:ln>
                <a:solidFill>
                  <a:schemeClr val="tx1"/>
                </a:solidFill>
                <a:effectLst/>
                <a:uLnTx/>
                <a:uFillTx/>
                <a:latin typeface="+mn-lt"/>
                <a:ea typeface="+mn-ea"/>
                <a:cs typeface="+mn-cs"/>
              </a:rPr>
              <a:pPr marL="0" marR="0" lvl="0" indent="0" algn="ctr" defTabSz="9144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990600"/>
          </a:xfrm>
        </p:spPr>
        <p:txBody>
          <a:bodyPr/>
          <a:lstStyle/>
          <a:p>
            <a:r>
              <a:rPr lang="en-US" sz="2800" dirty="0" smtClean="0"/>
              <a:t>Leader Essentials (New): Required Operational Training</a:t>
            </a:r>
            <a:endParaRPr lang="en-US" sz="2800" dirty="0"/>
          </a:p>
        </p:txBody>
      </p:sp>
      <p:sp>
        <p:nvSpPr>
          <p:cNvPr id="7" name="Content Placeholder 2"/>
          <p:cNvSpPr txBox="1">
            <a:spLocks/>
          </p:cNvSpPr>
          <p:nvPr/>
        </p:nvSpPr>
        <p:spPr bwMode="auto">
          <a:xfrm>
            <a:off x="457200" y="1371600"/>
            <a:ext cx="8305800" cy="2209800"/>
          </a:xfrm>
          <a:prstGeom prst="rect">
            <a:avLst/>
          </a:prstGeom>
          <a:noFill/>
          <a:ln w="28575">
            <a:solidFill>
              <a:srgbClr val="009D57"/>
            </a:solidFill>
            <a:miter lim="800000"/>
            <a:headEnd/>
            <a:tailEnd/>
          </a:ln>
        </p:spPr>
        <p:txBody>
          <a:bodyPr vert="horz" wrap="square" lIns="91440" tIns="45720" rIns="91440" bIns="45720" numCol="1" anchor="t" anchorCtr="0" compatLnSpc="1">
            <a:prstTxWarp prst="textNoShape">
              <a:avLst/>
            </a:prstTxWarp>
          </a:bodyPr>
          <a:lstStyle/>
          <a:p>
            <a:r>
              <a:rPr lang="en-US" sz="1500" dirty="0" smtClean="0">
                <a:latin typeface="+mn-lt"/>
              </a:rPr>
              <a:t>Objective: </a:t>
            </a:r>
          </a:p>
          <a:p>
            <a:pPr>
              <a:buFont typeface="Arial" pitchFamily="34" charset="0"/>
              <a:buChar char="•"/>
            </a:pPr>
            <a:r>
              <a:rPr lang="en-US" sz="1500" b="1" dirty="0" smtClean="0">
                <a:latin typeface="+mn-lt"/>
              </a:rPr>
              <a:t>  </a:t>
            </a:r>
            <a:r>
              <a:rPr lang="en-US" sz="1500" dirty="0" smtClean="0">
                <a:latin typeface="+mn-lt"/>
              </a:rPr>
              <a:t>To ensure leaders have the most current information and required training necessary for running our business</a:t>
            </a:r>
          </a:p>
          <a:p>
            <a:endParaRPr lang="en-US" sz="1500" dirty="0" smtClean="0">
              <a:latin typeface="+mn-lt"/>
            </a:endParaRPr>
          </a:p>
          <a:p>
            <a:r>
              <a:rPr lang="en-US" sz="1500" dirty="0" smtClean="0">
                <a:latin typeface="+mn-lt"/>
              </a:rPr>
              <a:t>Frequency:  Once annually  </a:t>
            </a:r>
          </a:p>
          <a:p>
            <a:r>
              <a:rPr lang="en-US" sz="1500" dirty="0" smtClean="0">
                <a:latin typeface="+mn-lt"/>
              </a:rPr>
              <a:t>Class Size: ~125</a:t>
            </a:r>
          </a:p>
          <a:p>
            <a:r>
              <a:rPr lang="en-US" sz="1500" dirty="0" smtClean="0">
                <a:latin typeface="+mn-lt"/>
              </a:rPr>
              <a:t>Date and Duration:  August 28; 8-3pm</a:t>
            </a:r>
          </a:p>
          <a:p>
            <a:r>
              <a:rPr lang="en-US" sz="1500" dirty="0" smtClean="0">
                <a:latin typeface="+mn-lt"/>
              </a:rPr>
              <a:t>Facilitation:  Internal facilitators</a:t>
            </a:r>
          </a:p>
          <a:p>
            <a:r>
              <a:rPr lang="en-US" sz="1500" dirty="0" smtClean="0">
                <a:latin typeface="+mn-lt"/>
              </a:rPr>
              <a:t>Audience:  Mandatory for all Directors and above</a:t>
            </a:r>
          </a:p>
        </p:txBody>
      </p:sp>
      <p:sp>
        <p:nvSpPr>
          <p:cNvPr id="6" name="Content Placeholder 3"/>
          <p:cNvSpPr txBox="1">
            <a:spLocks/>
          </p:cNvSpPr>
          <p:nvPr/>
        </p:nvSpPr>
        <p:spPr bwMode="auto">
          <a:xfrm>
            <a:off x="457200" y="3686175"/>
            <a:ext cx="8296275" cy="2514600"/>
          </a:xfrm>
          <a:prstGeom prst="rect">
            <a:avLst/>
          </a:prstGeom>
          <a:solidFill>
            <a:srgbClr val="0070C0"/>
          </a:solid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ctr" defTabSz="914400" rtl="0" eaLnBrk="0" fontAlgn="base" latinLnBrk="0" hangingPunct="0">
              <a:lnSpc>
                <a:spcPct val="100000"/>
              </a:lnSpc>
              <a:spcBef>
                <a:spcPct val="20000"/>
              </a:spcBef>
              <a:spcAft>
                <a:spcPct val="0"/>
              </a:spcAft>
              <a:buClrTx/>
              <a:buSzTx/>
              <a:buFont typeface="Arial" charset="0"/>
              <a:buNone/>
              <a:tabLst/>
              <a:defRPr/>
            </a:pPr>
            <a:r>
              <a:rPr kumimoji="0" lang="en-US" sz="1600" b="1" i="0" u="none" strike="noStrike" kern="1200" cap="none" spc="0" normalizeH="0" baseline="0" noProof="0" dirty="0" smtClean="0">
                <a:ln>
                  <a:noFill/>
                </a:ln>
                <a:solidFill>
                  <a:schemeClr val="bg1"/>
                </a:solidFill>
                <a:effectLst/>
                <a:uLnTx/>
                <a:uFillTx/>
                <a:latin typeface="+mj-lt"/>
                <a:ea typeface="+mn-ea"/>
                <a:cs typeface="+mn-cs"/>
              </a:rPr>
              <a:t>Leader Essentials:</a:t>
            </a:r>
            <a:r>
              <a:rPr kumimoji="0" lang="en-US" sz="1600" b="1" i="0" u="none" strike="noStrike" kern="1200" cap="none" spc="0" normalizeH="0" noProof="0" dirty="0" smtClean="0">
                <a:ln>
                  <a:noFill/>
                </a:ln>
                <a:solidFill>
                  <a:schemeClr val="bg1"/>
                </a:solidFill>
                <a:effectLst/>
                <a:uLnTx/>
                <a:uFillTx/>
                <a:latin typeface="+mj-lt"/>
                <a:ea typeface="+mn-ea"/>
                <a:cs typeface="+mn-cs"/>
              </a:rPr>
              <a:t> August  28</a:t>
            </a:r>
            <a:endParaRPr kumimoji="0" lang="en-US" sz="1600" b="1" i="0" u="none" strike="noStrike" kern="1200" cap="none" spc="0" normalizeH="0" baseline="0" noProof="0" dirty="0" smtClean="0">
              <a:ln>
                <a:noFill/>
              </a:ln>
              <a:solidFill>
                <a:schemeClr val="bg1"/>
              </a:solidFill>
              <a:effectLst/>
              <a:uLnTx/>
              <a:uFillTx/>
              <a:latin typeface="+mj-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tabLst/>
              <a:defRPr/>
            </a:pPr>
            <a:r>
              <a:rPr lang="en-US" sz="1600" b="1" baseline="0" dirty="0" smtClean="0">
                <a:solidFill>
                  <a:schemeClr val="bg1"/>
                </a:solidFill>
                <a:latin typeface="+mj-lt"/>
              </a:rPr>
              <a:t>Objective:</a:t>
            </a:r>
            <a:r>
              <a:rPr lang="en-US" sz="1600" b="1" dirty="0" smtClean="0">
                <a:solidFill>
                  <a:schemeClr val="bg1"/>
                </a:solidFill>
                <a:latin typeface="+mj-lt"/>
              </a:rPr>
              <a:t> </a:t>
            </a:r>
            <a:r>
              <a:rPr lang="en-US" sz="1600" dirty="0" smtClean="0">
                <a:solidFill>
                  <a:schemeClr val="bg1"/>
                </a:solidFill>
                <a:latin typeface="+mj-lt"/>
              </a:rPr>
              <a:t>To provide updates and annual required training on all leadership essentials – quality, finance, compliance.</a:t>
            </a:r>
          </a:p>
          <a:p>
            <a:pPr marL="342900" marR="0" lvl="0" indent="-342900" algn="l" defTabSz="914400" rtl="0" eaLnBrk="0" fontAlgn="base" latinLnBrk="0" hangingPunct="0">
              <a:lnSpc>
                <a:spcPct val="100000"/>
              </a:lnSpc>
              <a:spcBef>
                <a:spcPct val="20000"/>
              </a:spcBef>
              <a:spcAft>
                <a:spcPct val="0"/>
              </a:spcAft>
              <a:buClrTx/>
              <a:buSzTx/>
              <a:tabLst/>
              <a:defRPr/>
            </a:pPr>
            <a:r>
              <a:rPr lang="en-US" sz="1600" b="1" dirty="0" smtClean="0">
                <a:solidFill>
                  <a:schemeClr val="bg1"/>
                </a:solidFill>
                <a:latin typeface="+mj-lt"/>
              </a:rPr>
              <a:t>	   8-11am: 	</a:t>
            </a:r>
            <a:r>
              <a:rPr lang="en-US" sz="1600" dirty="0" smtClean="0">
                <a:solidFill>
                  <a:schemeClr val="bg1"/>
                </a:solidFill>
                <a:latin typeface="+mj-lt"/>
              </a:rPr>
              <a:t>One is not Zero: Journey to High Reliability</a:t>
            </a:r>
          </a:p>
          <a:p>
            <a:pPr marL="800100" lvl="1" indent="-342900" eaLnBrk="0" hangingPunct="0">
              <a:spcBef>
                <a:spcPct val="20000"/>
              </a:spcBef>
              <a:defRPr/>
            </a:pPr>
            <a:r>
              <a:rPr lang="en-US" sz="1600" b="1" dirty="0" smtClean="0">
                <a:solidFill>
                  <a:schemeClr val="bg1"/>
                </a:solidFill>
                <a:latin typeface="+mj-lt"/>
              </a:rPr>
              <a:t>11 – 12pm: 	</a:t>
            </a:r>
            <a:r>
              <a:rPr lang="en-US" sz="1600" dirty="0" smtClean="0">
                <a:solidFill>
                  <a:schemeClr val="bg1"/>
                </a:solidFill>
                <a:latin typeface="+mj-lt"/>
              </a:rPr>
              <a:t>Strata Budget  Training</a:t>
            </a:r>
          </a:p>
          <a:p>
            <a:pPr marL="800100" lvl="1" indent="-342900" eaLnBrk="0" hangingPunct="0">
              <a:spcBef>
                <a:spcPct val="20000"/>
              </a:spcBef>
            </a:pPr>
            <a:r>
              <a:rPr kumimoji="0" lang="en-US" sz="1600" b="1" i="0" u="none" strike="noStrike" kern="1200" cap="none" spc="0" normalizeH="0" baseline="0" noProof="0" dirty="0" smtClean="0">
                <a:ln>
                  <a:noFill/>
                </a:ln>
                <a:solidFill>
                  <a:schemeClr val="bg1"/>
                </a:solidFill>
                <a:effectLst/>
                <a:uLnTx/>
                <a:uFillTx/>
                <a:latin typeface="+mj-lt"/>
                <a:ea typeface="+mn-ea"/>
                <a:cs typeface="+mn-cs"/>
              </a:rPr>
              <a:t>12</a:t>
            </a:r>
            <a:r>
              <a:rPr kumimoji="0" lang="en-US" sz="1600" b="1" i="0" u="none" strike="noStrike" kern="1200" cap="none" spc="0" normalizeH="0" noProof="0" dirty="0" smtClean="0">
                <a:ln>
                  <a:noFill/>
                </a:ln>
                <a:solidFill>
                  <a:schemeClr val="bg1"/>
                </a:solidFill>
                <a:effectLst/>
                <a:uLnTx/>
                <a:uFillTx/>
                <a:latin typeface="+mj-lt"/>
                <a:ea typeface="+mn-ea"/>
                <a:cs typeface="+mn-cs"/>
              </a:rPr>
              <a:t> – 1pm:	</a:t>
            </a:r>
            <a:r>
              <a:rPr kumimoji="0" lang="en-US" sz="1600" b="0" i="0" u="none" strike="noStrike" kern="1200" cap="none" spc="0" normalizeH="0" baseline="0" noProof="0" dirty="0" smtClean="0">
                <a:ln>
                  <a:noFill/>
                </a:ln>
                <a:solidFill>
                  <a:schemeClr val="bg1"/>
                </a:solidFill>
                <a:effectLst/>
                <a:uLnTx/>
                <a:uFillTx/>
                <a:latin typeface="+mj-lt"/>
                <a:ea typeface="+mn-ea"/>
                <a:cs typeface="+mn-cs"/>
              </a:rPr>
              <a:t>Lunch</a:t>
            </a:r>
          </a:p>
          <a:p>
            <a:pPr marL="342900" indent="-342900" eaLnBrk="0" hangingPunct="0">
              <a:spcBef>
                <a:spcPct val="20000"/>
              </a:spcBef>
            </a:pPr>
            <a:r>
              <a:rPr lang="en-US" sz="1600" dirty="0" smtClean="0">
                <a:solidFill>
                  <a:schemeClr val="bg1"/>
                </a:solidFill>
                <a:latin typeface="+mj-lt"/>
              </a:rPr>
              <a:t>	</a:t>
            </a:r>
            <a:r>
              <a:rPr lang="en-US" sz="1600" b="1" dirty="0" smtClean="0">
                <a:solidFill>
                  <a:schemeClr val="bg1"/>
                </a:solidFill>
                <a:latin typeface="+mj-lt"/>
              </a:rPr>
              <a:t>   1 – 3pm: 	</a:t>
            </a:r>
            <a:r>
              <a:rPr kumimoji="0" lang="en-US" sz="1600" b="0" i="0" u="none" strike="noStrike" kern="1200" cap="none" spc="0" normalizeH="0" baseline="0" noProof="0" dirty="0" smtClean="0">
                <a:ln>
                  <a:noFill/>
                </a:ln>
                <a:solidFill>
                  <a:schemeClr val="bg1"/>
                </a:solidFill>
                <a:effectLst/>
                <a:uLnTx/>
                <a:uFillTx/>
                <a:latin typeface="+mj-lt"/>
                <a:ea typeface="+mn-ea"/>
                <a:cs typeface="+mn-cs"/>
              </a:rPr>
              <a:t>Compliance</a:t>
            </a:r>
            <a:r>
              <a:rPr kumimoji="0" lang="en-US" sz="1600" b="0" i="0" u="none" strike="noStrike" kern="1200" cap="none" spc="0" normalizeH="0" noProof="0" dirty="0" smtClean="0">
                <a:ln>
                  <a:noFill/>
                </a:ln>
                <a:solidFill>
                  <a:schemeClr val="bg1"/>
                </a:solidFill>
                <a:effectLst/>
                <a:uLnTx/>
                <a:uFillTx/>
                <a:latin typeface="+mj-lt"/>
                <a:ea typeface="+mn-ea"/>
                <a:cs typeface="+mn-cs"/>
              </a:rPr>
              <a:t> and HIPAA</a:t>
            </a:r>
            <a:endParaRPr lang="en-US" sz="1600" dirty="0">
              <a:solidFill>
                <a:schemeClr val="bg1"/>
              </a:solidFill>
              <a:latin typeface="+mj-lt"/>
            </a:endParaRPr>
          </a:p>
          <a:p>
            <a:pPr marL="342900" indent="-342900" eaLnBrk="0" hangingPunct="0">
              <a:spcBef>
                <a:spcPct val="20000"/>
              </a:spcBef>
            </a:pPr>
            <a:r>
              <a:rPr kumimoji="0" lang="en-US" sz="1600" b="0" i="0" u="none" strike="noStrike" kern="1200" cap="none" spc="0" normalizeH="0" noProof="0" dirty="0" smtClean="0">
                <a:ln>
                  <a:noFill/>
                </a:ln>
                <a:solidFill>
                  <a:schemeClr val="bg1"/>
                </a:solidFill>
                <a:effectLst/>
                <a:uLnTx/>
                <a:uFillTx/>
                <a:latin typeface="+mj-lt"/>
                <a:ea typeface="+mn-ea"/>
                <a:cs typeface="+mn-cs"/>
              </a:rPr>
              <a:t>Note: Required training is being vetted to ensure consolidation of necessary requirements </a:t>
            </a:r>
            <a:r>
              <a:rPr lang="en-US" sz="1600" dirty="0" smtClean="0">
                <a:solidFill>
                  <a:schemeClr val="bg1"/>
                </a:solidFill>
                <a:latin typeface="+mj-lt"/>
              </a:rPr>
              <a:t>in one day </a:t>
            </a:r>
            <a:endParaRPr kumimoji="0" lang="en-US" sz="1600" b="0" i="0" u="none" strike="noStrike" kern="1200" cap="none" spc="0" normalizeH="0" noProof="0" dirty="0" smtClean="0">
              <a:ln>
                <a:noFill/>
              </a:ln>
              <a:solidFill>
                <a:schemeClr val="bg1"/>
              </a:solidFill>
              <a:effectLst/>
              <a:uLnTx/>
              <a:uFillTx/>
              <a:latin typeface="+mj-lt"/>
              <a:ea typeface="+mn-ea"/>
              <a:cs typeface="+mn-cs"/>
            </a:endParaRPr>
          </a:p>
        </p:txBody>
      </p:sp>
      <p:sp>
        <p:nvSpPr>
          <p:cNvPr id="8" name="Slide Number Placeholder 7"/>
          <p:cNvSpPr>
            <a:spLocks noGrp="1"/>
          </p:cNvSpPr>
          <p:nvPr>
            <p:ph type="sldNum" sz="quarter" idx="10"/>
          </p:nvPr>
        </p:nvSpPr>
        <p:spPr/>
        <p:txBody>
          <a:bodyPr/>
          <a:lstStyle/>
          <a:p>
            <a:pPr>
              <a:defRPr/>
            </a:pPr>
            <a:fld id="{01D945C9-0277-4107-B589-EC55ECD240BC}" type="slidenum">
              <a:rPr lang="en-US" smtClean="0"/>
              <a:pPr>
                <a:defRPr/>
              </a:pPr>
              <a:t>7</a:t>
            </a:fld>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200" dirty="0" smtClean="0"/>
              <a:t>Leadership Now</a:t>
            </a:r>
            <a:endParaRPr lang="en-US" sz="3200" dirty="0"/>
          </a:p>
        </p:txBody>
      </p:sp>
      <p:sp>
        <p:nvSpPr>
          <p:cNvPr id="3" name="Subtitle 4"/>
          <p:cNvSpPr>
            <a:spLocks noGrp="1"/>
          </p:cNvSpPr>
          <p:nvPr>
            <p:ph type="subTitle" idx="1"/>
          </p:nvPr>
        </p:nvSpPr>
        <p:spPr>
          <a:xfrm>
            <a:off x="685800" y="3810000"/>
            <a:ext cx="6248400" cy="1676400"/>
          </a:xfrm>
        </p:spPr>
        <p:txBody>
          <a:bodyPr/>
          <a:lstStyle/>
          <a:p>
            <a:pPr eaLnBrk="1" hangingPunct="1">
              <a:spcBef>
                <a:spcPts val="0"/>
              </a:spcBef>
              <a:buFont typeface="Arial" pitchFamily="34" charset="0"/>
              <a:buNone/>
              <a:defRPr/>
            </a:pPr>
            <a:r>
              <a:rPr lang="en-US" sz="1800" b="1" dirty="0" smtClean="0"/>
              <a:t>Annual Leader Development</a:t>
            </a:r>
          </a:p>
          <a:p>
            <a:pPr eaLnBrk="1" hangingPunct="1">
              <a:spcBef>
                <a:spcPts val="0"/>
              </a:spcBef>
              <a:buFont typeface="Arial" pitchFamily="34" charset="0"/>
              <a:buChar char="•"/>
              <a:defRPr/>
            </a:pPr>
            <a:r>
              <a:rPr lang="en-US" sz="1800" dirty="0" smtClean="0"/>
              <a:t> Leader Series (New)</a:t>
            </a:r>
          </a:p>
          <a:p>
            <a:pPr eaLnBrk="1" hangingPunct="1">
              <a:spcBef>
                <a:spcPts val="0"/>
              </a:spcBef>
              <a:buFont typeface="Arial" pitchFamily="34" charset="0"/>
              <a:buChar char="•"/>
              <a:defRPr/>
            </a:pPr>
            <a:r>
              <a:rPr lang="en-US" sz="1800" dirty="0" smtClean="0"/>
              <a:t> Take Out Training </a:t>
            </a:r>
          </a:p>
          <a:p>
            <a:pPr eaLnBrk="1" hangingPunct="1">
              <a:spcBef>
                <a:spcPts val="0"/>
              </a:spcBef>
              <a:buFont typeface="Arial" pitchFamily="34" charset="0"/>
              <a:buChar char="•"/>
              <a:defRPr/>
            </a:pPr>
            <a:r>
              <a:rPr lang="en-US" sz="1800" dirty="0" smtClean="0"/>
              <a:t> All Manager Meeting (New)</a:t>
            </a:r>
          </a:p>
          <a:p>
            <a:pPr>
              <a:spcBef>
                <a:spcPts val="0"/>
              </a:spcBef>
              <a:buFont typeface="Arial" pitchFamily="34" charset="0"/>
              <a:buChar char="•"/>
            </a:pPr>
            <a:r>
              <a:rPr lang="en-US" sz="1800" dirty="0" smtClean="0"/>
              <a:t> Management Essentials Program</a:t>
            </a:r>
          </a:p>
          <a:p>
            <a:pPr>
              <a:spcBef>
                <a:spcPts val="0"/>
              </a:spcBef>
              <a:buFont typeface="Arial" pitchFamily="34" charset="0"/>
              <a:buChar char="•"/>
            </a:pPr>
            <a:r>
              <a:rPr lang="en-US" sz="1800" dirty="0" smtClean="0"/>
              <a:t> Physician Management Essentials Program</a:t>
            </a:r>
          </a:p>
          <a:p>
            <a:pPr eaLnBrk="1" hangingPunct="1">
              <a:spcBef>
                <a:spcPts val="0"/>
              </a:spcBef>
              <a:buFont typeface="Arial" pitchFamily="34" charset="0"/>
              <a:buNone/>
              <a:defRPr/>
            </a:pPr>
            <a:endParaRPr lang="en-US" sz="1800" dirty="0" smtClean="0"/>
          </a:p>
          <a:p>
            <a:pPr eaLnBrk="1" hangingPunct="1">
              <a:spcBef>
                <a:spcPts val="0"/>
              </a:spcBef>
              <a:buFont typeface="Arial" pitchFamily="34" charset="0"/>
              <a:buNone/>
              <a:defRPr/>
            </a:pPr>
            <a:endParaRPr lang="en-US" sz="1800" dirty="0"/>
          </a:p>
        </p:txBody>
      </p:sp>
      <p:sp>
        <p:nvSpPr>
          <p:cNvPr id="4" name="Slide Number Placeholder 11"/>
          <p:cNvSpPr txBox="1">
            <a:spLocks/>
          </p:cNvSpPr>
          <p:nvPr/>
        </p:nvSpPr>
        <p:spPr>
          <a:xfrm>
            <a:off x="8763000" y="6492875"/>
            <a:ext cx="381000" cy="365125"/>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01D945C9-0277-4107-B589-EC55ECD240BC}" type="slidenum">
              <a:rPr kumimoji="0" lang="en-US" sz="1200" b="0" i="0" u="none" strike="noStrike" kern="1200" cap="none" spc="0" normalizeH="0" baseline="0" noProof="0" smtClean="0">
                <a:ln>
                  <a:noFill/>
                </a:ln>
                <a:solidFill>
                  <a:schemeClr val="tx1"/>
                </a:solidFill>
                <a:effectLst/>
                <a:uLnTx/>
                <a:uFillTx/>
                <a:latin typeface="+mn-lt"/>
                <a:ea typeface="+mn-ea"/>
                <a:cs typeface="+mn-cs"/>
              </a:rPr>
              <a:pPr marL="0" marR="0" lvl="0" indent="0" algn="ctr" defTabSz="914400" rtl="0" eaLnBrk="1" fontAlgn="base" latinLnBrk="0" hangingPunct="1">
                <a:lnSpc>
                  <a:spcPct val="100000"/>
                </a:lnSpc>
                <a:spcBef>
                  <a:spcPct val="0"/>
                </a:spcBef>
                <a:spcAft>
                  <a:spcPct val="0"/>
                </a:spcAft>
                <a:buClrTx/>
                <a:buSzTx/>
                <a:buFontTx/>
                <a:buNone/>
                <a:tabLst/>
                <a:defRPr/>
              </a:pPr>
              <a:t>8</a:t>
            </a:fld>
            <a:endParaRPr kumimoji="0" lang="en-US" sz="1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990600"/>
          </a:xfrm>
        </p:spPr>
        <p:txBody>
          <a:bodyPr/>
          <a:lstStyle/>
          <a:p>
            <a:r>
              <a:rPr lang="en-US" sz="3000" dirty="0" smtClean="0"/>
              <a:t>Leader Series (New)</a:t>
            </a:r>
            <a:endParaRPr lang="en-US" sz="3000" dirty="0"/>
          </a:p>
        </p:txBody>
      </p:sp>
      <p:sp>
        <p:nvSpPr>
          <p:cNvPr id="7" name="Content Placeholder 2"/>
          <p:cNvSpPr txBox="1">
            <a:spLocks/>
          </p:cNvSpPr>
          <p:nvPr/>
        </p:nvSpPr>
        <p:spPr bwMode="auto">
          <a:xfrm>
            <a:off x="457200" y="1371600"/>
            <a:ext cx="8305800" cy="2057400"/>
          </a:xfrm>
          <a:prstGeom prst="rect">
            <a:avLst/>
          </a:prstGeom>
          <a:noFill/>
          <a:ln w="28575">
            <a:solidFill>
              <a:srgbClr val="009D57"/>
            </a:solidFill>
            <a:miter lim="800000"/>
            <a:headEnd/>
            <a:tailEnd/>
          </a:ln>
        </p:spPr>
        <p:txBody>
          <a:bodyPr vert="horz" wrap="square" lIns="91440" tIns="45720" rIns="91440" bIns="45720" numCol="1" anchor="t" anchorCtr="0" compatLnSpc="1">
            <a:prstTxWarp prst="textNoShape">
              <a:avLst/>
            </a:prstTxWarp>
          </a:bodyPr>
          <a:lstStyle/>
          <a:p>
            <a:r>
              <a:rPr lang="en-US" sz="1400" dirty="0" smtClean="0">
                <a:latin typeface="+mn-lt"/>
              </a:rPr>
              <a:t>Objective: </a:t>
            </a:r>
          </a:p>
          <a:p>
            <a:pPr>
              <a:buFont typeface="Arial" pitchFamily="34" charset="0"/>
              <a:buChar char="•"/>
            </a:pPr>
            <a:r>
              <a:rPr lang="en-US" sz="1400" b="1" dirty="0" smtClean="0">
                <a:latin typeface="+mn-lt"/>
              </a:rPr>
              <a:t>  </a:t>
            </a:r>
            <a:r>
              <a:rPr lang="en-US" sz="1400" dirty="0" smtClean="0">
                <a:latin typeface="+mn-lt"/>
              </a:rPr>
              <a:t>To provide ongoing leader development opportunities that inspire and engage our leaders</a:t>
            </a:r>
          </a:p>
          <a:p>
            <a:pPr>
              <a:buFont typeface="Arial" pitchFamily="34" charset="0"/>
              <a:buChar char="•"/>
            </a:pPr>
            <a:r>
              <a:rPr lang="en-US" sz="1400" dirty="0" smtClean="0">
                <a:latin typeface="+mn-lt"/>
              </a:rPr>
              <a:t>  To ensure leaders have the most current information and context related to running our business</a:t>
            </a:r>
          </a:p>
          <a:p>
            <a:endParaRPr lang="en-US" sz="1400" dirty="0" smtClean="0">
              <a:latin typeface="+mn-lt"/>
            </a:endParaRPr>
          </a:p>
          <a:p>
            <a:r>
              <a:rPr lang="en-US" sz="1400" dirty="0" smtClean="0">
                <a:latin typeface="+mn-lt"/>
              </a:rPr>
              <a:t>Frequency:  Once annually  </a:t>
            </a:r>
          </a:p>
          <a:p>
            <a:r>
              <a:rPr lang="en-US" sz="1400" dirty="0" smtClean="0">
                <a:latin typeface="+mn-lt"/>
              </a:rPr>
              <a:t>Class Size: ~125</a:t>
            </a:r>
          </a:p>
          <a:p>
            <a:r>
              <a:rPr lang="en-US" sz="1400" dirty="0" smtClean="0">
                <a:latin typeface="+mn-lt"/>
              </a:rPr>
              <a:t>Date and Duration:  March 27; 8-11am</a:t>
            </a:r>
          </a:p>
          <a:p>
            <a:r>
              <a:rPr lang="en-US" sz="1400" dirty="0" smtClean="0">
                <a:latin typeface="+mn-lt"/>
              </a:rPr>
              <a:t>Facilitation:  Blend of external and internal facilitation</a:t>
            </a:r>
          </a:p>
          <a:p>
            <a:r>
              <a:rPr lang="en-US" sz="1400" dirty="0" smtClean="0">
                <a:latin typeface="+mn-lt"/>
              </a:rPr>
              <a:t>Audience:  Mandatory for all Directors and above</a:t>
            </a:r>
          </a:p>
        </p:txBody>
      </p:sp>
      <p:sp>
        <p:nvSpPr>
          <p:cNvPr id="5" name="Content Placeholder 3"/>
          <p:cNvSpPr>
            <a:spLocks noGrp="1"/>
          </p:cNvSpPr>
          <p:nvPr>
            <p:ph sz="half" idx="2"/>
          </p:nvPr>
        </p:nvSpPr>
        <p:spPr>
          <a:xfrm>
            <a:off x="428624" y="3562350"/>
            <a:ext cx="8334376" cy="2914650"/>
          </a:xfrm>
          <a:solidFill>
            <a:srgbClr val="0070C0"/>
          </a:solidFill>
        </p:spPr>
        <p:txBody>
          <a:bodyPr/>
          <a:lstStyle/>
          <a:p>
            <a:pPr algn="ctr">
              <a:spcBef>
                <a:spcPts val="1200"/>
              </a:spcBef>
              <a:buNone/>
            </a:pPr>
            <a:r>
              <a:rPr lang="en-US" sz="1600" b="1" dirty="0" smtClean="0">
                <a:solidFill>
                  <a:schemeClr val="bg1"/>
                </a:solidFill>
                <a:latin typeface="+mn-lt"/>
              </a:rPr>
              <a:t>Leader Series: March 27</a:t>
            </a:r>
          </a:p>
          <a:p>
            <a:pPr>
              <a:spcBef>
                <a:spcPts val="1200"/>
              </a:spcBef>
            </a:pPr>
            <a:r>
              <a:rPr lang="en-US" sz="1600" dirty="0" smtClean="0">
                <a:solidFill>
                  <a:schemeClr val="bg1"/>
                </a:solidFill>
                <a:latin typeface="+mn-lt"/>
              </a:rPr>
              <a:t>Objective: </a:t>
            </a:r>
            <a:r>
              <a:rPr lang="en-US" sz="1600" dirty="0" smtClean="0">
                <a:solidFill>
                  <a:schemeClr val="bg1"/>
                </a:solidFill>
                <a:latin typeface="+mn-lt"/>
                <a:cs typeface="Arial" pitchFamily="34" charset="0"/>
              </a:rPr>
              <a:t>Accelerate the development of leaders in a critical competency: </a:t>
            </a:r>
            <a:r>
              <a:rPr lang="en-US" sz="1600" b="1" dirty="0" smtClean="0">
                <a:solidFill>
                  <a:schemeClr val="bg1"/>
                </a:solidFill>
                <a:latin typeface="+mn-lt"/>
                <a:cs typeface="Arial" pitchFamily="34" charset="0"/>
              </a:rPr>
              <a:t>Get Results</a:t>
            </a:r>
          </a:p>
          <a:p>
            <a:pPr>
              <a:spcBef>
                <a:spcPts val="1200"/>
              </a:spcBef>
            </a:pPr>
            <a:r>
              <a:rPr lang="en-US" sz="1600" dirty="0" smtClean="0">
                <a:solidFill>
                  <a:schemeClr val="bg1"/>
                </a:solidFill>
                <a:latin typeface="+mn-lt"/>
              </a:rPr>
              <a:t>External facilitator: Afterburner – Jim “Murph” Murphy, Founder and CEO</a:t>
            </a:r>
          </a:p>
          <a:p>
            <a:pPr>
              <a:spcBef>
                <a:spcPts val="1200"/>
              </a:spcBef>
            </a:pPr>
            <a:r>
              <a:rPr lang="en-US" sz="1600" dirty="0" smtClean="0">
                <a:solidFill>
                  <a:schemeClr val="bg1"/>
                </a:solidFill>
                <a:latin typeface="+mn-lt"/>
              </a:rPr>
              <a:t>Format:  Interactive mix</a:t>
            </a:r>
          </a:p>
          <a:p>
            <a:pPr lvl="1">
              <a:spcBef>
                <a:spcPts val="600"/>
              </a:spcBef>
            </a:pPr>
            <a:r>
              <a:rPr lang="en-US" sz="1600" dirty="0" smtClean="0">
                <a:solidFill>
                  <a:schemeClr val="bg1"/>
                </a:solidFill>
                <a:latin typeface="+mn-lt"/>
              </a:rPr>
              <a:t>Lecture</a:t>
            </a:r>
          </a:p>
          <a:p>
            <a:pPr lvl="1">
              <a:spcBef>
                <a:spcPts val="600"/>
              </a:spcBef>
            </a:pPr>
            <a:r>
              <a:rPr lang="en-US" sz="1600" dirty="0" smtClean="0">
                <a:solidFill>
                  <a:schemeClr val="bg1"/>
                </a:solidFill>
                <a:latin typeface="+mn-lt"/>
              </a:rPr>
              <a:t>Video</a:t>
            </a:r>
          </a:p>
          <a:p>
            <a:pPr lvl="1">
              <a:spcBef>
                <a:spcPts val="600"/>
              </a:spcBef>
            </a:pPr>
            <a:r>
              <a:rPr lang="en-US" sz="1600" dirty="0" smtClean="0">
                <a:solidFill>
                  <a:schemeClr val="bg1"/>
                </a:solidFill>
                <a:latin typeface="+mn-lt"/>
              </a:rPr>
              <a:t>Story Telling</a:t>
            </a:r>
          </a:p>
          <a:p>
            <a:pPr lvl="1">
              <a:spcBef>
                <a:spcPts val="600"/>
              </a:spcBef>
            </a:pPr>
            <a:r>
              <a:rPr lang="en-US" sz="1600" dirty="0" smtClean="0">
                <a:solidFill>
                  <a:schemeClr val="bg1"/>
                </a:solidFill>
                <a:latin typeface="+mn-lt"/>
              </a:rPr>
              <a:t>Interactive Discussion</a:t>
            </a:r>
          </a:p>
          <a:p>
            <a:pPr>
              <a:spcBef>
                <a:spcPts val="1200"/>
              </a:spcBef>
            </a:pPr>
            <a:endParaRPr lang="en-US" sz="1600" dirty="0" smtClean="0">
              <a:solidFill>
                <a:schemeClr val="bg1"/>
              </a:solidFill>
              <a:latin typeface="+mn-lt"/>
            </a:endParaRPr>
          </a:p>
        </p:txBody>
      </p:sp>
      <p:sp>
        <p:nvSpPr>
          <p:cNvPr id="6" name="Slide Number Placeholder 5"/>
          <p:cNvSpPr>
            <a:spLocks noGrp="1"/>
          </p:cNvSpPr>
          <p:nvPr>
            <p:ph type="sldNum" sz="quarter" idx="10"/>
          </p:nvPr>
        </p:nvSpPr>
        <p:spPr/>
        <p:txBody>
          <a:bodyPr/>
          <a:lstStyle/>
          <a:p>
            <a:pPr>
              <a:defRPr/>
            </a:pPr>
            <a:fld id="{01D945C9-0277-4107-B589-EC55ECD240BC}" type="slidenum">
              <a:rPr lang="en-US" smtClean="0"/>
              <a:pPr>
                <a:defRPr/>
              </a:pPr>
              <a:t>9</a:t>
            </a:fld>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sz="3000" dirty="0" smtClean="0"/>
              <a:t>Leader Series: Afterburner – Flawless Execution</a:t>
            </a:r>
            <a:endParaRPr lang="en-US" sz="3000" dirty="0"/>
          </a:p>
        </p:txBody>
      </p:sp>
      <p:sp>
        <p:nvSpPr>
          <p:cNvPr id="9" name="Content Placeholder 4"/>
          <p:cNvSpPr txBox="1">
            <a:spLocks noGrp="1"/>
          </p:cNvSpPr>
          <p:nvPr>
            <p:ph idx="1"/>
          </p:nvPr>
        </p:nvSpPr>
        <p:spPr>
          <a:xfrm>
            <a:off x="685800" y="1447800"/>
            <a:ext cx="7848600" cy="4659737"/>
          </a:xfrm>
          <a:solidFill>
            <a:schemeClr val="bg1"/>
          </a:solidFill>
          <a:ln w="28575">
            <a:solidFill>
              <a:srgbClr val="CC3300"/>
            </a:solidFill>
          </a:ln>
        </p:spPr>
        <p:txBody>
          <a:bodyPr wrap="square" rtlCol="0">
            <a:spAutoFit/>
          </a:bodyPr>
          <a:lstStyle/>
          <a:p>
            <a:pPr>
              <a:buNone/>
            </a:pPr>
            <a:r>
              <a:rPr lang="en-US" sz="1400" b="1" dirty="0" smtClean="0">
                <a:solidFill>
                  <a:schemeClr val="accent1"/>
                </a:solidFill>
              </a:rPr>
              <a:t>Afterburner Fighter Pilots: Delivering Flawless Execution for Healthcare Risk Management</a:t>
            </a:r>
          </a:p>
          <a:p>
            <a:pPr>
              <a:buNone/>
            </a:pPr>
            <a:endParaRPr lang="en-US" sz="1400" b="1" dirty="0" smtClean="0"/>
          </a:p>
          <a:p>
            <a:r>
              <a:rPr lang="en-US" sz="1400" dirty="0" smtClean="0"/>
              <a:t>Afterburner's team of elite fighter pilots will help your teams and your organization reduce errors, increase quality, and improve healthcare risk management by utilizing the healthcare-specific Flawless Execution℠ model. Through keynotes, workshops and training on planning, briefing, debriefing and task saturation, we improve patient safety from all members of clinical and non-clinical staff. This cross-team knowledge base contributes to lower costs, reduced errors, and increased safety throughout the healthcare industry.</a:t>
            </a:r>
          </a:p>
          <a:p>
            <a:pPr>
              <a:buNone/>
            </a:pPr>
            <a:endParaRPr lang="en-US" sz="1400" dirty="0" smtClean="0"/>
          </a:p>
          <a:p>
            <a:r>
              <a:rPr lang="en-US" sz="1400" dirty="0" smtClean="0"/>
              <a:t>To successfully execute a mission while reducing error, maintaining a low level of risk, and planning for contingencies, fighter pilots have developed a strategy consisting of a high level of communication and coordination. These risk management healthcare strategies, delivered as the </a:t>
            </a:r>
            <a:r>
              <a:rPr lang="en-US" sz="1400" b="1" dirty="0" smtClean="0"/>
              <a:t>Flawless Execution℠ model </a:t>
            </a:r>
            <a:r>
              <a:rPr lang="en-US" sz="1400" dirty="0" smtClean="0"/>
              <a:t>by Afterburner's highly-trained consultants, translate into the equally fast-paced world of medical care and patient safety.</a:t>
            </a:r>
          </a:p>
          <a:p>
            <a:pPr>
              <a:buNone/>
            </a:pPr>
            <a:endParaRPr lang="en-US" sz="1400" dirty="0" smtClean="0"/>
          </a:p>
          <a:p>
            <a:r>
              <a:rPr lang="en-US" sz="1400" dirty="0" smtClean="0"/>
              <a:t>All members of a healthcare team – clinical and non-clinical - must work as one unit, with an ultimate goal of patient safety. Effective risk management healthcare strategies begin with professionals who collaborate using a proven, common process to successfully improve patient safety. Healthcare teams need to know not only how to plan a mission, but how to brief and execute that mission flawlessly from start to finish.</a:t>
            </a:r>
            <a:endParaRPr lang="en-US" sz="1400" dirty="0">
              <a:solidFill>
                <a:schemeClr val="tx1"/>
              </a:solidFill>
              <a:latin typeface="Tw Cen MT" pitchFamily="34" charset="0"/>
            </a:endParaRPr>
          </a:p>
        </p:txBody>
      </p:sp>
      <p:sp>
        <p:nvSpPr>
          <p:cNvPr id="5" name="Slide Number Placeholder 4"/>
          <p:cNvSpPr>
            <a:spLocks noGrp="1"/>
          </p:cNvSpPr>
          <p:nvPr>
            <p:ph type="sldNum" sz="quarter" idx="10"/>
          </p:nvPr>
        </p:nvSpPr>
        <p:spPr/>
        <p:txBody>
          <a:bodyPr/>
          <a:lstStyle/>
          <a:p>
            <a:pPr>
              <a:defRPr/>
            </a:pPr>
            <a:fld id="{01D945C9-0277-4107-B589-EC55ECD240BC}" type="slidenum">
              <a:rPr lang="en-US" smtClean="0"/>
              <a:pPr>
                <a:defRPr/>
              </a:pPr>
              <a:t>10</a:t>
            </a:fld>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990600"/>
          </a:xfrm>
        </p:spPr>
        <p:txBody>
          <a:bodyPr/>
          <a:lstStyle/>
          <a:p>
            <a:r>
              <a:rPr lang="en-US" sz="3000" dirty="0" smtClean="0"/>
              <a:t>Take Out Training (Continuing)</a:t>
            </a:r>
            <a:endParaRPr lang="en-US" sz="3000" dirty="0"/>
          </a:p>
        </p:txBody>
      </p:sp>
      <p:sp>
        <p:nvSpPr>
          <p:cNvPr id="7" name="Content Placeholder 2"/>
          <p:cNvSpPr txBox="1">
            <a:spLocks/>
          </p:cNvSpPr>
          <p:nvPr/>
        </p:nvSpPr>
        <p:spPr bwMode="auto">
          <a:xfrm>
            <a:off x="533400" y="1600200"/>
            <a:ext cx="8001000" cy="2057400"/>
          </a:xfrm>
          <a:prstGeom prst="rect">
            <a:avLst/>
          </a:prstGeom>
          <a:noFill/>
          <a:ln w="28575">
            <a:solidFill>
              <a:srgbClr val="009D57"/>
            </a:solidFill>
            <a:miter lim="800000"/>
            <a:headEnd/>
            <a:tailEnd/>
          </a:ln>
        </p:spPr>
        <p:txBody>
          <a:bodyPr vert="horz" wrap="square" lIns="91440" tIns="45720" rIns="91440" bIns="45720" numCol="1" anchor="t" anchorCtr="0" compatLnSpc="1">
            <a:prstTxWarp prst="textNoShape">
              <a:avLst/>
            </a:prstTxWarp>
          </a:bodyPr>
          <a:lstStyle/>
          <a:p>
            <a:r>
              <a:rPr lang="en-US" sz="1500" dirty="0" smtClean="0">
                <a:latin typeface="+mn-lt"/>
              </a:rPr>
              <a:t>Objective: </a:t>
            </a:r>
          </a:p>
          <a:p>
            <a:pPr>
              <a:buFont typeface="Arial" pitchFamily="34" charset="0"/>
              <a:buChar char="•"/>
            </a:pPr>
            <a:r>
              <a:rPr lang="en-US" sz="1500" b="1" dirty="0" smtClean="0">
                <a:latin typeface="+mn-lt"/>
              </a:rPr>
              <a:t>  </a:t>
            </a:r>
            <a:r>
              <a:rPr lang="en-US" sz="1500" dirty="0" smtClean="0">
                <a:latin typeface="+mn-lt"/>
              </a:rPr>
              <a:t>To provide leaders </a:t>
            </a:r>
            <a:r>
              <a:rPr lang="en-US" sz="1500" dirty="0" smtClean="0">
                <a:solidFill>
                  <a:srgbClr val="0070C0"/>
                </a:solidFill>
                <a:latin typeface="+mn-lt"/>
              </a:rPr>
              <a:t>optional</a:t>
            </a:r>
            <a:r>
              <a:rPr lang="en-US" sz="1500" dirty="0" smtClean="0">
                <a:latin typeface="+mn-lt"/>
              </a:rPr>
              <a:t>, quick-hit development opportunities that allow them to focus on specific </a:t>
            </a:r>
          </a:p>
          <a:p>
            <a:r>
              <a:rPr lang="en-US" sz="1500" dirty="0" smtClean="0">
                <a:latin typeface="+mn-lt"/>
              </a:rPr>
              <a:t>    skill areas for which they need support or a refresher.  </a:t>
            </a:r>
          </a:p>
          <a:p>
            <a:endParaRPr lang="en-US" sz="1500" dirty="0" smtClean="0">
              <a:latin typeface="+mn-lt"/>
            </a:endParaRPr>
          </a:p>
          <a:p>
            <a:r>
              <a:rPr lang="en-US" sz="1500" dirty="0" smtClean="0">
                <a:latin typeface="+mn-lt"/>
              </a:rPr>
              <a:t>Frequency: 	Twice annually  </a:t>
            </a:r>
          </a:p>
          <a:p>
            <a:r>
              <a:rPr lang="en-US" sz="1500" dirty="0" smtClean="0">
                <a:latin typeface="+mn-lt"/>
              </a:rPr>
              <a:t>Duration:   	3 hour breakfast meeting; 8-11am</a:t>
            </a:r>
          </a:p>
          <a:p>
            <a:r>
              <a:rPr lang="en-US" sz="1500" dirty="0" smtClean="0">
                <a:latin typeface="+mn-lt"/>
              </a:rPr>
              <a:t>Facilitation: 	Learning team</a:t>
            </a:r>
          </a:p>
          <a:p>
            <a:r>
              <a:rPr lang="en-US" sz="1500" dirty="0" smtClean="0">
                <a:latin typeface="+mn-lt"/>
              </a:rPr>
              <a:t>Audience:  	Optional invitation for all Directors and above</a:t>
            </a:r>
          </a:p>
        </p:txBody>
      </p:sp>
      <p:sp>
        <p:nvSpPr>
          <p:cNvPr id="5" name="Content Placeholder 3"/>
          <p:cNvSpPr>
            <a:spLocks noGrp="1"/>
          </p:cNvSpPr>
          <p:nvPr>
            <p:ph sz="half" idx="2"/>
          </p:nvPr>
        </p:nvSpPr>
        <p:spPr>
          <a:xfrm>
            <a:off x="4572000" y="3886200"/>
            <a:ext cx="4038600" cy="2419350"/>
          </a:xfrm>
          <a:solidFill>
            <a:srgbClr val="0070C0"/>
          </a:solidFill>
        </p:spPr>
        <p:txBody>
          <a:bodyPr/>
          <a:lstStyle/>
          <a:p>
            <a:pPr algn="ctr">
              <a:buNone/>
            </a:pPr>
            <a:r>
              <a:rPr lang="en-US" sz="1400" b="1" dirty="0" smtClean="0">
                <a:solidFill>
                  <a:schemeClr val="bg1"/>
                </a:solidFill>
              </a:rPr>
              <a:t>Take Out Training: </a:t>
            </a:r>
            <a:r>
              <a:rPr lang="en-US" sz="1400" b="1" dirty="0" smtClean="0">
                <a:solidFill>
                  <a:schemeClr val="bg1"/>
                </a:solidFill>
              </a:rPr>
              <a:t>October</a:t>
            </a:r>
            <a:r>
              <a:rPr lang="en-US" sz="1400" b="1" dirty="0" smtClean="0">
                <a:solidFill>
                  <a:schemeClr val="bg1"/>
                </a:solidFill>
              </a:rPr>
              <a:t> </a:t>
            </a:r>
            <a:r>
              <a:rPr lang="en-US" sz="1400" b="1" dirty="0" smtClean="0">
                <a:solidFill>
                  <a:schemeClr val="bg1"/>
                </a:solidFill>
              </a:rPr>
              <a:t>2013</a:t>
            </a:r>
          </a:p>
          <a:p>
            <a:r>
              <a:rPr lang="en-US" sz="1400" dirty="0" smtClean="0">
                <a:solidFill>
                  <a:schemeClr val="bg1"/>
                </a:solidFill>
              </a:rPr>
              <a:t>Objective: To provide leaders a refresher or new ideas on ways to manage conflict within their teams and the organization.</a:t>
            </a:r>
          </a:p>
          <a:p>
            <a:r>
              <a:rPr lang="en-US" sz="1400" dirty="0" smtClean="0">
                <a:solidFill>
                  <a:schemeClr val="bg1"/>
                </a:solidFill>
              </a:rPr>
              <a:t>Topic: </a:t>
            </a:r>
            <a:r>
              <a:rPr lang="en-US" sz="1400" dirty="0" smtClean="0">
                <a:solidFill>
                  <a:schemeClr val="bg1"/>
                </a:solidFill>
              </a:rPr>
              <a:t> High Performing Teams</a:t>
            </a:r>
            <a:endParaRPr lang="en-US" sz="1400" dirty="0" smtClean="0">
              <a:solidFill>
                <a:schemeClr val="bg1"/>
              </a:solidFill>
            </a:endParaRPr>
          </a:p>
          <a:p>
            <a:r>
              <a:rPr lang="en-US" sz="1400" dirty="0" smtClean="0">
                <a:solidFill>
                  <a:schemeClr val="bg1"/>
                </a:solidFill>
              </a:rPr>
              <a:t>Session will help leaders learn tips and tools to better drive results through their teams by setting expectations and consistent delegation.</a:t>
            </a:r>
            <a:endParaRPr lang="en-US" sz="1400" dirty="0" smtClean="0">
              <a:solidFill>
                <a:schemeClr val="bg1"/>
              </a:solidFill>
            </a:endParaRPr>
          </a:p>
        </p:txBody>
      </p:sp>
      <p:sp>
        <p:nvSpPr>
          <p:cNvPr id="6" name="Content Placeholder 3"/>
          <p:cNvSpPr txBox="1">
            <a:spLocks/>
          </p:cNvSpPr>
          <p:nvPr/>
        </p:nvSpPr>
        <p:spPr bwMode="auto">
          <a:xfrm>
            <a:off x="457200" y="3886200"/>
            <a:ext cx="4038600" cy="2419350"/>
          </a:xfrm>
          <a:prstGeom prst="rect">
            <a:avLst/>
          </a:prstGeom>
          <a:solidFill>
            <a:srgbClr val="0070C0"/>
          </a:solid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ctr" defTabSz="914400" rtl="0" eaLnBrk="0" fontAlgn="base" latinLnBrk="0" hangingPunct="0">
              <a:lnSpc>
                <a:spcPct val="100000"/>
              </a:lnSpc>
              <a:spcBef>
                <a:spcPct val="20000"/>
              </a:spcBef>
              <a:spcAft>
                <a:spcPct val="0"/>
              </a:spcAft>
              <a:buClrTx/>
              <a:buSzTx/>
              <a:buFont typeface="Arial" charset="0"/>
              <a:buNone/>
              <a:tabLst/>
              <a:defRPr/>
            </a:pPr>
            <a:r>
              <a:rPr kumimoji="0" lang="en-US" sz="1400" b="1" i="0" u="none" strike="noStrike" kern="1200" cap="none" spc="0" normalizeH="0" baseline="0" noProof="0" dirty="0" smtClean="0">
                <a:ln>
                  <a:noFill/>
                </a:ln>
                <a:solidFill>
                  <a:schemeClr val="bg1"/>
                </a:solidFill>
                <a:effectLst/>
                <a:uLnTx/>
                <a:uFillTx/>
                <a:latin typeface="+mj-lt"/>
                <a:ea typeface="+mn-ea"/>
                <a:cs typeface="+mn-cs"/>
              </a:rPr>
              <a:t>Take Out Training:</a:t>
            </a:r>
            <a:r>
              <a:rPr kumimoji="0" lang="en-US" sz="1400" b="1" i="0" u="none" strike="noStrike" kern="1200" cap="none" spc="0" normalizeH="0" noProof="0" dirty="0" smtClean="0">
                <a:ln>
                  <a:noFill/>
                </a:ln>
                <a:solidFill>
                  <a:schemeClr val="bg1"/>
                </a:solidFill>
                <a:effectLst/>
                <a:uLnTx/>
                <a:uFillTx/>
                <a:latin typeface="+mj-lt"/>
                <a:ea typeface="+mn-ea"/>
                <a:cs typeface="+mn-cs"/>
              </a:rPr>
              <a:t> </a:t>
            </a:r>
            <a:r>
              <a:rPr lang="en-US" sz="1400" b="1" dirty="0" smtClean="0">
                <a:solidFill>
                  <a:schemeClr val="bg1"/>
                </a:solidFill>
                <a:latin typeface="+mj-lt"/>
              </a:rPr>
              <a:t>June </a:t>
            </a:r>
            <a:r>
              <a:rPr kumimoji="0" lang="en-US" sz="1400" b="1" i="0" u="none" strike="noStrike" kern="1200" cap="none" spc="0" normalizeH="0" noProof="0" dirty="0" smtClean="0">
                <a:ln>
                  <a:noFill/>
                </a:ln>
                <a:solidFill>
                  <a:schemeClr val="bg1"/>
                </a:solidFill>
                <a:effectLst/>
                <a:uLnTx/>
                <a:uFillTx/>
                <a:latin typeface="+mj-lt"/>
                <a:ea typeface="+mn-ea"/>
                <a:cs typeface="+mn-cs"/>
              </a:rPr>
              <a:t>2013</a:t>
            </a:r>
            <a:endParaRPr kumimoji="0" lang="en-US" sz="1400" b="1" i="0" u="none" strike="noStrike" kern="1200" cap="none" spc="0" normalizeH="0" baseline="0" noProof="0" dirty="0" smtClean="0">
              <a:ln>
                <a:noFill/>
              </a:ln>
              <a:solidFill>
                <a:schemeClr val="bg1"/>
              </a:solidFill>
              <a:effectLst/>
              <a:uLnTx/>
              <a:uFillTx/>
              <a:latin typeface="+mj-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r>
              <a:rPr lang="en-US" sz="1400" baseline="0" dirty="0" smtClean="0">
                <a:solidFill>
                  <a:schemeClr val="bg1"/>
                </a:solidFill>
                <a:latin typeface="+mj-lt"/>
              </a:rPr>
              <a:t>Objective:</a:t>
            </a:r>
            <a:r>
              <a:rPr lang="en-US" sz="1400" dirty="0" smtClean="0">
                <a:solidFill>
                  <a:schemeClr val="bg1"/>
                </a:solidFill>
                <a:latin typeface="+mj-lt"/>
              </a:rPr>
              <a:t> To provide leaders a refresher or new ideas on ways to lead through and manage change.</a:t>
            </a:r>
          </a:p>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r>
              <a:rPr lang="en-US" sz="1400" dirty="0" smtClean="0">
                <a:solidFill>
                  <a:schemeClr val="bg1"/>
                </a:solidFill>
                <a:latin typeface="+mj-lt"/>
              </a:rPr>
              <a:t>Topic: Leading through </a:t>
            </a:r>
            <a:r>
              <a:rPr lang="en-US" sz="1400" dirty="0" smtClean="0">
                <a:solidFill>
                  <a:schemeClr val="bg1"/>
                </a:solidFill>
                <a:latin typeface="+mj-lt"/>
              </a:rPr>
              <a:t>change</a:t>
            </a:r>
            <a:endParaRPr lang="en-US" sz="1400" dirty="0" smtClean="0">
              <a:solidFill>
                <a:schemeClr val="bg1"/>
              </a:solidFill>
              <a:latin typeface="+mj-lt"/>
            </a:endParaRPr>
          </a:p>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r>
              <a:rPr lang="en-US" sz="1400" dirty="0" smtClean="0">
                <a:solidFill>
                  <a:schemeClr val="bg1"/>
                </a:solidFill>
                <a:latin typeface="+mj-lt"/>
              </a:rPr>
              <a:t>Session on how to identify, manage and lead change in a way that won’t dilute the change or leave your team </a:t>
            </a:r>
            <a:r>
              <a:rPr lang="en-US" sz="1400" dirty="0" smtClean="0">
                <a:solidFill>
                  <a:schemeClr val="bg1"/>
                </a:solidFill>
                <a:latin typeface="+mj-lt"/>
              </a:rPr>
              <a:t>behind.</a:t>
            </a:r>
            <a:endParaRPr lang="en-US" sz="1400" dirty="0" smtClean="0">
              <a:solidFill>
                <a:schemeClr val="bg1"/>
              </a:solidFill>
              <a:latin typeface="+mj-lt"/>
            </a:endParaRPr>
          </a:p>
          <a:p>
            <a:pPr marL="800100" lvl="1" indent="-342900" eaLnBrk="0" hangingPunct="0">
              <a:spcBef>
                <a:spcPct val="20000"/>
              </a:spcBef>
              <a:buFont typeface="Arial" charset="0"/>
              <a:buChar char="•"/>
            </a:pPr>
            <a:endParaRPr kumimoji="0" lang="en-US" sz="1400" b="0" i="0" u="none" strike="noStrike" kern="1200" cap="none" spc="0" normalizeH="0" baseline="0" noProof="0" dirty="0">
              <a:ln>
                <a:noFill/>
              </a:ln>
              <a:solidFill>
                <a:schemeClr val="bg1"/>
              </a:solidFill>
              <a:effectLst/>
              <a:uLnTx/>
              <a:uFillTx/>
              <a:latin typeface="+mj-lt"/>
              <a:ea typeface="+mn-ea"/>
              <a:cs typeface="+mn-cs"/>
            </a:endParaRPr>
          </a:p>
        </p:txBody>
      </p:sp>
      <p:sp>
        <p:nvSpPr>
          <p:cNvPr id="8" name="Slide Number Placeholder 7"/>
          <p:cNvSpPr>
            <a:spLocks noGrp="1"/>
          </p:cNvSpPr>
          <p:nvPr>
            <p:ph type="sldNum" sz="quarter" idx="10"/>
          </p:nvPr>
        </p:nvSpPr>
        <p:spPr/>
        <p:txBody>
          <a:bodyPr/>
          <a:lstStyle/>
          <a:p>
            <a:pPr>
              <a:defRPr/>
            </a:pPr>
            <a:fld id="{01D945C9-0277-4107-B589-EC55ECD240BC}" type="slidenum">
              <a:rPr lang="en-US" smtClean="0"/>
              <a:pPr>
                <a:defRPr/>
              </a:pPr>
              <a:t>11</a:t>
            </a:fld>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990600"/>
          </a:xfrm>
        </p:spPr>
        <p:txBody>
          <a:bodyPr/>
          <a:lstStyle/>
          <a:p>
            <a:r>
              <a:rPr lang="en-US" sz="3000" dirty="0" smtClean="0"/>
              <a:t>All Manager Meeting (New)</a:t>
            </a:r>
            <a:endParaRPr lang="en-US" sz="3000" dirty="0"/>
          </a:p>
        </p:txBody>
      </p:sp>
      <p:sp>
        <p:nvSpPr>
          <p:cNvPr id="7" name="Content Placeholder 2"/>
          <p:cNvSpPr txBox="1">
            <a:spLocks/>
          </p:cNvSpPr>
          <p:nvPr/>
        </p:nvSpPr>
        <p:spPr bwMode="auto">
          <a:xfrm>
            <a:off x="609600" y="1524000"/>
            <a:ext cx="8001000" cy="1676400"/>
          </a:xfrm>
          <a:prstGeom prst="rect">
            <a:avLst/>
          </a:prstGeom>
          <a:noFill/>
          <a:ln w="28575">
            <a:solidFill>
              <a:srgbClr val="0070C0"/>
            </a:solidFill>
            <a:miter lim="800000"/>
            <a:headEnd/>
            <a:tailEnd/>
          </a:ln>
        </p:spPr>
        <p:txBody>
          <a:bodyPr vert="horz" wrap="square" lIns="91440" tIns="45720" rIns="91440" bIns="45720" numCol="1" anchor="t" anchorCtr="0" compatLnSpc="1">
            <a:prstTxWarp prst="textNoShape">
              <a:avLst/>
            </a:prstTxWarp>
          </a:bodyPr>
          <a:lstStyle/>
          <a:p>
            <a:r>
              <a:rPr lang="en-US" sz="1400" dirty="0" smtClean="0">
                <a:latin typeface="+mn-lt"/>
              </a:rPr>
              <a:t>Objective: To provide annual tools to develop our managers, align best practice and improve effectiveness with their teams.</a:t>
            </a:r>
          </a:p>
          <a:p>
            <a:endParaRPr lang="en-US" sz="1400" dirty="0" smtClean="0">
              <a:latin typeface="+mn-lt"/>
            </a:endParaRPr>
          </a:p>
          <a:p>
            <a:r>
              <a:rPr lang="en-US" sz="1400" dirty="0" smtClean="0">
                <a:latin typeface="+mn-lt"/>
              </a:rPr>
              <a:t>Frequency: Once annually  </a:t>
            </a:r>
          </a:p>
          <a:p>
            <a:r>
              <a:rPr lang="en-US" sz="1400" dirty="0" smtClean="0">
                <a:latin typeface="+mn-lt"/>
              </a:rPr>
              <a:t>Duration:  4-hour meeting followed by a 1-hour lunch; 8-1pm</a:t>
            </a:r>
          </a:p>
          <a:p>
            <a:r>
              <a:rPr lang="en-US" sz="1400" dirty="0" smtClean="0">
                <a:latin typeface="+mn-lt"/>
              </a:rPr>
              <a:t>Facilitation: Internal leaders</a:t>
            </a:r>
          </a:p>
          <a:p>
            <a:r>
              <a:rPr lang="en-US" sz="1400" dirty="0" smtClean="0">
                <a:latin typeface="+mn-lt"/>
              </a:rPr>
              <a:t>Audience: Mandatory for all People Managers </a:t>
            </a:r>
          </a:p>
        </p:txBody>
      </p:sp>
      <p:sp>
        <p:nvSpPr>
          <p:cNvPr id="6" name="Content Placeholder 3"/>
          <p:cNvSpPr>
            <a:spLocks noGrp="1"/>
          </p:cNvSpPr>
          <p:nvPr>
            <p:ph sz="half" idx="2"/>
          </p:nvPr>
        </p:nvSpPr>
        <p:spPr>
          <a:xfrm>
            <a:off x="533400" y="3352800"/>
            <a:ext cx="8153400" cy="3048000"/>
          </a:xfrm>
          <a:solidFill>
            <a:srgbClr val="00B050"/>
          </a:solidFill>
        </p:spPr>
        <p:txBody>
          <a:bodyPr/>
          <a:lstStyle/>
          <a:p>
            <a:pPr algn="ctr">
              <a:buNone/>
            </a:pPr>
            <a:r>
              <a:rPr lang="en-US" sz="1600" b="1" dirty="0" smtClean="0">
                <a:solidFill>
                  <a:schemeClr val="bg1"/>
                </a:solidFill>
              </a:rPr>
              <a:t>All Manager Meeting:  June 2013</a:t>
            </a:r>
          </a:p>
          <a:p>
            <a:r>
              <a:rPr lang="en-US" sz="1300" b="1" dirty="0" smtClean="0">
                <a:solidFill>
                  <a:schemeClr val="bg1"/>
                </a:solidFill>
              </a:rPr>
              <a:t>First Section: </a:t>
            </a:r>
          </a:p>
          <a:p>
            <a:pPr lvl="1"/>
            <a:r>
              <a:rPr lang="en-US" sz="1300" dirty="0" smtClean="0">
                <a:solidFill>
                  <a:schemeClr val="bg1"/>
                </a:solidFill>
              </a:rPr>
              <a:t>Manager Required Learning and Refresher:</a:t>
            </a:r>
          </a:p>
          <a:p>
            <a:pPr lvl="2"/>
            <a:r>
              <a:rPr lang="en-US" sz="1300" dirty="0" smtClean="0">
                <a:solidFill>
                  <a:schemeClr val="bg1"/>
                </a:solidFill>
              </a:rPr>
              <a:t>Finance Basics – Reports, policies</a:t>
            </a:r>
          </a:p>
          <a:p>
            <a:pPr lvl="2"/>
            <a:r>
              <a:rPr lang="en-US" sz="1300" dirty="0" smtClean="0">
                <a:solidFill>
                  <a:schemeClr val="bg1"/>
                </a:solidFill>
              </a:rPr>
              <a:t>Compliance – HIPAA</a:t>
            </a:r>
          </a:p>
          <a:p>
            <a:pPr lvl="2"/>
            <a:r>
              <a:rPr lang="en-US" sz="1300" dirty="0" smtClean="0">
                <a:solidFill>
                  <a:schemeClr val="bg1"/>
                </a:solidFill>
              </a:rPr>
              <a:t>HR and System policies</a:t>
            </a:r>
          </a:p>
          <a:p>
            <a:pPr lvl="2"/>
            <a:r>
              <a:rPr lang="en-US" sz="1300" dirty="0" smtClean="0">
                <a:solidFill>
                  <a:schemeClr val="bg1"/>
                </a:solidFill>
              </a:rPr>
              <a:t>Management Basics – Team development, reward &amp; recognition</a:t>
            </a:r>
          </a:p>
          <a:p>
            <a:r>
              <a:rPr lang="en-US" sz="1300" b="1" dirty="0" smtClean="0">
                <a:solidFill>
                  <a:schemeClr val="bg1"/>
                </a:solidFill>
              </a:rPr>
              <a:t>Second Section: </a:t>
            </a:r>
          </a:p>
          <a:p>
            <a:pPr lvl="1">
              <a:spcBef>
                <a:spcPts val="600"/>
              </a:spcBef>
            </a:pPr>
            <a:r>
              <a:rPr lang="en-US" sz="1300" dirty="0" smtClean="0">
                <a:solidFill>
                  <a:schemeClr val="bg1"/>
                </a:solidFill>
              </a:rPr>
              <a:t>Objective: Focus on Telling the Story. </a:t>
            </a:r>
            <a:r>
              <a:rPr lang="en-US" sz="1300" dirty="0" smtClean="0">
                <a:solidFill>
                  <a:schemeClr val="bg1"/>
                </a:solidFill>
                <a:cs typeface="Arial" pitchFamily="34" charset="0"/>
              </a:rPr>
              <a:t>Accelerate the development of leaders in a critical competency: </a:t>
            </a:r>
            <a:r>
              <a:rPr lang="en-US" sz="1300" b="1" dirty="0" smtClean="0">
                <a:solidFill>
                  <a:schemeClr val="bg1"/>
                </a:solidFill>
                <a:cs typeface="Arial" pitchFamily="34" charset="0"/>
              </a:rPr>
              <a:t>Be Clear and Compelling</a:t>
            </a:r>
          </a:p>
          <a:p>
            <a:pPr lvl="1">
              <a:spcBef>
                <a:spcPts val="600"/>
              </a:spcBef>
            </a:pPr>
            <a:r>
              <a:rPr lang="en-US" sz="1300" dirty="0" smtClean="0">
                <a:solidFill>
                  <a:schemeClr val="bg1"/>
                </a:solidFill>
              </a:rPr>
              <a:t>External facilitator: Jay Conger</a:t>
            </a:r>
          </a:p>
          <a:p>
            <a:pPr lvl="1">
              <a:spcBef>
                <a:spcPts val="600"/>
              </a:spcBef>
            </a:pPr>
            <a:r>
              <a:rPr lang="en-US" sz="1300" dirty="0" smtClean="0">
                <a:solidFill>
                  <a:schemeClr val="bg1"/>
                </a:solidFill>
              </a:rPr>
              <a:t>Format:  Interactive mix: Lecture, video,  exercises</a:t>
            </a:r>
          </a:p>
        </p:txBody>
      </p:sp>
      <p:sp>
        <p:nvSpPr>
          <p:cNvPr id="8" name="Slide Number Placeholder 7"/>
          <p:cNvSpPr>
            <a:spLocks noGrp="1"/>
          </p:cNvSpPr>
          <p:nvPr>
            <p:ph type="sldNum" sz="quarter" idx="10"/>
          </p:nvPr>
        </p:nvSpPr>
        <p:spPr/>
        <p:txBody>
          <a:bodyPr/>
          <a:lstStyle/>
          <a:p>
            <a:pPr>
              <a:defRPr/>
            </a:pPr>
            <a:fld id="{01D945C9-0277-4107-B589-EC55ECD240BC}" type="slidenum">
              <a:rPr lang="en-US" smtClean="0"/>
              <a:pPr>
                <a:defRPr/>
              </a:pPr>
              <a:t>12</a:t>
            </a:fld>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534400" cy="990600"/>
          </a:xfrm>
        </p:spPr>
        <p:txBody>
          <a:bodyPr/>
          <a:lstStyle/>
          <a:p>
            <a:pPr>
              <a:defRPr/>
            </a:pPr>
            <a:r>
              <a:rPr lang="en-US" sz="2600" dirty="0" smtClean="0"/>
              <a:t>All Manager Meeting: Be Clear and Compelling</a:t>
            </a:r>
            <a:endParaRPr lang="en-US" sz="2600" dirty="0"/>
          </a:p>
        </p:txBody>
      </p:sp>
      <p:sp>
        <p:nvSpPr>
          <p:cNvPr id="9" name="Content Placeholder 4"/>
          <p:cNvSpPr txBox="1">
            <a:spLocks noGrp="1"/>
          </p:cNvSpPr>
          <p:nvPr>
            <p:ph idx="1"/>
          </p:nvPr>
        </p:nvSpPr>
        <p:spPr>
          <a:xfrm>
            <a:off x="609600" y="1371600"/>
            <a:ext cx="7848600" cy="5186548"/>
          </a:xfrm>
          <a:solidFill>
            <a:schemeClr val="bg1"/>
          </a:solidFill>
          <a:ln w="28575">
            <a:solidFill>
              <a:srgbClr val="CC3300"/>
            </a:solidFill>
          </a:ln>
        </p:spPr>
        <p:txBody>
          <a:bodyPr wrap="square" rtlCol="0">
            <a:spAutoFit/>
          </a:bodyPr>
          <a:lstStyle/>
          <a:p>
            <a:pPr marL="117475" indent="-117475" eaLnBrk="1" hangingPunct="1">
              <a:lnSpc>
                <a:spcPts val="1500"/>
              </a:lnSpc>
              <a:spcBef>
                <a:spcPts val="1200"/>
              </a:spcBef>
              <a:buClr>
                <a:schemeClr val="tx2"/>
              </a:buClr>
              <a:buNone/>
              <a:defRPr/>
            </a:pPr>
            <a:r>
              <a:rPr lang="en-US" sz="1600" b="1" dirty="0" smtClean="0">
                <a:solidFill>
                  <a:srgbClr val="000000"/>
                </a:solidFill>
                <a:latin typeface="Tw Cen MT" pitchFamily="34" charset="0"/>
                <a:cs typeface="Arial" pitchFamily="34" charset="0"/>
              </a:rPr>
              <a:t>National Speaker, Jay Conger: </a:t>
            </a:r>
            <a:r>
              <a:rPr lang="en-US" sz="1600" dirty="0" smtClean="0">
                <a:solidFill>
                  <a:srgbClr val="000000"/>
                </a:solidFill>
                <a:latin typeface="Tw Cen MT" pitchFamily="34" charset="0"/>
                <a:cs typeface="Arial" pitchFamily="34" charset="0"/>
              </a:rPr>
              <a:t>Expert in Persuasion, Influence and Telling the Story</a:t>
            </a:r>
          </a:p>
          <a:p>
            <a:pPr marL="117475" indent="-117475" eaLnBrk="1" hangingPunct="1">
              <a:lnSpc>
                <a:spcPts val="1500"/>
              </a:lnSpc>
              <a:buClr>
                <a:schemeClr val="tx2"/>
              </a:buClr>
              <a:buFont typeface="Arial" pitchFamily="34" charset="0"/>
              <a:buChar char="•"/>
              <a:defRPr/>
            </a:pPr>
            <a:endParaRPr lang="en-US" sz="1400" b="1" dirty="0" smtClean="0">
              <a:solidFill>
                <a:srgbClr val="000000"/>
              </a:solidFill>
              <a:latin typeface="Tw Cen MT" pitchFamily="34" charset="0"/>
              <a:cs typeface="Arial" pitchFamily="34" charset="0"/>
            </a:endParaRPr>
          </a:p>
          <a:p>
            <a:pPr marL="117475" indent="-117475" eaLnBrk="1" hangingPunct="1">
              <a:lnSpc>
                <a:spcPts val="1500"/>
              </a:lnSpc>
              <a:buClr>
                <a:schemeClr val="tx2"/>
              </a:buClr>
              <a:buFont typeface="Arial" pitchFamily="34" charset="0"/>
              <a:buChar char="•"/>
              <a:defRPr/>
            </a:pPr>
            <a:r>
              <a:rPr lang="en-US" sz="1400" b="1" dirty="0" smtClean="0">
                <a:solidFill>
                  <a:srgbClr val="000000"/>
                </a:solidFill>
                <a:latin typeface="Tw Cen MT" pitchFamily="34" charset="0"/>
                <a:cs typeface="Arial" pitchFamily="34" charset="0"/>
              </a:rPr>
              <a:t>Persuasion: </a:t>
            </a:r>
            <a:r>
              <a:rPr lang="en-US" sz="1400" dirty="0" smtClean="0">
                <a:solidFill>
                  <a:srgbClr val="000000"/>
                </a:solidFill>
                <a:latin typeface="Tw Cen MT" pitchFamily="34" charset="0"/>
                <a:cs typeface="Arial" pitchFamily="34" charset="0"/>
              </a:rPr>
              <a:t>What does it look like? What does it take?</a:t>
            </a:r>
          </a:p>
          <a:p>
            <a:pPr marL="517525" lvl="2" indent="-117475">
              <a:lnSpc>
                <a:spcPts val="1500"/>
              </a:lnSpc>
              <a:buClr>
                <a:schemeClr val="tx2"/>
              </a:buClr>
              <a:buFont typeface="Arial" pitchFamily="34" charset="0"/>
              <a:buChar char="•"/>
              <a:defRPr/>
            </a:pPr>
            <a:r>
              <a:rPr lang="en-US" sz="1200" dirty="0" smtClean="0">
                <a:solidFill>
                  <a:srgbClr val="000000"/>
                </a:solidFill>
                <a:latin typeface="Tw Cen MT" pitchFamily="34" charset="0"/>
                <a:cs typeface="Arial" pitchFamily="34" charset="0"/>
              </a:rPr>
              <a:t>Partner Exercise: share an initiative that requires extensive persuasion</a:t>
            </a:r>
          </a:p>
          <a:p>
            <a:pPr marL="117475" indent="-117475" eaLnBrk="1" hangingPunct="1">
              <a:lnSpc>
                <a:spcPts val="1500"/>
              </a:lnSpc>
              <a:buClr>
                <a:schemeClr val="tx2"/>
              </a:buClr>
              <a:buFont typeface="Arial" pitchFamily="34" charset="0"/>
              <a:buChar char="•"/>
              <a:defRPr/>
            </a:pPr>
            <a:endParaRPr lang="en-US" sz="1200" dirty="0" smtClean="0">
              <a:solidFill>
                <a:srgbClr val="000000"/>
              </a:solidFill>
              <a:latin typeface="Tw Cen MT" pitchFamily="34" charset="0"/>
              <a:cs typeface="Arial" pitchFamily="34" charset="0"/>
            </a:endParaRPr>
          </a:p>
          <a:p>
            <a:pPr marL="117475" indent="-117475" eaLnBrk="1" hangingPunct="1">
              <a:lnSpc>
                <a:spcPts val="1500"/>
              </a:lnSpc>
              <a:buClr>
                <a:schemeClr val="tx2"/>
              </a:buClr>
              <a:buFont typeface="Arial" pitchFamily="34" charset="0"/>
              <a:buChar char="•"/>
              <a:defRPr/>
            </a:pPr>
            <a:r>
              <a:rPr lang="en-US" sz="1400" dirty="0" smtClean="0">
                <a:solidFill>
                  <a:srgbClr val="000000"/>
                </a:solidFill>
                <a:latin typeface="Tw Cen MT" pitchFamily="34" charset="0"/>
                <a:cs typeface="Arial" pitchFamily="34" charset="0"/>
              </a:rPr>
              <a:t> </a:t>
            </a:r>
            <a:r>
              <a:rPr lang="en-US" sz="1400" b="1" dirty="0" smtClean="0">
                <a:solidFill>
                  <a:srgbClr val="000000"/>
                </a:solidFill>
                <a:latin typeface="Tw Cen MT" pitchFamily="34" charset="0"/>
                <a:cs typeface="Arial" pitchFamily="34" charset="0"/>
              </a:rPr>
              <a:t>The 4Cs: </a:t>
            </a:r>
            <a:r>
              <a:rPr lang="en-US" sz="1400" dirty="0" smtClean="0">
                <a:solidFill>
                  <a:srgbClr val="000000"/>
                </a:solidFill>
                <a:latin typeface="Tw Cen MT" pitchFamily="34" charset="0"/>
                <a:cs typeface="Arial" pitchFamily="34" charset="0"/>
              </a:rPr>
              <a:t>critical components of persuasion </a:t>
            </a:r>
          </a:p>
          <a:p>
            <a:pPr lvl="1" eaLnBrk="1" hangingPunct="1">
              <a:lnSpc>
                <a:spcPts val="1500"/>
              </a:lnSpc>
              <a:buClr>
                <a:schemeClr val="tx2"/>
              </a:buClr>
              <a:buFont typeface="+mj-lt"/>
              <a:buAutoNum type="arabicPeriod"/>
              <a:defRPr/>
            </a:pPr>
            <a:r>
              <a:rPr lang="en-US" sz="1200" b="1" dirty="0" smtClean="0">
                <a:solidFill>
                  <a:srgbClr val="000000"/>
                </a:solidFill>
                <a:latin typeface="Tw Cen MT" pitchFamily="34" charset="0"/>
                <a:cs typeface="Arial" pitchFamily="34" charset="0"/>
              </a:rPr>
              <a:t>Credibility</a:t>
            </a:r>
          </a:p>
          <a:p>
            <a:pPr marL="974725" lvl="3" indent="-117475">
              <a:buClr>
                <a:schemeClr val="tx2"/>
              </a:buClr>
              <a:buFont typeface="Arial" pitchFamily="34" charset="0"/>
              <a:buChar char="•"/>
              <a:defRPr/>
            </a:pPr>
            <a:r>
              <a:rPr lang="en-US" sz="1200" dirty="0" smtClean="0">
                <a:solidFill>
                  <a:srgbClr val="000000"/>
                </a:solidFill>
                <a:latin typeface="Tw Cen MT" pitchFamily="34" charset="0"/>
                <a:cs typeface="Arial" pitchFamily="34" charset="0"/>
              </a:rPr>
              <a:t>Sources of credibility</a:t>
            </a:r>
          </a:p>
          <a:p>
            <a:pPr marL="974725" lvl="3" indent="-117475">
              <a:buClr>
                <a:schemeClr val="tx2"/>
              </a:buClr>
              <a:buFont typeface="Arial" pitchFamily="34" charset="0"/>
              <a:buChar char="•"/>
              <a:defRPr/>
            </a:pPr>
            <a:r>
              <a:rPr lang="en-US" sz="1200" dirty="0" smtClean="0">
                <a:solidFill>
                  <a:srgbClr val="000000"/>
                </a:solidFill>
                <a:latin typeface="Tw Cen MT" pitchFamily="34" charset="0"/>
                <a:cs typeface="Arial" pitchFamily="34" charset="0"/>
              </a:rPr>
              <a:t>Individual / Partner exercise: identify your own credibility gaps and discuss ways to fill them</a:t>
            </a:r>
          </a:p>
          <a:p>
            <a:pPr marL="742950" lvl="2" indent="-342900">
              <a:lnSpc>
                <a:spcPts val="1500"/>
              </a:lnSpc>
              <a:buClr>
                <a:schemeClr val="tx2"/>
              </a:buClr>
              <a:buFont typeface="+mj-lt"/>
              <a:buAutoNum type="arabicPeriod" startAt="2"/>
              <a:defRPr/>
            </a:pPr>
            <a:r>
              <a:rPr lang="en-US" sz="1200" b="1" dirty="0" smtClean="0">
                <a:solidFill>
                  <a:srgbClr val="000000"/>
                </a:solidFill>
                <a:latin typeface="Tw Cen MT" pitchFamily="34" charset="0"/>
                <a:cs typeface="Arial" pitchFamily="34" charset="0"/>
              </a:rPr>
              <a:t>Common ground</a:t>
            </a:r>
          </a:p>
          <a:p>
            <a:pPr marL="974725" lvl="3" indent="-117475">
              <a:buClr>
                <a:schemeClr val="tx2"/>
              </a:buClr>
              <a:buFont typeface="Arial" pitchFamily="34" charset="0"/>
              <a:buChar char="•"/>
              <a:defRPr/>
            </a:pPr>
            <a:r>
              <a:rPr lang="en-US" sz="1200" dirty="0" smtClean="0">
                <a:solidFill>
                  <a:srgbClr val="000000"/>
                </a:solidFill>
                <a:latin typeface="Tw Cen MT" pitchFamily="34" charset="0"/>
                <a:cs typeface="Arial" pitchFamily="34" charset="0"/>
              </a:rPr>
              <a:t>What is Framing</a:t>
            </a:r>
          </a:p>
          <a:p>
            <a:pPr marL="974725" lvl="3" indent="-117475">
              <a:buClr>
                <a:schemeClr val="tx2"/>
              </a:buClr>
              <a:buFont typeface="Arial" pitchFamily="34" charset="0"/>
              <a:buChar char="•"/>
              <a:defRPr/>
            </a:pPr>
            <a:r>
              <a:rPr lang="en-US" sz="1200" dirty="0" smtClean="0">
                <a:solidFill>
                  <a:srgbClr val="000000"/>
                </a:solidFill>
                <a:latin typeface="Tw Cen MT" pitchFamily="34" charset="0"/>
                <a:cs typeface="Arial" pitchFamily="34" charset="0"/>
              </a:rPr>
              <a:t>Individual exercise: haw you’ve framed your initiative </a:t>
            </a:r>
          </a:p>
          <a:p>
            <a:pPr marL="974725" lvl="3" indent="-117475">
              <a:buClr>
                <a:schemeClr val="tx2"/>
              </a:buClr>
              <a:buFont typeface="Arial" pitchFamily="34" charset="0"/>
              <a:buChar char="•"/>
              <a:defRPr/>
            </a:pPr>
            <a:r>
              <a:rPr lang="en-US" sz="1200" dirty="0" smtClean="0">
                <a:solidFill>
                  <a:srgbClr val="000000"/>
                </a:solidFill>
                <a:latin typeface="Tw Cen MT" pitchFamily="34" charset="0"/>
                <a:cs typeface="Arial" pitchFamily="34" charset="0"/>
              </a:rPr>
              <a:t>Partner exercise: share frame and discuss </a:t>
            </a:r>
          </a:p>
          <a:p>
            <a:pPr marL="742950" lvl="2" indent="-342900">
              <a:lnSpc>
                <a:spcPts val="1500"/>
              </a:lnSpc>
              <a:buClr>
                <a:schemeClr val="tx2"/>
              </a:buClr>
              <a:buFont typeface="+mj-lt"/>
              <a:buAutoNum type="arabicPeriod" startAt="2"/>
              <a:defRPr/>
            </a:pPr>
            <a:r>
              <a:rPr lang="en-US" sz="1200" b="1" dirty="0" smtClean="0">
                <a:solidFill>
                  <a:srgbClr val="000000"/>
                </a:solidFill>
                <a:latin typeface="Tw Cen MT" pitchFamily="34" charset="0"/>
                <a:cs typeface="Arial" pitchFamily="34" charset="0"/>
              </a:rPr>
              <a:t>Compelling position</a:t>
            </a:r>
          </a:p>
          <a:p>
            <a:pPr marL="974725" lvl="3" indent="-117475">
              <a:buClr>
                <a:schemeClr val="tx2"/>
              </a:buClr>
              <a:buFont typeface="Arial" pitchFamily="34" charset="0"/>
              <a:buChar char="•"/>
              <a:defRPr/>
            </a:pPr>
            <a:r>
              <a:rPr lang="en-US" sz="1200" dirty="0" smtClean="0">
                <a:solidFill>
                  <a:srgbClr val="000000"/>
                </a:solidFill>
                <a:latin typeface="Tw Cen MT" pitchFamily="34" charset="0"/>
                <a:cs typeface="Arial" pitchFamily="34" charset="0"/>
              </a:rPr>
              <a:t>What is evidence</a:t>
            </a:r>
          </a:p>
          <a:p>
            <a:pPr marL="974725" lvl="3" indent="-117475">
              <a:buClr>
                <a:schemeClr val="tx2"/>
              </a:buClr>
              <a:buFont typeface="Arial" pitchFamily="34" charset="0"/>
              <a:buChar char="•"/>
              <a:defRPr/>
            </a:pPr>
            <a:r>
              <a:rPr lang="en-US" sz="1200" dirty="0" smtClean="0">
                <a:solidFill>
                  <a:srgbClr val="000000"/>
                </a:solidFill>
                <a:latin typeface="Tw Cen MT" pitchFamily="34" charset="0"/>
                <a:cs typeface="Arial" pitchFamily="34" charset="0"/>
              </a:rPr>
              <a:t>What will appeal to your stakeholders?</a:t>
            </a:r>
          </a:p>
          <a:p>
            <a:pPr marL="974725" lvl="3" indent="-117475">
              <a:buClr>
                <a:schemeClr val="tx2"/>
              </a:buClr>
              <a:buFont typeface="Arial" pitchFamily="34" charset="0"/>
              <a:buChar char="•"/>
              <a:defRPr/>
            </a:pPr>
            <a:r>
              <a:rPr lang="en-US" sz="1200" dirty="0" smtClean="0">
                <a:solidFill>
                  <a:srgbClr val="000000"/>
                </a:solidFill>
                <a:latin typeface="Tw Cen MT" pitchFamily="34" charset="0"/>
                <a:cs typeface="Arial" pitchFamily="34" charset="0"/>
              </a:rPr>
              <a:t>Individual exercise: write down basic evidence </a:t>
            </a:r>
          </a:p>
          <a:p>
            <a:pPr marL="974725" lvl="3" indent="-117475">
              <a:buClr>
                <a:schemeClr val="tx2"/>
              </a:buClr>
              <a:buFont typeface="Arial" pitchFamily="34" charset="0"/>
              <a:buChar char="•"/>
              <a:defRPr/>
            </a:pPr>
            <a:r>
              <a:rPr lang="en-US" sz="1200" dirty="0" smtClean="0">
                <a:solidFill>
                  <a:srgbClr val="000000"/>
                </a:solidFill>
                <a:latin typeface="Tw Cen MT" pitchFamily="34" charset="0"/>
                <a:cs typeface="Arial" pitchFamily="34" charset="0"/>
              </a:rPr>
              <a:t>Partner exercise: share your flow of arguments and give feedback</a:t>
            </a:r>
          </a:p>
          <a:p>
            <a:pPr lvl="1" eaLnBrk="1" hangingPunct="1">
              <a:lnSpc>
                <a:spcPts val="1500"/>
              </a:lnSpc>
              <a:buClr>
                <a:schemeClr val="tx2"/>
              </a:buClr>
              <a:buFont typeface="+mj-lt"/>
              <a:buAutoNum type="arabicPeriod" startAt="4"/>
              <a:defRPr/>
            </a:pPr>
            <a:r>
              <a:rPr lang="en-US" sz="1200" b="1" dirty="0" smtClean="0">
                <a:solidFill>
                  <a:srgbClr val="000000"/>
                </a:solidFill>
                <a:latin typeface="Tw Cen MT" pitchFamily="34" charset="0"/>
                <a:cs typeface="Arial" pitchFamily="34" charset="0"/>
              </a:rPr>
              <a:t>Connection</a:t>
            </a:r>
          </a:p>
          <a:p>
            <a:pPr marL="974725" lvl="3" indent="-117475">
              <a:buClr>
                <a:schemeClr val="tx2"/>
              </a:buClr>
              <a:buFont typeface="Arial" pitchFamily="34" charset="0"/>
              <a:buChar char="•"/>
              <a:defRPr/>
            </a:pPr>
            <a:r>
              <a:rPr lang="en-US" sz="1200" dirty="0" smtClean="0">
                <a:solidFill>
                  <a:srgbClr val="000000"/>
                </a:solidFill>
                <a:latin typeface="Tw Cen MT" pitchFamily="34" charset="0"/>
                <a:cs typeface="Arial" pitchFamily="34" charset="0"/>
              </a:rPr>
              <a:t>Use stories, examples, values with  strong appeal to establish connection with your listener</a:t>
            </a:r>
          </a:p>
          <a:p>
            <a:pPr marL="974725" lvl="3" indent="-117475">
              <a:buClr>
                <a:schemeClr val="tx2"/>
              </a:buClr>
              <a:buFont typeface="Arial" pitchFamily="34" charset="0"/>
              <a:buChar char="•"/>
              <a:defRPr/>
            </a:pPr>
            <a:r>
              <a:rPr lang="en-US" sz="1200" dirty="0" smtClean="0">
                <a:solidFill>
                  <a:srgbClr val="000000"/>
                </a:solidFill>
                <a:latin typeface="Tw Cen MT" pitchFamily="34" charset="0"/>
                <a:cs typeface="Arial" pitchFamily="34" charset="0"/>
              </a:rPr>
              <a:t>Partner exercise: discuss stakeholders you’re persuading – where are they coming from and how could you connect?</a:t>
            </a:r>
          </a:p>
          <a:p>
            <a:pPr>
              <a:spcBef>
                <a:spcPts val="100"/>
              </a:spcBef>
              <a:buNone/>
              <a:defRPr/>
            </a:pPr>
            <a:endParaRPr lang="en-US" sz="1200" dirty="0">
              <a:solidFill>
                <a:schemeClr val="tx1"/>
              </a:solidFill>
              <a:latin typeface="Tw Cen MT" pitchFamily="34" charset="0"/>
            </a:endParaRPr>
          </a:p>
        </p:txBody>
      </p:sp>
      <p:sp>
        <p:nvSpPr>
          <p:cNvPr id="5" name="Slide Number Placeholder 4"/>
          <p:cNvSpPr>
            <a:spLocks noGrp="1"/>
          </p:cNvSpPr>
          <p:nvPr>
            <p:ph type="sldNum" sz="quarter" idx="10"/>
          </p:nvPr>
        </p:nvSpPr>
        <p:spPr/>
        <p:txBody>
          <a:bodyPr/>
          <a:lstStyle/>
          <a:p>
            <a:pPr>
              <a:defRPr/>
            </a:pPr>
            <a:fld id="{01D945C9-0277-4107-B589-EC55ECD240BC}" type="slidenum">
              <a:rPr lang="en-US" smtClean="0"/>
              <a:pPr>
                <a:defRPr/>
              </a:pPr>
              <a:t>13</a:t>
            </a:fld>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4552950" y="6305550"/>
            <a:ext cx="4572000" cy="533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p:cNvSpPr>
            <a:spLocks noGrp="1"/>
          </p:cNvSpPr>
          <p:nvPr>
            <p:ph type="title"/>
          </p:nvPr>
        </p:nvSpPr>
        <p:spPr>
          <a:xfrm>
            <a:off x="457200" y="304800"/>
            <a:ext cx="8229600" cy="990600"/>
          </a:xfrm>
        </p:spPr>
        <p:txBody>
          <a:bodyPr/>
          <a:lstStyle/>
          <a:p>
            <a:r>
              <a:rPr lang="en-US" sz="3000" dirty="0" smtClean="0"/>
              <a:t>Management Essentials Program (MEP)</a:t>
            </a:r>
            <a:endParaRPr lang="en-US" sz="3000" dirty="0"/>
          </a:p>
        </p:txBody>
      </p:sp>
      <p:graphicFrame>
        <p:nvGraphicFramePr>
          <p:cNvPr id="5" name="Diagram 4"/>
          <p:cNvGraphicFramePr/>
          <p:nvPr/>
        </p:nvGraphicFramePr>
        <p:xfrm>
          <a:off x="457200" y="990600"/>
          <a:ext cx="8305800" cy="5410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p:cNvSpPr txBox="1"/>
          <p:nvPr/>
        </p:nvSpPr>
        <p:spPr>
          <a:xfrm>
            <a:off x="0" y="6550223"/>
            <a:ext cx="9144000" cy="307777"/>
          </a:xfrm>
          <a:prstGeom prst="rect">
            <a:avLst/>
          </a:prstGeom>
          <a:solidFill>
            <a:schemeClr val="bg1"/>
          </a:solidFill>
        </p:spPr>
        <p:txBody>
          <a:bodyPr wrap="square" rtlCol="0">
            <a:spAutoFit/>
          </a:bodyPr>
          <a:lstStyle/>
          <a:p>
            <a:r>
              <a:rPr lang="en-US" sz="1400" dirty="0" smtClean="0">
                <a:solidFill>
                  <a:srgbClr val="0070C0"/>
                </a:solidFill>
                <a:latin typeface="+mn-lt"/>
              </a:rPr>
              <a:t>To date, 225 have graduated with 135 expected to graduate in 2013</a:t>
            </a:r>
            <a:endParaRPr lang="en-US" sz="1400" dirty="0">
              <a:solidFill>
                <a:srgbClr val="0070C0"/>
              </a:solidFill>
              <a:latin typeface="+mn-lt"/>
            </a:endParaRPr>
          </a:p>
        </p:txBody>
      </p:sp>
      <p:sp>
        <p:nvSpPr>
          <p:cNvPr id="8" name="TextBox 7"/>
          <p:cNvSpPr txBox="1"/>
          <p:nvPr/>
        </p:nvSpPr>
        <p:spPr>
          <a:xfrm>
            <a:off x="6019800" y="4800600"/>
            <a:ext cx="2784144" cy="1600438"/>
          </a:xfrm>
          <a:prstGeom prst="rect">
            <a:avLst/>
          </a:prstGeom>
          <a:solidFill>
            <a:srgbClr val="0070C0"/>
          </a:solidFill>
        </p:spPr>
        <p:txBody>
          <a:bodyPr wrap="square" rtlCol="0">
            <a:spAutoFit/>
          </a:bodyPr>
          <a:lstStyle/>
          <a:p>
            <a:r>
              <a:rPr lang="en-US" sz="1400" b="1" dirty="0" smtClean="0">
                <a:solidFill>
                  <a:schemeClr val="bg1"/>
                </a:solidFill>
                <a:latin typeface="+mn-lt"/>
              </a:rPr>
              <a:t>Program Details:</a:t>
            </a:r>
          </a:p>
          <a:p>
            <a:pPr marL="109538" indent="-109538">
              <a:buFont typeface="Arial" pitchFamily="34" charset="0"/>
              <a:buChar char="•"/>
            </a:pPr>
            <a:r>
              <a:rPr lang="en-US" sz="1200" dirty="0" smtClean="0">
                <a:solidFill>
                  <a:schemeClr val="bg1"/>
                </a:solidFill>
                <a:latin typeface="+mn-lt"/>
              </a:rPr>
              <a:t>For new managers (new to the  organization or new to their role)</a:t>
            </a:r>
          </a:p>
          <a:p>
            <a:pPr marL="109538" indent="-109538">
              <a:buFont typeface="Arial" pitchFamily="34" charset="0"/>
              <a:buChar char="•"/>
            </a:pPr>
            <a:r>
              <a:rPr lang="en-US" sz="1200" dirty="0" smtClean="0">
                <a:solidFill>
                  <a:schemeClr val="bg1"/>
                </a:solidFill>
                <a:latin typeface="+mn-lt"/>
              </a:rPr>
              <a:t>7-month program end to end</a:t>
            </a:r>
          </a:p>
          <a:p>
            <a:pPr marL="109538" indent="-109538">
              <a:buFont typeface="Arial" pitchFamily="34" charset="0"/>
              <a:buChar char="•"/>
            </a:pPr>
            <a:r>
              <a:rPr lang="en-US" sz="1200" dirty="0" smtClean="0">
                <a:solidFill>
                  <a:schemeClr val="bg1"/>
                </a:solidFill>
                <a:latin typeface="+mn-lt"/>
              </a:rPr>
              <a:t>Total hours per participant: 80</a:t>
            </a:r>
          </a:p>
          <a:p>
            <a:pPr marL="109538" indent="-109538">
              <a:buFont typeface="Arial" pitchFamily="34" charset="0"/>
              <a:buChar char="•"/>
            </a:pPr>
            <a:r>
              <a:rPr lang="en-US" sz="1200" dirty="0" smtClean="0">
                <a:solidFill>
                  <a:schemeClr val="bg1"/>
                </a:solidFill>
                <a:latin typeface="+mn-lt"/>
              </a:rPr>
              <a:t>Each participant has a Director-level mentor for the duration of the Program</a:t>
            </a:r>
          </a:p>
          <a:p>
            <a:pPr marL="109538" indent="-109538">
              <a:buFont typeface="Arial" pitchFamily="34" charset="0"/>
              <a:buChar char="•"/>
            </a:pPr>
            <a:r>
              <a:rPr lang="en-US" sz="1200" dirty="0" smtClean="0">
                <a:solidFill>
                  <a:schemeClr val="bg1"/>
                </a:solidFill>
                <a:latin typeface="+mn-lt"/>
              </a:rPr>
              <a:t> Projects must be complete to graduate</a:t>
            </a:r>
            <a:endParaRPr lang="en-US" sz="1200" dirty="0">
              <a:solidFill>
                <a:schemeClr val="bg1"/>
              </a:solidFill>
              <a:latin typeface="+mn-lt"/>
            </a:endParaRPr>
          </a:p>
        </p:txBody>
      </p:sp>
      <p:sp>
        <p:nvSpPr>
          <p:cNvPr id="10" name="Slide Number Placeholder 9"/>
          <p:cNvSpPr>
            <a:spLocks noGrp="1"/>
          </p:cNvSpPr>
          <p:nvPr>
            <p:ph type="sldNum" sz="quarter" idx="10"/>
          </p:nvPr>
        </p:nvSpPr>
        <p:spPr/>
        <p:txBody>
          <a:bodyPr/>
          <a:lstStyle/>
          <a:p>
            <a:pPr>
              <a:defRPr/>
            </a:pPr>
            <a:fld id="{01D945C9-0277-4107-B589-EC55ECD240BC}" type="slidenum">
              <a:rPr lang="en-US" smtClean="0"/>
              <a:pPr>
                <a:defRPr/>
              </a:pPr>
              <a:t>14</a:t>
            </a:fld>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nvPr>
        </p:nvGraphicFramePr>
        <p:xfrm>
          <a:off x="2895600" y="1524000"/>
          <a:ext cx="6477000" cy="46783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itle 1"/>
          <p:cNvSpPr>
            <a:spLocks noGrp="1"/>
          </p:cNvSpPr>
          <p:nvPr>
            <p:ph type="title"/>
          </p:nvPr>
        </p:nvSpPr>
        <p:spPr>
          <a:xfrm>
            <a:off x="457200" y="304800"/>
            <a:ext cx="8229600" cy="990600"/>
          </a:xfrm>
        </p:spPr>
        <p:txBody>
          <a:bodyPr/>
          <a:lstStyle/>
          <a:p>
            <a:r>
              <a:rPr lang="en-US" sz="3000" dirty="0" smtClean="0"/>
              <a:t>Physician Management Essentials Program (PMEP)</a:t>
            </a:r>
            <a:endParaRPr lang="en-US" sz="3000" dirty="0"/>
          </a:p>
        </p:txBody>
      </p:sp>
      <p:sp>
        <p:nvSpPr>
          <p:cNvPr id="10" name="TextBox 9"/>
          <p:cNvSpPr txBox="1"/>
          <p:nvPr/>
        </p:nvSpPr>
        <p:spPr>
          <a:xfrm>
            <a:off x="381000" y="1524000"/>
            <a:ext cx="2971800" cy="4539704"/>
          </a:xfrm>
          <a:prstGeom prst="rect">
            <a:avLst/>
          </a:prstGeom>
          <a:noFill/>
          <a:ln w="28575">
            <a:solidFill>
              <a:srgbClr val="0070C0"/>
            </a:solidFill>
          </a:ln>
        </p:spPr>
        <p:txBody>
          <a:bodyPr wrap="square" rtlCol="0">
            <a:spAutoFit/>
          </a:bodyPr>
          <a:lstStyle/>
          <a:p>
            <a:pPr>
              <a:spcBef>
                <a:spcPts val="600"/>
              </a:spcBef>
            </a:pPr>
            <a:r>
              <a:rPr lang="en-US" sz="1600" b="1" dirty="0" smtClean="0">
                <a:latin typeface="+mn-lt"/>
              </a:rPr>
              <a:t>Program Details:</a:t>
            </a:r>
          </a:p>
          <a:p>
            <a:pPr>
              <a:spcBef>
                <a:spcPts val="600"/>
              </a:spcBef>
              <a:buFont typeface="Arial" pitchFamily="34" charset="0"/>
              <a:buChar char="•"/>
            </a:pPr>
            <a:r>
              <a:rPr lang="en-US" sz="1600" dirty="0" smtClean="0">
                <a:latin typeface="+mn-lt"/>
              </a:rPr>
              <a:t>  Launched in 2012</a:t>
            </a:r>
          </a:p>
          <a:p>
            <a:pPr>
              <a:spcBef>
                <a:spcPts val="600"/>
              </a:spcBef>
              <a:buFont typeface="Arial" pitchFamily="34" charset="0"/>
              <a:buChar char="•"/>
            </a:pPr>
            <a:r>
              <a:rPr lang="en-US" sz="1600" dirty="0" smtClean="0">
                <a:latin typeface="+mn-lt"/>
              </a:rPr>
              <a:t>  1</a:t>
            </a:r>
            <a:r>
              <a:rPr lang="en-US" sz="1600" baseline="30000" dirty="0" smtClean="0">
                <a:latin typeface="+mn-lt"/>
              </a:rPr>
              <a:t>st</a:t>
            </a:r>
            <a:r>
              <a:rPr lang="en-US" sz="1600" dirty="0" smtClean="0">
                <a:latin typeface="+mn-lt"/>
              </a:rPr>
              <a:t> cohort to graduate in 2013</a:t>
            </a:r>
          </a:p>
          <a:p>
            <a:pPr>
              <a:spcBef>
                <a:spcPts val="600"/>
              </a:spcBef>
              <a:buFont typeface="Arial" pitchFamily="34" charset="0"/>
              <a:buChar char="•"/>
            </a:pPr>
            <a:r>
              <a:rPr lang="en-US" sz="1600" dirty="0" smtClean="0">
                <a:latin typeface="+mn-lt"/>
              </a:rPr>
              <a:t>  20 participants</a:t>
            </a:r>
          </a:p>
          <a:p>
            <a:pPr>
              <a:spcBef>
                <a:spcPts val="600"/>
              </a:spcBef>
              <a:buFont typeface="Arial" pitchFamily="34" charset="0"/>
              <a:buChar char="•"/>
            </a:pPr>
            <a:r>
              <a:rPr lang="en-US" sz="1600" dirty="0" smtClean="0">
                <a:latin typeface="+mn-lt"/>
              </a:rPr>
              <a:t>  12-month program</a:t>
            </a:r>
          </a:p>
          <a:p>
            <a:pPr>
              <a:spcBef>
                <a:spcPts val="600"/>
              </a:spcBef>
              <a:buFont typeface="Arial" pitchFamily="34" charset="0"/>
              <a:buChar char="•"/>
            </a:pPr>
            <a:r>
              <a:rPr lang="en-US" sz="1600" dirty="0" smtClean="0">
                <a:latin typeface="+mn-lt"/>
              </a:rPr>
              <a:t>  Total hours per participant: 72</a:t>
            </a:r>
          </a:p>
          <a:p>
            <a:pPr>
              <a:spcBef>
                <a:spcPts val="600"/>
              </a:spcBef>
              <a:buFont typeface="Arial" pitchFamily="34" charset="0"/>
              <a:buChar char="•"/>
            </a:pPr>
            <a:r>
              <a:rPr lang="en-US" sz="1600" dirty="0" smtClean="0">
                <a:latin typeface="+mn-lt"/>
              </a:rPr>
              <a:t>  Participants nominated by           </a:t>
            </a:r>
          </a:p>
          <a:p>
            <a:pPr>
              <a:spcBef>
                <a:spcPts val="600"/>
              </a:spcBef>
            </a:pPr>
            <a:r>
              <a:rPr lang="en-US" sz="1600" dirty="0" smtClean="0">
                <a:latin typeface="+mn-lt"/>
              </a:rPr>
              <a:t>    their leader</a:t>
            </a:r>
          </a:p>
          <a:p>
            <a:pPr>
              <a:spcBef>
                <a:spcPts val="600"/>
              </a:spcBef>
              <a:buFont typeface="Arial" pitchFamily="34" charset="0"/>
              <a:buChar char="•"/>
            </a:pPr>
            <a:r>
              <a:rPr lang="en-US" sz="1600" dirty="0" smtClean="0">
                <a:latin typeface="+mn-lt"/>
              </a:rPr>
              <a:t>  All physicians who manage </a:t>
            </a:r>
          </a:p>
          <a:p>
            <a:pPr>
              <a:spcBef>
                <a:spcPts val="600"/>
              </a:spcBef>
            </a:pPr>
            <a:r>
              <a:rPr lang="en-US" sz="1600" dirty="0" smtClean="0">
                <a:latin typeface="+mn-lt"/>
              </a:rPr>
              <a:t>   people or are seen as emerging </a:t>
            </a:r>
          </a:p>
          <a:p>
            <a:pPr>
              <a:spcBef>
                <a:spcPts val="600"/>
              </a:spcBef>
            </a:pPr>
            <a:r>
              <a:rPr lang="en-US" sz="1600" dirty="0" smtClean="0">
                <a:latin typeface="+mn-lt"/>
              </a:rPr>
              <a:t>   leaders are eligible</a:t>
            </a:r>
          </a:p>
          <a:p>
            <a:pPr>
              <a:spcBef>
                <a:spcPts val="600"/>
              </a:spcBef>
              <a:buFont typeface="Arial" pitchFamily="34" charset="0"/>
              <a:buChar char="•"/>
            </a:pPr>
            <a:r>
              <a:rPr lang="en-US" sz="1600" dirty="0" smtClean="0">
                <a:latin typeface="+mn-lt"/>
              </a:rPr>
              <a:t>  Feedback extremely positive</a:t>
            </a:r>
          </a:p>
          <a:p>
            <a:pPr>
              <a:spcBef>
                <a:spcPts val="600"/>
              </a:spcBef>
              <a:buFont typeface="Arial" pitchFamily="34" charset="0"/>
              <a:buChar char="•"/>
            </a:pPr>
            <a:r>
              <a:rPr lang="en-US" sz="1600" dirty="0" smtClean="0">
                <a:latin typeface="+mn-lt"/>
              </a:rPr>
              <a:t>  Available to both employed </a:t>
            </a:r>
          </a:p>
          <a:p>
            <a:pPr>
              <a:spcBef>
                <a:spcPts val="600"/>
              </a:spcBef>
            </a:pPr>
            <a:r>
              <a:rPr lang="en-US" sz="1600" dirty="0" smtClean="0">
                <a:latin typeface="+mn-lt"/>
              </a:rPr>
              <a:t>   and non-employed physicians </a:t>
            </a:r>
            <a:endParaRPr lang="en-US" sz="1600" dirty="0">
              <a:latin typeface="+mn-lt"/>
            </a:endParaRPr>
          </a:p>
        </p:txBody>
      </p:sp>
      <p:sp>
        <p:nvSpPr>
          <p:cNvPr id="11" name="TextBox 10"/>
          <p:cNvSpPr txBox="1"/>
          <p:nvPr/>
        </p:nvSpPr>
        <p:spPr>
          <a:xfrm>
            <a:off x="5029200" y="3505200"/>
            <a:ext cx="2286000" cy="584775"/>
          </a:xfrm>
          <a:prstGeom prst="rect">
            <a:avLst/>
          </a:prstGeom>
          <a:solidFill>
            <a:srgbClr val="0070C0"/>
          </a:solidFill>
        </p:spPr>
        <p:txBody>
          <a:bodyPr wrap="square" rtlCol="0">
            <a:spAutoFit/>
          </a:bodyPr>
          <a:lstStyle/>
          <a:p>
            <a:pPr algn="ctr"/>
            <a:r>
              <a:rPr lang="en-US" sz="1600" dirty="0" smtClean="0">
                <a:solidFill>
                  <a:schemeClr val="bg1"/>
                </a:solidFill>
                <a:latin typeface="+mn-lt"/>
              </a:rPr>
              <a:t>All curriculum must be completed to graduate</a:t>
            </a:r>
            <a:endParaRPr lang="en-US" sz="1600" dirty="0">
              <a:solidFill>
                <a:schemeClr val="bg1"/>
              </a:solidFill>
              <a:latin typeface="+mn-lt"/>
            </a:endParaRPr>
          </a:p>
        </p:txBody>
      </p:sp>
      <p:sp>
        <p:nvSpPr>
          <p:cNvPr id="7" name="Slide Number Placeholder 6"/>
          <p:cNvSpPr>
            <a:spLocks noGrp="1"/>
          </p:cNvSpPr>
          <p:nvPr>
            <p:ph type="sldNum" sz="quarter" idx="10"/>
          </p:nvPr>
        </p:nvSpPr>
        <p:spPr/>
        <p:txBody>
          <a:bodyPr/>
          <a:lstStyle/>
          <a:p>
            <a:pPr>
              <a:defRPr/>
            </a:pPr>
            <a:fld id="{01D945C9-0277-4107-B589-EC55ECD240BC}" type="slidenum">
              <a:rPr lang="en-US" smtClean="0"/>
              <a:pPr>
                <a:defRPr/>
              </a:pPr>
              <a:t>15</a:t>
            </a:fld>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200" dirty="0" smtClean="0"/>
              <a:t>Leadership Next</a:t>
            </a:r>
            <a:endParaRPr lang="en-US" sz="3200" dirty="0"/>
          </a:p>
        </p:txBody>
      </p:sp>
      <p:sp>
        <p:nvSpPr>
          <p:cNvPr id="5" name="TextBox 4"/>
          <p:cNvSpPr txBox="1"/>
          <p:nvPr/>
        </p:nvSpPr>
        <p:spPr>
          <a:xfrm>
            <a:off x="685800" y="3829050"/>
            <a:ext cx="3081613" cy="1323439"/>
          </a:xfrm>
          <a:prstGeom prst="rect">
            <a:avLst/>
          </a:prstGeom>
          <a:noFill/>
        </p:spPr>
        <p:txBody>
          <a:bodyPr wrap="none" rtlCol="0">
            <a:spAutoFit/>
          </a:bodyPr>
          <a:lstStyle/>
          <a:p>
            <a:r>
              <a:rPr lang="en-US" sz="1600" b="1" dirty="0" smtClean="0">
                <a:solidFill>
                  <a:schemeClr val="bg1">
                    <a:lumMod val="50000"/>
                  </a:schemeClr>
                </a:solidFill>
                <a:latin typeface="+mn-lt"/>
              </a:rPr>
              <a:t>Top Talent Programs:</a:t>
            </a:r>
          </a:p>
          <a:p>
            <a:pPr>
              <a:buFont typeface="Arial" pitchFamily="34" charset="0"/>
              <a:buChar char="•"/>
            </a:pPr>
            <a:r>
              <a:rPr lang="en-US" sz="1600" dirty="0" smtClean="0">
                <a:solidFill>
                  <a:schemeClr val="bg1">
                    <a:lumMod val="50000"/>
                  </a:schemeClr>
                </a:solidFill>
                <a:latin typeface="+mn-lt"/>
              </a:rPr>
              <a:t> Talent Sessions (used for selection)</a:t>
            </a:r>
          </a:p>
          <a:p>
            <a:pPr>
              <a:buFont typeface="Arial" pitchFamily="34" charset="0"/>
              <a:buChar char="•"/>
            </a:pPr>
            <a:r>
              <a:rPr lang="en-US" sz="1600" dirty="0" smtClean="0">
                <a:solidFill>
                  <a:schemeClr val="bg1">
                    <a:lumMod val="50000"/>
                  </a:schemeClr>
                </a:solidFill>
                <a:latin typeface="+mn-lt"/>
              </a:rPr>
              <a:t> Leader Next</a:t>
            </a:r>
          </a:p>
          <a:p>
            <a:pPr>
              <a:buFont typeface="Arial" pitchFamily="34" charset="0"/>
              <a:buChar char="•"/>
            </a:pPr>
            <a:r>
              <a:rPr lang="en-US" sz="1600" dirty="0" smtClean="0">
                <a:solidFill>
                  <a:schemeClr val="bg1">
                    <a:lumMod val="50000"/>
                  </a:schemeClr>
                </a:solidFill>
                <a:latin typeface="+mn-lt"/>
              </a:rPr>
              <a:t> Generation Next</a:t>
            </a:r>
          </a:p>
          <a:p>
            <a:pPr>
              <a:buFont typeface="Arial" pitchFamily="34" charset="0"/>
              <a:buChar char="•"/>
            </a:pPr>
            <a:r>
              <a:rPr lang="en-US" sz="1600" dirty="0" smtClean="0">
                <a:solidFill>
                  <a:schemeClr val="bg1">
                    <a:lumMod val="50000"/>
                  </a:schemeClr>
                </a:solidFill>
                <a:latin typeface="+mn-lt"/>
              </a:rPr>
              <a:t> Chiefs Workshop</a:t>
            </a:r>
          </a:p>
        </p:txBody>
      </p:sp>
      <p:sp>
        <p:nvSpPr>
          <p:cNvPr id="4" name="Slide Number Placeholder 11"/>
          <p:cNvSpPr txBox="1">
            <a:spLocks/>
          </p:cNvSpPr>
          <p:nvPr/>
        </p:nvSpPr>
        <p:spPr>
          <a:xfrm>
            <a:off x="8763000" y="6492875"/>
            <a:ext cx="381000" cy="365125"/>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01D945C9-0277-4107-B589-EC55ECD240BC}" type="slidenum">
              <a:rPr kumimoji="0" lang="en-US" sz="1200" b="0" i="0" u="none" strike="noStrike" kern="1200" cap="none" spc="0" normalizeH="0" baseline="0" noProof="0" smtClean="0">
                <a:ln>
                  <a:noFill/>
                </a:ln>
                <a:solidFill>
                  <a:schemeClr val="tx1"/>
                </a:solidFill>
                <a:effectLst/>
                <a:uLnTx/>
                <a:uFillTx/>
                <a:latin typeface="+mn-lt"/>
                <a:ea typeface="+mn-ea"/>
                <a:cs typeface="+mn-cs"/>
              </a:rPr>
              <a:pPr marL="0" marR="0" lvl="0" indent="0" algn="ctr" defTabSz="914400" rtl="0" eaLnBrk="1" fontAlgn="base" latinLnBrk="0" hangingPunct="1">
                <a:lnSpc>
                  <a:spcPct val="100000"/>
                </a:lnSpc>
                <a:spcBef>
                  <a:spcPct val="0"/>
                </a:spcBef>
                <a:spcAft>
                  <a:spcPct val="0"/>
                </a:spcAft>
                <a:buClrTx/>
                <a:buSzTx/>
                <a:buFontTx/>
                <a:buNone/>
                <a:tabLst/>
                <a:defRPr/>
              </a:pPr>
              <a:t>16</a:t>
            </a:fld>
            <a:endParaRPr kumimoji="0" lang="en-US" sz="1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200" dirty="0" smtClean="0"/>
              <a:t>Talent Sessions</a:t>
            </a:r>
            <a:endParaRPr lang="en-US" sz="3200" dirty="0"/>
          </a:p>
        </p:txBody>
      </p:sp>
      <p:sp>
        <p:nvSpPr>
          <p:cNvPr id="5" name="TextBox 4"/>
          <p:cNvSpPr txBox="1"/>
          <p:nvPr/>
        </p:nvSpPr>
        <p:spPr>
          <a:xfrm>
            <a:off x="685800" y="3829050"/>
            <a:ext cx="2256130" cy="369332"/>
          </a:xfrm>
          <a:prstGeom prst="rect">
            <a:avLst/>
          </a:prstGeom>
          <a:noFill/>
        </p:spPr>
        <p:txBody>
          <a:bodyPr wrap="none" rtlCol="0">
            <a:spAutoFit/>
          </a:bodyPr>
          <a:lstStyle/>
          <a:p>
            <a:r>
              <a:rPr lang="en-US" dirty="0" smtClean="0">
                <a:solidFill>
                  <a:schemeClr val="bg1">
                    <a:lumMod val="50000"/>
                  </a:schemeClr>
                </a:solidFill>
                <a:latin typeface="+mn-lt"/>
              </a:rPr>
              <a:t>Selection of Top Talent</a:t>
            </a:r>
          </a:p>
        </p:txBody>
      </p:sp>
      <p:sp>
        <p:nvSpPr>
          <p:cNvPr id="4" name="Slide Number Placeholder 11"/>
          <p:cNvSpPr txBox="1">
            <a:spLocks/>
          </p:cNvSpPr>
          <p:nvPr/>
        </p:nvSpPr>
        <p:spPr>
          <a:xfrm>
            <a:off x="8763000" y="6492875"/>
            <a:ext cx="381000" cy="365125"/>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01D945C9-0277-4107-B589-EC55ECD240BC}" type="slidenum">
              <a:rPr kumimoji="0" lang="en-US" sz="1200" b="0" i="0" u="none" strike="noStrike" kern="1200" cap="none" spc="0" normalizeH="0" baseline="0" noProof="0" smtClean="0">
                <a:ln>
                  <a:noFill/>
                </a:ln>
                <a:solidFill>
                  <a:schemeClr val="tx1"/>
                </a:solidFill>
                <a:effectLst/>
                <a:uLnTx/>
                <a:uFillTx/>
                <a:latin typeface="+mn-lt"/>
                <a:ea typeface="+mn-ea"/>
                <a:cs typeface="+mn-cs"/>
              </a:rPr>
              <a:pPr marL="0" marR="0" lvl="0" indent="0" algn="ctr" defTabSz="914400" rtl="0" eaLnBrk="1" fontAlgn="base" latinLnBrk="0" hangingPunct="1">
                <a:lnSpc>
                  <a:spcPct val="100000"/>
                </a:lnSpc>
                <a:spcBef>
                  <a:spcPct val="0"/>
                </a:spcBef>
                <a:spcAft>
                  <a:spcPct val="0"/>
                </a:spcAft>
                <a:buClrTx/>
                <a:buSzTx/>
                <a:buFontTx/>
                <a:buNone/>
                <a:tabLst/>
                <a:defRPr/>
              </a:pPr>
              <a:t>17</a:t>
            </a:fld>
            <a:endParaRPr kumimoji="0" lang="en-US" sz="1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990600"/>
          </a:xfrm>
        </p:spPr>
        <p:txBody>
          <a:bodyPr/>
          <a:lstStyle/>
          <a:p>
            <a:r>
              <a:rPr lang="en-US" sz="3000" dirty="0" smtClean="0"/>
              <a:t>Talent Sessions: Critical to Top Talent Selection</a:t>
            </a:r>
            <a:endParaRPr lang="en-US" sz="3000" dirty="0"/>
          </a:p>
        </p:txBody>
      </p:sp>
      <p:sp>
        <p:nvSpPr>
          <p:cNvPr id="7" name="Content Placeholder 2"/>
          <p:cNvSpPr txBox="1">
            <a:spLocks/>
          </p:cNvSpPr>
          <p:nvPr/>
        </p:nvSpPr>
        <p:spPr bwMode="auto">
          <a:xfrm>
            <a:off x="533400" y="1447800"/>
            <a:ext cx="8001000" cy="4724400"/>
          </a:xfrm>
          <a:prstGeom prst="rect">
            <a:avLst/>
          </a:prstGeom>
          <a:noFill/>
          <a:ln w="28575">
            <a:solidFill>
              <a:schemeClr val="accent4">
                <a:lumMod val="75000"/>
              </a:schemeClr>
            </a:solidFill>
            <a:miter lim="800000"/>
            <a:headEnd/>
            <a:tailEnd/>
          </a:ln>
        </p:spPr>
        <p:txBody>
          <a:bodyPr vert="horz" wrap="square" lIns="91440" tIns="45720" rIns="91440" bIns="45720" numCol="1" anchor="t" anchorCtr="0" compatLnSpc="1">
            <a:prstTxWarp prst="textNoShape">
              <a:avLst/>
            </a:prstTxWarp>
          </a:bodyPr>
          <a:lstStyle/>
          <a:p>
            <a:pPr marL="230188" indent="-230188" eaLnBrk="0" hangingPunct="0">
              <a:lnSpc>
                <a:spcPct val="150000"/>
              </a:lnSpc>
              <a:spcBef>
                <a:spcPts val="0"/>
              </a:spcBef>
              <a:buClr>
                <a:srgbClr val="C00000"/>
              </a:buClr>
              <a:defRPr/>
            </a:pPr>
            <a:r>
              <a:rPr lang="en-US" b="1" dirty="0" smtClean="0">
                <a:solidFill>
                  <a:srgbClr val="262626"/>
                </a:solidFill>
                <a:latin typeface="+mn-lt"/>
              </a:rPr>
              <a:t>Process Details:</a:t>
            </a:r>
          </a:p>
          <a:p>
            <a:pPr marL="230188" indent="-230188" eaLnBrk="0" hangingPunct="0">
              <a:lnSpc>
                <a:spcPct val="150000"/>
              </a:lnSpc>
              <a:spcBef>
                <a:spcPts val="0"/>
              </a:spcBef>
              <a:buClr>
                <a:srgbClr val="C00000"/>
              </a:buClr>
              <a:buFont typeface="Arial" charset="0"/>
              <a:buChar char="•"/>
              <a:defRPr/>
            </a:pPr>
            <a:r>
              <a:rPr lang="en-US" dirty="0" smtClean="0">
                <a:solidFill>
                  <a:srgbClr val="262626"/>
                </a:solidFill>
                <a:latin typeface="+mn-lt"/>
              </a:rPr>
              <a:t>Leader Groups: Segmented by function for manager, director and VP review</a:t>
            </a:r>
          </a:p>
          <a:p>
            <a:pPr marL="230188" indent="-230188" eaLnBrk="0" hangingPunct="0">
              <a:lnSpc>
                <a:spcPct val="150000"/>
              </a:lnSpc>
              <a:spcBef>
                <a:spcPts val="0"/>
              </a:spcBef>
              <a:buClr>
                <a:srgbClr val="C00000"/>
              </a:buClr>
              <a:buFont typeface="Arial" charset="0"/>
              <a:buChar char="•"/>
              <a:defRPr/>
            </a:pPr>
            <a:r>
              <a:rPr lang="en-US" dirty="0" smtClean="0">
                <a:solidFill>
                  <a:srgbClr val="262626"/>
                </a:solidFill>
                <a:latin typeface="+mn-lt"/>
              </a:rPr>
              <a:t>Frequency:  1 full meeting review (February) and 1 update discussion (August)</a:t>
            </a:r>
          </a:p>
          <a:p>
            <a:pPr marL="230188" indent="-230188" eaLnBrk="0" hangingPunct="0">
              <a:lnSpc>
                <a:spcPct val="150000"/>
              </a:lnSpc>
              <a:spcBef>
                <a:spcPts val="0"/>
              </a:spcBef>
              <a:buClr>
                <a:srgbClr val="C00000"/>
              </a:buClr>
              <a:buFont typeface="Arial" charset="0"/>
              <a:buChar char="•"/>
              <a:defRPr/>
            </a:pPr>
            <a:r>
              <a:rPr lang="en-US" dirty="0" smtClean="0">
                <a:solidFill>
                  <a:srgbClr val="262626"/>
                </a:solidFill>
                <a:latin typeface="+mn-lt"/>
              </a:rPr>
              <a:t>Time:  2-4 hours commitment from each leader annually</a:t>
            </a:r>
          </a:p>
          <a:p>
            <a:pPr marL="230188" indent="-230188" eaLnBrk="0" hangingPunct="0">
              <a:lnSpc>
                <a:spcPct val="150000"/>
              </a:lnSpc>
              <a:spcBef>
                <a:spcPts val="0"/>
              </a:spcBef>
              <a:buClr>
                <a:srgbClr val="C00000"/>
              </a:buClr>
              <a:buFont typeface="Arial" charset="0"/>
              <a:buChar char="•"/>
              <a:defRPr/>
            </a:pPr>
            <a:r>
              <a:rPr lang="en-US" dirty="0" smtClean="0">
                <a:solidFill>
                  <a:srgbClr val="262626"/>
                </a:solidFill>
                <a:latin typeface="+mn-lt"/>
              </a:rPr>
              <a:t>Components considered when reviewing talent:</a:t>
            </a:r>
          </a:p>
          <a:p>
            <a:pPr marL="687388" lvl="3" indent="-230188" eaLnBrk="0" hangingPunct="0">
              <a:lnSpc>
                <a:spcPct val="150000"/>
              </a:lnSpc>
              <a:spcBef>
                <a:spcPts val="0"/>
              </a:spcBef>
              <a:buClr>
                <a:srgbClr val="C00000"/>
              </a:buClr>
              <a:buFont typeface="+mj-lt"/>
              <a:buAutoNum type="arabicPeriod"/>
              <a:defRPr/>
            </a:pPr>
            <a:r>
              <a:rPr lang="en-US" dirty="0" smtClean="0">
                <a:solidFill>
                  <a:srgbClr val="262626"/>
                </a:solidFill>
                <a:latin typeface="+mn-lt"/>
              </a:rPr>
              <a:t>Performance calibration on competencies</a:t>
            </a:r>
          </a:p>
          <a:p>
            <a:pPr marL="687388" lvl="3" indent="-230188" eaLnBrk="0" hangingPunct="0">
              <a:lnSpc>
                <a:spcPct val="150000"/>
              </a:lnSpc>
              <a:spcBef>
                <a:spcPts val="0"/>
              </a:spcBef>
              <a:buClr>
                <a:srgbClr val="C00000"/>
              </a:buClr>
              <a:buFont typeface="+mj-lt"/>
              <a:buAutoNum type="arabicPeriod"/>
              <a:defRPr/>
            </a:pPr>
            <a:r>
              <a:rPr lang="en-US" dirty="0" smtClean="0">
                <a:solidFill>
                  <a:srgbClr val="262626"/>
                </a:solidFill>
                <a:latin typeface="+mn-lt"/>
              </a:rPr>
              <a:t>Previous and current 9-box placement and succession plans</a:t>
            </a:r>
          </a:p>
          <a:p>
            <a:pPr marL="687388" lvl="3" indent="-230188" eaLnBrk="0" hangingPunct="0">
              <a:lnSpc>
                <a:spcPct val="150000"/>
              </a:lnSpc>
              <a:spcBef>
                <a:spcPts val="0"/>
              </a:spcBef>
              <a:buClr>
                <a:srgbClr val="C00000"/>
              </a:buClr>
              <a:buFont typeface="+mj-lt"/>
              <a:buAutoNum type="arabicPeriod"/>
              <a:defRPr/>
            </a:pPr>
            <a:r>
              <a:rPr lang="en-US" dirty="0" smtClean="0">
                <a:solidFill>
                  <a:srgbClr val="262626"/>
                </a:solidFill>
                <a:latin typeface="+mn-lt"/>
              </a:rPr>
              <a:t>Current development efforts, current or past</a:t>
            </a:r>
          </a:p>
          <a:p>
            <a:pPr marL="687388" lvl="3" indent="-230188" eaLnBrk="0" hangingPunct="0">
              <a:lnSpc>
                <a:spcPct val="150000"/>
              </a:lnSpc>
              <a:spcBef>
                <a:spcPts val="0"/>
              </a:spcBef>
              <a:buClr>
                <a:srgbClr val="C00000"/>
              </a:buClr>
              <a:buFont typeface="+mj-lt"/>
              <a:buAutoNum type="arabicPeriod"/>
              <a:defRPr/>
            </a:pPr>
            <a:r>
              <a:rPr lang="en-US" dirty="0" smtClean="0">
                <a:solidFill>
                  <a:srgbClr val="262626"/>
                </a:solidFill>
                <a:latin typeface="+mn-lt"/>
              </a:rPr>
              <a:t>360 and/or other assessment results</a:t>
            </a:r>
          </a:p>
          <a:p>
            <a:pPr marL="687388" lvl="3" indent="-230188" eaLnBrk="0" hangingPunct="0">
              <a:lnSpc>
                <a:spcPct val="150000"/>
              </a:lnSpc>
              <a:spcBef>
                <a:spcPts val="0"/>
              </a:spcBef>
              <a:buClr>
                <a:srgbClr val="C00000"/>
              </a:buClr>
              <a:buFont typeface="+mj-lt"/>
              <a:buAutoNum type="arabicPeriod"/>
              <a:defRPr/>
            </a:pPr>
            <a:r>
              <a:rPr lang="en-US" dirty="0" smtClean="0">
                <a:solidFill>
                  <a:srgbClr val="262626"/>
                </a:solidFill>
                <a:latin typeface="+mn-lt"/>
              </a:rPr>
              <a:t>Career aspirations (based on leader conversations)</a:t>
            </a:r>
          </a:p>
          <a:p>
            <a:pPr marL="230188" indent="-230188" eaLnBrk="0" hangingPunct="0">
              <a:lnSpc>
                <a:spcPct val="150000"/>
              </a:lnSpc>
              <a:spcBef>
                <a:spcPts val="0"/>
              </a:spcBef>
              <a:buClr>
                <a:srgbClr val="C00000"/>
              </a:buClr>
              <a:buFont typeface="Arial" charset="0"/>
              <a:buChar char="•"/>
              <a:defRPr/>
            </a:pPr>
            <a:r>
              <a:rPr lang="en-US" dirty="0" smtClean="0">
                <a:solidFill>
                  <a:srgbClr val="262626"/>
                </a:solidFill>
                <a:latin typeface="+mn-lt"/>
              </a:rPr>
              <a:t>Facilitators:  Human Resources Team</a:t>
            </a:r>
          </a:p>
        </p:txBody>
      </p:sp>
      <p:sp>
        <p:nvSpPr>
          <p:cNvPr id="5" name="Slide Number Placeholder 4"/>
          <p:cNvSpPr>
            <a:spLocks noGrp="1"/>
          </p:cNvSpPr>
          <p:nvPr>
            <p:ph type="sldNum" sz="quarter" idx="10"/>
          </p:nvPr>
        </p:nvSpPr>
        <p:spPr/>
        <p:txBody>
          <a:bodyPr/>
          <a:lstStyle/>
          <a:p>
            <a:pPr>
              <a:defRPr/>
            </a:pPr>
            <a:fld id="{01D945C9-0277-4107-B589-EC55ECD240BC}" type="slidenum">
              <a:rPr lang="en-US" smtClean="0"/>
              <a:pPr>
                <a:defRPr/>
              </a:pPr>
              <a:t>18</a:t>
            </a:fld>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95800" y="3581400"/>
            <a:ext cx="1600200" cy="2438400"/>
          </a:xfrm>
          <a:prstGeom prst="rect">
            <a:avLst/>
          </a:prstGeom>
          <a:solidFill>
            <a:schemeClr val="accent3">
              <a:lumMod val="60000"/>
              <a:lumOff val="40000"/>
            </a:schemeClr>
          </a:solidFill>
          <a:ln w="28575">
            <a:solidFill>
              <a:schemeClr val="accent3">
                <a:lumMod val="5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457200" y="304800"/>
            <a:ext cx="8229600" cy="990600"/>
          </a:xfrm>
        </p:spPr>
        <p:txBody>
          <a:bodyPr/>
          <a:lstStyle/>
          <a:p>
            <a:r>
              <a:rPr lang="en-US" sz="3000" dirty="0" smtClean="0"/>
              <a:t>Children’s Talent Profile</a:t>
            </a:r>
            <a:endParaRPr lang="en-US" sz="3000" dirty="0"/>
          </a:p>
        </p:txBody>
      </p:sp>
      <p:grpSp>
        <p:nvGrpSpPr>
          <p:cNvPr id="27" name="Group 26"/>
          <p:cNvGrpSpPr/>
          <p:nvPr/>
        </p:nvGrpSpPr>
        <p:grpSpPr>
          <a:xfrm>
            <a:off x="2638425" y="1981200"/>
            <a:ext cx="6248400" cy="4038600"/>
            <a:chOff x="2590800" y="1828800"/>
            <a:chExt cx="6248400" cy="4038600"/>
          </a:xfrm>
        </p:grpSpPr>
        <p:sp>
          <p:nvSpPr>
            <p:cNvPr id="6" name="Rectangle 5"/>
            <p:cNvSpPr/>
            <p:nvPr/>
          </p:nvSpPr>
          <p:spPr>
            <a:xfrm>
              <a:off x="4191000" y="1828800"/>
              <a:ext cx="4648200" cy="1600200"/>
            </a:xfrm>
            <a:prstGeom prst="rect">
              <a:avLst/>
            </a:prstGeom>
            <a:solidFill>
              <a:schemeClr val="accent3">
                <a:lumMod val="40000"/>
                <a:lumOff val="60000"/>
              </a:schemeClr>
            </a:solidFill>
            <a:ln w="28575">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300"/>
                </a:spcBef>
              </a:pPr>
              <a:r>
                <a:rPr lang="en-US" sz="1400" b="1" dirty="0" smtClean="0">
                  <a:solidFill>
                    <a:schemeClr val="tx1"/>
                  </a:solidFill>
                </a:rPr>
                <a:t>Name:  Susan Smith</a:t>
              </a:r>
            </a:p>
            <a:p>
              <a:pPr>
                <a:spcBef>
                  <a:spcPts val="300"/>
                </a:spcBef>
              </a:pPr>
              <a:r>
                <a:rPr lang="en-US" sz="1400" dirty="0" smtClean="0">
                  <a:solidFill>
                    <a:schemeClr val="tx1"/>
                  </a:solidFill>
                </a:rPr>
                <a:t>Current Role:  Director, Marketing - Time in position: 2 years</a:t>
              </a:r>
            </a:p>
            <a:p>
              <a:pPr>
                <a:spcBef>
                  <a:spcPts val="300"/>
                </a:spcBef>
              </a:pPr>
              <a:r>
                <a:rPr lang="en-US" sz="1400" dirty="0" smtClean="0">
                  <a:solidFill>
                    <a:schemeClr val="tx1"/>
                  </a:solidFill>
                </a:rPr>
                <a:t>Current Talent Box Rating:   2</a:t>
              </a:r>
            </a:p>
            <a:p>
              <a:pPr>
                <a:spcBef>
                  <a:spcPts val="300"/>
                </a:spcBef>
              </a:pPr>
              <a:r>
                <a:rPr lang="en-US" sz="1400" dirty="0" smtClean="0">
                  <a:solidFill>
                    <a:schemeClr val="tx1"/>
                  </a:solidFill>
                </a:rPr>
                <a:t>Succession Plan Readiness:  </a:t>
              </a:r>
            </a:p>
            <a:p>
              <a:pPr>
                <a:spcBef>
                  <a:spcPts val="300"/>
                </a:spcBef>
                <a:buFont typeface="Arial" pitchFamily="34" charset="0"/>
                <a:buChar char="•"/>
              </a:pPr>
              <a:r>
                <a:rPr lang="en-US" sz="1400" dirty="0" smtClean="0">
                  <a:solidFill>
                    <a:schemeClr val="tx1"/>
                  </a:solidFill>
                </a:rPr>
                <a:t>  Director, Internal Communications – Ready 1 year</a:t>
              </a:r>
            </a:p>
            <a:p>
              <a:pPr>
                <a:spcBef>
                  <a:spcPts val="300"/>
                </a:spcBef>
                <a:buFont typeface="Arial" pitchFamily="34" charset="0"/>
                <a:buChar char="•"/>
              </a:pPr>
              <a:r>
                <a:rPr lang="en-US" sz="1400" dirty="0" smtClean="0">
                  <a:solidFill>
                    <a:schemeClr val="tx1"/>
                  </a:solidFill>
                </a:rPr>
                <a:t>  VP, Marketing &amp; Communications – Ready 3 years</a:t>
              </a:r>
              <a:endParaRPr lang="en-US" sz="1400" dirty="0">
                <a:solidFill>
                  <a:schemeClr val="tx1"/>
                </a:solidFill>
              </a:endParaRPr>
            </a:p>
          </p:txBody>
        </p:sp>
        <p:pic>
          <p:nvPicPr>
            <p:cNvPr id="2050" name="Picture 2" descr="https://encrypted-tbn3.gstatic.com/images?q=tbn:ANd9GcRgAKp1WmyE-UrP1AVop8Il2Kn7nImMQ-qa2wd4XsAXAeTpvHEdIQ"/>
            <p:cNvPicPr>
              <a:picLocks noChangeAspect="1" noChangeArrowheads="1"/>
            </p:cNvPicPr>
            <p:nvPr/>
          </p:nvPicPr>
          <p:blipFill>
            <a:blip r:embed="rId2" cstate="print"/>
            <a:srcRect t="16064" b="3816"/>
            <a:stretch>
              <a:fillRect/>
            </a:stretch>
          </p:blipFill>
          <p:spPr bwMode="auto">
            <a:xfrm>
              <a:off x="2590800" y="1828800"/>
              <a:ext cx="1620252" cy="1600200"/>
            </a:xfrm>
            <a:prstGeom prst="rect">
              <a:avLst/>
            </a:prstGeom>
            <a:noFill/>
            <a:ln w="28575">
              <a:noFill/>
            </a:ln>
          </p:spPr>
        </p:pic>
        <p:sp>
          <p:nvSpPr>
            <p:cNvPr id="7" name="Rectangle 6"/>
            <p:cNvSpPr/>
            <p:nvPr/>
          </p:nvSpPr>
          <p:spPr>
            <a:xfrm>
              <a:off x="2590800" y="3429000"/>
              <a:ext cx="1857375" cy="2438400"/>
            </a:xfrm>
            <a:prstGeom prst="rect">
              <a:avLst/>
            </a:prstGeom>
            <a:solidFill>
              <a:schemeClr val="accent3">
                <a:lumMod val="60000"/>
                <a:lumOff val="40000"/>
              </a:schemeClr>
            </a:solidFill>
            <a:ln w="28575">
              <a:solidFill>
                <a:schemeClr val="accent3">
                  <a:lumMod val="5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4" name="Rectangle 3"/>
            <p:cNvSpPr/>
            <p:nvPr/>
          </p:nvSpPr>
          <p:spPr>
            <a:xfrm>
              <a:off x="2590800" y="1828800"/>
              <a:ext cx="6248400" cy="4038600"/>
            </a:xfrm>
            <a:prstGeom prst="rect">
              <a:avLst/>
            </a:prstGeom>
            <a:noFill/>
            <a:ln w="28575">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p:cNvSpPr txBox="1"/>
            <p:nvPr/>
          </p:nvSpPr>
          <p:spPr>
            <a:xfrm>
              <a:off x="2607567" y="3657600"/>
              <a:ext cx="909223" cy="261610"/>
            </a:xfrm>
            <a:prstGeom prst="rect">
              <a:avLst/>
            </a:prstGeom>
            <a:noFill/>
          </p:spPr>
          <p:txBody>
            <a:bodyPr wrap="none" rtlCol="0">
              <a:spAutoFit/>
            </a:bodyPr>
            <a:lstStyle/>
            <a:p>
              <a:pPr algn="ctr"/>
              <a:r>
                <a:rPr lang="en-US" sz="1050" b="1" dirty="0" smtClean="0">
                  <a:solidFill>
                    <a:schemeClr val="accent3">
                      <a:lumMod val="50000"/>
                    </a:schemeClr>
                  </a:solidFill>
                  <a:latin typeface="+mn-lt"/>
                </a:rPr>
                <a:t>Competency</a:t>
              </a:r>
              <a:endParaRPr lang="en-US" sz="1050" b="1" dirty="0">
                <a:solidFill>
                  <a:schemeClr val="accent3">
                    <a:lumMod val="50000"/>
                  </a:schemeClr>
                </a:solidFill>
                <a:latin typeface="+mn-lt"/>
              </a:endParaRPr>
            </a:p>
          </p:txBody>
        </p:sp>
        <p:sp>
          <p:nvSpPr>
            <p:cNvPr id="17" name="TextBox 16"/>
            <p:cNvSpPr txBox="1"/>
            <p:nvPr/>
          </p:nvSpPr>
          <p:spPr>
            <a:xfrm>
              <a:off x="2590800" y="3848100"/>
              <a:ext cx="2162175" cy="1015663"/>
            </a:xfrm>
            <a:prstGeom prst="rect">
              <a:avLst/>
            </a:prstGeom>
            <a:noFill/>
          </p:spPr>
          <p:txBody>
            <a:bodyPr wrap="square" rtlCol="0">
              <a:spAutoFit/>
            </a:bodyPr>
            <a:lstStyle/>
            <a:p>
              <a:r>
                <a:rPr lang="en-US" sz="1000" dirty="0" smtClean="0">
                  <a:latin typeface="+mn-lt"/>
                </a:rPr>
                <a:t>Get Results:	               FE</a:t>
              </a:r>
            </a:p>
            <a:p>
              <a:r>
                <a:rPr lang="en-US" sz="1000" dirty="0" smtClean="0">
                  <a:latin typeface="+mn-lt"/>
                </a:rPr>
                <a:t>Build a Strong Team:           E             </a:t>
              </a:r>
            </a:p>
            <a:p>
              <a:r>
                <a:rPr lang="en-US" sz="1000" dirty="0" smtClean="0">
                  <a:latin typeface="+mn-lt"/>
                </a:rPr>
                <a:t>Be Clear and Compelling:    FE           </a:t>
              </a:r>
            </a:p>
            <a:p>
              <a:r>
                <a:rPr lang="en-US" sz="1000" dirty="0" smtClean="0">
                  <a:latin typeface="+mn-lt"/>
                </a:rPr>
                <a:t>Act Like a Leader:               M</a:t>
              </a:r>
            </a:p>
            <a:p>
              <a:r>
                <a:rPr lang="en-US" sz="1000" dirty="0" smtClean="0">
                  <a:latin typeface="+mn-lt"/>
                </a:rPr>
                <a:t>Grow Relationships:             E</a:t>
              </a:r>
            </a:p>
            <a:p>
              <a:r>
                <a:rPr lang="en-US" sz="1000" b="1" dirty="0" smtClean="0">
                  <a:latin typeface="+mn-lt"/>
                </a:rPr>
                <a:t>Overall Rating: 	                FE</a:t>
              </a:r>
              <a:endParaRPr lang="en-US" sz="1000" b="1" dirty="0">
                <a:latin typeface="+mn-lt"/>
              </a:endParaRPr>
            </a:p>
          </p:txBody>
        </p:sp>
        <p:sp>
          <p:nvSpPr>
            <p:cNvPr id="18" name="TextBox 17"/>
            <p:cNvSpPr txBox="1"/>
            <p:nvPr/>
          </p:nvSpPr>
          <p:spPr>
            <a:xfrm>
              <a:off x="2847975" y="3429000"/>
              <a:ext cx="1340431" cy="261610"/>
            </a:xfrm>
            <a:prstGeom prst="rect">
              <a:avLst/>
            </a:prstGeom>
            <a:noFill/>
          </p:spPr>
          <p:txBody>
            <a:bodyPr wrap="none" rtlCol="0">
              <a:spAutoFit/>
            </a:bodyPr>
            <a:lstStyle/>
            <a:p>
              <a:pPr algn="ctr"/>
              <a:r>
                <a:rPr lang="en-US" sz="1100" b="1" dirty="0" smtClean="0">
                  <a:latin typeface="+mn-lt"/>
                </a:rPr>
                <a:t>Performance Rating</a:t>
              </a:r>
              <a:endParaRPr lang="en-US" sz="1100" b="1" dirty="0">
                <a:latin typeface="+mn-lt"/>
              </a:endParaRPr>
            </a:p>
          </p:txBody>
        </p:sp>
        <p:sp>
          <p:nvSpPr>
            <p:cNvPr id="19" name="TextBox 18"/>
            <p:cNvSpPr txBox="1"/>
            <p:nvPr/>
          </p:nvSpPr>
          <p:spPr>
            <a:xfrm>
              <a:off x="3867150" y="3657600"/>
              <a:ext cx="546945" cy="253916"/>
            </a:xfrm>
            <a:prstGeom prst="rect">
              <a:avLst/>
            </a:prstGeom>
            <a:noFill/>
          </p:spPr>
          <p:txBody>
            <a:bodyPr wrap="none" rtlCol="0">
              <a:spAutoFit/>
            </a:bodyPr>
            <a:lstStyle/>
            <a:p>
              <a:pPr algn="ctr"/>
              <a:r>
                <a:rPr lang="en-US" sz="1050" b="1" dirty="0" smtClean="0">
                  <a:solidFill>
                    <a:schemeClr val="accent3">
                      <a:lumMod val="50000"/>
                    </a:schemeClr>
                  </a:solidFill>
                  <a:latin typeface="+mn-lt"/>
                </a:rPr>
                <a:t>Rating</a:t>
              </a:r>
              <a:endParaRPr lang="en-US" sz="1050" b="1" dirty="0">
                <a:solidFill>
                  <a:schemeClr val="accent3">
                    <a:lumMod val="50000"/>
                  </a:schemeClr>
                </a:solidFill>
                <a:latin typeface="+mn-lt"/>
              </a:endParaRPr>
            </a:p>
          </p:txBody>
        </p:sp>
        <p:sp>
          <p:nvSpPr>
            <p:cNvPr id="20" name="TextBox 19"/>
            <p:cNvSpPr txBox="1"/>
            <p:nvPr/>
          </p:nvSpPr>
          <p:spPr>
            <a:xfrm>
              <a:off x="2609850" y="5004656"/>
              <a:ext cx="1838325" cy="553998"/>
            </a:xfrm>
            <a:prstGeom prst="rect">
              <a:avLst/>
            </a:prstGeom>
            <a:solidFill>
              <a:schemeClr val="accent3">
                <a:lumMod val="75000"/>
              </a:schemeClr>
            </a:solidFill>
          </p:spPr>
          <p:txBody>
            <a:bodyPr wrap="square" rtlCol="0" anchor="ctr">
              <a:spAutoFit/>
            </a:bodyPr>
            <a:lstStyle/>
            <a:p>
              <a:r>
                <a:rPr lang="en-US" sz="1000" dirty="0" smtClean="0">
                  <a:latin typeface="+mn-lt"/>
                </a:rPr>
                <a:t>Competency Rating:          3.6</a:t>
              </a:r>
            </a:p>
            <a:p>
              <a:r>
                <a:rPr lang="en-US" sz="1000" dirty="0" smtClean="0">
                  <a:latin typeface="+mn-lt"/>
                </a:rPr>
                <a:t>Goal Rating:	             3.0</a:t>
              </a:r>
            </a:p>
            <a:p>
              <a:r>
                <a:rPr lang="en-US" sz="1000" b="1" dirty="0" smtClean="0">
                  <a:latin typeface="+mn-lt"/>
                </a:rPr>
                <a:t>Overall Rating:  	              3.3</a:t>
              </a:r>
            </a:p>
          </p:txBody>
        </p:sp>
        <p:sp>
          <p:nvSpPr>
            <p:cNvPr id="9" name="Rectangle 8"/>
            <p:cNvSpPr/>
            <p:nvPr/>
          </p:nvSpPr>
          <p:spPr>
            <a:xfrm>
              <a:off x="6048375" y="3429000"/>
              <a:ext cx="1371600" cy="2438400"/>
            </a:xfrm>
            <a:prstGeom prst="rect">
              <a:avLst/>
            </a:prstGeom>
            <a:solidFill>
              <a:schemeClr val="accent3">
                <a:lumMod val="60000"/>
                <a:lumOff val="40000"/>
              </a:schemeClr>
            </a:solidFill>
            <a:ln w="28575">
              <a:solidFill>
                <a:schemeClr val="accent3">
                  <a:lumMod val="5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10" name="Rectangle 9"/>
            <p:cNvSpPr/>
            <p:nvPr/>
          </p:nvSpPr>
          <p:spPr>
            <a:xfrm>
              <a:off x="7419975" y="3429000"/>
              <a:ext cx="1419224" cy="2438400"/>
            </a:xfrm>
            <a:prstGeom prst="rect">
              <a:avLst/>
            </a:prstGeom>
            <a:solidFill>
              <a:schemeClr val="accent3">
                <a:lumMod val="60000"/>
                <a:lumOff val="40000"/>
              </a:schemeClr>
            </a:solidFill>
            <a:ln w="28575">
              <a:solidFill>
                <a:schemeClr val="accent3">
                  <a:lumMod val="5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13" name="TextBox 12"/>
            <p:cNvSpPr txBox="1"/>
            <p:nvPr/>
          </p:nvSpPr>
          <p:spPr>
            <a:xfrm>
              <a:off x="6048375" y="3429000"/>
              <a:ext cx="1356746" cy="430887"/>
            </a:xfrm>
            <a:prstGeom prst="rect">
              <a:avLst/>
            </a:prstGeom>
            <a:noFill/>
          </p:spPr>
          <p:txBody>
            <a:bodyPr wrap="square" rtlCol="0">
              <a:spAutoFit/>
            </a:bodyPr>
            <a:lstStyle/>
            <a:p>
              <a:pPr algn="ctr"/>
              <a:r>
                <a:rPr lang="en-US" sz="1100" b="1" dirty="0" smtClean="0">
                  <a:latin typeface="+mn-lt"/>
                </a:rPr>
                <a:t>Previous Roles at Children’s</a:t>
              </a:r>
              <a:endParaRPr lang="en-US" sz="1100" b="1" dirty="0">
                <a:latin typeface="+mn-lt"/>
              </a:endParaRPr>
            </a:p>
          </p:txBody>
        </p:sp>
        <p:sp>
          <p:nvSpPr>
            <p:cNvPr id="14" name="TextBox 13"/>
            <p:cNvSpPr txBox="1"/>
            <p:nvPr/>
          </p:nvSpPr>
          <p:spPr>
            <a:xfrm>
              <a:off x="7575860" y="3429000"/>
              <a:ext cx="1088760" cy="261610"/>
            </a:xfrm>
            <a:prstGeom prst="rect">
              <a:avLst/>
            </a:prstGeom>
            <a:noFill/>
          </p:spPr>
          <p:txBody>
            <a:bodyPr wrap="none" rtlCol="0">
              <a:spAutoFit/>
            </a:bodyPr>
            <a:lstStyle/>
            <a:p>
              <a:pPr algn="ctr"/>
              <a:r>
                <a:rPr lang="en-US" sz="1100" b="1" dirty="0" smtClean="0">
                  <a:latin typeface="+mn-lt"/>
                </a:rPr>
                <a:t>Career Interests</a:t>
              </a:r>
              <a:endParaRPr lang="en-US" sz="1100" b="1" dirty="0">
                <a:latin typeface="+mn-lt"/>
              </a:endParaRPr>
            </a:p>
          </p:txBody>
        </p:sp>
        <p:sp>
          <p:nvSpPr>
            <p:cNvPr id="21" name="TextBox 20"/>
            <p:cNvSpPr txBox="1"/>
            <p:nvPr/>
          </p:nvSpPr>
          <p:spPr>
            <a:xfrm>
              <a:off x="7419976" y="3657600"/>
              <a:ext cx="1381124" cy="2031325"/>
            </a:xfrm>
            <a:prstGeom prst="rect">
              <a:avLst/>
            </a:prstGeom>
            <a:noFill/>
          </p:spPr>
          <p:txBody>
            <a:bodyPr wrap="square" rtlCol="0">
              <a:spAutoFit/>
            </a:bodyPr>
            <a:lstStyle/>
            <a:p>
              <a:pPr marL="114300" lvl="0" indent="-114300">
                <a:spcBef>
                  <a:spcPct val="20000"/>
                </a:spcBef>
                <a:buFontTx/>
                <a:buChar char="•"/>
              </a:pPr>
              <a:r>
                <a:rPr lang="en-US" sz="1000" dirty="0" smtClean="0">
                  <a:latin typeface="+mn-lt"/>
                  <a:ea typeface="ＭＳ Ｐゴシック" charset="-128"/>
                </a:rPr>
                <a:t>Gain experience managing multiple areas within Marketing</a:t>
              </a:r>
            </a:p>
            <a:p>
              <a:pPr marL="114300" lvl="0" indent="-114300">
                <a:spcBef>
                  <a:spcPct val="20000"/>
                </a:spcBef>
                <a:buFontTx/>
                <a:buChar char="•"/>
              </a:pPr>
              <a:r>
                <a:rPr lang="en-US" sz="1000" dirty="0" smtClean="0">
                  <a:latin typeface="+mn-lt"/>
                  <a:ea typeface="ＭＳ Ｐゴシック" charset="-128"/>
                </a:rPr>
                <a:t>Lead a large team – Director role</a:t>
              </a:r>
            </a:p>
            <a:p>
              <a:pPr marL="114300" lvl="0" indent="-114300">
                <a:spcBef>
                  <a:spcPct val="20000"/>
                </a:spcBef>
                <a:buFontTx/>
                <a:buChar char="•"/>
              </a:pPr>
              <a:r>
                <a:rPr lang="en-US" sz="1000" dirty="0" smtClean="0">
                  <a:latin typeface="+mn-lt"/>
                  <a:ea typeface="ＭＳ Ｐゴシック" charset="-128"/>
                </a:rPr>
                <a:t>Eventually perhaps become an VP of Marketing or other major support area</a:t>
              </a:r>
            </a:p>
            <a:p>
              <a:pPr marL="114300" lvl="0" indent="-114300">
                <a:spcBef>
                  <a:spcPct val="20000"/>
                </a:spcBef>
                <a:buFontTx/>
                <a:buChar char="•"/>
              </a:pPr>
              <a:r>
                <a:rPr lang="en-US" sz="1000" dirty="0" smtClean="0">
                  <a:latin typeface="+mn-lt"/>
                  <a:ea typeface="ＭＳ Ｐゴシック" charset="-128"/>
                </a:rPr>
                <a:t>Desire to stay at Children’s long term</a:t>
              </a:r>
              <a:endParaRPr lang="en-US" sz="1000" dirty="0">
                <a:latin typeface="+mn-lt"/>
              </a:endParaRPr>
            </a:p>
          </p:txBody>
        </p:sp>
        <p:sp>
          <p:nvSpPr>
            <p:cNvPr id="25" name="TextBox 24"/>
            <p:cNvSpPr txBox="1"/>
            <p:nvPr/>
          </p:nvSpPr>
          <p:spPr>
            <a:xfrm>
              <a:off x="6067425" y="3886200"/>
              <a:ext cx="1447799" cy="1538883"/>
            </a:xfrm>
            <a:prstGeom prst="rect">
              <a:avLst/>
            </a:prstGeom>
            <a:noFill/>
          </p:spPr>
          <p:txBody>
            <a:bodyPr wrap="square" rtlCol="0">
              <a:spAutoFit/>
            </a:bodyPr>
            <a:lstStyle/>
            <a:p>
              <a:pPr marL="114300" lvl="0" indent="-114300">
                <a:spcBef>
                  <a:spcPct val="20000"/>
                </a:spcBef>
              </a:pPr>
              <a:r>
                <a:rPr lang="en-US" sz="1000" dirty="0" smtClean="0">
                  <a:latin typeface="+mn-lt"/>
                </a:rPr>
                <a:t>Manager, Marketing</a:t>
              </a:r>
            </a:p>
            <a:p>
              <a:pPr marL="114300" lvl="0" indent="-114300">
                <a:spcBef>
                  <a:spcPct val="20000"/>
                </a:spcBef>
              </a:pPr>
              <a:r>
                <a:rPr lang="en-US" sz="1000" dirty="0" smtClean="0">
                  <a:latin typeface="+mn-lt"/>
                </a:rPr>
                <a:t>Apr 2007 – Dec 2010</a:t>
              </a:r>
            </a:p>
            <a:p>
              <a:pPr marL="114300" lvl="0" indent="-114300">
                <a:spcBef>
                  <a:spcPct val="20000"/>
                </a:spcBef>
              </a:pPr>
              <a:endParaRPr lang="en-US" sz="1000" dirty="0" smtClean="0">
                <a:latin typeface="+mn-lt"/>
              </a:endParaRPr>
            </a:p>
            <a:p>
              <a:pPr marL="114300" lvl="0" indent="-114300">
                <a:spcBef>
                  <a:spcPct val="20000"/>
                </a:spcBef>
              </a:pPr>
              <a:r>
                <a:rPr lang="en-US" sz="1000" dirty="0" smtClean="0">
                  <a:latin typeface="+mn-lt"/>
                </a:rPr>
                <a:t>Manager, Strategy</a:t>
              </a:r>
            </a:p>
            <a:p>
              <a:pPr marL="114300" lvl="0" indent="-114300">
                <a:spcBef>
                  <a:spcPct val="20000"/>
                </a:spcBef>
              </a:pPr>
              <a:r>
                <a:rPr lang="en-US" sz="1000" dirty="0" smtClean="0">
                  <a:latin typeface="+mn-lt"/>
                </a:rPr>
                <a:t>Mar 2005 – Apr 2007</a:t>
              </a:r>
            </a:p>
            <a:p>
              <a:pPr marL="114300" lvl="0" indent="-114300">
                <a:spcBef>
                  <a:spcPct val="20000"/>
                </a:spcBef>
              </a:pPr>
              <a:endParaRPr lang="en-US" sz="1000" dirty="0" smtClean="0">
                <a:latin typeface="+mn-lt"/>
              </a:endParaRPr>
            </a:p>
            <a:p>
              <a:pPr marL="114300" lvl="0" indent="-114300">
                <a:spcBef>
                  <a:spcPct val="20000"/>
                </a:spcBef>
              </a:pPr>
              <a:r>
                <a:rPr lang="en-US" sz="1000" dirty="0" smtClean="0">
                  <a:latin typeface="+mn-lt"/>
                </a:rPr>
                <a:t>Project Manager, Ortho</a:t>
              </a:r>
            </a:p>
            <a:p>
              <a:pPr marL="114300" lvl="0" indent="-114300">
                <a:spcBef>
                  <a:spcPct val="20000"/>
                </a:spcBef>
              </a:pPr>
              <a:r>
                <a:rPr lang="en-US" sz="1000" dirty="0" smtClean="0">
                  <a:latin typeface="+mn-lt"/>
                </a:rPr>
                <a:t>Jan 2003 – Mar 2005 </a:t>
              </a:r>
              <a:endParaRPr lang="en-US" sz="1000" dirty="0">
                <a:latin typeface="+mn-lt"/>
              </a:endParaRPr>
            </a:p>
          </p:txBody>
        </p:sp>
        <p:sp>
          <p:nvSpPr>
            <p:cNvPr id="5" name="Rectangle 4"/>
            <p:cNvSpPr/>
            <p:nvPr/>
          </p:nvSpPr>
          <p:spPr>
            <a:xfrm>
              <a:off x="2590800" y="1828800"/>
              <a:ext cx="1600200" cy="1600200"/>
            </a:xfrm>
            <a:prstGeom prst="rect">
              <a:avLst/>
            </a:prstGeom>
            <a:noFill/>
            <a:ln w="28575">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9" name="TextBox 28"/>
          <p:cNvSpPr txBox="1"/>
          <p:nvPr/>
        </p:nvSpPr>
        <p:spPr>
          <a:xfrm>
            <a:off x="3124200" y="1447800"/>
            <a:ext cx="5183791" cy="369332"/>
          </a:xfrm>
          <a:prstGeom prst="rect">
            <a:avLst/>
          </a:prstGeom>
          <a:noFill/>
        </p:spPr>
        <p:txBody>
          <a:bodyPr wrap="none" rtlCol="0">
            <a:spAutoFit/>
          </a:bodyPr>
          <a:lstStyle/>
          <a:p>
            <a:r>
              <a:rPr lang="en-US" dirty="0" smtClean="0">
                <a:latin typeface="+mn-lt"/>
              </a:rPr>
              <a:t>Example Prototype to be created after Talent Sessions</a:t>
            </a:r>
            <a:endParaRPr lang="en-US" dirty="0">
              <a:latin typeface="+mn-lt"/>
            </a:endParaRPr>
          </a:p>
        </p:txBody>
      </p:sp>
      <p:sp>
        <p:nvSpPr>
          <p:cNvPr id="30" name="Content Placeholder 2"/>
          <p:cNvSpPr txBox="1">
            <a:spLocks/>
          </p:cNvSpPr>
          <p:nvPr/>
        </p:nvSpPr>
        <p:spPr>
          <a:xfrm>
            <a:off x="381000" y="1771650"/>
            <a:ext cx="2057400" cy="4267200"/>
          </a:xfrm>
          <a:prstGeom prst="rect">
            <a:avLst/>
          </a:prstGeom>
          <a:noFill/>
          <a:ln w="38100">
            <a:solidFill>
              <a:schemeClr val="accent3">
                <a:lumMod val="75000"/>
              </a:schemeClr>
            </a:solidFill>
          </a:ln>
        </p:spPr>
        <p:txBody>
          <a:bodyPr/>
          <a:lstStyle/>
          <a:p>
            <a:pPr marL="342900" marR="0" lvl="0" indent="-342900" algn="l" defTabSz="914400" rtl="0" eaLnBrk="0" fontAlgn="base" latinLnBrk="0" hangingPunct="0">
              <a:lnSpc>
                <a:spcPct val="100000"/>
              </a:lnSpc>
              <a:spcBef>
                <a:spcPct val="20000"/>
              </a:spcBef>
              <a:spcAft>
                <a:spcPct val="0"/>
              </a:spcAft>
              <a:buClrTx/>
              <a:buSzTx/>
              <a:buFont typeface="Arial" charset="0"/>
              <a:buNone/>
              <a:tabLst/>
              <a:defRPr/>
            </a:pPr>
            <a:r>
              <a:rPr kumimoji="0" lang="en-US" sz="1600" b="1" i="0" u="none" strike="noStrike" kern="1200" cap="none" spc="0" normalizeH="0" baseline="0" noProof="0" dirty="0" smtClean="0">
                <a:ln>
                  <a:noFill/>
                </a:ln>
                <a:solidFill>
                  <a:srgbClr val="262626"/>
                </a:solidFill>
                <a:effectLst/>
                <a:uLnTx/>
                <a:uFillTx/>
                <a:latin typeface="+mn-lt"/>
                <a:ea typeface="+mn-ea"/>
                <a:cs typeface="+mn-cs"/>
              </a:rPr>
              <a:t>The Profile:</a:t>
            </a:r>
          </a:p>
          <a:p>
            <a:pPr marL="230188" marR="0" lvl="0" indent="-230188"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1600" b="0" i="0" u="none" strike="noStrike" kern="1200" cap="none" spc="0" normalizeH="0" baseline="0" noProof="0" dirty="0" smtClean="0">
                <a:ln>
                  <a:noFill/>
                </a:ln>
                <a:solidFill>
                  <a:srgbClr val="262626"/>
                </a:solidFill>
                <a:effectLst/>
                <a:uLnTx/>
                <a:uFillTx/>
                <a:latin typeface="+mn-lt"/>
                <a:ea typeface="+mn-ea"/>
                <a:cs typeface="+mn-cs"/>
              </a:rPr>
              <a:t>A complete profile,</a:t>
            </a:r>
            <a:r>
              <a:rPr kumimoji="0" lang="en-US" sz="1600" b="0" i="0" u="none" strike="noStrike" kern="1200" cap="none" spc="0" normalizeH="0" noProof="0" dirty="0" smtClean="0">
                <a:ln>
                  <a:noFill/>
                </a:ln>
                <a:solidFill>
                  <a:srgbClr val="262626"/>
                </a:solidFill>
                <a:effectLst/>
                <a:uLnTx/>
                <a:uFillTx/>
                <a:latin typeface="+mn-lt"/>
                <a:ea typeface="+mn-ea"/>
                <a:cs typeface="+mn-cs"/>
              </a:rPr>
              <a:t> updated annually, will be created for all managers and above identified as Top Talent</a:t>
            </a:r>
          </a:p>
          <a:p>
            <a:pPr marL="230188" marR="0" lvl="0" indent="-230188" algn="l" defTabSz="914400" rtl="0" eaLnBrk="0" fontAlgn="base" latinLnBrk="0" hangingPunct="0">
              <a:lnSpc>
                <a:spcPct val="100000"/>
              </a:lnSpc>
              <a:spcBef>
                <a:spcPct val="20000"/>
              </a:spcBef>
              <a:spcAft>
                <a:spcPct val="0"/>
              </a:spcAft>
              <a:buClrTx/>
              <a:buSzTx/>
              <a:buFont typeface="Arial" charset="0"/>
              <a:buChar char="•"/>
              <a:tabLst/>
              <a:defRPr/>
            </a:pPr>
            <a:r>
              <a:rPr lang="en-US" sz="1600" baseline="0" dirty="0" smtClean="0">
                <a:solidFill>
                  <a:srgbClr val="262626"/>
                </a:solidFill>
                <a:latin typeface="+mn-lt"/>
              </a:rPr>
              <a:t>Input</a:t>
            </a:r>
            <a:r>
              <a:rPr lang="en-US" sz="1600" dirty="0" smtClean="0">
                <a:solidFill>
                  <a:srgbClr val="262626"/>
                </a:solidFill>
                <a:latin typeface="+mn-lt"/>
              </a:rPr>
              <a:t> on profiles will be gathered during Talent Sessions and via discussions with their leader</a:t>
            </a:r>
          </a:p>
          <a:p>
            <a:pPr marL="230188" marR="0" lvl="0" indent="-230188" algn="l" defTabSz="914400" rtl="0" eaLnBrk="0" fontAlgn="base" latinLnBrk="0" hangingPunct="0">
              <a:lnSpc>
                <a:spcPct val="100000"/>
              </a:lnSpc>
              <a:spcBef>
                <a:spcPct val="20000"/>
              </a:spcBef>
              <a:spcAft>
                <a:spcPct val="0"/>
              </a:spcAft>
              <a:buClrTx/>
              <a:buSzTx/>
              <a:buFont typeface="Arial" charset="0"/>
              <a:buChar char="•"/>
              <a:tabLst/>
              <a:defRPr/>
            </a:pPr>
            <a:r>
              <a:rPr lang="en-US" sz="1600" dirty="0" smtClean="0">
                <a:solidFill>
                  <a:srgbClr val="262626"/>
                </a:solidFill>
                <a:latin typeface="+mn-lt"/>
              </a:rPr>
              <a:t>The profile will aid in selection for Top Talent programs and internal hiring</a:t>
            </a:r>
            <a:endParaRPr kumimoji="0" lang="en-US" sz="1600" b="0" i="0" u="none" strike="noStrike" kern="1200" cap="none" spc="0" normalizeH="0" baseline="0" noProof="0" dirty="0" smtClean="0">
              <a:ln>
                <a:noFill/>
              </a:ln>
              <a:solidFill>
                <a:srgbClr val="262626"/>
              </a:solidFill>
              <a:effectLst/>
              <a:uLnTx/>
              <a:uFillTx/>
              <a:latin typeface="+mn-lt"/>
              <a:ea typeface="+mn-ea"/>
              <a:cs typeface="+mn-cs"/>
            </a:endParaRPr>
          </a:p>
        </p:txBody>
      </p:sp>
      <p:sp>
        <p:nvSpPr>
          <p:cNvPr id="24" name="TextBox 23"/>
          <p:cNvSpPr txBox="1"/>
          <p:nvPr/>
        </p:nvSpPr>
        <p:spPr>
          <a:xfrm>
            <a:off x="4752975" y="3581400"/>
            <a:ext cx="1105187" cy="415498"/>
          </a:xfrm>
          <a:prstGeom prst="rect">
            <a:avLst/>
          </a:prstGeom>
          <a:noFill/>
        </p:spPr>
        <p:txBody>
          <a:bodyPr wrap="square" rtlCol="0">
            <a:spAutoFit/>
          </a:bodyPr>
          <a:lstStyle/>
          <a:p>
            <a:pPr algn="ctr"/>
            <a:r>
              <a:rPr lang="en-US" sz="1050" b="1" dirty="0" smtClean="0">
                <a:latin typeface="+mn-lt"/>
              </a:rPr>
              <a:t>360 Feedback &amp; Assessments</a:t>
            </a:r>
            <a:endParaRPr lang="en-US" sz="1050" b="1" dirty="0">
              <a:latin typeface="+mn-lt"/>
            </a:endParaRPr>
          </a:p>
        </p:txBody>
      </p:sp>
      <p:sp>
        <p:nvSpPr>
          <p:cNvPr id="28" name="TextBox 27"/>
          <p:cNvSpPr txBox="1"/>
          <p:nvPr/>
        </p:nvSpPr>
        <p:spPr>
          <a:xfrm>
            <a:off x="4486275" y="3905250"/>
            <a:ext cx="1676400" cy="2062103"/>
          </a:xfrm>
          <a:prstGeom prst="rect">
            <a:avLst/>
          </a:prstGeom>
          <a:noFill/>
        </p:spPr>
        <p:txBody>
          <a:bodyPr wrap="square" rtlCol="0">
            <a:spAutoFit/>
          </a:bodyPr>
          <a:lstStyle/>
          <a:p>
            <a:pPr marL="114300" lvl="0" indent="-114300">
              <a:spcBef>
                <a:spcPct val="20000"/>
              </a:spcBef>
            </a:pPr>
            <a:r>
              <a:rPr lang="en-US" sz="1000" b="1" dirty="0" smtClean="0">
                <a:solidFill>
                  <a:schemeClr val="accent3">
                    <a:lumMod val="50000"/>
                  </a:schemeClr>
                </a:solidFill>
                <a:latin typeface="+mn-lt"/>
                <a:ea typeface="ＭＳ Ｐゴシック" charset="-128"/>
              </a:rPr>
              <a:t>Strengths:</a:t>
            </a:r>
          </a:p>
          <a:p>
            <a:pPr marL="114300" lvl="0" indent="-114300">
              <a:spcBef>
                <a:spcPct val="20000"/>
              </a:spcBef>
              <a:buFontTx/>
              <a:buChar char="•"/>
            </a:pPr>
            <a:r>
              <a:rPr lang="en-US" sz="1000" dirty="0" smtClean="0">
                <a:latin typeface="+mn-lt"/>
                <a:ea typeface="ＭＳ Ｐゴシック" charset="-128"/>
              </a:rPr>
              <a:t>Planning and organizing</a:t>
            </a:r>
          </a:p>
          <a:p>
            <a:pPr marL="114300" lvl="0" indent="-114300">
              <a:spcBef>
                <a:spcPct val="20000"/>
              </a:spcBef>
              <a:buFontTx/>
              <a:buChar char="•"/>
            </a:pPr>
            <a:r>
              <a:rPr lang="en-US" sz="1000" dirty="0" smtClean="0">
                <a:latin typeface="+mn-lt"/>
                <a:ea typeface="ＭＳ Ｐゴシック" charset="-128"/>
              </a:rPr>
              <a:t>System perspective</a:t>
            </a:r>
          </a:p>
          <a:p>
            <a:pPr marL="114300" lvl="0" indent="-114300">
              <a:spcBef>
                <a:spcPct val="20000"/>
              </a:spcBef>
              <a:buFontTx/>
              <a:buChar char="•"/>
            </a:pPr>
            <a:r>
              <a:rPr lang="en-US" sz="1000" dirty="0" smtClean="0">
                <a:latin typeface="+mn-lt"/>
                <a:ea typeface="ＭＳ Ｐゴシック" charset="-128"/>
              </a:rPr>
              <a:t>Performance expectations</a:t>
            </a:r>
          </a:p>
          <a:p>
            <a:pPr marL="114300" lvl="0" indent="-114300">
              <a:spcBef>
                <a:spcPct val="20000"/>
              </a:spcBef>
            </a:pPr>
            <a:r>
              <a:rPr lang="en-US" sz="1000" b="1" dirty="0" smtClean="0">
                <a:solidFill>
                  <a:schemeClr val="accent3">
                    <a:lumMod val="50000"/>
                  </a:schemeClr>
                </a:solidFill>
                <a:latin typeface="+mn-lt"/>
                <a:ea typeface="ＭＳ Ｐゴシック" charset="-128"/>
              </a:rPr>
              <a:t>Development Areas:</a:t>
            </a:r>
          </a:p>
          <a:p>
            <a:pPr marL="114300" lvl="0" indent="-114300">
              <a:spcBef>
                <a:spcPct val="20000"/>
              </a:spcBef>
              <a:buFontTx/>
              <a:buChar char="•"/>
            </a:pPr>
            <a:r>
              <a:rPr lang="en-US" sz="1000" dirty="0" smtClean="0">
                <a:latin typeface="+mn-lt"/>
                <a:ea typeface="ＭＳ Ｐゴシック" charset="-128"/>
              </a:rPr>
              <a:t>Development</a:t>
            </a:r>
          </a:p>
          <a:p>
            <a:pPr marL="114300" lvl="0" indent="-114300">
              <a:spcBef>
                <a:spcPct val="20000"/>
              </a:spcBef>
              <a:buFontTx/>
              <a:buChar char="•"/>
            </a:pPr>
            <a:r>
              <a:rPr lang="en-US" sz="1000" dirty="0" smtClean="0">
                <a:latin typeface="+mn-lt"/>
                <a:ea typeface="ＭＳ Ｐゴシック" charset="-128"/>
              </a:rPr>
              <a:t>Collaboration</a:t>
            </a:r>
          </a:p>
          <a:p>
            <a:pPr marL="114300" lvl="0" indent="-114300">
              <a:spcBef>
                <a:spcPct val="20000"/>
              </a:spcBef>
              <a:buFontTx/>
              <a:buChar char="•"/>
            </a:pPr>
            <a:r>
              <a:rPr lang="en-US" sz="1000" dirty="0" smtClean="0">
                <a:latin typeface="+mn-lt"/>
                <a:ea typeface="ＭＳ Ｐゴシック" charset="-128"/>
              </a:rPr>
              <a:t>Persuasion</a:t>
            </a:r>
          </a:p>
          <a:p>
            <a:pPr marL="114300" lvl="0" indent="-114300">
              <a:spcBef>
                <a:spcPct val="20000"/>
              </a:spcBef>
            </a:pPr>
            <a:r>
              <a:rPr lang="en-US" sz="1000" b="1" dirty="0" smtClean="0">
                <a:solidFill>
                  <a:schemeClr val="accent3">
                    <a:lumMod val="50000"/>
                  </a:schemeClr>
                </a:solidFill>
                <a:latin typeface="+mn-lt"/>
                <a:ea typeface="ＭＳ Ｐゴシック" charset="-128"/>
              </a:rPr>
              <a:t>Notes:</a:t>
            </a:r>
          </a:p>
          <a:p>
            <a:pPr marL="114300" lvl="0" indent="-114300">
              <a:spcBef>
                <a:spcPct val="20000"/>
              </a:spcBef>
              <a:buFontTx/>
              <a:buChar char="•"/>
            </a:pPr>
            <a:r>
              <a:rPr lang="en-US" sz="1000" dirty="0" smtClean="0">
                <a:latin typeface="+mn-lt"/>
                <a:ea typeface="ＭＳ Ｐゴシック" charset="-128"/>
              </a:rPr>
              <a:t>Strength scores on high side of comparative group</a:t>
            </a:r>
            <a:endParaRPr lang="en-US" sz="1000" dirty="0">
              <a:latin typeface="+mn-lt"/>
            </a:endParaRPr>
          </a:p>
        </p:txBody>
      </p:sp>
      <p:sp>
        <p:nvSpPr>
          <p:cNvPr id="26" name="Slide Number Placeholder 25"/>
          <p:cNvSpPr>
            <a:spLocks noGrp="1"/>
          </p:cNvSpPr>
          <p:nvPr>
            <p:ph type="sldNum" sz="quarter" idx="10"/>
          </p:nvPr>
        </p:nvSpPr>
        <p:spPr/>
        <p:txBody>
          <a:bodyPr/>
          <a:lstStyle/>
          <a:p>
            <a:pPr>
              <a:defRPr/>
            </a:pPr>
            <a:fld id="{01D945C9-0277-4107-B589-EC55ECD240BC}" type="slidenum">
              <a:rPr lang="en-US" smtClean="0"/>
              <a:pPr>
                <a:defRPr/>
              </a:pPr>
              <a:t>19</a:t>
            </a:fld>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200" dirty="0" smtClean="0"/>
              <a:t>Leader Next</a:t>
            </a:r>
            <a:endParaRPr lang="en-US" sz="3200" dirty="0"/>
          </a:p>
        </p:txBody>
      </p:sp>
      <p:sp>
        <p:nvSpPr>
          <p:cNvPr id="3" name="Subtitle 2"/>
          <p:cNvSpPr>
            <a:spLocks noGrp="1"/>
          </p:cNvSpPr>
          <p:nvPr>
            <p:ph type="subTitle" idx="1"/>
          </p:nvPr>
        </p:nvSpPr>
        <p:spPr>
          <a:xfrm>
            <a:off x="685800" y="3886200"/>
            <a:ext cx="7772400" cy="914400"/>
          </a:xfrm>
        </p:spPr>
        <p:txBody>
          <a:bodyPr/>
          <a:lstStyle/>
          <a:p>
            <a:r>
              <a:rPr lang="en-US" sz="1800" dirty="0" smtClean="0"/>
              <a:t>Top Talent Directors and Above – Invitation only</a:t>
            </a:r>
            <a:endParaRPr lang="en-US" sz="1800" dirty="0"/>
          </a:p>
        </p:txBody>
      </p:sp>
      <p:sp>
        <p:nvSpPr>
          <p:cNvPr id="4" name="Slide Number Placeholder 11"/>
          <p:cNvSpPr txBox="1">
            <a:spLocks/>
          </p:cNvSpPr>
          <p:nvPr/>
        </p:nvSpPr>
        <p:spPr>
          <a:xfrm>
            <a:off x="8763000" y="6492875"/>
            <a:ext cx="381000" cy="365125"/>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01D945C9-0277-4107-B589-EC55ECD240BC}" type="slidenum">
              <a:rPr kumimoji="0" lang="en-US" sz="1200" b="0" i="0" u="none" strike="noStrike" kern="1200" cap="none" spc="0" normalizeH="0" baseline="0" noProof="0" smtClean="0">
                <a:ln>
                  <a:noFill/>
                </a:ln>
                <a:solidFill>
                  <a:schemeClr val="tx1"/>
                </a:solidFill>
                <a:effectLst/>
                <a:uLnTx/>
                <a:uFillTx/>
                <a:latin typeface="+mn-lt"/>
                <a:ea typeface="+mn-ea"/>
                <a:cs typeface="+mn-cs"/>
              </a:rPr>
              <a:pPr marL="0" marR="0" lvl="0" indent="0" algn="ctr" defTabSz="914400" rtl="0" eaLnBrk="1" fontAlgn="base" latinLnBrk="0" hangingPunct="1">
                <a:lnSpc>
                  <a:spcPct val="100000"/>
                </a:lnSpc>
                <a:spcBef>
                  <a:spcPct val="0"/>
                </a:spcBef>
                <a:spcAft>
                  <a:spcPct val="0"/>
                </a:spcAft>
                <a:buClrTx/>
                <a:buSzTx/>
                <a:buFontTx/>
                <a:buNone/>
                <a:tabLst/>
                <a:defRPr/>
              </a:pPr>
              <a:t>20</a:t>
            </a:fld>
            <a:endParaRPr kumimoji="0" lang="en-US" sz="1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a:xfrm>
            <a:off x="457200" y="381000"/>
            <a:ext cx="6859588" cy="685800"/>
          </a:xfrm>
        </p:spPr>
        <p:txBody>
          <a:bodyPr/>
          <a:lstStyle/>
          <a:p>
            <a:r>
              <a:rPr lang="en-US" sz="3000" dirty="0" smtClean="0"/>
              <a:t>Previous CFL </a:t>
            </a:r>
            <a:r>
              <a:rPr lang="en-US" sz="3000" dirty="0"/>
              <a:t>Executive Experience</a:t>
            </a:r>
          </a:p>
        </p:txBody>
      </p:sp>
      <p:sp>
        <p:nvSpPr>
          <p:cNvPr id="106499" name="Oval 3"/>
          <p:cNvSpPr>
            <a:spLocks noChangeArrowheads="1"/>
          </p:cNvSpPr>
          <p:nvPr/>
        </p:nvSpPr>
        <p:spPr bwMode="auto">
          <a:xfrm>
            <a:off x="904875" y="1533525"/>
            <a:ext cx="1295400" cy="1143000"/>
          </a:xfrm>
          <a:prstGeom prst="ellipse">
            <a:avLst/>
          </a:prstGeom>
          <a:solidFill>
            <a:schemeClr val="tx2">
              <a:lumMod val="60000"/>
              <a:lumOff val="40000"/>
            </a:schemeClr>
          </a:solidFill>
          <a:ln w="9525">
            <a:solidFill>
              <a:schemeClr val="tx1"/>
            </a:solidFill>
            <a:round/>
            <a:headEnd/>
            <a:tailEnd/>
          </a:ln>
          <a:effectLst/>
        </p:spPr>
        <p:txBody>
          <a:bodyPr wrap="none" anchor="ctr"/>
          <a:lstStyle/>
          <a:p>
            <a:pPr algn="ctr"/>
            <a:r>
              <a:rPr lang="en-US" sz="1200" dirty="0">
                <a:solidFill>
                  <a:schemeClr val="bg1"/>
                </a:solidFill>
                <a:latin typeface="+mn-lt"/>
              </a:rPr>
              <a:t>Assessment</a:t>
            </a:r>
          </a:p>
          <a:p>
            <a:pPr algn="ctr"/>
            <a:r>
              <a:rPr lang="en-US" sz="1200" dirty="0">
                <a:solidFill>
                  <a:schemeClr val="bg1"/>
                </a:solidFill>
                <a:latin typeface="+mn-lt"/>
              </a:rPr>
              <a:t>&amp;</a:t>
            </a:r>
          </a:p>
          <a:p>
            <a:pPr algn="ctr"/>
            <a:r>
              <a:rPr lang="en-US" sz="1200" dirty="0">
                <a:solidFill>
                  <a:schemeClr val="bg1"/>
                </a:solidFill>
                <a:latin typeface="+mn-lt"/>
              </a:rPr>
              <a:t>Feedback</a:t>
            </a:r>
          </a:p>
        </p:txBody>
      </p:sp>
      <p:sp>
        <p:nvSpPr>
          <p:cNvPr id="106500" name="Oval 4"/>
          <p:cNvSpPr>
            <a:spLocks noChangeArrowheads="1"/>
          </p:cNvSpPr>
          <p:nvPr/>
        </p:nvSpPr>
        <p:spPr bwMode="auto">
          <a:xfrm>
            <a:off x="3343275" y="1457325"/>
            <a:ext cx="1295400" cy="1143000"/>
          </a:xfrm>
          <a:prstGeom prst="ellipse">
            <a:avLst/>
          </a:prstGeom>
          <a:solidFill>
            <a:srgbClr val="009D57"/>
          </a:solidFill>
          <a:ln w="9525">
            <a:solidFill>
              <a:schemeClr val="tx1"/>
            </a:solidFill>
            <a:round/>
            <a:headEnd/>
            <a:tailEnd/>
          </a:ln>
          <a:effectLst/>
        </p:spPr>
        <p:txBody>
          <a:bodyPr wrap="none" anchor="ctr"/>
          <a:lstStyle/>
          <a:p>
            <a:pPr algn="ctr"/>
            <a:r>
              <a:rPr lang="en-US" sz="1200" dirty="0">
                <a:solidFill>
                  <a:schemeClr val="bg1"/>
                </a:solidFill>
                <a:latin typeface="+mn-lt"/>
              </a:rPr>
              <a:t>Personal Mastery</a:t>
            </a:r>
          </a:p>
          <a:p>
            <a:pPr algn="ctr"/>
            <a:r>
              <a:rPr lang="en-US" sz="1200" dirty="0">
                <a:solidFill>
                  <a:schemeClr val="bg1"/>
                </a:solidFill>
                <a:latin typeface="+mn-lt"/>
              </a:rPr>
              <a:t>&amp;</a:t>
            </a:r>
          </a:p>
          <a:p>
            <a:pPr algn="ctr"/>
            <a:r>
              <a:rPr lang="en-US" sz="1200" dirty="0">
                <a:solidFill>
                  <a:schemeClr val="bg1"/>
                </a:solidFill>
                <a:latin typeface="+mn-lt"/>
              </a:rPr>
              <a:t>Change Leader</a:t>
            </a:r>
          </a:p>
        </p:txBody>
      </p:sp>
      <p:sp>
        <p:nvSpPr>
          <p:cNvPr id="106501" name="Oval 5"/>
          <p:cNvSpPr>
            <a:spLocks noChangeArrowheads="1"/>
          </p:cNvSpPr>
          <p:nvPr/>
        </p:nvSpPr>
        <p:spPr bwMode="auto">
          <a:xfrm>
            <a:off x="7458075" y="2981325"/>
            <a:ext cx="1295400" cy="1143000"/>
          </a:xfrm>
          <a:prstGeom prst="ellipse">
            <a:avLst/>
          </a:prstGeom>
          <a:solidFill>
            <a:srgbClr val="009D57"/>
          </a:solidFill>
          <a:ln w="9525">
            <a:solidFill>
              <a:schemeClr val="tx1"/>
            </a:solidFill>
            <a:round/>
            <a:headEnd/>
            <a:tailEnd/>
          </a:ln>
          <a:effectLst/>
        </p:spPr>
        <p:txBody>
          <a:bodyPr wrap="none" anchor="ctr"/>
          <a:lstStyle/>
          <a:p>
            <a:pPr algn="ctr"/>
            <a:r>
              <a:rPr lang="en-US" sz="1200" dirty="0" smtClean="0">
                <a:solidFill>
                  <a:schemeClr val="bg1"/>
                </a:solidFill>
                <a:latin typeface="+mn-lt"/>
              </a:rPr>
              <a:t>Acting </a:t>
            </a:r>
          </a:p>
          <a:p>
            <a:pPr algn="ctr"/>
            <a:r>
              <a:rPr lang="en-US" sz="1200" dirty="0" smtClean="0">
                <a:solidFill>
                  <a:schemeClr val="bg1"/>
                </a:solidFill>
                <a:latin typeface="+mn-lt"/>
              </a:rPr>
              <a:t>Strategically</a:t>
            </a:r>
            <a:endParaRPr lang="en-US" sz="1200" dirty="0">
              <a:solidFill>
                <a:schemeClr val="bg1"/>
              </a:solidFill>
              <a:latin typeface="+mn-lt"/>
            </a:endParaRPr>
          </a:p>
        </p:txBody>
      </p:sp>
      <p:sp>
        <p:nvSpPr>
          <p:cNvPr id="106502" name="Oval 6"/>
          <p:cNvSpPr>
            <a:spLocks noChangeArrowheads="1"/>
          </p:cNvSpPr>
          <p:nvPr/>
        </p:nvSpPr>
        <p:spPr bwMode="auto">
          <a:xfrm>
            <a:off x="5781675" y="1381125"/>
            <a:ext cx="1295400" cy="1143000"/>
          </a:xfrm>
          <a:prstGeom prst="ellipse">
            <a:avLst/>
          </a:prstGeom>
          <a:solidFill>
            <a:schemeClr val="tx2">
              <a:lumMod val="60000"/>
              <a:lumOff val="40000"/>
            </a:schemeClr>
          </a:solidFill>
          <a:ln w="9525">
            <a:solidFill>
              <a:schemeClr val="tx1"/>
            </a:solidFill>
            <a:round/>
            <a:headEnd/>
            <a:tailEnd/>
          </a:ln>
          <a:effectLst/>
        </p:spPr>
        <p:txBody>
          <a:bodyPr wrap="none" anchor="ctr"/>
          <a:lstStyle/>
          <a:p>
            <a:pPr algn="ctr"/>
            <a:r>
              <a:rPr lang="en-US" sz="1200" dirty="0" smtClean="0">
                <a:solidFill>
                  <a:schemeClr val="bg1"/>
                </a:solidFill>
                <a:latin typeface="+mn-lt"/>
              </a:rPr>
              <a:t>Business</a:t>
            </a:r>
          </a:p>
          <a:p>
            <a:pPr algn="ctr"/>
            <a:r>
              <a:rPr lang="en-US" sz="1200" dirty="0" smtClean="0">
                <a:solidFill>
                  <a:schemeClr val="bg1"/>
                </a:solidFill>
                <a:latin typeface="+mn-lt"/>
              </a:rPr>
              <a:t>Acumen</a:t>
            </a:r>
            <a:endParaRPr lang="en-US" sz="1200" dirty="0">
              <a:solidFill>
                <a:schemeClr val="bg1"/>
              </a:solidFill>
              <a:latin typeface="+mn-lt"/>
            </a:endParaRPr>
          </a:p>
        </p:txBody>
      </p:sp>
      <p:sp>
        <p:nvSpPr>
          <p:cNvPr id="106503" name="Oval 7"/>
          <p:cNvSpPr>
            <a:spLocks noChangeArrowheads="1"/>
          </p:cNvSpPr>
          <p:nvPr/>
        </p:nvSpPr>
        <p:spPr bwMode="auto">
          <a:xfrm>
            <a:off x="5781675" y="4581525"/>
            <a:ext cx="1295400" cy="1143000"/>
          </a:xfrm>
          <a:prstGeom prst="ellipse">
            <a:avLst/>
          </a:prstGeom>
          <a:solidFill>
            <a:schemeClr val="tx2">
              <a:lumMod val="60000"/>
              <a:lumOff val="40000"/>
            </a:schemeClr>
          </a:solidFill>
          <a:ln w="9525">
            <a:solidFill>
              <a:schemeClr val="tx1"/>
            </a:solidFill>
            <a:round/>
            <a:headEnd/>
            <a:tailEnd/>
          </a:ln>
          <a:effectLst/>
        </p:spPr>
        <p:txBody>
          <a:bodyPr wrap="none" anchor="ctr"/>
          <a:lstStyle/>
          <a:p>
            <a:pPr algn="ctr"/>
            <a:r>
              <a:rPr lang="en-US" sz="1200" dirty="0">
                <a:solidFill>
                  <a:schemeClr val="bg1"/>
                </a:solidFill>
                <a:latin typeface="+mn-lt"/>
              </a:rPr>
              <a:t>Building</a:t>
            </a:r>
          </a:p>
          <a:p>
            <a:pPr algn="ctr"/>
            <a:r>
              <a:rPr lang="en-US" sz="1200" dirty="0">
                <a:solidFill>
                  <a:schemeClr val="bg1"/>
                </a:solidFill>
                <a:latin typeface="+mn-lt"/>
              </a:rPr>
              <a:t>Capability</a:t>
            </a:r>
          </a:p>
        </p:txBody>
      </p:sp>
      <p:sp>
        <p:nvSpPr>
          <p:cNvPr id="106504" name="Oval 8"/>
          <p:cNvSpPr>
            <a:spLocks noChangeArrowheads="1"/>
          </p:cNvSpPr>
          <p:nvPr/>
        </p:nvSpPr>
        <p:spPr bwMode="auto">
          <a:xfrm>
            <a:off x="3343275" y="4581525"/>
            <a:ext cx="1295400" cy="1143000"/>
          </a:xfrm>
          <a:prstGeom prst="ellipse">
            <a:avLst/>
          </a:prstGeom>
          <a:solidFill>
            <a:srgbClr val="009D57"/>
          </a:solidFill>
          <a:ln w="9525">
            <a:solidFill>
              <a:schemeClr val="tx1"/>
            </a:solidFill>
            <a:round/>
            <a:headEnd/>
            <a:tailEnd/>
          </a:ln>
          <a:effectLst/>
        </p:spPr>
        <p:txBody>
          <a:bodyPr wrap="none" anchor="ctr"/>
          <a:lstStyle/>
          <a:p>
            <a:pPr algn="ctr"/>
            <a:r>
              <a:rPr lang="en-US" sz="1200" dirty="0">
                <a:solidFill>
                  <a:schemeClr val="bg1"/>
                </a:solidFill>
                <a:latin typeface="+mn-lt"/>
              </a:rPr>
              <a:t>Leadership</a:t>
            </a:r>
          </a:p>
          <a:p>
            <a:pPr algn="ctr"/>
            <a:r>
              <a:rPr lang="en-US" sz="1200" dirty="0">
                <a:solidFill>
                  <a:schemeClr val="bg1"/>
                </a:solidFill>
                <a:latin typeface="+mn-lt"/>
              </a:rPr>
              <a:t>Next</a:t>
            </a:r>
          </a:p>
        </p:txBody>
      </p:sp>
      <p:sp>
        <p:nvSpPr>
          <p:cNvPr id="106505" name="Oval 9"/>
          <p:cNvSpPr>
            <a:spLocks noChangeArrowheads="1"/>
          </p:cNvSpPr>
          <p:nvPr/>
        </p:nvSpPr>
        <p:spPr bwMode="auto">
          <a:xfrm>
            <a:off x="904875" y="4581525"/>
            <a:ext cx="1295400" cy="1143000"/>
          </a:xfrm>
          <a:prstGeom prst="ellipse">
            <a:avLst/>
          </a:prstGeom>
          <a:solidFill>
            <a:schemeClr val="tx2">
              <a:lumMod val="60000"/>
              <a:lumOff val="40000"/>
            </a:schemeClr>
          </a:solidFill>
          <a:ln w="9525">
            <a:solidFill>
              <a:schemeClr val="tx1"/>
            </a:solidFill>
            <a:round/>
            <a:headEnd/>
            <a:tailEnd/>
          </a:ln>
          <a:effectLst/>
        </p:spPr>
        <p:txBody>
          <a:bodyPr wrap="none" anchor="ctr"/>
          <a:lstStyle/>
          <a:p>
            <a:pPr algn="ctr"/>
            <a:r>
              <a:rPr lang="en-US" sz="1200" dirty="0">
                <a:solidFill>
                  <a:schemeClr val="bg1"/>
                </a:solidFill>
                <a:latin typeface="+mn-lt"/>
              </a:rPr>
              <a:t>Community</a:t>
            </a:r>
          </a:p>
          <a:p>
            <a:pPr algn="ctr"/>
            <a:r>
              <a:rPr lang="en-US" sz="1200" dirty="0">
                <a:solidFill>
                  <a:schemeClr val="bg1"/>
                </a:solidFill>
                <a:latin typeface="+mn-lt"/>
              </a:rPr>
              <a:t>Of</a:t>
            </a:r>
          </a:p>
          <a:p>
            <a:pPr algn="ctr"/>
            <a:r>
              <a:rPr lang="en-US" sz="1200" dirty="0">
                <a:solidFill>
                  <a:schemeClr val="bg1"/>
                </a:solidFill>
                <a:latin typeface="+mn-lt"/>
              </a:rPr>
              <a:t>Practice</a:t>
            </a:r>
          </a:p>
        </p:txBody>
      </p:sp>
      <p:sp>
        <p:nvSpPr>
          <p:cNvPr id="106506" name="Oval 10"/>
          <p:cNvSpPr>
            <a:spLocks noChangeArrowheads="1"/>
          </p:cNvSpPr>
          <p:nvPr/>
        </p:nvSpPr>
        <p:spPr bwMode="auto">
          <a:xfrm>
            <a:off x="1285875" y="2905125"/>
            <a:ext cx="5867400" cy="1371600"/>
          </a:xfrm>
          <a:prstGeom prst="ellipse">
            <a:avLst/>
          </a:prstGeom>
          <a:solidFill>
            <a:schemeClr val="accent2">
              <a:lumMod val="60000"/>
              <a:lumOff val="40000"/>
            </a:schemeClr>
          </a:solidFill>
          <a:ln w="9525">
            <a:solidFill>
              <a:schemeClr val="tx1"/>
            </a:solidFill>
            <a:round/>
            <a:headEnd/>
            <a:tailEnd/>
          </a:ln>
          <a:effectLst/>
        </p:spPr>
        <p:txBody>
          <a:bodyPr wrap="none" anchor="ctr"/>
          <a:lstStyle/>
          <a:p>
            <a:pPr algn="ctr">
              <a:lnSpc>
                <a:spcPct val="80000"/>
              </a:lnSpc>
            </a:pPr>
            <a:r>
              <a:rPr lang="en-US" sz="1400" b="1" dirty="0" smtClean="0">
                <a:latin typeface="+mn-lt"/>
              </a:rPr>
              <a:t>Action </a:t>
            </a:r>
            <a:r>
              <a:rPr lang="en-US" sz="1400" b="1" dirty="0">
                <a:latin typeface="+mn-lt"/>
              </a:rPr>
              <a:t>Learning Projects</a:t>
            </a:r>
          </a:p>
          <a:p>
            <a:pPr algn="ctr">
              <a:lnSpc>
                <a:spcPct val="80000"/>
              </a:lnSpc>
            </a:pPr>
            <a:endParaRPr lang="en-US" sz="1400" b="1" dirty="0">
              <a:latin typeface="+mn-lt"/>
            </a:endParaRPr>
          </a:p>
          <a:p>
            <a:pPr algn="ctr">
              <a:lnSpc>
                <a:spcPct val="80000"/>
              </a:lnSpc>
            </a:pPr>
            <a:r>
              <a:rPr lang="en-US" sz="1400" b="1" dirty="0">
                <a:latin typeface="+mn-lt"/>
              </a:rPr>
              <a:t>Local Application</a:t>
            </a:r>
          </a:p>
          <a:p>
            <a:pPr algn="ctr">
              <a:lnSpc>
                <a:spcPct val="80000"/>
              </a:lnSpc>
            </a:pPr>
            <a:endParaRPr lang="en-US" sz="1400" b="1" dirty="0">
              <a:latin typeface="+mn-lt"/>
            </a:endParaRPr>
          </a:p>
          <a:p>
            <a:pPr algn="ctr">
              <a:lnSpc>
                <a:spcPct val="80000"/>
              </a:lnSpc>
            </a:pPr>
            <a:r>
              <a:rPr lang="en-US" sz="1400" b="1" dirty="0">
                <a:latin typeface="+mn-lt"/>
              </a:rPr>
              <a:t>Follow-Through Management</a:t>
            </a:r>
          </a:p>
        </p:txBody>
      </p:sp>
      <p:sp>
        <p:nvSpPr>
          <p:cNvPr id="106507" name="Line 11"/>
          <p:cNvSpPr>
            <a:spLocks noChangeShapeType="1"/>
          </p:cNvSpPr>
          <p:nvPr/>
        </p:nvSpPr>
        <p:spPr bwMode="auto">
          <a:xfrm>
            <a:off x="2276475" y="2066925"/>
            <a:ext cx="990600" cy="0"/>
          </a:xfrm>
          <a:prstGeom prst="line">
            <a:avLst/>
          </a:prstGeom>
          <a:noFill/>
          <a:ln w="28575">
            <a:solidFill>
              <a:schemeClr val="tx1"/>
            </a:solidFill>
            <a:round/>
            <a:headEnd/>
            <a:tailEnd type="triangle" w="med" len="med"/>
          </a:ln>
          <a:effectLst/>
        </p:spPr>
        <p:txBody>
          <a:bodyPr/>
          <a:lstStyle/>
          <a:p>
            <a:endParaRPr lang="en-US" dirty="0"/>
          </a:p>
        </p:txBody>
      </p:sp>
      <p:sp>
        <p:nvSpPr>
          <p:cNvPr id="106508" name="Line 12"/>
          <p:cNvSpPr>
            <a:spLocks noChangeShapeType="1"/>
          </p:cNvSpPr>
          <p:nvPr/>
        </p:nvSpPr>
        <p:spPr bwMode="auto">
          <a:xfrm>
            <a:off x="4714875" y="2066925"/>
            <a:ext cx="990600" cy="0"/>
          </a:xfrm>
          <a:prstGeom prst="line">
            <a:avLst/>
          </a:prstGeom>
          <a:noFill/>
          <a:ln w="28575">
            <a:solidFill>
              <a:schemeClr val="tx1"/>
            </a:solidFill>
            <a:round/>
            <a:headEnd/>
            <a:tailEnd type="triangle" w="med" len="med"/>
          </a:ln>
          <a:effectLst/>
        </p:spPr>
        <p:txBody>
          <a:bodyPr/>
          <a:lstStyle/>
          <a:p>
            <a:endParaRPr lang="en-US" dirty="0"/>
          </a:p>
        </p:txBody>
      </p:sp>
      <p:sp>
        <p:nvSpPr>
          <p:cNvPr id="106509" name="Line 13"/>
          <p:cNvSpPr>
            <a:spLocks noChangeShapeType="1"/>
          </p:cNvSpPr>
          <p:nvPr/>
        </p:nvSpPr>
        <p:spPr bwMode="auto">
          <a:xfrm flipH="1">
            <a:off x="2276475" y="5191125"/>
            <a:ext cx="990600" cy="0"/>
          </a:xfrm>
          <a:prstGeom prst="line">
            <a:avLst/>
          </a:prstGeom>
          <a:noFill/>
          <a:ln w="28575">
            <a:solidFill>
              <a:schemeClr val="tx1"/>
            </a:solidFill>
            <a:round/>
            <a:headEnd/>
            <a:tailEnd type="triangle" w="med" len="med"/>
          </a:ln>
          <a:effectLst/>
        </p:spPr>
        <p:txBody>
          <a:bodyPr/>
          <a:lstStyle/>
          <a:p>
            <a:endParaRPr lang="en-US" dirty="0"/>
          </a:p>
        </p:txBody>
      </p:sp>
      <p:sp>
        <p:nvSpPr>
          <p:cNvPr id="106510" name="Line 14"/>
          <p:cNvSpPr>
            <a:spLocks noChangeShapeType="1"/>
          </p:cNvSpPr>
          <p:nvPr/>
        </p:nvSpPr>
        <p:spPr bwMode="auto">
          <a:xfrm flipH="1">
            <a:off x="4714875" y="5191125"/>
            <a:ext cx="990600" cy="0"/>
          </a:xfrm>
          <a:prstGeom prst="line">
            <a:avLst/>
          </a:prstGeom>
          <a:noFill/>
          <a:ln w="28575">
            <a:solidFill>
              <a:schemeClr val="tx1"/>
            </a:solidFill>
            <a:round/>
            <a:headEnd/>
            <a:tailEnd type="triangle" w="med" len="med"/>
          </a:ln>
          <a:effectLst/>
        </p:spPr>
        <p:txBody>
          <a:bodyPr/>
          <a:lstStyle/>
          <a:p>
            <a:endParaRPr lang="en-US" dirty="0"/>
          </a:p>
        </p:txBody>
      </p:sp>
      <p:grpSp>
        <p:nvGrpSpPr>
          <p:cNvPr id="2" name="Group 15"/>
          <p:cNvGrpSpPr>
            <a:grpSpLocks/>
          </p:cNvGrpSpPr>
          <p:nvPr/>
        </p:nvGrpSpPr>
        <p:grpSpPr bwMode="auto">
          <a:xfrm>
            <a:off x="7153275" y="1990725"/>
            <a:ext cx="990600" cy="942975"/>
            <a:chOff x="4560" y="1440"/>
            <a:chExt cx="624" cy="594"/>
          </a:xfrm>
        </p:grpSpPr>
        <p:sp>
          <p:nvSpPr>
            <p:cNvPr id="106512" name="Arc 16"/>
            <p:cNvSpPr>
              <a:spLocks/>
            </p:cNvSpPr>
            <p:nvPr/>
          </p:nvSpPr>
          <p:spPr bwMode="auto">
            <a:xfrm>
              <a:off x="4560" y="1440"/>
              <a:ext cx="624" cy="57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p:spPr>
          <p:txBody>
            <a:bodyPr wrap="none" anchor="ctr"/>
            <a:lstStyle/>
            <a:p>
              <a:endParaRPr lang="en-US" dirty="0"/>
            </a:p>
          </p:txBody>
        </p:sp>
        <p:sp>
          <p:nvSpPr>
            <p:cNvPr id="106513" name="Line 17"/>
            <p:cNvSpPr>
              <a:spLocks noChangeShapeType="1"/>
            </p:cNvSpPr>
            <p:nvPr/>
          </p:nvSpPr>
          <p:spPr bwMode="auto">
            <a:xfrm>
              <a:off x="5178" y="1938"/>
              <a:ext cx="0" cy="96"/>
            </a:xfrm>
            <a:prstGeom prst="line">
              <a:avLst/>
            </a:prstGeom>
            <a:noFill/>
            <a:ln w="28575">
              <a:solidFill>
                <a:schemeClr val="tx1"/>
              </a:solidFill>
              <a:round/>
              <a:headEnd/>
              <a:tailEnd type="triangle" w="med" len="med"/>
            </a:ln>
            <a:effectLst/>
          </p:spPr>
          <p:txBody>
            <a:bodyPr/>
            <a:lstStyle/>
            <a:p>
              <a:endParaRPr lang="en-US" dirty="0"/>
            </a:p>
          </p:txBody>
        </p:sp>
      </p:grpSp>
      <p:grpSp>
        <p:nvGrpSpPr>
          <p:cNvPr id="3" name="Group 18"/>
          <p:cNvGrpSpPr>
            <a:grpSpLocks/>
          </p:cNvGrpSpPr>
          <p:nvPr/>
        </p:nvGrpSpPr>
        <p:grpSpPr bwMode="auto">
          <a:xfrm>
            <a:off x="7143750" y="4200525"/>
            <a:ext cx="1000125" cy="990600"/>
            <a:chOff x="4554" y="2832"/>
            <a:chExt cx="630" cy="624"/>
          </a:xfrm>
        </p:grpSpPr>
        <p:sp>
          <p:nvSpPr>
            <p:cNvPr id="106515" name="Arc 19"/>
            <p:cNvSpPr>
              <a:spLocks/>
            </p:cNvSpPr>
            <p:nvPr/>
          </p:nvSpPr>
          <p:spPr bwMode="auto">
            <a:xfrm rot="16200000" flipH="1" flipV="1">
              <a:off x="4584" y="2856"/>
              <a:ext cx="624" cy="57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p:spPr>
          <p:txBody>
            <a:bodyPr wrap="none" anchor="ctr"/>
            <a:lstStyle/>
            <a:p>
              <a:endParaRPr lang="en-US" dirty="0"/>
            </a:p>
          </p:txBody>
        </p:sp>
        <p:sp>
          <p:nvSpPr>
            <p:cNvPr id="106516" name="Line 20"/>
            <p:cNvSpPr>
              <a:spLocks noChangeShapeType="1"/>
            </p:cNvSpPr>
            <p:nvPr/>
          </p:nvSpPr>
          <p:spPr bwMode="auto">
            <a:xfrm rot="-5400000" flipH="1" flipV="1">
              <a:off x="4602" y="3408"/>
              <a:ext cx="0" cy="96"/>
            </a:xfrm>
            <a:prstGeom prst="line">
              <a:avLst/>
            </a:prstGeom>
            <a:noFill/>
            <a:ln w="28575">
              <a:solidFill>
                <a:schemeClr val="tx1"/>
              </a:solidFill>
              <a:round/>
              <a:headEnd/>
              <a:tailEnd type="triangle" w="med" len="med"/>
            </a:ln>
            <a:effectLst/>
          </p:spPr>
          <p:txBody>
            <a:bodyPr/>
            <a:lstStyle/>
            <a:p>
              <a:endParaRPr lang="en-US" dirty="0"/>
            </a:p>
          </p:txBody>
        </p:sp>
      </p:grpSp>
      <p:grpSp>
        <p:nvGrpSpPr>
          <p:cNvPr id="4" name="Group 21"/>
          <p:cNvGrpSpPr>
            <a:grpSpLocks/>
          </p:cNvGrpSpPr>
          <p:nvPr/>
        </p:nvGrpSpPr>
        <p:grpSpPr bwMode="auto">
          <a:xfrm>
            <a:off x="2352675" y="2447925"/>
            <a:ext cx="1066800" cy="1524000"/>
            <a:chOff x="1536" y="1728"/>
            <a:chExt cx="672" cy="960"/>
          </a:xfrm>
        </p:grpSpPr>
        <p:sp>
          <p:nvSpPr>
            <p:cNvPr id="106518" name="Line 22"/>
            <p:cNvSpPr>
              <a:spLocks noChangeShapeType="1"/>
            </p:cNvSpPr>
            <p:nvPr/>
          </p:nvSpPr>
          <p:spPr bwMode="auto">
            <a:xfrm flipH="1">
              <a:off x="1536" y="1728"/>
              <a:ext cx="672" cy="528"/>
            </a:xfrm>
            <a:prstGeom prst="line">
              <a:avLst/>
            </a:prstGeom>
            <a:noFill/>
            <a:ln w="28575">
              <a:solidFill>
                <a:schemeClr val="tx1"/>
              </a:solidFill>
              <a:round/>
              <a:headEnd/>
              <a:tailEnd/>
            </a:ln>
            <a:effectLst/>
          </p:spPr>
          <p:txBody>
            <a:bodyPr/>
            <a:lstStyle/>
            <a:p>
              <a:endParaRPr lang="en-US" dirty="0">
                <a:latin typeface="+mn-lt"/>
              </a:endParaRPr>
            </a:p>
          </p:txBody>
        </p:sp>
        <p:sp>
          <p:nvSpPr>
            <p:cNvPr id="106519" name="Line 23"/>
            <p:cNvSpPr>
              <a:spLocks noChangeShapeType="1"/>
            </p:cNvSpPr>
            <p:nvPr/>
          </p:nvSpPr>
          <p:spPr bwMode="auto">
            <a:xfrm>
              <a:off x="1536" y="2256"/>
              <a:ext cx="336" cy="432"/>
            </a:xfrm>
            <a:prstGeom prst="line">
              <a:avLst/>
            </a:prstGeom>
            <a:noFill/>
            <a:ln w="28575">
              <a:solidFill>
                <a:schemeClr val="tx1"/>
              </a:solidFill>
              <a:round/>
              <a:headEnd/>
              <a:tailEnd type="triangle" w="med" len="med"/>
            </a:ln>
            <a:effectLst/>
          </p:spPr>
          <p:txBody>
            <a:bodyPr/>
            <a:lstStyle/>
            <a:p>
              <a:endParaRPr lang="en-US" dirty="0">
                <a:latin typeface="+mn-lt"/>
              </a:endParaRPr>
            </a:p>
          </p:txBody>
        </p:sp>
        <p:sp>
          <p:nvSpPr>
            <p:cNvPr id="106520" name="Text Box 24"/>
            <p:cNvSpPr txBox="1">
              <a:spLocks noChangeArrowheads="1"/>
            </p:cNvSpPr>
            <p:nvPr/>
          </p:nvSpPr>
          <p:spPr bwMode="auto">
            <a:xfrm rot="19113492">
              <a:off x="1633" y="1823"/>
              <a:ext cx="403" cy="174"/>
            </a:xfrm>
            <a:prstGeom prst="rect">
              <a:avLst/>
            </a:prstGeom>
            <a:noFill/>
            <a:ln w="9525">
              <a:noFill/>
              <a:miter lim="800000"/>
              <a:headEnd/>
              <a:tailEnd/>
            </a:ln>
            <a:effectLst/>
          </p:spPr>
          <p:txBody>
            <a:bodyPr wrap="none">
              <a:spAutoFit/>
            </a:bodyPr>
            <a:lstStyle/>
            <a:p>
              <a:r>
                <a:rPr lang="en-US" sz="1200" b="1" dirty="0">
                  <a:latin typeface="+mn-lt"/>
                </a:rPr>
                <a:t>Launch</a:t>
              </a:r>
            </a:p>
          </p:txBody>
        </p:sp>
      </p:grpSp>
      <p:grpSp>
        <p:nvGrpSpPr>
          <p:cNvPr id="5" name="Group 25"/>
          <p:cNvGrpSpPr>
            <a:grpSpLocks/>
          </p:cNvGrpSpPr>
          <p:nvPr/>
        </p:nvGrpSpPr>
        <p:grpSpPr bwMode="auto">
          <a:xfrm rot="-1945264">
            <a:off x="5933653" y="2751267"/>
            <a:ext cx="1981200" cy="276226"/>
            <a:chOff x="3456" y="2207"/>
            <a:chExt cx="1248" cy="174"/>
          </a:xfrm>
        </p:grpSpPr>
        <p:sp>
          <p:nvSpPr>
            <p:cNvPr id="106522" name="Line 26"/>
            <p:cNvSpPr>
              <a:spLocks noChangeShapeType="1"/>
            </p:cNvSpPr>
            <p:nvPr/>
          </p:nvSpPr>
          <p:spPr bwMode="auto">
            <a:xfrm flipH="1">
              <a:off x="3456" y="2352"/>
              <a:ext cx="1248" cy="0"/>
            </a:xfrm>
            <a:prstGeom prst="line">
              <a:avLst/>
            </a:prstGeom>
            <a:noFill/>
            <a:ln w="28575">
              <a:solidFill>
                <a:schemeClr val="tx1"/>
              </a:solidFill>
              <a:round/>
              <a:headEnd/>
              <a:tailEnd type="triangle" w="med" len="med"/>
            </a:ln>
            <a:effectLst/>
          </p:spPr>
          <p:txBody>
            <a:bodyPr/>
            <a:lstStyle/>
            <a:p>
              <a:endParaRPr lang="en-US" dirty="0">
                <a:latin typeface="+mn-lt"/>
              </a:endParaRPr>
            </a:p>
          </p:txBody>
        </p:sp>
        <p:sp>
          <p:nvSpPr>
            <p:cNvPr id="106523" name="Text Box 27"/>
            <p:cNvSpPr txBox="1">
              <a:spLocks noChangeArrowheads="1"/>
            </p:cNvSpPr>
            <p:nvPr/>
          </p:nvSpPr>
          <p:spPr bwMode="auto">
            <a:xfrm>
              <a:off x="3964" y="2207"/>
              <a:ext cx="403" cy="174"/>
            </a:xfrm>
            <a:prstGeom prst="rect">
              <a:avLst/>
            </a:prstGeom>
            <a:noFill/>
            <a:ln w="9525">
              <a:noFill/>
              <a:miter lim="800000"/>
              <a:headEnd/>
              <a:tailEnd/>
            </a:ln>
            <a:effectLst/>
          </p:spPr>
          <p:txBody>
            <a:bodyPr wrap="none">
              <a:spAutoFit/>
            </a:bodyPr>
            <a:lstStyle/>
            <a:p>
              <a:r>
                <a:rPr lang="en-US" sz="1200" b="1" dirty="0">
                  <a:latin typeface="+mn-lt"/>
                </a:rPr>
                <a:t>Launch</a:t>
              </a:r>
            </a:p>
          </p:txBody>
        </p:sp>
      </p:grpSp>
      <p:sp>
        <p:nvSpPr>
          <p:cNvPr id="30" name="TextBox 29"/>
          <p:cNvSpPr txBox="1"/>
          <p:nvPr/>
        </p:nvSpPr>
        <p:spPr>
          <a:xfrm>
            <a:off x="609600" y="5943600"/>
            <a:ext cx="7778989" cy="369332"/>
          </a:xfrm>
          <a:prstGeom prst="rect">
            <a:avLst/>
          </a:prstGeom>
          <a:solidFill>
            <a:srgbClr val="FFFF99"/>
          </a:solidFill>
          <a:ln>
            <a:solidFill>
              <a:schemeClr val="tx1"/>
            </a:solidFill>
          </a:ln>
        </p:spPr>
        <p:txBody>
          <a:bodyPr wrap="none" rtlCol="0">
            <a:spAutoFit/>
          </a:bodyPr>
          <a:lstStyle/>
          <a:p>
            <a:r>
              <a:rPr lang="en-US" dirty="0" smtClean="0">
                <a:latin typeface="+mn-lt"/>
              </a:rPr>
              <a:t>Program extended over a 15-month period and included an action learning project</a:t>
            </a:r>
            <a:endParaRPr lang="en-US" dirty="0">
              <a:latin typeface="+mn-lt"/>
            </a:endParaRPr>
          </a:p>
        </p:txBody>
      </p:sp>
      <p:sp>
        <p:nvSpPr>
          <p:cNvPr id="31" name="Slide Number Placeholder 30"/>
          <p:cNvSpPr>
            <a:spLocks noGrp="1"/>
          </p:cNvSpPr>
          <p:nvPr>
            <p:ph type="sldNum" sz="quarter" idx="10"/>
          </p:nvPr>
        </p:nvSpPr>
        <p:spPr/>
        <p:txBody>
          <a:bodyPr/>
          <a:lstStyle/>
          <a:p>
            <a:pPr>
              <a:defRPr/>
            </a:pPr>
            <a:fld id="{01D945C9-0277-4107-B589-EC55ECD240BC}" type="slidenum">
              <a:rPr lang="en-US" smtClean="0"/>
              <a:pPr>
                <a:defRPr/>
              </a:pPr>
              <a:t>21</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6506"/>
                                        </p:tgtEl>
                                        <p:attrNameLst>
                                          <p:attrName>style.visibility</p:attrName>
                                        </p:attrNameLst>
                                      </p:cBhvr>
                                      <p:to>
                                        <p:strVal val="visible"/>
                                      </p:to>
                                    </p:set>
                                    <p:animEffect transition="in" filter="dissolve">
                                      <p:cBhvr>
                                        <p:cTn id="7" dur="500"/>
                                        <p:tgtEl>
                                          <p:spTgt spid="10650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0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Diagram 25"/>
          <p:cNvGraphicFramePr/>
          <p:nvPr/>
        </p:nvGraphicFramePr>
        <p:xfrm>
          <a:off x="4343400" y="2533650"/>
          <a:ext cx="5105400" cy="3403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itle 1"/>
          <p:cNvSpPr>
            <a:spLocks noGrp="1"/>
          </p:cNvSpPr>
          <p:nvPr>
            <p:ph type="title"/>
          </p:nvPr>
        </p:nvSpPr>
        <p:spPr>
          <a:xfrm>
            <a:off x="457200" y="304800"/>
            <a:ext cx="8229600" cy="990600"/>
          </a:xfrm>
        </p:spPr>
        <p:txBody>
          <a:bodyPr/>
          <a:lstStyle/>
          <a:p>
            <a:r>
              <a:rPr lang="en-US" sz="3200" dirty="0" smtClean="0"/>
              <a:t>Key criteria used to design new program</a:t>
            </a:r>
            <a:endParaRPr lang="en-US" sz="3200" dirty="0"/>
          </a:p>
        </p:txBody>
      </p:sp>
      <p:sp>
        <p:nvSpPr>
          <p:cNvPr id="3" name="Content Placeholder 2"/>
          <p:cNvSpPr>
            <a:spLocks noGrp="1"/>
          </p:cNvSpPr>
          <p:nvPr>
            <p:ph idx="1"/>
          </p:nvPr>
        </p:nvSpPr>
        <p:spPr>
          <a:xfrm>
            <a:off x="533400" y="1828800"/>
            <a:ext cx="4419600" cy="4038600"/>
          </a:xfrm>
        </p:spPr>
        <p:txBody>
          <a:bodyPr/>
          <a:lstStyle/>
          <a:p>
            <a:r>
              <a:rPr lang="en-US" sz="1600" dirty="0" smtClean="0"/>
              <a:t>Content addresses 3 competency gaps identified by senior leadership:</a:t>
            </a:r>
          </a:p>
          <a:p>
            <a:pPr lvl="1">
              <a:buFont typeface="+mj-lt"/>
              <a:buAutoNum type="arabicPeriod"/>
            </a:pPr>
            <a:r>
              <a:rPr lang="en-US" sz="1200" dirty="0" smtClean="0"/>
              <a:t>Get Results</a:t>
            </a:r>
          </a:p>
          <a:p>
            <a:pPr lvl="1">
              <a:buFont typeface="+mj-lt"/>
              <a:buAutoNum type="arabicPeriod"/>
            </a:pPr>
            <a:r>
              <a:rPr lang="en-US" sz="1200" dirty="0" smtClean="0"/>
              <a:t>Be Clear and Compelling</a:t>
            </a:r>
          </a:p>
          <a:p>
            <a:pPr lvl="1">
              <a:buFont typeface="+mj-lt"/>
              <a:buAutoNum type="arabicPeriod"/>
            </a:pPr>
            <a:r>
              <a:rPr lang="en-US" sz="1200" dirty="0" smtClean="0"/>
              <a:t>Build a Strong Team</a:t>
            </a:r>
          </a:p>
          <a:p>
            <a:r>
              <a:rPr lang="en-US" sz="1600" dirty="0" smtClean="0"/>
              <a:t>Design with intent to outsource facilitation and vendor management </a:t>
            </a:r>
          </a:p>
          <a:p>
            <a:r>
              <a:rPr lang="en-US" sz="1600" dirty="0" smtClean="0"/>
              <a:t>Participants will receive a comprehensive assessment</a:t>
            </a:r>
          </a:p>
          <a:p>
            <a:pPr marL="342900" lvl="2" indent="-342900"/>
            <a:r>
              <a:rPr lang="en-US" sz="1600" dirty="0" smtClean="0"/>
              <a:t>Leverage blended learning: Highly interactive/experiential format, not all lecture-based </a:t>
            </a:r>
          </a:p>
          <a:p>
            <a:r>
              <a:rPr lang="en-US" sz="1600" dirty="0" smtClean="0"/>
              <a:t>Executive involvement - At least one Executive Team member in every session</a:t>
            </a:r>
          </a:p>
          <a:p>
            <a:pPr marL="342900" lvl="2" indent="-342900"/>
            <a:r>
              <a:rPr lang="en-US" sz="1600" dirty="0" smtClean="0"/>
              <a:t>Include a simulation</a:t>
            </a:r>
          </a:p>
          <a:p>
            <a:pPr marL="342900" lvl="2" indent="-342900"/>
            <a:endParaRPr lang="en-US" sz="1200" dirty="0" smtClean="0"/>
          </a:p>
          <a:p>
            <a:endParaRPr lang="en-US" sz="1600" dirty="0" smtClean="0"/>
          </a:p>
          <a:p>
            <a:endParaRPr lang="en-US" sz="1600" dirty="0" smtClean="0"/>
          </a:p>
          <a:p>
            <a:endParaRPr lang="en-US" sz="1600" dirty="0" smtClean="0"/>
          </a:p>
        </p:txBody>
      </p:sp>
      <p:sp>
        <p:nvSpPr>
          <p:cNvPr id="7" name="TextBox 6"/>
          <p:cNvSpPr txBox="1"/>
          <p:nvPr/>
        </p:nvSpPr>
        <p:spPr>
          <a:xfrm>
            <a:off x="5334000" y="1524000"/>
            <a:ext cx="3374706" cy="923330"/>
          </a:xfrm>
          <a:prstGeom prst="rect">
            <a:avLst/>
          </a:prstGeom>
          <a:noFill/>
          <a:ln w="28575">
            <a:solidFill>
              <a:srgbClr val="CC3300"/>
            </a:solidFill>
          </a:ln>
        </p:spPr>
        <p:txBody>
          <a:bodyPr wrap="none" rtlCol="0">
            <a:spAutoFit/>
          </a:bodyPr>
          <a:lstStyle/>
          <a:p>
            <a:pPr algn="ctr"/>
            <a:r>
              <a:rPr lang="en-US" dirty="0" smtClean="0">
                <a:solidFill>
                  <a:srgbClr val="009D57"/>
                </a:solidFill>
                <a:latin typeface="+mn-lt"/>
              </a:rPr>
              <a:t>Program includes a new approach</a:t>
            </a:r>
          </a:p>
          <a:p>
            <a:pPr algn="ctr"/>
            <a:r>
              <a:rPr lang="en-US" dirty="0" smtClean="0">
                <a:solidFill>
                  <a:srgbClr val="009D57"/>
                </a:solidFill>
                <a:latin typeface="+mn-lt"/>
              </a:rPr>
              <a:t>expanding beyond traditional</a:t>
            </a:r>
          </a:p>
          <a:p>
            <a:pPr algn="ctr"/>
            <a:r>
              <a:rPr lang="en-US" dirty="0" smtClean="0">
                <a:solidFill>
                  <a:srgbClr val="009D57"/>
                </a:solidFill>
                <a:latin typeface="+mn-lt"/>
              </a:rPr>
              <a:t>lecture-based learning</a:t>
            </a:r>
            <a:endParaRPr lang="en-US" dirty="0">
              <a:solidFill>
                <a:srgbClr val="009D57"/>
              </a:solidFill>
              <a:latin typeface="+mn-lt"/>
            </a:endParaRPr>
          </a:p>
        </p:txBody>
      </p:sp>
      <p:sp>
        <p:nvSpPr>
          <p:cNvPr id="8" name="Slide Number Placeholder 7"/>
          <p:cNvSpPr>
            <a:spLocks noGrp="1"/>
          </p:cNvSpPr>
          <p:nvPr>
            <p:ph type="sldNum" sz="quarter" idx="10"/>
          </p:nvPr>
        </p:nvSpPr>
        <p:spPr/>
        <p:txBody>
          <a:bodyPr/>
          <a:lstStyle/>
          <a:p>
            <a:pPr>
              <a:defRPr/>
            </a:pPr>
            <a:fld id="{01D945C9-0277-4107-B589-EC55ECD240BC}" type="slidenum">
              <a:rPr lang="en-US" smtClean="0"/>
              <a:pPr>
                <a:defRPr/>
              </a:pPr>
              <a:t>22</a:t>
            </a:fld>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381000" y="762000"/>
            <a:ext cx="8458200" cy="5105400"/>
          </a:xfrm>
          <a:solidFill>
            <a:schemeClr val="bg1"/>
          </a:solidFill>
        </p:spPr>
        <p:txBody>
          <a:bodyPr/>
          <a:lstStyle/>
          <a:p>
            <a:pPr>
              <a:spcBef>
                <a:spcPts val="100"/>
              </a:spcBef>
              <a:buNone/>
            </a:pPr>
            <a:r>
              <a:rPr lang="en-US" sz="1200" b="1" dirty="0" smtClean="0">
                <a:solidFill>
                  <a:srgbClr val="0070C0"/>
                </a:solidFill>
              </a:rPr>
              <a:t>Objective: </a:t>
            </a:r>
          </a:p>
          <a:p>
            <a:pPr>
              <a:spcBef>
                <a:spcPts val="100"/>
              </a:spcBef>
            </a:pPr>
            <a:r>
              <a:rPr lang="en-US" sz="1100" dirty="0" smtClean="0"/>
              <a:t>To prepare leaders and build bench strength needed for Children’s future.</a:t>
            </a:r>
          </a:p>
          <a:p>
            <a:pPr>
              <a:spcBef>
                <a:spcPts val="100"/>
              </a:spcBef>
            </a:pPr>
            <a:r>
              <a:rPr lang="en-US" sz="1100" dirty="0" smtClean="0"/>
              <a:t>To promote action on succession plans by developing the right people at the right time.</a:t>
            </a:r>
          </a:p>
          <a:p>
            <a:pPr>
              <a:spcBef>
                <a:spcPts val="100"/>
              </a:spcBef>
            </a:pPr>
            <a:r>
              <a:rPr lang="en-US" sz="1100" dirty="0" smtClean="0"/>
              <a:t>To engage and retain our best people. </a:t>
            </a:r>
          </a:p>
          <a:p>
            <a:pPr>
              <a:spcBef>
                <a:spcPts val="100"/>
              </a:spcBef>
              <a:buNone/>
            </a:pPr>
            <a:endParaRPr lang="en-US" sz="800" b="1" dirty="0" smtClean="0">
              <a:solidFill>
                <a:srgbClr val="0070C0"/>
              </a:solidFill>
            </a:endParaRPr>
          </a:p>
          <a:p>
            <a:pPr>
              <a:spcBef>
                <a:spcPts val="100"/>
              </a:spcBef>
              <a:buNone/>
            </a:pPr>
            <a:r>
              <a:rPr lang="en-US" sz="1200" b="1" dirty="0" smtClean="0">
                <a:solidFill>
                  <a:srgbClr val="0070C0"/>
                </a:solidFill>
              </a:rPr>
              <a:t>Program Details:</a:t>
            </a:r>
          </a:p>
          <a:p>
            <a:pPr>
              <a:spcBef>
                <a:spcPts val="100"/>
              </a:spcBef>
            </a:pPr>
            <a:r>
              <a:rPr lang="en-US" sz="1100" dirty="0" smtClean="0"/>
              <a:t>Class size: Maximum 20 </a:t>
            </a:r>
          </a:p>
          <a:p>
            <a:pPr>
              <a:spcBef>
                <a:spcPts val="100"/>
              </a:spcBef>
            </a:pPr>
            <a:r>
              <a:rPr lang="en-US" sz="1100" dirty="0" smtClean="0"/>
              <a:t>Participant Representation: Leaders at all levels will be blended. Representation from VPs, SLAs, Directors and physician leaders.</a:t>
            </a:r>
          </a:p>
          <a:p>
            <a:pPr>
              <a:spcBef>
                <a:spcPts val="100"/>
              </a:spcBef>
            </a:pPr>
            <a:r>
              <a:rPr lang="en-US" sz="1100" dirty="0" smtClean="0"/>
              <a:t>Frequency: One cohort annually</a:t>
            </a:r>
          </a:p>
          <a:p>
            <a:pPr>
              <a:spcBef>
                <a:spcPts val="100"/>
              </a:spcBef>
            </a:pPr>
            <a:r>
              <a:rPr lang="en-US" sz="1100" dirty="0" smtClean="0"/>
              <a:t>Duration: 8 months</a:t>
            </a:r>
          </a:p>
          <a:p>
            <a:pPr>
              <a:spcBef>
                <a:spcPts val="100"/>
              </a:spcBef>
              <a:buNone/>
            </a:pPr>
            <a:endParaRPr lang="en-US" sz="800" b="1" dirty="0" smtClean="0">
              <a:solidFill>
                <a:srgbClr val="0070C0"/>
              </a:solidFill>
            </a:endParaRPr>
          </a:p>
          <a:p>
            <a:pPr>
              <a:spcBef>
                <a:spcPts val="100"/>
              </a:spcBef>
              <a:buNone/>
            </a:pPr>
            <a:r>
              <a:rPr lang="en-US" sz="1200" b="1" dirty="0" smtClean="0">
                <a:solidFill>
                  <a:srgbClr val="0070C0"/>
                </a:solidFill>
              </a:rPr>
              <a:t>At the end of the Program, participants will:</a:t>
            </a:r>
          </a:p>
          <a:p>
            <a:pPr>
              <a:spcBef>
                <a:spcPts val="100"/>
              </a:spcBef>
            </a:pPr>
            <a:r>
              <a:rPr lang="en-US" sz="1100" dirty="0" smtClean="0">
                <a:solidFill>
                  <a:schemeClr val="tx1"/>
                </a:solidFill>
              </a:rPr>
              <a:t>Understand the external environment, how to pull relevant megatrends into the business and know how to ask the right questions amidst uncertainty to get results.</a:t>
            </a:r>
          </a:p>
          <a:p>
            <a:pPr>
              <a:spcBef>
                <a:spcPts val="100"/>
              </a:spcBef>
            </a:pPr>
            <a:r>
              <a:rPr lang="en-US" sz="1100" dirty="0" smtClean="0">
                <a:solidFill>
                  <a:schemeClr val="tx1"/>
                </a:solidFill>
              </a:rPr>
              <a:t>Be able to present scenarios focused on getting to the best result and using influence to drive their business strategy.</a:t>
            </a:r>
          </a:p>
          <a:p>
            <a:pPr>
              <a:spcBef>
                <a:spcPts val="100"/>
              </a:spcBef>
            </a:pPr>
            <a:r>
              <a:rPr lang="en-US" sz="1100" dirty="0" smtClean="0">
                <a:solidFill>
                  <a:schemeClr val="tx1"/>
                </a:solidFill>
              </a:rPr>
              <a:t>Be able to effectively tell the story, manage the message and make a point in an effort to drive results and decisions.</a:t>
            </a:r>
          </a:p>
          <a:p>
            <a:pPr>
              <a:spcBef>
                <a:spcPts val="100"/>
              </a:spcBef>
            </a:pPr>
            <a:r>
              <a:rPr lang="en-US" sz="1100" dirty="0" smtClean="0">
                <a:solidFill>
                  <a:schemeClr val="tx1"/>
                </a:solidFill>
              </a:rPr>
              <a:t>Be focused on “what is next” for their areas and have plans in place for continual improvement. </a:t>
            </a:r>
          </a:p>
          <a:p>
            <a:pPr>
              <a:spcBef>
                <a:spcPts val="100"/>
              </a:spcBef>
            </a:pPr>
            <a:r>
              <a:rPr lang="en-US" sz="1100" dirty="0" smtClean="0">
                <a:solidFill>
                  <a:schemeClr val="tx1"/>
                </a:solidFill>
              </a:rPr>
              <a:t>Be able to identify ways to delegate, set expectation for high performance and demonstrate increased leadership impact.</a:t>
            </a:r>
          </a:p>
          <a:p>
            <a:pPr>
              <a:spcBef>
                <a:spcPts val="100"/>
              </a:spcBef>
            </a:pPr>
            <a:r>
              <a:rPr lang="en-US" sz="1100" dirty="0" smtClean="0">
                <a:solidFill>
                  <a:schemeClr val="tx1"/>
                </a:solidFill>
              </a:rPr>
              <a:t>Demonstrate improved metrics in their areas (to be tracked every 6 months two years following graduation).</a:t>
            </a:r>
          </a:p>
          <a:p>
            <a:pPr>
              <a:spcBef>
                <a:spcPts val="100"/>
              </a:spcBef>
            </a:pPr>
            <a:r>
              <a:rPr lang="en-US" sz="1100" dirty="0" smtClean="0">
                <a:solidFill>
                  <a:schemeClr val="tx1"/>
                </a:solidFill>
              </a:rPr>
              <a:t>Take on stretch assignments 6-12 months after graduation linked to individual goals; act as a mentor to next wave of participants.</a:t>
            </a:r>
          </a:p>
          <a:p>
            <a:pPr algn="just">
              <a:spcBef>
                <a:spcPts val="100"/>
              </a:spcBef>
            </a:pPr>
            <a:endParaRPr lang="en-US" sz="800" dirty="0" smtClean="0"/>
          </a:p>
          <a:p>
            <a:pPr>
              <a:spcBef>
                <a:spcPts val="100"/>
              </a:spcBef>
              <a:buNone/>
            </a:pPr>
            <a:r>
              <a:rPr lang="en-US" sz="1200" b="1" dirty="0" smtClean="0">
                <a:solidFill>
                  <a:srgbClr val="0070C0"/>
                </a:solidFill>
              </a:rPr>
              <a:t>Participant Selection and Dates:</a:t>
            </a:r>
          </a:p>
          <a:p>
            <a:pPr>
              <a:spcBef>
                <a:spcPts val="100"/>
              </a:spcBef>
            </a:pPr>
            <a:r>
              <a:rPr lang="en-US" sz="1100" dirty="0" smtClean="0"/>
              <a:t>Feb 1-12: Participants identified through Talent Sessions</a:t>
            </a:r>
          </a:p>
          <a:p>
            <a:pPr>
              <a:spcBef>
                <a:spcPts val="100"/>
              </a:spcBef>
            </a:pPr>
            <a:r>
              <a:rPr lang="en-US" sz="1100" dirty="0" smtClean="0"/>
              <a:t>Feb 12: Executive Team selects participants based on succession plans at VP Talent Session</a:t>
            </a:r>
          </a:p>
          <a:p>
            <a:pPr>
              <a:spcBef>
                <a:spcPts val="100"/>
              </a:spcBef>
            </a:pPr>
            <a:r>
              <a:rPr lang="en-US" sz="1100" dirty="0" smtClean="0"/>
              <a:t>Feb 18:  Communicate to participants and participant leaders</a:t>
            </a:r>
          </a:p>
          <a:p>
            <a:pPr>
              <a:spcBef>
                <a:spcPts val="100"/>
              </a:spcBef>
            </a:pPr>
            <a:r>
              <a:rPr lang="en-US" sz="1100" dirty="0" smtClean="0"/>
              <a:t>April 8: Assessment process with participants begins</a:t>
            </a:r>
          </a:p>
          <a:p>
            <a:pPr>
              <a:spcBef>
                <a:spcPts val="100"/>
              </a:spcBef>
            </a:pPr>
            <a:r>
              <a:rPr lang="en-US" sz="1100" dirty="0" smtClean="0"/>
              <a:t>May 8: First workshop launches</a:t>
            </a:r>
          </a:p>
          <a:p>
            <a:pPr>
              <a:spcBef>
                <a:spcPts val="100"/>
              </a:spcBef>
            </a:pPr>
            <a:endParaRPr lang="en-US" sz="1100" dirty="0" smtClean="0"/>
          </a:p>
          <a:p>
            <a:pPr>
              <a:spcBef>
                <a:spcPts val="100"/>
              </a:spcBef>
            </a:pPr>
            <a:endParaRPr lang="en-US" sz="1100" dirty="0" smtClean="0"/>
          </a:p>
          <a:p>
            <a:pPr>
              <a:spcBef>
                <a:spcPts val="100"/>
              </a:spcBef>
              <a:buNone/>
            </a:pPr>
            <a:endParaRPr lang="en-US" sz="1100" dirty="0" smtClean="0"/>
          </a:p>
          <a:p>
            <a:pPr>
              <a:spcBef>
                <a:spcPts val="100"/>
              </a:spcBef>
            </a:pPr>
            <a:endParaRPr lang="en-US" sz="1100" dirty="0"/>
          </a:p>
        </p:txBody>
      </p:sp>
      <p:sp>
        <p:nvSpPr>
          <p:cNvPr id="11" name="Rectangle 10"/>
          <p:cNvSpPr/>
          <p:nvPr/>
        </p:nvSpPr>
        <p:spPr>
          <a:xfrm>
            <a:off x="4267200" y="6324600"/>
            <a:ext cx="4876800" cy="533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457200" y="0"/>
            <a:ext cx="8229600" cy="990600"/>
          </a:xfrm>
        </p:spPr>
        <p:txBody>
          <a:bodyPr/>
          <a:lstStyle/>
          <a:p>
            <a:r>
              <a:rPr lang="en-US" sz="3200" dirty="0" smtClean="0"/>
              <a:t>Leader Next: Directors and Above (New)</a:t>
            </a:r>
            <a:endParaRPr lang="en-US" sz="3200" dirty="0"/>
          </a:p>
        </p:txBody>
      </p:sp>
      <p:sp>
        <p:nvSpPr>
          <p:cNvPr id="10" name="TextBox 9"/>
          <p:cNvSpPr txBox="1"/>
          <p:nvPr/>
        </p:nvSpPr>
        <p:spPr>
          <a:xfrm>
            <a:off x="457200" y="5638800"/>
            <a:ext cx="8122095" cy="338554"/>
          </a:xfrm>
          <a:prstGeom prst="rect">
            <a:avLst/>
          </a:prstGeom>
          <a:noFill/>
        </p:spPr>
        <p:txBody>
          <a:bodyPr wrap="none" rtlCol="0">
            <a:spAutoFit/>
          </a:bodyPr>
          <a:lstStyle/>
          <a:p>
            <a:r>
              <a:rPr lang="en-US" sz="1600" b="1" dirty="0" smtClean="0">
                <a:latin typeface="+mj-lt"/>
              </a:rPr>
              <a:t>         </a:t>
            </a:r>
            <a:r>
              <a:rPr lang="en-US" sz="1400" b="1" dirty="0" smtClean="0">
                <a:latin typeface="+mj-lt"/>
              </a:rPr>
              <a:t>April                            May                            July                        November               Jan – Dec 2014</a:t>
            </a:r>
            <a:endParaRPr lang="en-US" sz="1400" b="1" dirty="0">
              <a:latin typeface="+mj-lt"/>
            </a:endParaRPr>
          </a:p>
        </p:txBody>
      </p:sp>
      <p:sp>
        <p:nvSpPr>
          <p:cNvPr id="5" name="AutoShape 253"/>
          <p:cNvSpPr>
            <a:spLocks noChangeArrowheads="1"/>
          </p:cNvSpPr>
          <p:nvPr/>
        </p:nvSpPr>
        <p:spPr bwMode="auto">
          <a:xfrm>
            <a:off x="2057400" y="5924550"/>
            <a:ext cx="1676400" cy="609600"/>
          </a:xfrm>
          <a:prstGeom prst="homePlate">
            <a:avLst>
              <a:gd name="adj" fmla="val 42857"/>
            </a:avLst>
          </a:prstGeom>
          <a:solidFill>
            <a:srgbClr val="009D57"/>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200" dirty="0" smtClean="0">
                <a:solidFill>
                  <a:schemeClr val="bg1"/>
                </a:solidFill>
                <a:latin typeface="+mn-lt"/>
                <a:ea typeface="ＭＳ Ｐゴシック" charset="0"/>
              </a:rPr>
              <a:t>Session 1: </a:t>
            </a:r>
          </a:p>
          <a:p>
            <a:pPr algn="ctr">
              <a:defRPr/>
            </a:pPr>
            <a:r>
              <a:rPr lang="en-US" sz="1200" dirty="0" smtClean="0">
                <a:solidFill>
                  <a:schemeClr val="bg1"/>
                </a:solidFill>
                <a:latin typeface="+mn-lt"/>
                <a:ea typeface="ＭＳ Ｐゴシック" charset="0"/>
              </a:rPr>
              <a:t>Know the Business</a:t>
            </a:r>
          </a:p>
          <a:p>
            <a:pPr algn="ctr">
              <a:defRPr/>
            </a:pPr>
            <a:r>
              <a:rPr lang="en-US" sz="900" dirty="0" smtClean="0">
                <a:solidFill>
                  <a:schemeClr val="bg1"/>
                </a:solidFill>
                <a:latin typeface="+mn-lt"/>
                <a:ea typeface="ＭＳ Ｐゴシック" charset="0"/>
              </a:rPr>
              <a:t>2.5 days</a:t>
            </a:r>
            <a:endParaRPr lang="en-US" sz="900" dirty="0">
              <a:solidFill>
                <a:schemeClr val="bg1"/>
              </a:solidFill>
              <a:latin typeface="+mn-lt"/>
              <a:ea typeface="ＭＳ Ｐゴシック" charset="0"/>
            </a:endParaRPr>
          </a:p>
        </p:txBody>
      </p:sp>
      <p:sp>
        <p:nvSpPr>
          <p:cNvPr id="6" name="AutoShape 253"/>
          <p:cNvSpPr>
            <a:spLocks noChangeArrowheads="1"/>
          </p:cNvSpPr>
          <p:nvPr/>
        </p:nvSpPr>
        <p:spPr bwMode="auto">
          <a:xfrm>
            <a:off x="381000" y="5924550"/>
            <a:ext cx="1676400" cy="609600"/>
          </a:xfrm>
          <a:prstGeom prst="homePlate">
            <a:avLst>
              <a:gd name="adj" fmla="val 42857"/>
            </a:avLst>
          </a:prstGeom>
          <a:solidFill>
            <a:srgbClr val="0070C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200" dirty="0" smtClean="0">
                <a:solidFill>
                  <a:schemeClr val="bg1"/>
                </a:solidFill>
                <a:latin typeface="+mn-lt"/>
                <a:ea typeface="ＭＳ Ｐゴシック" charset="0"/>
              </a:rPr>
              <a:t>Assessment </a:t>
            </a:r>
          </a:p>
          <a:p>
            <a:pPr algn="ctr">
              <a:defRPr/>
            </a:pPr>
            <a:r>
              <a:rPr lang="en-US" sz="1200" dirty="0" smtClean="0">
                <a:solidFill>
                  <a:schemeClr val="bg1"/>
                </a:solidFill>
                <a:latin typeface="+mn-lt"/>
                <a:ea typeface="ＭＳ Ｐゴシック" charset="0"/>
              </a:rPr>
              <a:t>&amp; Feedback</a:t>
            </a:r>
          </a:p>
        </p:txBody>
      </p:sp>
      <p:sp>
        <p:nvSpPr>
          <p:cNvPr id="7" name="AutoShape 253"/>
          <p:cNvSpPr>
            <a:spLocks noChangeArrowheads="1"/>
          </p:cNvSpPr>
          <p:nvPr/>
        </p:nvSpPr>
        <p:spPr bwMode="auto">
          <a:xfrm>
            <a:off x="5410200" y="5934075"/>
            <a:ext cx="1676400" cy="609600"/>
          </a:xfrm>
          <a:prstGeom prst="homePlate">
            <a:avLst>
              <a:gd name="adj" fmla="val 42857"/>
            </a:avLst>
          </a:prstGeom>
          <a:solidFill>
            <a:srgbClr val="009D57"/>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200" dirty="0" smtClean="0">
                <a:solidFill>
                  <a:schemeClr val="bg1"/>
                </a:solidFill>
                <a:latin typeface="+mn-lt"/>
                <a:ea typeface="ＭＳ Ｐゴシック" charset="0"/>
              </a:rPr>
              <a:t>Session 3: </a:t>
            </a:r>
          </a:p>
          <a:p>
            <a:pPr algn="ctr">
              <a:defRPr/>
            </a:pPr>
            <a:r>
              <a:rPr lang="en-US" sz="1200" dirty="0" smtClean="0">
                <a:solidFill>
                  <a:schemeClr val="bg1"/>
                </a:solidFill>
                <a:latin typeface="+mn-lt"/>
                <a:ea typeface="ＭＳ Ｐゴシック" charset="0"/>
              </a:rPr>
              <a:t>Lead Your Team</a:t>
            </a:r>
          </a:p>
          <a:p>
            <a:pPr algn="ctr">
              <a:defRPr/>
            </a:pPr>
            <a:r>
              <a:rPr lang="en-US" sz="900" dirty="0" smtClean="0">
                <a:solidFill>
                  <a:schemeClr val="bg1"/>
                </a:solidFill>
                <a:latin typeface="+mn-lt"/>
                <a:ea typeface="ＭＳ Ｐゴシック" charset="0"/>
              </a:rPr>
              <a:t>2 days</a:t>
            </a:r>
          </a:p>
        </p:txBody>
      </p:sp>
      <p:sp>
        <p:nvSpPr>
          <p:cNvPr id="8" name="AutoShape 253"/>
          <p:cNvSpPr>
            <a:spLocks noChangeArrowheads="1"/>
          </p:cNvSpPr>
          <p:nvPr/>
        </p:nvSpPr>
        <p:spPr bwMode="auto">
          <a:xfrm>
            <a:off x="3733800" y="5924550"/>
            <a:ext cx="1676400" cy="609600"/>
          </a:xfrm>
          <a:prstGeom prst="homePlate">
            <a:avLst>
              <a:gd name="adj" fmla="val 42857"/>
            </a:avLst>
          </a:prstGeom>
          <a:solidFill>
            <a:srgbClr val="009D57"/>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200" dirty="0" smtClean="0">
                <a:solidFill>
                  <a:schemeClr val="bg1"/>
                </a:solidFill>
                <a:latin typeface="+mn-lt"/>
                <a:ea typeface="ＭＳ Ｐゴシック" charset="0"/>
              </a:rPr>
              <a:t>Session 2: </a:t>
            </a:r>
          </a:p>
          <a:p>
            <a:pPr algn="ctr">
              <a:defRPr/>
            </a:pPr>
            <a:r>
              <a:rPr lang="en-US" sz="1200" dirty="0" smtClean="0">
                <a:solidFill>
                  <a:schemeClr val="bg1"/>
                </a:solidFill>
                <a:latin typeface="+mn-lt"/>
                <a:ea typeface="ＭＳ Ｐゴシック" charset="0"/>
              </a:rPr>
              <a:t>Lead Your Business</a:t>
            </a:r>
          </a:p>
          <a:p>
            <a:pPr algn="ctr">
              <a:defRPr/>
            </a:pPr>
            <a:r>
              <a:rPr lang="en-US" sz="900" dirty="0" smtClean="0">
                <a:solidFill>
                  <a:schemeClr val="bg1"/>
                </a:solidFill>
                <a:latin typeface="+mn-lt"/>
                <a:ea typeface="ＭＳ Ｐゴシック" charset="0"/>
              </a:rPr>
              <a:t>3 days</a:t>
            </a:r>
          </a:p>
        </p:txBody>
      </p:sp>
      <p:sp>
        <p:nvSpPr>
          <p:cNvPr id="9" name="AutoShape 253"/>
          <p:cNvSpPr>
            <a:spLocks noChangeArrowheads="1"/>
          </p:cNvSpPr>
          <p:nvPr/>
        </p:nvSpPr>
        <p:spPr bwMode="auto">
          <a:xfrm>
            <a:off x="7086600" y="5934075"/>
            <a:ext cx="1676400" cy="609600"/>
          </a:xfrm>
          <a:prstGeom prst="homePlate">
            <a:avLst>
              <a:gd name="adj" fmla="val 42857"/>
            </a:avLst>
          </a:prstGeom>
          <a:solidFill>
            <a:srgbClr val="FFFF0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200" dirty="0" smtClean="0">
                <a:latin typeface="+mn-lt"/>
                <a:ea typeface="ＭＳ Ｐゴシック" charset="0"/>
              </a:rPr>
              <a:t>Sustainment</a:t>
            </a:r>
          </a:p>
        </p:txBody>
      </p:sp>
      <p:sp>
        <p:nvSpPr>
          <p:cNvPr id="14" name="Slide Number Placeholder 13"/>
          <p:cNvSpPr>
            <a:spLocks noGrp="1"/>
          </p:cNvSpPr>
          <p:nvPr>
            <p:ph type="sldNum" sz="quarter" idx="10"/>
          </p:nvPr>
        </p:nvSpPr>
        <p:spPr/>
        <p:txBody>
          <a:bodyPr/>
          <a:lstStyle/>
          <a:p>
            <a:pPr>
              <a:defRPr/>
            </a:pPr>
            <a:fld id="{01D945C9-0277-4107-B589-EC55ECD240BC}" type="slidenum">
              <a:rPr lang="en-US" smtClean="0"/>
              <a:pPr>
                <a:defRPr/>
              </a:pPr>
              <a:t>23</a:t>
            </a:fld>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ounded Rectangle 31"/>
          <p:cNvSpPr/>
          <p:nvPr/>
        </p:nvSpPr>
        <p:spPr>
          <a:xfrm>
            <a:off x="4162425" y="5248275"/>
            <a:ext cx="1676400" cy="279400"/>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smtClean="0"/>
              <a:t>Get Results</a:t>
            </a:r>
            <a:endParaRPr lang="en-US" sz="1100" dirty="0"/>
          </a:p>
        </p:txBody>
      </p:sp>
      <p:sp>
        <p:nvSpPr>
          <p:cNvPr id="2" name="Title 1"/>
          <p:cNvSpPr>
            <a:spLocks noGrp="1"/>
          </p:cNvSpPr>
          <p:nvPr>
            <p:ph type="title"/>
          </p:nvPr>
        </p:nvSpPr>
        <p:spPr>
          <a:xfrm>
            <a:off x="457200" y="304800"/>
            <a:ext cx="8229600" cy="990600"/>
          </a:xfrm>
        </p:spPr>
        <p:txBody>
          <a:bodyPr/>
          <a:lstStyle/>
          <a:p>
            <a:r>
              <a:rPr lang="en-US" sz="3200" dirty="0" smtClean="0"/>
              <a:t>Program At a Glance</a:t>
            </a:r>
            <a:endParaRPr lang="en-US" sz="3200" dirty="0"/>
          </a:p>
        </p:txBody>
      </p:sp>
      <p:sp>
        <p:nvSpPr>
          <p:cNvPr id="6" name="Rounded Rectangle 5"/>
          <p:cNvSpPr/>
          <p:nvPr/>
        </p:nvSpPr>
        <p:spPr>
          <a:xfrm>
            <a:off x="1200150" y="1981200"/>
            <a:ext cx="2438400" cy="297477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2713" indent="-112713">
              <a:buFont typeface="Arial" pitchFamily="34" charset="0"/>
              <a:buChar char="•"/>
            </a:pPr>
            <a:r>
              <a:rPr lang="en-US" sz="1600" dirty="0" smtClean="0">
                <a:solidFill>
                  <a:schemeClr val="bg1"/>
                </a:solidFill>
              </a:rPr>
              <a:t>Connect the Dots</a:t>
            </a:r>
          </a:p>
          <a:p>
            <a:pPr marL="112713" indent="-112713">
              <a:buFont typeface="Arial" pitchFamily="34" charset="0"/>
              <a:buChar char="•"/>
            </a:pPr>
            <a:r>
              <a:rPr lang="en-US" sz="1600" dirty="0" smtClean="0">
                <a:solidFill>
                  <a:schemeClr val="bg1"/>
                </a:solidFill>
              </a:rPr>
              <a:t>Ask the Right Questions</a:t>
            </a:r>
          </a:p>
          <a:p>
            <a:pPr marL="112713" indent="-112713">
              <a:buFont typeface="Arial" pitchFamily="34" charset="0"/>
              <a:buChar char="•"/>
            </a:pPr>
            <a:r>
              <a:rPr lang="en-US" sz="1600" dirty="0" smtClean="0">
                <a:solidFill>
                  <a:schemeClr val="bg1"/>
                </a:solidFill>
              </a:rPr>
              <a:t>Understand Issues</a:t>
            </a:r>
          </a:p>
          <a:p>
            <a:pPr marL="112713" indent="-112713">
              <a:buFont typeface="Arial" pitchFamily="34" charset="0"/>
              <a:buChar char="•"/>
            </a:pPr>
            <a:r>
              <a:rPr lang="en-US" sz="1600" dirty="0" smtClean="0">
                <a:solidFill>
                  <a:schemeClr val="bg1"/>
                </a:solidFill>
              </a:rPr>
              <a:t>Influencing Decisions</a:t>
            </a:r>
          </a:p>
          <a:p>
            <a:pPr marL="112713" indent="-112713">
              <a:buFont typeface="Arial" pitchFamily="34" charset="0"/>
              <a:buChar char="•"/>
            </a:pPr>
            <a:r>
              <a:rPr lang="en-US" sz="1600" dirty="0" smtClean="0">
                <a:solidFill>
                  <a:schemeClr val="bg1"/>
                </a:solidFill>
              </a:rPr>
              <a:t>Manage Uncertainty</a:t>
            </a:r>
          </a:p>
          <a:p>
            <a:pPr marL="112713" indent="-112713">
              <a:buFont typeface="Arial" pitchFamily="34" charset="0"/>
              <a:buChar char="•"/>
            </a:pPr>
            <a:r>
              <a:rPr lang="en-US" sz="1600" dirty="0" smtClean="0">
                <a:solidFill>
                  <a:schemeClr val="bg1"/>
                </a:solidFill>
              </a:rPr>
              <a:t>Sustainable Results</a:t>
            </a:r>
          </a:p>
        </p:txBody>
      </p:sp>
      <p:sp>
        <p:nvSpPr>
          <p:cNvPr id="7" name="Rounded Rectangle 6"/>
          <p:cNvSpPr/>
          <p:nvPr/>
        </p:nvSpPr>
        <p:spPr>
          <a:xfrm>
            <a:off x="3752850" y="1981200"/>
            <a:ext cx="2514600" cy="297477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2713" indent="-112713">
              <a:buFont typeface="Arial" pitchFamily="34" charset="0"/>
              <a:buChar char="•"/>
            </a:pPr>
            <a:r>
              <a:rPr lang="en-US" sz="1600" dirty="0" smtClean="0">
                <a:solidFill>
                  <a:schemeClr val="bg1"/>
                </a:solidFill>
              </a:rPr>
              <a:t>Transform the Business</a:t>
            </a:r>
          </a:p>
          <a:p>
            <a:pPr marL="112713" lvl="0" indent="-112713">
              <a:buFont typeface="Arial" pitchFamily="34" charset="0"/>
              <a:buChar char="•"/>
            </a:pPr>
            <a:r>
              <a:rPr lang="en-US" sz="1600" dirty="0" smtClean="0">
                <a:solidFill>
                  <a:schemeClr val="bg1"/>
                </a:solidFill>
              </a:rPr>
              <a:t>System Perspective </a:t>
            </a:r>
          </a:p>
          <a:p>
            <a:pPr marL="112713" indent="-112713">
              <a:buFont typeface="Arial" pitchFamily="34" charset="0"/>
              <a:buChar char="•"/>
            </a:pPr>
            <a:r>
              <a:rPr lang="en-US" sz="1600" dirty="0" smtClean="0">
                <a:solidFill>
                  <a:schemeClr val="bg1"/>
                </a:solidFill>
              </a:rPr>
              <a:t>Improve your Process</a:t>
            </a:r>
          </a:p>
          <a:p>
            <a:pPr marL="112713" indent="-112713">
              <a:buFont typeface="Arial" pitchFamily="34" charset="0"/>
              <a:buChar char="•"/>
            </a:pPr>
            <a:r>
              <a:rPr lang="en-US" sz="1600" dirty="0" smtClean="0">
                <a:solidFill>
                  <a:schemeClr val="bg1"/>
                </a:solidFill>
              </a:rPr>
              <a:t>Work Across Boundaries</a:t>
            </a:r>
          </a:p>
          <a:p>
            <a:pPr marL="112713" indent="-112713">
              <a:buFont typeface="Arial" pitchFamily="34" charset="0"/>
              <a:buChar char="•"/>
            </a:pPr>
            <a:r>
              <a:rPr lang="en-US" sz="1600" dirty="0" smtClean="0">
                <a:solidFill>
                  <a:schemeClr val="bg1"/>
                </a:solidFill>
              </a:rPr>
              <a:t>Manage Conflict </a:t>
            </a:r>
          </a:p>
          <a:p>
            <a:pPr marL="112713" indent="-112713">
              <a:buFont typeface="Arial" pitchFamily="34" charset="0"/>
              <a:buChar char="•"/>
            </a:pPr>
            <a:r>
              <a:rPr lang="en-US" sz="1600" dirty="0" smtClean="0">
                <a:solidFill>
                  <a:schemeClr val="bg1"/>
                </a:solidFill>
              </a:rPr>
              <a:t>Know your Audience</a:t>
            </a:r>
          </a:p>
          <a:p>
            <a:pPr marL="112713" indent="-112713">
              <a:buFont typeface="Arial" pitchFamily="34" charset="0"/>
              <a:buChar char="•"/>
            </a:pPr>
            <a:r>
              <a:rPr lang="en-US" sz="1600" dirty="0" smtClean="0">
                <a:solidFill>
                  <a:schemeClr val="bg1"/>
                </a:solidFill>
                <a:ea typeface="Calibri"/>
                <a:cs typeface="Times New Roman"/>
              </a:rPr>
              <a:t>Manage the Message</a:t>
            </a:r>
          </a:p>
          <a:p>
            <a:pPr marL="112713" lvl="0" indent="-112713">
              <a:buFont typeface="Arial" pitchFamily="34" charset="0"/>
              <a:buChar char="•"/>
            </a:pPr>
            <a:r>
              <a:rPr lang="en-US" sz="1600" dirty="0" smtClean="0">
                <a:solidFill>
                  <a:schemeClr val="bg1"/>
                </a:solidFill>
                <a:ea typeface="Calibri"/>
                <a:cs typeface="Times New Roman"/>
              </a:rPr>
              <a:t>Make Your Point</a:t>
            </a:r>
          </a:p>
        </p:txBody>
      </p:sp>
      <p:sp>
        <p:nvSpPr>
          <p:cNvPr id="8" name="Rounded Rectangle 7"/>
          <p:cNvSpPr/>
          <p:nvPr/>
        </p:nvSpPr>
        <p:spPr>
          <a:xfrm>
            <a:off x="6381750" y="1981200"/>
            <a:ext cx="2438400" cy="297477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2713" lvl="0" indent="-112713">
              <a:buFont typeface="Arial" pitchFamily="34" charset="0"/>
              <a:buChar char="•"/>
            </a:pPr>
            <a:r>
              <a:rPr lang="en-US" sz="1600" dirty="0" smtClean="0"/>
              <a:t>Hire and Keep the Best</a:t>
            </a:r>
          </a:p>
          <a:p>
            <a:pPr marL="112713" indent="-112713">
              <a:buFont typeface="Arial" pitchFamily="34" charset="0"/>
              <a:buChar char="•"/>
            </a:pPr>
            <a:r>
              <a:rPr lang="en-US" sz="1600" dirty="0" smtClean="0"/>
              <a:t>Delegate Authority</a:t>
            </a:r>
          </a:p>
          <a:p>
            <a:pPr marL="112713" indent="-112713">
              <a:buFont typeface="Arial" pitchFamily="34" charset="0"/>
              <a:buChar char="•"/>
            </a:pPr>
            <a:r>
              <a:rPr lang="en-US" sz="1600" dirty="0" smtClean="0"/>
              <a:t>Set the Stage for High Performance</a:t>
            </a:r>
          </a:p>
          <a:p>
            <a:pPr marL="112713" lvl="0" indent="-112713">
              <a:buFont typeface="Arial" pitchFamily="34" charset="0"/>
              <a:buChar char="•"/>
            </a:pPr>
            <a:r>
              <a:rPr lang="en-US" sz="1600" dirty="0" smtClean="0"/>
              <a:t>Increase your Leadership Impact</a:t>
            </a:r>
          </a:p>
          <a:p>
            <a:pPr marL="112713" indent="-112713">
              <a:buFont typeface="Arial" pitchFamily="34" charset="0"/>
              <a:buChar char="•"/>
            </a:pPr>
            <a:r>
              <a:rPr lang="en-US" sz="1600" dirty="0" smtClean="0"/>
              <a:t>Live the Values</a:t>
            </a:r>
          </a:p>
        </p:txBody>
      </p:sp>
      <p:sp>
        <p:nvSpPr>
          <p:cNvPr id="9" name="TextBox 8"/>
          <p:cNvSpPr txBox="1"/>
          <p:nvPr/>
        </p:nvSpPr>
        <p:spPr>
          <a:xfrm>
            <a:off x="1047750" y="1600200"/>
            <a:ext cx="7871283" cy="307777"/>
          </a:xfrm>
          <a:prstGeom prst="rect">
            <a:avLst/>
          </a:prstGeom>
          <a:noFill/>
        </p:spPr>
        <p:txBody>
          <a:bodyPr wrap="square" rtlCol="0">
            <a:spAutoFit/>
          </a:bodyPr>
          <a:lstStyle/>
          <a:p>
            <a:r>
              <a:rPr lang="en-US" sz="1400" b="1" dirty="0" smtClean="0">
                <a:latin typeface="+mj-lt"/>
              </a:rPr>
              <a:t> Workshop 1: Know the Business      Workshop 2: Lead your Business       Workshop 3: Lead Your Team</a:t>
            </a:r>
          </a:p>
        </p:txBody>
      </p:sp>
      <p:sp>
        <p:nvSpPr>
          <p:cNvPr id="36" name="Rounded Rectangle 35"/>
          <p:cNvSpPr/>
          <p:nvPr/>
        </p:nvSpPr>
        <p:spPr>
          <a:xfrm>
            <a:off x="4162425" y="5876925"/>
            <a:ext cx="1676400" cy="279400"/>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smtClean="0"/>
              <a:t>Be Clear and Compelling</a:t>
            </a:r>
            <a:endParaRPr lang="en-US" sz="1100" dirty="0"/>
          </a:p>
        </p:txBody>
      </p:sp>
      <p:sp>
        <p:nvSpPr>
          <p:cNvPr id="39" name="Rounded Rectangle 38"/>
          <p:cNvSpPr/>
          <p:nvPr/>
        </p:nvSpPr>
        <p:spPr>
          <a:xfrm>
            <a:off x="6800850" y="5257800"/>
            <a:ext cx="1676400" cy="279400"/>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smtClean="0"/>
              <a:t>Build a Strong Team</a:t>
            </a:r>
            <a:endParaRPr lang="en-US" sz="1100" dirty="0"/>
          </a:p>
        </p:txBody>
      </p:sp>
      <p:sp>
        <p:nvSpPr>
          <p:cNvPr id="18" name="Rounded Rectangle 17"/>
          <p:cNvSpPr/>
          <p:nvPr/>
        </p:nvSpPr>
        <p:spPr>
          <a:xfrm>
            <a:off x="1543050" y="5267325"/>
            <a:ext cx="1676400" cy="279400"/>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smtClean="0"/>
              <a:t>Get Results</a:t>
            </a:r>
            <a:endParaRPr lang="en-US" sz="1100" dirty="0"/>
          </a:p>
        </p:txBody>
      </p:sp>
      <p:sp>
        <p:nvSpPr>
          <p:cNvPr id="17" name="Rounded Rectangle 16"/>
          <p:cNvSpPr/>
          <p:nvPr/>
        </p:nvSpPr>
        <p:spPr>
          <a:xfrm>
            <a:off x="6800850" y="5572125"/>
            <a:ext cx="1676400" cy="279400"/>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smtClean="0"/>
              <a:t>Be a Leader</a:t>
            </a:r>
            <a:endParaRPr lang="en-US" sz="1100" dirty="0"/>
          </a:p>
        </p:txBody>
      </p:sp>
      <p:sp>
        <p:nvSpPr>
          <p:cNvPr id="19" name="Rounded Rectangle 18"/>
          <p:cNvSpPr/>
          <p:nvPr/>
        </p:nvSpPr>
        <p:spPr>
          <a:xfrm>
            <a:off x="4162425" y="5562600"/>
            <a:ext cx="1676400" cy="279400"/>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smtClean="0"/>
              <a:t>Grow Relationships</a:t>
            </a:r>
            <a:endParaRPr lang="en-US" sz="1100" dirty="0"/>
          </a:p>
        </p:txBody>
      </p:sp>
      <p:sp>
        <p:nvSpPr>
          <p:cNvPr id="22" name="Right Arrow Callout 21"/>
          <p:cNvSpPr/>
          <p:nvPr/>
        </p:nvSpPr>
        <p:spPr>
          <a:xfrm>
            <a:off x="228600" y="2019300"/>
            <a:ext cx="914400" cy="2971800"/>
          </a:xfrm>
          <a:prstGeom prst="rightArrowCallout">
            <a:avLst/>
          </a:prstGeom>
          <a:solidFill>
            <a:srgbClr val="009D5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3" name="TextBox 22"/>
          <p:cNvSpPr txBox="1"/>
          <p:nvPr/>
        </p:nvSpPr>
        <p:spPr>
          <a:xfrm rot="16200000">
            <a:off x="-934867" y="3323850"/>
            <a:ext cx="2848665" cy="338554"/>
          </a:xfrm>
          <a:prstGeom prst="rect">
            <a:avLst/>
          </a:prstGeom>
          <a:noFill/>
        </p:spPr>
        <p:txBody>
          <a:bodyPr wrap="none" rtlCol="0">
            <a:spAutoFit/>
          </a:bodyPr>
          <a:lstStyle/>
          <a:p>
            <a:r>
              <a:rPr lang="en-US" sz="1600" dirty="0" smtClean="0">
                <a:solidFill>
                  <a:schemeClr val="bg1"/>
                </a:solidFill>
                <a:latin typeface="+mn-lt"/>
              </a:rPr>
              <a:t>Individual Participant Assessment</a:t>
            </a:r>
            <a:endParaRPr lang="en-US" sz="1600" dirty="0">
              <a:solidFill>
                <a:schemeClr val="bg1"/>
              </a:solidFill>
              <a:latin typeface="+mn-lt"/>
            </a:endParaRPr>
          </a:p>
        </p:txBody>
      </p:sp>
      <p:sp>
        <p:nvSpPr>
          <p:cNvPr id="24" name="Slide Number Placeholder 23"/>
          <p:cNvSpPr>
            <a:spLocks noGrp="1"/>
          </p:cNvSpPr>
          <p:nvPr>
            <p:ph type="sldNum" sz="quarter" idx="10"/>
          </p:nvPr>
        </p:nvSpPr>
        <p:spPr/>
        <p:txBody>
          <a:bodyPr/>
          <a:lstStyle/>
          <a:p>
            <a:pPr>
              <a:defRPr/>
            </a:pPr>
            <a:fld id="{01D945C9-0277-4107-B589-EC55ECD240BC}" type="slidenum">
              <a:rPr lang="en-US" smtClean="0"/>
              <a:pPr>
                <a:defRPr/>
              </a:pPr>
              <a:t>24</a:t>
            </a:fld>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990600"/>
          </a:xfrm>
        </p:spPr>
        <p:txBody>
          <a:bodyPr/>
          <a:lstStyle/>
          <a:p>
            <a:r>
              <a:rPr lang="en-US" sz="3200" dirty="0" smtClean="0"/>
              <a:t>Individual Assessment Process</a:t>
            </a:r>
            <a:endParaRPr lang="en-US" sz="3200" dirty="0"/>
          </a:p>
        </p:txBody>
      </p:sp>
      <p:sp>
        <p:nvSpPr>
          <p:cNvPr id="11" name="Rectangle 3"/>
          <p:cNvSpPr>
            <a:spLocks noChangeArrowheads="1"/>
          </p:cNvSpPr>
          <p:nvPr/>
        </p:nvSpPr>
        <p:spPr bwMode="auto">
          <a:xfrm>
            <a:off x="4025900" y="1418199"/>
            <a:ext cx="2374900" cy="336550"/>
          </a:xfrm>
          <a:prstGeom prst="rect">
            <a:avLst/>
          </a:prstGeom>
          <a:solidFill>
            <a:srgbClr val="C00000"/>
          </a:solidFill>
          <a:ln w="15875" algn="ctr">
            <a:solidFill>
              <a:schemeClr val="tx1"/>
            </a:solidFill>
            <a:miter lim="800000"/>
            <a:headEnd/>
            <a:tailEnd/>
          </a:ln>
        </p:spPr>
        <p:txBody>
          <a:bodyPr wrap="none" anchor="ctr"/>
          <a:lstStyle/>
          <a:p>
            <a:pPr marL="228600" indent="-228600" algn="ctr">
              <a:lnSpc>
                <a:spcPct val="90000"/>
              </a:lnSpc>
              <a:spcBef>
                <a:spcPct val="20000"/>
              </a:spcBef>
            </a:pPr>
            <a:r>
              <a:rPr lang="en-US" sz="1200" b="1" dirty="0">
                <a:solidFill>
                  <a:schemeClr val="bg1"/>
                </a:solidFill>
                <a:latin typeface="+mn-lt"/>
              </a:rPr>
              <a:t>Data Synthesis &amp; </a:t>
            </a:r>
            <a:r>
              <a:rPr lang="en-US" sz="1200" b="1" dirty="0" smtClean="0">
                <a:solidFill>
                  <a:schemeClr val="bg1"/>
                </a:solidFill>
                <a:latin typeface="+mn-lt"/>
              </a:rPr>
              <a:t>Integration</a:t>
            </a:r>
            <a:endParaRPr lang="en-US" sz="1200" b="1" dirty="0">
              <a:solidFill>
                <a:schemeClr val="bg1"/>
              </a:solidFill>
              <a:latin typeface="+mn-lt"/>
            </a:endParaRPr>
          </a:p>
        </p:txBody>
      </p:sp>
      <p:sp>
        <p:nvSpPr>
          <p:cNvPr id="12" name="AutoShape 5"/>
          <p:cNvSpPr>
            <a:spLocks noChangeArrowheads="1"/>
          </p:cNvSpPr>
          <p:nvPr/>
        </p:nvSpPr>
        <p:spPr bwMode="auto">
          <a:xfrm>
            <a:off x="609600" y="1994461"/>
            <a:ext cx="1257300" cy="774700"/>
          </a:xfrm>
          <a:prstGeom prst="flowChartAlternateProcess">
            <a:avLst/>
          </a:prstGeom>
          <a:noFill/>
          <a:ln w="9525" algn="ctr">
            <a:solidFill>
              <a:schemeClr val="tx1"/>
            </a:solidFill>
            <a:miter lim="800000"/>
            <a:headEnd/>
            <a:tailEnd/>
          </a:ln>
        </p:spPr>
        <p:txBody>
          <a:bodyPr wrap="none" anchor="ctr"/>
          <a:lstStyle/>
          <a:p>
            <a:pPr marL="228600" indent="-228600" algn="ctr">
              <a:lnSpc>
                <a:spcPct val="90000"/>
              </a:lnSpc>
              <a:spcBef>
                <a:spcPct val="20000"/>
              </a:spcBef>
            </a:pPr>
            <a:r>
              <a:rPr lang="en-US" sz="800" b="1" dirty="0">
                <a:latin typeface="+mn-lt"/>
              </a:rPr>
              <a:t>Hogan Inventories</a:t>
            </a:r>
          </a:p>
          <a:p>
            <a:pPr marL="228600" indent="-228600" algn="ctr">
              <a:lnSpc>
                <a:spcPct val="90000"/>
              </a:lnSpc>
              <a:spcBef>
                <a:spcPct val="20000"/>
              </a:spcBef>
            </a:pPr>
            <a:r>
              <a:rPr lang="en-US" sz="800" dirty="0">
                <a:latin typeface="+mn-lt"/>
              </a:rPr>
              <a:t>Measure leadership </a:t>
            </a:r>
          </a:p>
          <a:p>
            <a:pPr marL="228600" indent="-228600" algn="ctr">
              <a:lnSpc>
                <a:spcPct val="90000"/>
              </a:lnSpc>
              <a:spcBef>
                <a:spcPct val="20000"/>
              </a:spcBef>
            </a:pPr>
            <a:r>
              <a:rPr lang="en-US" sz="800" dirty="0">
                <a:latin typeface="+mn-lt"/>
              </a:rPr>
              <a:t>behaviors, derailers,</a:t>
            </a:r>
          </a:p>
          <a:p>
            <a:pPr marL="228600" indent="-228600" algn="ctr">
              <a:lnSpc>
                <a:spcPct val="90000"/>
              </a:lnSpc>
              <a:spcBef>
                <a:spcPct val="20000"/>
              </a:spcBef>
            </a:pPr>
            <a:r>
              <a:rPr lang="en-US" sz="800" dirty="0">
                <a:latin typeface="+mn-lt"/>
              </a:rPr>
              <a:t>motives &amp; values</a:t>
            </a:r>
          </a:p>
          <a:p>
            <a:pPr marL="228600" indent="-228600" algn="ctr">
              <a:lnSpc>
                <a:spcPct val="90000"/>
              </a:lnSpc>
              <a:spcBef>
                <a:spcPct val="20000"/>
              </a:spcBef>
            </a:pPr>
            <a:r>
              <a:rPr lang="en-US" sz="800" dirty="0">
                <a:latin typeface="+mn-lt"/>
              </a:rPr>
              <a:t> </a:t>
            </a:r>
          </a:p>
        </p:txBody>
      </p:sp>
      <p:sp>
        <p:nvSpPr>
          <p:cNvPr id="14" name="AutoShape 8"/>
          <p:cNvSpPr>
            <a:spLocks/>
          </p:cNvSpPr>
          <p:nvPr/>
        </p:nvSpPr>
        <p:spPr bwMode="auto">
          <a:xfrm>
            <a:off x="3765550" y="1704790"/>
            <a:ext cx="536575" cy="4524375"/>
          </a:xfrm>
          <a:prstGeom prst="rightBrace">
            <a:avLst>
              <a:gd name="adj1" fmla="val 70266"/>
              <a:gd name="adj2" fmla="val 50000"/>
            </a:avLst>
          </a:prstGeom>
          <a:noFill/>
          <a:ln w="9525">
            <a:solidFill>
              <a:schemeClr val="tx1"/>
            </a:solidFill>
            <a:round/>
            <a:headEnd/>
            <a:tailEnd/>
          </a:ln>
        </p:spPr>
        <p:txBody>
          <a:bodyPr wrap="none" anchor="ctr"/>
          <a:lstStyle/>
          <a:p>
            <a:endParaRPr lang="en-US" dirty="0"/>
          </a:p>
        </p:txBody>
      </p:sp>
      <p:sp>
        <p:nvSpPr>
          <p:cNvPr id="15" name="Line 9"/>
          <p:cNvSpPr>
            <a:spLocks noChangeShapeType="1"/>
          </p:cNvSpPr>
          <p:nvPr/>
        </p:nvSpPr>
        <p:spPr bwMode="auto">
          <a:xfrm flipV="1">
            <a:off x="381000" y="3991536"/>
            <a:ext cx="3178175" cy="12700"/>
          </a:xfrm>
          <a:prstGeom prst="line">
            <a:avLst/>
          </a:prstGeom>
          <a:noFill/>
          <a:ln w="9525" cap="rnd">
            <a:solidFill>
              <a:schemeClr val="tx1"/>
            </a:solidFill>
            <a:prstDash val="sysDot"/>
            <a:round/>
            <a:headEnd/>
            <a:tailEnd/>
          </a:ln>
        </p:spPr>
        <p:txBody>
          <a:bodyPr/>
          <a:lstStyle/>
          <a:p>
            <a:endParaRPr lang="en-US" dirty="0"/>
          </a:p>
        </p:txBody>
      </p:sp>
      <p:sp>
        <p:nvSpPr>
          <p:cNvPr id="17" name="Text Box 13"/>
          <p:cNvSpPr txBox="1">
            <a:spLocks noChangeArrowheads="1"/>
          </p:cNvSpPr>
          <p:nvPr/>
        </p:nvSpPr>
        <p:spPr bwMode="auto">
          <a:xfrm rot="-5400000">
            <a:off x="26987" y="2492777"/>
            <a:ext cx="671513" cy="341632"/>
          </a:xfrm>
          <a:prstGeom prst="rect">
            <a:avLst/>
          </a:prstGeom>
          <a:noFill/>
          <a:ln w="9525" algn="ctr">
            <a:noFill/>
            <a:miter lim="800000"/>
            <a:headEnd/>
            <a:tailEnd/>
          </a:ln>
        </p:spPr>
        <p:txBody>
          <a:bodyPr>
            <a:spAutoFit/>
          </a:bodyPr>
          <a:lstStyle/>
          <a:p>
            <a:pPr marL="228600" indent="-228600">
              <a:lnSpc>
                <a:spcPct val="90000"/>
              </a:lnSpc>
              <a:spcBef>
                <a:spcPct val="20000"/>
              </a:spcBef>
            </a:pPr>
            <a:r>
              <a:rPr lang="en-US" b="1" dirty="0">
                <a:latin typeface="+mn-lt"/>
              </a:rPr>
              <a:t>Self</a:t>
            </a:r>
          </a:p>
        </p:txBody>
      </p:sp>
      <p:sp>
        <p:nvSpPr>
          <p:cNvPr id="18" name="Text Box 14"/>
          <p:cNvSpPr txBox="1">
            <a:spLocks noChangeArrowheads="1"/>
          </p:cNvSpPr>
          <p:nvPr/>
        </p:nvSpPr>
        <p:spPr bwMode="auto">
          <a:xfrm rot="-5400000">
            <a:off x="-846931" y="4921414"/>
            <a:ext cx="2286000" cy="341632"/>
          </a:xfrm>
          <a:prstGeom prst="rect">
            <a:avLst/>
          </a:prstGeom>
          <a:noFill/>
          <a:ln w="9525" algn="ctr">
            <a:noFill/>
            <a:miter lim="800000"/>
            <a:headEnd/>
            <a:tailEnd/>
          </a:ln>
        </p:spPr>
        <p:txBody>
          <a:bodyPr>
            <a:spAutoFit/>
          </a:bodyPr>
          <a:lstStyle/>
          <a:p>
            <a:pPr marL="228600" indent="-228600" algn="ctr">
              <a:lnSpc>
                <a:spcPct val="90000"/>
              </a:lnSpc>
              <a:spcBef>
                <a:spcPct val="20000"/>
              </a:spcBef>
            </a:pPr>
            <a:r>
              <a:rPr lang="en-US" b="1" dirty="0">
                <a:latin typeface="+mn-lt"/>
              </a:rPr>
              <a:t>Multi-Rater</a:t>
            </a:r>
          </a:p>
        </p:txBody>
      </p:sp>
      <p:sp>
        <p:nvSpPr>
          <p:cNvPr id="19" name="Text Box 16"/>
          <p:cNvSpPr txBox="1">
            <a:spLocks noChangeArrowheads="1"/>
          </p:cNvSpPr>
          <p:nvPr/>
        </p:nvSpPr>
        <p:spPr bwMode="auto">
          <a:xfrm rot="-5400000">
            <a:off x="2739232" y="3858233"/>
            <a:ext cx="2235200" cy="214313"/>
          </a:xfrm>
          <a:prstGeom prst="rect">
            <a:avLst/>
          </a:prstGeom>
          <a:noFill/>
          <a:ln w="9525" algn="ctr">
            <a:noFill/>
            <a:miter lim="800000"/>
            <a:headEnd/>
            <a:tailEnd/>
          </a:ln>
        </p:spPr>
        <p:txBody>
          <a:bodyPr wrap="none">
            <a:spAutoFit/>
          </a:bodyPr>
          <a:lstStyle/>
          <a:p>
            <a:pPr marL="228600" indent="-228600">
              <a:lnSpc>
                <a:spcPct val="90000"/>
              </a:lnSpc>
              <a:spcBef>
                <a:spcPct val="20000"/>
              </a:spcBef>
            </a:pPr>
            <a:r>
              <a:rPr lang="en-US" sz="900" b="1" dirty="0"/>
              <a:t>Input for Data Synthesis &amp; Integration</a:t>
            </a:r>
          </a:p>
        </p:txBody>
      </p:sp>
      <p:sp>
        <p:nvSpPr>
          <p:cNvPr id="20" name="Rectangle 24"/>
          <p:cNvSpPr>
            <a:spLocks noChangeArrowheads="1"/>
          </p:cNvSpPr>
          <p:nvPr/>
        </p:nvSpPr>
        <p:spPr bwMode="auto">
          <a:xfrm>
            <a:off x="495300" y="1413436"/>
            <a:ext cx="2933700" cy="336550"/>
          </a:xfrm>
          <a:prstGeom prst="rect">
            <a:avLst/>
          </a:prstGeom>
          <a:solidFill>
            <a:srgbClr val="C00000"/>
          </a:solidFill>
          <a:ln w="15875" algn="ctr">
            <a:solidFill>
              <a:schemeClr val="tx1"/>
            </a:solidFill>
            <a:miter lim="800000"/>
            <a:headEnd/>
            <a:tailEnd/>
          </a:ln>
        </p:spPr>
        <p:txBody>
          <a:bodyPr wrap="none" anchor="ctr"/>
          <a:lstStyle/>
          <a:p>
            <a:pPr marL="228600" indent="-228600" algn="ctr">
              <a:lnSpc>
                <a:spcPct val="90000"/>
              </a:lnSpc>
              <a:spcBef>
                <a:spcPct val="20000"/>
              </a:spcBef>
            </a:pPr>
            <a:r>
              <a:rPr lang="en-US" sz="1200" b="1" dirty="0" smtClean="0">
                <a:solidFill>
                  <a:schemeClr val="bg1"/>
                </a:solidFill>
                <a:latin typeface="+mn-lt"/>
              </a:rPr>
              <a:t>Assessments</a:t>
            </a:r>
            <a:endParaRPr lang="en-US" sz="1200" b="1" dirty="0">
              <a:solidFill>
                <a:schemeClr val="bg1"/>
              </a:solidFill>
              <a:latin typeface="+mn-lt"/>
            </a:endParaRPr>
          </a:p>
        </p:txBody>
      </p:sp>
      <p:sp>
        <p:nvSpPr>
          <p:cNvPr id="21" name="AutoShape 26"/>
          <p:cNvSpPr>
            <a:spLocks noChangeArrowheads="1"/>
          </p:cNvSpPr>
          <p:nvPr/>
        </p:nvSpPr>
        <p:spPr bwMode="auto">
          <a:xfrm>
            <a:off x="1371600" y="4267200"/>
            <a:ext cx="1371600" cy="1676400"/>
          </a:xfrm>
          <a:prstGeom prst="flowChartAlternateProcess">
            <a:avLst/>
          </a:prstGeom>
          <a:noFill/>
          <a:ln w="9525" algn="ctr">
            <a:solidFill>
              <a:schemeClr val="tx1"/>
            </a:solidFill>
            <a:miter lim="800000"/>
            <a:headEnd/>
            <a:tailEnd/>
          </a:ln>
        </p:spPr>
        <p:txBody>
          <a:bodyPr wrap="none" anchor="ctr"/>
          <a:lstStyle/>
          <a:p>
            <a:pPr marL="228600" indent="-228600" algn="ctr">
              <a:lnSpc>
                <a:spcPct val="90000"/>
              </a:lnSpc>
              <a:spcBef>
                <a:spcPct val="20000"/>
              </a:spcBef>
            </a:pPr>
            <a:r>
              <a:rPr lang="en-US" sz="800" b="1" dirty="0" smtClean="0">
                <a:latin typeface="+mn-lt"/>
              </a:rPr>
              <a:t>Live Interview 360</a:t>
            </a:r>
            <a:r>
              <a:rPr lang="en-US" sz="800" b="1" baseline="30000" dirty="0">
                <a:latin typeface="+mn-lt"/>
              </a:rPr>
              <a:t>*</a:t>
            </a:r>
          </a:p>
          <a:p>
            <a:pPr marL="228600" indent="-228600" algn="ctr">
              <a:spcBef>
                <a:spcPct val="20000"/>
              </a:spcBef>
            </a:pPr>
            <a:r>
              <a:rPr lang="en-US" sz="800" dirty="0" smtClean="0">
                <a:latin typeface="+mn-lt"/>
              </a:rPr>
              <a:t>Third party conducts live 360:</a:t>
            </a:r>
          </a:p>
          <a:p>
            <a:pPr marL="228600" indent="-228600" algn="ctr">
              <a:spcBef>
                <a:spcPct val="20000"/>
              </a:spcBef>
            </a:pPr>
            <a:r>
              <a:rPr lang="en-US" sz="800" dirty="0" smtClean="0">
                <a:latin typeface="+mn-lt"/>
              </a:rPr>
              <a:t>To include</a:t>
            </a:r>
          </a:p>
          <a:p>
            <a:pPr marL="228600" indent="-228600" algn="ctr">
              <a:spcBef>
                <a:spcPct val="20000"/>
              </a:spcBef>
            </a:pPr>
            <a:r>
              <a:rPr lang="en-US" sz="800" dirty="0" smtClean="0">
                <a:latin typeface="+mn-lt"/>
              </a:rPr>
              <a:t>participant interview on </a:t>
            </a:r>
          </a:p>
          <a:p>
            <a:pPr marL="228600" indent="-228600" algn="ctr">
              <a:spcBef>
                <a:spcPct val="20000"/>
              </a:spcBef>
            </a:pPr>
            <a:r>
              <a:rPr lang="en-US" sz="800" dirty="0" smtClean="0">
                <a:latin typeface="+mn-lt"/>
              </a:rPr>
              <a:t>career history, ambition and</a:t>
            </a:r>
          </a:p>
          <a:p>
            <a:pPr marL="228600" indent="-228600" algn="ctr">
              <a:spcBef>
                <a:spcPct val="20000"/>
              </a:spcBef>
            </a:pPr>
            <a:r>
              <a:rPr lang="en-US" sz="800" dirty="0" smtClean="0">
                <a:latin typeface="+mn-lt"/>
              </a:rPr>
              <a:t>assess leadership competencies.</a:t>
            </a:r>
          </a:p>
          <a:p>
            <a:pPr marL="228600" indent="-228600" algn="ctr">
              <a:spcBef>
                <a:spcPct val="20000"/>
              </a:spcBef>
            </a:pPr>
            <a:r>
              <a:rPr lang="en-US" sz="800" dirty="0" smtClean="0">
                <a:latin typeface="+mn-lt"/>
              </a:rPr>
              <a:t>Input gathered from </a:t>
            </a:r>
          </a:p>
          <a:p>
            <a:pPr marL="228600" indent="-228600" algn="ctr">
              <a:spcBef>
                <a:spcPct val="20000"/>
              </a:spcBef>
            </a:pPr>
            <a:r>
              <a:rPr lang="en-US" sz="800" dirty="0" smtClean="0">
                <a:latin typeface="+mn-lt"/>
              </a:rPr>
              <a:t>participant’s manager, peers </a:t>
            </a:r>
          </a:p>
          <a:p>
            <a:pPr marL="228600" indent="-228600" algn="ctr">
              <a:spcBef>
                <a:spcPct val="20000"/>
              </a:spcBef>
            </a:pPr>
            <a:r>
              <a:rPr lang="en-US" sz="800" dirty="0" smtClean="0">
                <a:latin typeface="+mn-lt"/>
              </a:rPr>
              <a:t>and directs through live </a:t>
            </a:r>
          </a:p>
          <a:p>
            <a:pPr marL="228600" indent="-228600" algn="ctr">
              <a:spcBef>
                <a:spcPct val="20000"/>
              </a:spcBef>
            </a:pPr>
            <a:r>
              <a:rPr lang="en-US" sz="800" dirty="0" smtClean="0">
                <a:latin typeface="+mn-lt"/>
              </a:rPr>
              <a:t>interview process</a:t>
            </a:r>
            <a:endParaRPr lang="en-US" sz="800" dirty="0">
              <a:latin typeface="+mn-lt"/>
            </a:endParaRPr>
          </a:p>
        </p:txBody>
      </p:sp>
      <p:sp>
        <p:nvSpPr>
          <p:cNvPr id="22" name="AutoShape 29"/>
          <p:cNvSpPr>
            <a:spLocks noChangeArrowheads="1"/>
          </p:cNvSpPr>
          <p:nvPr/>
        </p:nvSpPr>
        <p:spPr bwMode="auto">
          <a:xfrm>
            <a:off x="1987550" y="1994461"/>
            <a:ext cx="1257300" cy="774700"/>
          </a:xfrm>
          <a:prstGeom prst="flowChartAlternateProcess">
            <a:avLst/>
          </a:prstGeom>
          <a:noFill/>
          <a:ln w="9525" algn="ctr">
            <a:solidFill>
              <a:schemeClr val="tx1"/>
            </a:solidFill>
            <a:miter lim="800000"/>
            <a:headEnd/>
            <a:tailEnd/>
          </a:ln>
        </p:spPr>
        <p:txBody>
          <a:bodyPr wrap="none" anchor="ctr"/>
          <a:lstStyle/>
          <a:p>
            <a:pPr marL="228600" indent="-228600" algn="ctr">
              <a:lnSpc>
                <a:spcPct val="90000"/>
              </a:lnSpc>
              <a:spcBef>
                <a:spcPct val="20000"/>
              </a:spcBef>
            </a:pPr>
            <a:r>
              <a:rPr lang="en-US" sz="800" b="1" dirty="0">
                <a:latin typeface="+mn-lt"/>
              </a:rPr>
              <a:t>Career Profile</a:t>
            </a:r>
          </a:p>
          <a:p>
            <a:pPr marL="228600" indent="-228600" algn="ctr">
              <a:lnSpc>
                <a:spcPct val="90000"/>
              </a:lnSpc>
              <a:spcBef>
                <a:spcPct val="20000"/>
              </a:spcBef>
            </a:pPr>
            <a:r>
              <a:rPr lang="en-US" sz="800" dirty="0">
                <a:latin typeface="+mn-lt"/>
              </a:rPr>
              <a:t>Measures work history,  </a:t>
            </a:r>
          </a:p>
          <a:p>
            <a:pPr marL="228600" indent="-228600" algn="ctr">
              <a:lnSpc>
                <a:spcPct val="90000"/>
              </a:lnSpc>
              <a:spcBef>
                <a:spcPct val="20000"/>
              </a:spcBef>
            </a:pPr>
            <a:r>
              <a:rPr lang="en-US" sz="800" dirty="0">
                <a:latin typeface="+mn-lt"/>
              </a:rPr>
              <a:t>variety &amp; depth of job</a:t>
            </a:r>
          </a:p>
          <a:p>
            <a:pPr marL="228600" indent="-228600" algn="ctr">
              <a:lnSpc>
                <a:spcPct val="90000"/>
              </a:lnSpc>
              <a:spcBef>
                <a:spcPct val="20000"/>
              </a:spcBef>
            </a:pPr>
            <a:r>
              <a:rPr lang="en-US" sz="800" dirty="0">
                <a:latin typeface="+mn-lt"/>
              </a:rPr>
              <a:t>experiences &amp; </a:t>
            </a:r>
          </a:p>
          <a:p>
            <a:pPr marL="228600" indent="-228600" algn="ctr">
              <a:lnSpc>
                <a:spcPct val="90000"/>
              </a:lnSpc>
              <a:spcBef>
                <a:spcPct val="20000"/>
              </a:spcBef>
            </a:pPr>
            <a:r>
              <a:rPr lang="en-US" sz="800" dirty="0">
                <a:latin typeface="+mn-lt"/>
              </a:rPr>
              <a:t>areas of expertise</a:t>
            </a:r>
          </a:p>
        </p:txBody>
      </p:sp>
      <p:sp>
        <p:nvSpPr>
          <p:cNvPr id="23" name="Rectangle 30"/>
          <p:cNvSpPr>
            <a:spLocks noChangeArrowheads="1"/>
          </p:cNvSpPr>
          <p:nvPr/>
        </p:nvSpPr>
        <p:spPr bwMode="auto">
          <a:xfrm>
            <a:off x="6645275" y="1419786"/>
            <a:ext cx="2374900" cy="336550"/>
          </a:xfrm>
          <a:prstGeom prst="rect">
            <a:avLst/>
          </a:prstGeom>
          <a:solidFill>
            <a:srgbClr val="C00000"/>
          </a:solidFill>
          <a:ln w="15875" algn="ctr">
            <a:solidFill>
              <a:schemeClr val="tx1"/>
            </a:solidFill>
            <a:miter lim="800000"/>
            <a:headEnd/>
            <a:tailEnd/>
          </a:ln>
        </p:spPr>
        <p:txBody>
          <a:bodyPr wrap="none" anchor="ctr"/>
          <a:lstStyle/>
          <a:p>
            <a:pPr marL="228600" indent="-228600" algn="ctr">
              <a:lnSpc>
                <a:spcPct val="90000"/>
              </a:lnSpc>
              <a:spcBef>
                <a:spcPct val="20000"/>
              </a:spcBef>
            </a:pPr>
            <a:r>
              <a:rPr lang="en-US" sz="1200" b="1" dirty="0" smtClean="0">
                <a:solidFill>
                  <a:schemeClr val="bg1"/>
                </a:solidFill>
                <a:latin typeface="+mn-lt"/>
              </a:rPr>
              <a:t>Feedback Session</a:t>
            </a:r>
            <a:endParaRPr lang="en-US" sz="800" b="1" dirty="0">
              <a:solidFill>
                <a:schemeClr val="bg1"/>
              </a:solidFill>
              <a:latin typeface="+mn-lt"/>
            </a:endParaRPr>
          </a:p>
        </p:txBody>
      </p:sp>
      <p:sp>
        <p:nvSpPr>
          <p:cNvPr id="24" name="AutoShape 31"/>
          <p:cNvSpPr>
            <a:spLocks noChangeArrowheads="1"/>
          </p:cNvSpPr>
          <p:nvPr/>
        </p:nvSpPr>
        <p:spPr bwMode="auto">
          <a:xfrm>
            <a:off x="609600" y="2819400"/>
            <a:ext cx="1257300" cy="774700"/>
          </a:xfrm>
          <a:prstGeom prst="flowChartAlternateProcess">
            <a:avLst/>
          </a:prstGeom>
          <a:noFill/>
          <a:ln w="9525" algn="ctr">
            <a:solidFill>
              <a:schemeClr val="tx1"/>
            </a:solidFill>
            <a:miter lim="800000"/>
            <a:headEnd/>
            <a:tailEnd/>
          </a:ln>
        </p:spPr>
        <p:txBody>
          <a:bodyPr wrap="none" anchor="ctr"/>
          <a:lstStyle/>
          <a:p>
            <a:pPr marL="228600" indent="-228600" algn="ctr">
              <a:lnSpc>
                <a:spcPct val="90000"/>
              </a:lnSpc>
              <a:spcBef>
                <a:spcPct val="20000"/>
              </a:spcBef>
            </a:pPr>
            <a:r>
              <a:rPr lang="en-US" sz="800" b="1" dirty="0" smtClean="0">
                <a:latin typeface="+mn-lt"/>
              </a:rPr>
              <a:t>Hickey</a:t>
            </a:r>
            <a:endParaRPr lang="en-US" sz="800" b="1" dirty="0">
              <a:latin typeface="+mn-lt"/>
            </a:endParaRPr>
          </a:p>
          <a:p>
            <a:pPr marL="228600" indent="-228600" algn="ctr">
              <a:lnSpc>
                <a:spcPct val="90000"/>
              </a:lnSpc>
              <a:spcBef>
                <a:spcPct val="20000"/>
              </a:spcBef>
            </a:pPr>
            <a:r>
              <a:rPr lang="en-US" sz="800" dirty="0" smtClean="0">
                <a:latin typeface="+mn-lt"/>
              </a:rPr>
              <a:t>Measures </a:t>
            </a:r>
            <a:r>
              <a:rPr lang="en-US" sz="800" dirty="0">
                <a:latin typeface="+mn-lt"/>
              </a:rPr>
              <a:t>critical thinking &amp;</a:t>
            </a:r>
          </a:p>
          <a:p>
            <a:pPr marL="228600" indent="-228600" algn="ctr">
              <a:lnSpc>
                <a:spcPct val="90000"/>
              </a:lnSpc>
              <a:spcBef>
                <a:spcPct val="20000"/>
              </a:spcBef>
            </a:pPr>
            <a:r>
              <a:rPr lang="en-US" sz="800" dirty="0">
                <a:latin typeface="+mn-lt"/>
              </a:rPr>
              <a:t>problem-solving </a:t>
            </a:r>
            <a:r>
              <a:rPr lang="en-US" sz="800" dirty="0" smtClean="0">
                <a:latin typeface="+mn-lt"/>
              </a:rPr>
              <a:t>capabilities </a:t>
            </a:r>
            <a:endParaRPr lang="en-US" sz="800" dirty="0">
              <a:latin typeface="+mn-lt"/>
            </a:endParaRPr>
          </a:p>
        </p:txBody>
      </p:sp>
      <p:sp>
        <p:nvSpPr>
          <p:cNvPr id="25" name="AutoShape 7"/>
          <p:cNvSpPr>
            <a:spLocks noChangeArrowheads="1"/>
          </p:cNvSpPr>
          <p:nvPr/>
        </p:nvSpPr>
        <p:spPr bwMode="auto">
          <a:xfrm>
            <a:off x="7162800" y="3076390"/>
            <a:ext cx="1454150" cy="1660525"/>
          </a:xfrm>
          <a:prstGeom prst="foldedCorner">
            <a:avLst>
              <a:gd name="adj" fmla="val 12500"/>
            </a:avLst>
          </a:prstGeom>
          <a:solidFill>
            <a:schemeClr val="tx2"/>
          </a:solidFill>
          <a:ln w="9525">
            <a:solidFill>
              <a:schemeClr val="tx1"/>
            </a:solidFill>
            <a:round/>
            <a:headEnd/>
            <a:tailEnd/>
          </a:ln>
        </p:spPr>
        <p:txBody>
          <a:bodyPr wrap="none" anchor="ctr"/>
          <a:lstStyle/>
          <a:p>
            <a:pPr marL="228600" indent="-228600" algn="ctr">
              <a:lnSpc>
                <a:spcPct val="90000"/>
              </a:lnSpc>
              <a:spcBef>
                <a:spcPct val="20000"/>
              </a:spcBef>
            </a:pPr>
            <a:r>
              <a:rPr lang="en-US" sz="1200" b="1" dirty="0">
                <a:solidFill>
                  <a:schemeClr val="bg1"/>
                </a:solidFill>
                <a:latin typeface="+mn-lt"/>
              </a:rPr>
              <a:t>Individual </a:t>
            </a:r>
          </a:p>
          <a:p>
            <a:pPr marL="228600" indent="-228600" algn="ctr">
              <a:lnSpc>
                <a:spcPct val="90000"/>
              </a:lnSpc>
              <a:spcBef>
                <a:spcPct val="20000"/>
              </a:spcBef>
            </a:pPr>
            <a:r>
              <a:rPr lang="en-US" sz="1200" b="1" dirty="0" smtClean="0">
                <a:solidFill>
                  <a:schemeClr val="bg1"/>
                </a:solidFill>
                <a:latin typeface="+mn-lt"/>
              </a:rPr>
              <a:t>Report</a:t>
            </a:r>
            <a:endParaRPr lang="en-US" sz="1200" b="1" dirty="0">
              <a:solidFill>
                <a:schemeClr val="bg1"/>
              </a:solidFill>
              <a:latin typeface="+mn-lt"/>
            </a:endParaRPr>
          </a:p>
        </p:txBody>
      </p:sp>
      <p:sp>
        <p:nvSpPr>
          <p:cNvPr id="26" name="Text Box 20"/>
          <p:cNvSpPr txBox="1">
            <a:spLocks noChangeArrowheads="1"/>
          </p:cNvSpPr>
          <p:nvPr/>
        </p:nvSpPr>
        <p:spPr bwMode="auto">
          <a:xfrm>
            <a:off x="7086599" y="4833473"/>
            <a:ext cx="1842247" cy="338554"/>
          </a:xfrm>
          <a:prstGeom prst="rect">
            <a:avLst/>
          </a:prstGeom>
          <a:noFill/>
          <a:ln w="9525" algn="ctr">
            <a:noFill/>
            <a:miter lim="800000"/>
            <a:headEnd/>
            <a:tailEnd/>
          </a:ln>
        </p:spPr>
        <p:txBody>
          <a:bodyPr wrap="square">
            <a:spAutoFit/>
          </a:bodyPr>
          <a:lstStyle/>
          <a:p>
            <a:pPr marL="117475" indent="-117475">
              <a:lnSpc>
                <a:spcPct val="90000"/>
              </a:lnSpc>
              <a:spcBef>
                <a:spcPct val="20000"/>
              </a:spcBef>
            </a:pPr>
            <a:r>
              <a:rPr lang="en-US" sz="800" b="1" i="1" u="sng" dirty="0" smtClean="0">
                <a:latin typeface="+mn-lt"/>
              </a:rPr>
              <a:t>*Need to establish clear data </a:t>
            </a:r>
          </a:p>
          <a:p>
            <a:pPr marL="117475" indent="-117475">
              <a:lnSpc>
                <a:spcPct val="90000"/>
              </a:lnSpc>
              <a:spcBef>
                <a:spcPct val="20000"/>
              </a:spcBef>
            </a:pPr>
            <a:r>
              <a:rPr lang="en-US" sz="800" b="1" i="1" u="sng" dirty="0" smtClean="0">
                <a:latin typeface="+mn-lt"/>
              </a:rPr>
              <a:t>privacy guidelines</a:t>
            </a:r>
            <a:endParaRPr lang="en-US" sz="800" dirty="0">
              <a:latin typeface="+mn-lt"/>
            </a:endParaRPr>
          </a:p>
        </p:txBody>
      </p:sp>
      <p:sp>
        <p:nvSpPr>
          <p:cNvPr id="27" name="Text Box 23"/>
          <p:cNvSpPr txBox="1">
            <a:spLocks noChangeArrowheads="1"/>
          </p:cNvSpPr>
          <p:nvPr/>
        </p:nvSpPr>
        <p:spPr bwMode="auto">
          <a:xfrm>
            <a:off x="4419600" y="2825955"/>
            <a:ext cx="2057400" cy="2303195"/>
          </a:xfrm>
          <a:prstGeom prst="rect">
            <a:avLst/>
          </a:prstGeom>
          <a:noFill/>
          <a:ln w="9525">
            <a:noFill/>
            <a:miter lim="800000"/>
            <a:headEnd/>
            <a:tailEnd/>
          </a:ln>
        </p:spPr>
        <p:txBody>
          <a:bodyPr wrap="square">
            <a:spAutoFit/>
          </a:bodyPr>
          <a:lstStyle/>
          <a:p>
            <a:pPr marL="119063" indent="-119063">
              <a:spcBef>
                <a:spcPts val="200"/>
              </a:spcBef>
            </a:pPr>
            <a:r>
              <a:rPr lang="en-US" sz="1200" b="1" dirty="0">
                <a:latin typeface="+mn-lt"/>
              </a:rPr>
              <a:t>Feedback </a:t>
            </a:r>
            <a:r>
              <a:rPr lang="en-US" sz="1200" b="1" dirty="0" smtClean="0">
                <a:latin typeface="+mn-lt"/>
              </a:rPr>
              <a:t>on Participants</a:t>
            </a:r>
            <a:endParaRPr lang="en-US" sz="1200" b="1" dirty="0">
              <a:latin typeface="+mn-lt"/>
            </a:endParaRPr>
          </a:p>
          <a:p>
            <a:pPr marL="119063" indent="-119063">
              <a:spcBef>
                <a:spcPts val="200"/>
              </a:spcBef>
              <a:buFontTx/>
              <a:buChar char="•"/>
            </a:pPr>
            <a:r>
              <a:rPr lang="en-US" sz="1200" dirty="0">
                <a:latin typeface="+mn-lt"/>
              </a:rPr>
              <a:t>Strengths and development needs</a:t>
            </a:r>
          </a:p>
          <a:p>
            <a:pPr marL="119063" indent="-119063">
              <a:spcBef>
                <a:spcPts val="200"/>
              </a:spcBef>
              <a:buFontTx/>
              <a:buChar char="•"/>
            </a:pPr>
            <a:r>
              <a:rPr lang="en-US" sz="1200" dirty="0">
                <a:latin typeface="+mn-lt"/>
              </a:rPr>
              <a:t>Career ambitions</a:t>
            </a:r>
          </a:p>
          <a:p>
            <a:pPr marL="119063" indent="-119063">
              <a:spcBef>
                <a:spcPts val="200"/>
              </a:spcBef>
              <a:buFontTx/>
              <a:buChar char="•"/>
            </a:pPr>
            <a:r>
              <a:rPr lang="en-US" sz="1200" dirty="0" smtClean="0">
                <a:latin typeface="+mn-lt"/>
              </a:rPr>
              <a:t>Longer-term potential</a:t>
            </a:r>
          </a:p>
          <a:p>
            <a:pPr marL="119063" indent="-119063">
              <a:spcBef>
                <a:spcPts val="200"/>
              </a:spcBef>
              <a:buFontTx/>
              <a:buChar char="•"/>
            </a:pPr>
            <a:r>
              <a:rPr lang="en-US" sz="1200" dirty="0" smtClean="0">
                <a:latin typeface="+mn-lt"/>
              </a:rPr>
              <a:t>Assessment against succession plan</a:t>
            </a:r>
            <a:endParaRPr lang="en-US" sz="1200" dirty="0">
              <a:latin typeface="+mn-lt"/>
            </a:endParaRPr>
          </a:p>
          <a:p>
            <a:pPr marL="119063" indent="-119063">
              <a:spcBef>
                <a:spcPts val="200"/>
              </a:spcBef>
              <a:buFontTx/>
              <a:buChar char="•"/>
            </a:pPr>
            <a:r>
              <a:rPr lang="en-US" sz="1200" dirty="0">
                <a:latin typeface="+mn-lt"/>
              </a:rPr>
              <a:t>Development recommendations</a:t>
            </a:r>
          </a:p>
          <a:p>
            <a:pPr marL="119063" indent="-119063">
              <a:spcBef>
                <a:spcPts val="200"/>
              </a:spcBef>
            </a:pPr>
            <a:endParaRPr lang="en-US" sz="1200" dirty="0">
              <a:latin typeface="+mn-lt"/>
            </a:endParaRPr>
          </a:p>
          <a:p>
            <a:pPr marL="119063" indent="-119063">
              <a:spcBef>
                <a:spcPts val="200"/>
              </a:spcBef>
            </a:pPr>
            <a:endParaRPr lang="en-US" sz="1200" b="1" dirty="0">
              <a:latin typeface="+mn-lt"/>
            </a:endParaRPr>
          </a:p>
        </p:txBody>
      </p:sp>
      <p:sp>
        <p:nvSpPr>
          <p:cNvPr id="28" name="AutoShape 33"/>
          <p:cNvSpPr>
            <a:spLocks/>
          </p:cNvSpPr>
          <p:nvPr/>
        </p:nvSpPr>
        <p:spPr bwMode="auto">
          <a:xfrm>
            <a:off x="6392863" y="2428690"/>
            <a:ext cx="388937" cy="3000375"/>
          </a:xfrm>
          <a:prstGeom prst="rightBrace">
            <a:avLst>
              <a:gd name="adj1" fmla="val 64286"/>
              <a:gd name="adj2" fmla="val 50000"/>
            </a:avLst>
          </a:prstGeom>
          <a:noFill/>
          <a:ln w="9525">
            <a:solidFill>
              <a:schemeClr val="tx1"/>
            </a:solidFill>
            <a:round/>
            <a:headEnd/>
            <a:tailEnd/>
          </a:ln>
        </p:spPr>
        <p:txBody>
          <a:bodyPr wrap="none" anchor="ctr"/>
          <a:lstStyle/>
          <a:p>
            <a:endParaRPr lang="en-US" dirty="0"/>
          </a:p>
        </p:txBody>
      </p:sp>
      <p:sp>
        <p:nvSpPr>
          <p:cNvPr id="31" name="AutoShape 31"/>
          <p:cNvSpPr>
            <a:spLocks noChangeArrowheads="1"/>
          </p:cNvSpPr>
          <p:nvPr/>
        </p:nvSpPr>
        <p:spPr bwMode="auto">
          <a:xfrm>
            <a:off x="1971675" y="2819400"/>
            <a:ext cx="1257300" cy="774700"/>
          </a:xfrm>
          <a:prstGeom prst="flowChartAlternateProcess">
            <a:avLst/>
          </a:prstGeom>
          <a:noFill/>
          <a:ln w="9525" algn="ctr">
            <a:solidFill>
              <a:schemeClr val="tx1"/>
            </a:solidFill>
            <a:miter lim="800000"/>
            <a:headEnd/>
            <a:tailEnd/>
          </a:ln>
        </p:spPr>
        <p:txBody>
          <a:bodyPr wrap="none" anchor="ctr"/>
          <a:lstStyle/>
          <a:p>
            <a:pPr marL="228600" indent="-228600" algn="ctr">
              <a:lnSpc>
                <a:spcPct val="90000"/>
              </a:lnSpc>
              <a:spcBef>
                <a:spcPct val="20000"/>
              </a:spcBef>
            </a:pPr>
            <a:r>
              <a:rPr lang="en-US" sz="800" b="1" dirty="0" smtClean="0">
                <a:latin typeface="+mn-lt"/>
              </a:rPr>
              <a:t>Birkman</a:t>
            </a:r>
          </a:p>
          <a:p>
            <a:pPr marL="228600" indent="-228600">
              <a:lnSpc>
                <a:spcPct val="90000"/>
              </a:lnSpc>
              <a:spcBef>
                <a:spcPct val="20000"/>
              </a:spcBef>
            </a:pPr>
            <a:r>
              <a:rPr lang="en-US" sz="800" dirty="0" smtClean="0">
                <a:latin typeface="+mn-lt"/>
              </a:rPr>
              <a:t>Measures occupational </a:t>
            </a:r>
          </a:p>
          <a:p>
            <a:pPr marL="228600" indent="-228600">
              <a:lnSpc>
                <a:spcPct val="90000"/>
              </a:lnSpc>
              <a:spcBef>
                <a:spcPct val="20000"/>
              </a:spcBef>
            </a:pPr>
            <a:r>
              <a:rPr lang="en-US" sz="800" dirty="0" smtClean="0">
                <a:latin typeface="+mn-lt"/>
              </a:rPr>
              <a:t>and outside interests</a:t>
            </a:r>
          </a:p>
        </p:txBody>
      </p:sp>
      <p:sp>
        <p:nvSpPr>
          <p:cNvPr id="32" name="TextBox 31"/>
          <p:cNvSpPr txBox="1"/>
          <p:nvPr/>
        </p:nvSpPr>
        <p:spPr>
          <a:xfrm>
            <a:off x="4343400" y="5562600"/>
            <a:ext cx="4572000" cy="646331"/>
          </a:xfrm>
          <a:prstGeom prst="rect">
            <a:avLst/>
          </a:prstGeom>
          <a:solidFill>
            <a:srgbClr val="FFFFCC"/>
          </a:solidFill>
        </p:spPr>
        <p:txBody>
          <a:bodyPr wrap="square" rtlCol="0">
            <a:spAutoFit/>
          </a:bodyPr>
          <a:lstStyle/>
          <a:p>
            <a:r>
              <a:rPr lang="en-US" sz="1200" dirty="0" smtClean="0">
                <a:latin typeface="+mn-lt"/>
              </a:rPr>
              <a:t>Post feedback session, third party firm will provide complete knowledge transfer of all findings with appropriate HR leaders to ensure support for ongoing development.</a:t>
            </a:r>
            <a:endParaRPr lang="en-US" sz="1200" dirty="0">
              <a:latin typeface="+mn-lt"/>
            </a:endParaRPr>
          </a:p>
        </p:txBody>
      </p:sp>
      <p:sp>
        <p:nvSpPr>
          <p:cNvPr id="33" name="Slide Number Placeholder 32"/>
          <p:cNvSpPr>
            <a:spLocks noGrp="1"/>
          </p:cNvSpPr>
          <p:nvPr>
            <p:ph type="sldNum" sz="quarter" idx="10"/>
          </p:nvPr>
        </p:nvSpPr>
        <p:spPr/>
        <p:txBody>
          <a:bodyPr/>
          <a:lstStyle/>
          <a:p>
            <a:pPr>
              <a:defRPr/>
            </a:pPr>
            <a:fld id="{01D945C9-0277-4107-B589-EC55ECD240BC}" type="slidenum">
              <a:rPr lang="en-US" smtClean="0"/>
              <a:pPr>
                <a:defRPr/>
              </a:pPr>
              <a:t>25</a:t>
            </a:fld>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7625"/>
            <a:ext cx="8229600" cy="762000"/>
          </a:xfrm>
        </p:spPr>
        <p:txBody>
          <a:bodyPr/>
          <a:lstStyle/>
          <a:p>
            <a:r>
              <a:rPr lang="en-US" sz="2800" dirty="0" smtClean="0"/>
              <a:t>Workshop 1: Know the Business</a:t>
            </a:r>
            <a:endParaRPr lang="en-US" sz="2800" dirty="0"/>
          </a:p>
        </p:txBody>
      </p:sp>
      <p:graphicFrame>
        <p:nvGraphicFramePr>
          <p:cNvPr id="5" name="Content Placeholder 4"/>
          <p:cNvGraphicFramePr>
            <a:graphicFrameLocks noGrp="1"/>
          </p:cNvGraphicFramePr>
          <p:nvPr>
            <p:ph idx="1"/>
          </p:nvPr>
        </p:nvGraphicFramePr>
        <p:xfrm>
          <a:off x="76201" y="628650"/>
          <a:ext cx="8991599" cy="6184900"/>
        </p:xfrm>
        <a:graphic>
          <a:graphicData uri="http://schemas.openxmlformats.org/drawingml/2006/table">
            <a:tbl>
              <a:tblPr firstRow="1" bandRow="1">
                <a:tableStyleId>{5C22544A-7EE6-4342-B048-85BDC9FD1C3A}</a:tableStyleId>
              </a:tblPr>
              <a:tblGrid>
                <a:gridCol w="3124199"/>
                <a:gridCol w="3161963"/>
                <a:gridCol w="2705437"/>
              </a:tblGrid>
              <a:tr h="228600">
                <a:tc>
                  <a:txBody>
                    <a:bodyPr/>
                    <a:lstStyle/>
                    <a:p>
                      <a:pPr algn="ctr"/>
                      <a:r>
                        <a:rPr lang="en-US" sz="1200" dirty="0" smtClean="0">
                          <a:latin typeface="+mn-lt"/>
                        </a:rPr>
                        <a:t>Day 1:</a:t>
                      </a:r>
                      <a:r>
                        <a:rPr lang="en-US" sz="1200" baseline="0" dirty="0" smtClean="0">
                          <a:latin typeface="+mn-lt"/>
                        </a:rPr>
                        <a:t> Connect the Dots</a:t>
                      </a:r>
                      <a:endParaRPr lang="en-US" sz="1200" dirty="0">
                        <a:latin typeface="+mn-lt"/>
                      </a:endParaRPr>
                    </a:p>
                  </a:txBody>
                  <a:tcPr anchor="ctr"/>
                </a:tc>
                <a:tc>
                  <a:txBody>
                    <a:bodyPr/>
                    <a:lstStyle/>
                    <a:p>
                      <a:pPr algn="ctr"/>
                      <a:r>
                        <a:rPr lang="en-US" sz="1200" dirty="0" smtClean="0">
                          <a:latin typeface="+mn-lt"/>
                        </a:rPr>
                        <a:t>Day 2: Make</a:t>
                      </a:r>
                      <a:r>
                        <a:rPr lang="en-US" sz="1200" baseline="0" dirty="0" smtClean="0">
                          <a:latin typeface="+mn-lt"/>
                        </a:rPr>
                        <a:t> Decisions</a:t>
                      </a:r>
                      <a:endParaRPr lang="en-US" sz="1200" dirty="0">
                        <a:latin typeface="+mn-lt"/>
                      </a:endParaRPr>
                    </a:p>
                  </a:txBody>
                  <a:tcPr anchor="ctr"/>
                </a:tc>
                <a:tc>
                  <a:txBody>
                    <a:bodyPr/>
                    <a:lstStyle/>
                    <a:p>
                      <a:pPr algn="ctr"/>
                      <a:r>
                        <a:rPr lang="en-US" sz="1200" dirty="0" smtClean="0">
                          <a:latin typeface="+mn-lt"/>
                        </a:rPr>
                        <a:t>Day 3:</a:t>
                      </a:r>
                      <a:r>
                        <a:rPr lang="en-US" sz="1200" baseline="0" dirty="0" smtClean="0">
                          <a:latin typeface="+mn-lt"/>
                        </a:rPr>
                        <a:t> Put it All Together</a:t>
                      </a:r>
                      <a:endParaRPr lang="en-US" sz="1200" dirty="0">
                        <a:latin typeface="+mn-lt"/>
                      </a:endParaRPr>
                    </a:p>
                  </a:txBody>
                  <a:tcPr anchor="ctr"/>
                </a:tc>
              </a:tr>
              <a:tr h="594360">
                <a:tc>
                  <a:txBody>
                    <a:bodyPr/>
                    <a:lstStyle/>
                    <a:p>
                      <a:pPr marL="111125" indent="-111125">
                        <a:buFont typeface="Arial" pitchFamily="34" charset="0"/>
                        <a:buNone/>
                      </a:pPr>
                      <a:r>
                        <a:rPr lang="en-US" sz="850" b="1" kern="1200" dirty="0" smtClean="0">
                          <a:solidFill>
                            <a:schemeClr val="dk1"/>
                          </a:solidFill>
                          <a:latin typeface="+mn-lt"/>
                          <a:ea typeface="+mn-ea"/>
                          <a:cs typeface="+mn-cs"/>
                        </a:rPr>
                        <a:t>Leader Welcome: Linda Matzigkeit</a:t>
                      </a:r>
                    </a:p>
                    <a:p>
                      <a:pPr marL="111125" lvl="0" indent="-111125">
                        <a:buFont typeface="Arial" pitchFamily="34" charset="0"/>
                        <a:buChar char="•"/>
                      </a:pPr>
                      <a:r>
                        <a:rPr lang="en-US" sz="850" kern="1200" dirty="0" smtClean="0">
                          <a:solidFill>
                            <a:schemeClr val="dk1"/>
                          </a:solidFill>
                          <a:latin typeface="+mn-lt"/>
                          <a:ea typeface="+mn-ea"/>
                          <a:cs typeface="Times New Roman" pitchFamily="18" charset="0"/>
                        </a:rPr>
                        <a:t>Welcome participants, explain</a:t>
                      </a:r>
                      <a:r>
                        <a:rPr lang="en-US" sz="850" kern="1200" baseline="0" dirty="0" smtClean="0">
                          <a:solidFill>
                            <a:schemeClr val="dk1"/>
                          </a:solidFill>
                          <a:latin typeface="+mn-lt"/>
                          <a:ea typeface="+mn-ea"/>
                          <a:cs typeface="Times New Roman" pitchFamily="18" charset="0"/>
                        </a:rPr>
                        <a:t> the importance of the program, discuss how and why they were selected, r</a:t>
                      </a:r>
                      <a:r>
                        <a:rPr lang="en-US" sz="850" kern="1200" dirty="0" smtClean="0">
                          <a:solidFill>
                            <a:schemeClr val="dk1"/>
                          </a:solidFill>
                          <a:latin typeface="+mn-lt"/>
                          <a:ea typeface="+mn-ea"/>
                          <a:cs typeface="Times New Roman" pitchFamily="18" charset="0"/>
                        </a:rPr>
                        <a:t>eview program agenda and objectives. Introduce</a:t>
                      </a:r>
                      <a:r>
                        <a:rPr lang="en-US" sz="850" kern="1200" baseline="0" dirty="0" smtClean="0">
                          <a:solidFill>
                            <a:schemeClr val="dk1"/>
                          </a:solidFill>
                          <a:latin typeface="+mn-lt"/>
                          <a:ea typeface="+mn-ea"/>
                          <a:cs typeface="Times New Roman" pitchFamily="18" charset="0"/>
                        </a:rPr>
                        <a:t> external facilitator for the day. </a:t>
                      </a:r>
                      <a:endParaRPr lang="en-US" sz="850" dirty="0">
                        <a:latin typeface="+mn-lt"/>
                      </a:endParaRPr>
                    </a:p>
                  </a:txBody>
                  <a:tcPr anchor="ctr"/>
                </a:tc>
                <a:tc>
                  <a:txBody>
                    <a:bodyPr/>
                    <a:lstStyle/>
                    <a:p>
                      <a:pPr marL="111125" marR="0" lvl="0" indent="-111125" algn="l" defTabSz="914400" rtl="0" eaLnBrk="1" fontAlgn="auto" latinLnBrk="0" hangingPunct="1">
                        <a:lnSpc>
                          <a:spcPct val="100000"/>
                        </a:lnSpc>
                        <a:spcBef>
                          <a:spcPts val="0"/>
                        </a:spcBef>
                        <a:spcAft>
                          <a:spcPts val="0"/>
                        </a:spcAft>
                        <a:buClrTx/>
                        <a:buSzTx/>
                        <a:buFont typeface="Arial" pitchFamily="34" charset="0"/>
                        <a:buNone/>
                        <a:tabLst/>
                        <a:defRPr/>
                      </a:pPr>
                      <a:r>
                        <a:rPr lang="en-US" sz="850" b="1" kern="1200" dirty="0" smtClean="0">
                          <a:solidFill>
                            <a:schemeClr val="dk1"/>
                          </a:solidFill>
                          <a:latin typeface="+mn-lt"/>
                          <a:ea typeface="+mn-ea"/>
                          <a:cs typeface="+mn-cs"/>
                        </a:rPr>
                        <a:t>Overview of the Day: Megan Graham</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850" kern="1200" dirty="0" smtClean="0">
                          <a:solidFill>
                            <a:schemeClr val="dk1"/>
                          </a:solidFill>
                          <a:latin typeface="+mn-lt"/>
                          <a:ea typeface="+mn-ea"/>
                          <a:cs typeface="Times New Roman" pitchFamily="18" charset="0"/>
                        </a:rPr>
                        <a:t>Review Day 1 lessons learned and Day 2 agenda.</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850" kern="1200" dirty="0" smtClean="0">
                          <a:solidFill>
                            <a:schemeClr val="dk1"/>
                          </a:solidFill>
                          <a:latin typeface="+mn-lt"/>
                          <a:ea typeface="+mn-ea"/>
                          <a:cs typeface="Times New Roman" pitchFamily="18" charset="0"/>
                        </a:rPr>
                        <a:t>Introduce</a:t>
                      </a:r>
                      <a:r>
                        <a:rPr lang="en-US" sz="850" kern="1200" baseline="0" dirty="0" smtClean="0">
                          <a:solidFill>
                            <a:schemeClr val="dk1"/>
                          </a:solidFill>
                          <a:latin typeface="+mn-lt"/>
                          <a:ea typeface="+mn-ea"/>
                          <a:cs typeface="Times New Roman" pitchFamily="18" charset="0"/>
                        </a:rPr>
                        <a:t> facilitators for the day</a:t>
                      </a:r>
                      <a:endParaRPr lang="en-US" sz="850" kern="1200" dirty="0" smtClean="0">
                        <a:solidFill>
                          <a:schemeClr val="dk1"/>
                        </a:solidFill>
                        <a:latin typeface="+mn-lt"/>
                        <a:ea typeface="+mn-ea"/>
                        <a:cs typeface="Times New Roman" pitchFamily="18" charset="0"/>
                      </a:endParaRPr>
                    </a:p>
                    <a:p>
                      <a:endParaRPr lang="en-US" sz="850" dirty="0">
                        <a:latin typeface="+mn-lt"/>
                      </a:endParaRPr>
                    </a:p>
                  </a:txBody>
                  <a:tcPr anchor="ctr"/>
                </a:tc>
                <a:tc>
                  <a:txBody>
                    <a:bodyPr/>
                    <a:lstStyle/>
                    <a:p>
                      <a:pPr marL="111125" marR="0" lvl="0" indent="-111125" algn="l" defTabSz="914400" rtl="0" eaLnBrk="1" fontAlgn="auto" latinLnBrk="0" hangingPunct="1">
                        <a:lnSpc>
                          <a:spcPct val="100000"/>
                        </a:lnSpc>
                        <a:spcBef>
                          <a:spcPts val="0"/>
                        </a:spcBef>
                        <a:spcAft>
                          <a:spcPts val="0"/>
                        </a:spcAft>
                        <a:buClrTx/>
                        <a:buSzTx/>
                        <a:buFont typeface="Arial" pitchFamily="34" charset="0"/>
                        <a:buNone/>
                        <a:tabLst/>
                        <a:defRPr/>
                      </a:pPr>
                      <a:r>
                        <a:rPr lang="en-US" sz="850" b="1" kern="1200" dirty="0" smtClean="0">
                          <a:solidFill>
                            <a:schemeClr val="dk1"/>
                          </a:solidFill>
                          <a:latin typeface="+mn-lt"/>
                          <a:ea typeface="+mn-ea"/>
                          <a:cs typeface="+mn-cs"/>
                        </a:rPr>
                        <a:t>Overview of the Day: Megan Graham</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850" kern="1200" dirty="0" smtClean="0">
                          <a:solidFill>
                            <a:schemeClr val="dk1"/>
                          </a:solidFill>
                          <a:latin typeface="+mn-lt"/>
                          <a:ea typeface="+mn-ea"/>
                          <a:cs typeface="Times New Roman" pitchFamily="18" charset="0"/>
                        </a:rPr>
                        <a:t>Review Day 2 lessons learned and Day 3 agenda.</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850" kern="1200" dirty="0" smtClean="0">
                          <a:solidFill>
                            <a:schemeClr val="dk1"/>
                          </a:solidFill>
                          <a:latin typeface="+mn-lt"/>
                          <a:ea typeface="+mn-ea"/>
                          <a:cs typeface="Times New Roman" pitchFamily="18" charset="0"/>
                        </a:rPr>
                        <a:t>Introduce facilitators for the day</a:t>
                      </a:r>
                      <a:endParaRPr lang="en-US" sz="850" dirty="0">
                        <a:latin typeface="+mn-lt"/>
                      </a:endParaRPr>
                    </a:p>
                  </a:txBody>
                  <a:tcPr anchor="ctr"/>
                </a:tc>
              </a:tr>
              <a:tr h="182880">
                <a:tc>
                  <a:txBody>
                    <a:bodyPr/>
                    <a:lstStyle/>
                    <a:p>
                      <a:r>
                        <a:rPr lang="en-US" sz="850" b="1" baseline="0" dirty="0" smtClean="0">
                          <a:latin typeface="+mn-lt"/>
                        </a:rPr>
                        <a:t>Externa</a:t>
                      </a:r>
                      <a:r>
                        <a:rPr lang="en-US" sz="850" b="1" baseline="0" dirty="0" smtClean="0">
                          <a:solidFill>
                            <a:schemeClr val="tx1"/>
                          </a:solidFill>
                          <a:latin typeface="+mn-lt"/>
                        </a:rPr>
                        <a:t>l Facilitator – Morning Session:</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850" b="0" baseline="0" dirty="0" smtClean="0">
                          <a:solidFill>
                            <a:schemeClr val="tx1"/>
                          </a:solidFill>
                          <a:latin typeface="+mn-lt"/>
                        </a:rPr>
                        <a:t>  </a:t>
                      </a:r>
                      <a:r>
                        <a:rPr lang="en-US" sz="850" b="1" baseline="0" dirty="0" smtClean="0">
                          <a:solidFill>
                            <a:schemeClr val="tx1"/>
                          </a:solidFill>
                          <a:latin typeface="+mn-lt"/>
                        </a:rPr>
                        <a:t>Brad Killaly, PhD - </a:t>
                      </a:r>
                      <a:r>
                        <a:rPr lang="en-US" sz="850" kern="1200" baseline="0" dirty="0" smtClean="0">
                          <a:solidFill>
                            <a:schemeClr val="tx1"/>
                          </a:solidFill>
                          <a:latin typeface="+mn-lt"/>
                          <a:ea typeface="+mn-ea"/>
                          <a:cs typeface="Times New Roman" pitchFamily="18" charset="0"/>
                        </a:rPr>
                        <a:t>Expertise: Strategy, US healthcare, </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850" kern="1200" baseline="0" dirty="0" smtClean="0">
                          <a:solidFill>
                            <a:schemeClr val="tx1"/>
                          </a:solidFill>
                          <a:latin typeface="+mn-lt"/>
                          <a:ea typeface="+mn-ea"/>
                          <a:cs typeface="Times New Roman" pitchFamily="18" charset="0"/>
                        </a:rPr>
                        <a:t>   access and quality of care</a:t>
                      </a:r>
                      <a:endParaRPr lang="en-US" sz="850" b="0" baseline="0" dirty="0" smtClean="0">
                        <a:solidFill>
                          <a:schemeClr val="tx1"/>
                        </a:solidFill>
                        <a:latin typeface="+mn-lt"/>
                      </a:endParaRPr>
                    </a:p>
                  </a:txBody>
                  <a:tcPr anchor="ctr">
                    <a:solidFill>
                      <a:schemeClr val="accent3">
                        <a:lumMod val="40000"/>
                        <a:lumOff val="60000"/>
                      </a:schemeClr>
                    </a:solidFill>
                  </a:tcPr>
                </a:tc>
                <a:tc>
                  <a:txBody>
                    <a:bodyPr/>
                    <a:lstStyle/>
                    <a:p>
                      <a:pPr marL="111125" lvl="0" indent="-111125">
                        <a:buFont typeface="Arial" pitchFamily="34" charset="0"/>
                        <a:buNone/>
                      </a:pPr>
                      <a:r>
                        <a:rPr lang="en-US" sz="850" b="1" kern="1200" baseline="0" dirty="0" smtClean="0">
                          <a:solidFill>
                            <a:schemeClr val="tx1"/>
                          </a:solidFill>
                          <a:latin typeface="+mn-lt"/>
                          <a:ea typeface="+mn-ea"/>
                          <a:cs typeface="Times New Roman" pitchFamily="18" charset="0"/>
                        </a:rPr>
                        <a:t>External Facilitator – Full Day:</a:t>
                      </a:r>
                    </a:p>
                    <a:p>
                      <a:pPr marL="111125" lvl="0" indent="-111125">
                        <a:buFont typeface="Arial" pitchFamily="34" charset="0"/>
                        <a:buChar char="•"/>
                      </a:pPr>
                      <a:r>
                        <a:rPr lang="en-US" sz="850" b="1" kern="1200" baseline="0" dirty="0" smtClean="0">
                          <a:solidFill>
                            <a:schemeClr val="tx1"/>
                          </a:solidFill>
                          <a:latin typeface="+mn-lt"/>
                          <a:ea typeface="+mn-ea"/>
                          <a:cs typeface="Times New Roman" pitchFamily="18" charset="0"/>
                        </a:rPr>
                        <a:t>Kathy Pearson, MD </a:t>
                      </a:r>
                      <a:r>
                        <a:rPr lang="en-US" sz="850" kern="1200" baseline="0" dirty="0" smtClean="0">
                          <a:solidFill>
                            <a:schemeClr val="tx1"/>
                          </a:solidFill>
                          <a:latin typeface="+mn-lt"/>
                          <a:ea typeface="+mn-ea"/>
                          <a:cs typeface="Times New Roman" pitchFamily="18" charset="0"/>
                        </a:rPr>
                        <a:t>- Expertise: Health care, critical thinking, scenario planning, decision making</a:t>
                      </a:r>
                    </a:p>
                  </a:txBody>
                  <a:tcPr anchor="ctr">
                    <a:solidFill>
                      <a:schemeClr val="accent3">
                        <a:lumMod val="40000"/>
                        <a:lumOff val="60000"/>
                      </a:schemeClr>
                    </a:solidFill>
                  </a:tcPr>
                </a:tc>
                <a:tc>
                  <a:txBody>
                    <a:bodyPr/>
                    <a:lstStyle/>
                    <a:p>
                      <a:pPr marL="111125" lvl="0" indent="-111125">
                        <a:buFont typeface="Arial" pitchFamily="34" charset="0"/>
                        <a:buNone/>
                      </a:pPr>
                      <a:r>
                        <a:rPr lang="en-US" sz="850" b="1" kern="1200" baseline="0" dirty="0" smtClean="0">
                          <a:solidFill>
                            <a:schemeClr val="tx1"/>
                          </a:solidFill>
                          <a:latin typeface="+mn-lt"/>
                          <a:ea typeface="+mn-ea"/>
                          <a:cs typeface="Times New Roman" pitchFamily="18" charset="0"/>
                        </a:rPr>
                        <a:t>External Facilitator – Full Day</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850" b="1" kern="1200" baseline="0" dirty="0" smtClean="0">
                          <a:solidFill>
                            <a:schemeClr val="tx1"/>
                          </a:solidFill>
                          <a:latin typeface="+mn-lt"/>
                          <a:ea typeface="+mn-ea"/>
                          <a:cs typeface="Times New Roman" pitchFamily="18" charset="0"/>
                        </a:rPr>
                        <a:t>    Brad Killaly, PhD - </a:t>
                      </a:r>
                      <a:r>
                        <a:rPr lang="en-US" sz="850" kern="1200" baseline="0" dirty="0" smtClean="0">
                          <a:solidFill>
                            <a:schemeClr val="tx1"/>
                          </a:solidFill>
                          <a:latin typeface="+mn-lt"/>
                          <a:ea typeface="+mn-ea"/>
                          <a:cs typeface="Times New Roman" pitchFamily="18" charset="0"/>
                        </a:rPr>
                        <a:t>Expertise: Strategy, US </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850" kern="1200" baseline="0" dirty="0" smtClean="0">
                          <a:solidFill>
                            <a:schemeClr val="tx1"/>
                          </a:solidFill>
                          <a:latin typeface="+mn-lt"/>
                          <a:ea typeface="+mn-ea"/>
                          <a:cs typeface="Times New Roman" pitchFamily="18" charset="0"/>
                        </a:rPr>
                        <a:t>     healthcare, access and quality of care</a:t>
                      </a:r>
                      <a:endParaRPr lang="en-US" sz="850" b="0" baseline="0" dirty="0" smtClean="0">
                        <a:solidFill>
                          <a:schemeClr val="tx1"/>
                        </a:solidFill>
                        <a:latin typeface="+mn-lt"/>
                      </a:endParaRPr>
                    </a:p>
                  </a:txBody>
                  <a:tcPr anchor="ctr">
                    <a:solidFill>
                      <a:schemeClr val="accent3">
                        <a:lumMod val="40000"/>
                        <a:lumOff val="60000"/>
                      </a:schemeClr>
                    </a:solidFill>
                  </a:tcPr>
                </a:tc>
              </a:tr>
              <a:tr h="822960">
                <a:tc>
                  <a:txBody>
                    <a:bodyPr/>
                    <a:lstStyle/>
                    <a:p>
                      <a:pPr marL="111125" lvl="0" indent="-111125" algn="l" defTabSz="914400" rtl="0" eaLnBrk="1" latinLnBrk="0" hangingPunct="1">
                        <a:buFont typeface="Arial" pitchFamily="34" charset="0"/>
                        <a:buNone/>
                      </a:pPr>
                      <a:r>
                        <a:rPr lang="en-US" sz="850" b="1" kern="1200" dirty="0" smtClean="0">
                          <a:solidFill>
                            <a:schemeClr val="dk1"/>
                          </a:solidFill>
                          <a:latin typeface="+mn-lt"/>
                          <a:ea typeface="+mn-ea"/>
                          <a:cs typeface="+mn-cs"/>
                        </a:rPr>
                        <a:t>Icebreaker</a:t>
                      </a:r>
                      <a:r>
                        <a:rPr lang="en-US" sz="850" b="1" kern="1200" baseline="0" dirty="0" smtClean="0">
                          <a:solidFill>
                            <a:schemeClr val="dk1"/>
                          </a:solidFill>
                          <a:latin typeface="+mn-lt"/>
                          <a:ea typeface="+mn-ea"/>
                          <a:cs typeface="+mn-cs"/>
                        </a:rPr>
                        <a:t> and Experiential Activity</a:t>
                      </a:r>
                      <a:r>
                        <a:rPr lang="en-US" sz="850" b="1" kern="1200" dirty="0" smtClean="0">
                          <a:solidFill>
                            <a:schemeClr val="dk1"/>
                          </a:solidFill>
                          <a:latin typeface="+mn-lt"/>
                          <a:ea typeface="+mn-ea"/>
                          <a:cs typeface="+mn-cs"/>
                        </a:rPr>
                        <a:t>:</a:t>
                      </a:r>
                    </a:p>
                    <a:p>
                      <a:pPr marL="111125" lvl="0" indent="-111125">
                        <a:buFont typeface="Arial" pitchFamily="34" charset="0"/>
                        <a:buChar char="•"/>
                      </a:pPr>
                      <a:r>
                        <a:rPr lang="en-US" sz="850" kern="1200" dirty="0" smtClean="0">
                          <a:solidFill>
                            <a:schemeClr val="dk1"/>
                          </a:solidFill>
                          <a:latin typeface="+mn-lt"/>
                          <a:ea typeface="+mn-ea"/>
                          <a:cs typeface="+mn-cs"/>
                        </a:rPr>
                        <a:t>Break 20 into 4 groups. Teams play</a:t>
                      </a:r>
                      <a:r>
                        <a:rPr lang="en-US" sz="850" kern="1200" baseline="0" dirty="0" smtClean="0">
                          <a:solidFill>
                            <a:schemeClr val="dk1"/>
                          </a:solidFill>
                          <a:latin typeface="+mn-lt"/>
                          <a:ea typeface="+mn-ea"/>
                          <a:cs typeface="+mn-cs"/>
                        </a:rPr>
                        <a:t> a simulated game in which they each have to build something. Each team is given different information. </a:t>
                      </a:r>
                      <a:r>
                        <a:rPr lang="en-US" sz="850" kern="1200" dirty="0" smtClean="0">
                          <a:solidFill>
                            <a:schemeClr val="dk1"/>
                          </a:solidFill>
                          <a:latin typeface="+mn-lt"/>
                          <a:ea typeface="+mn-ea"/>
                          <a:cs typeface="+mn-cs"/>
                        </a:rPr>
                        <a:t>Teams must solve problem</a:t>
                      </a:r>
                      <a:r>
                        <a:rPr lang="en-US" sz="850" kern="1200" baseline="0" dirty="0" smtClean="0">
                          <a:solidFill>
                            <a:schemeClr val="dk1"/>
                          </a:solidFill>
                          <a:latin typeface="+mn-lt"/>
                          <a:ea typeface="+mn-ea"/>
                          <a:cs typeface="+mn-cs"/>
                        </a:rPr>
                        <a:t>s with </a:t>
                      </a:r>
                      <a:r>
                        <a:rPr lang="en-US" sz="850" kern="1200" dirty="0" smtClean="0">
                          <a:solidFill>
                            <a:schemeClr val="dk1"/>
                          </a:solidFill>
                          <a:latin typeface="+mn-lt"/>
                          <a:ea typeface="+mn-ea"/>
                          <a:cs typeface="+mn-cs"/>
                        </a:rPr>
                        <a:t>practical and creative criteria, requiring them to draw from the strengths of everyone involved</a:t>
                      </a:r>
                      <a:r>
                        <a:rPr lang="en-US" sz="850" kern="1200" baseline="0" dirty="0" smtClean="0">
                          <a:solidFill>
                            <a:schemeClr val="dk1"/>
                          </a:solidFill>
                          <a:latin typeface="+mn-lt"/>
                          <a:ea typeface="+mn-ea"/>
                          <a:cs typeface="+mn-cs"/>
                        </a:rPr>
                        <a:t>.</a:t>
                      </a:r>
                      <a:endParaRPr lang="en-US" sz="850" dirty="0">
                        <a:latin typeface="+mn-lt"/>
                      </a:endParaRPr>
                    </a:p>
                  </a:txBody>
                  <a:tcPr anchor="ctr"/>
                </a:tc>
                <a:tc>
                  <a:txBody>
                    <a:bodyPr/>
                    <a:lstStyle/>
                    <a:p>
                      <a:pPr marL="111125" marR="0" indent="-111125" algn="l" defTabSz="914400" rtl="0" eaLnBrk="1" fontAlgn="auto" latinLnBrk="0" hangingPunct="1">
                        <a:lnSpc>
                          <a:spcPct val="100000"/>
                        </a:lnSpc>
                        <a:spcBef>
                          <a:spcPts val="0"/>
                        </a:spcBef>
                        <a:spcAft>
                          <a:spcPts val="0"/>
                        </a:spcAft>
                        <a:buClrTx/>
                        <a:buSzTx/>
                        <a:buFont typeface="Arial" pitchFamily="34" charset="0"/>
                        <a:buNone/>
                        <a:tabLst/>
                        <a:defRPr/>
                      </a:pPr>
                      <a:r>
                        <a:rPr lang="en-US" sz="850" b="1" kern="1200" dirty="0" smtClean="0">
                          <a:solidFill>
                            <a:schemeClr val="dk1"/>
                          </a:solidFill>
                          <a:latin typeface="+mn-lt"/>
                          <a:ea typeface="+mn-ea"/>
                          <a:cs typeface="+mn-cs"/>
                        </a:rPr>
                        <a:t>Experiential Activity:</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850" kern="1200" dirty="0" smtClean="0">
                          <a:solidFill>
                            <a:schemeClr val="dk1"/>
                          </a:solidFill>
                          <a:latin typeface="+mn-lt"/>
                          <a:ea typeface="+mn-ea"/>
                          <a:cs typeface="Times New Roman" pitchFamily="18" charset="0"/>
                        </a:rPr>
                        <a:t>Team-based activity focused</a:t>
                      </a:r>
                      <a:r>
                        <a:rPr lang="en-US" sz="850" kern="1200" baseline="0" dirty="0" smtClean="0">
                          <a:solidFill>
                            <a:schemeClr val="dk1"/>
                          </a:solidFill>
                          <a:latin typeface="+mn-lt"/>
                          <a:ea typeface="+mn-ea"/>
                          <a:cs typeface="Times New Roman" pitchFamily="18" charset="0"/>
                        </a:rPr>
                        <a:t> on </a:t>
                      </a:r>
                      <a:r>
                        <a:rPr lang="en-US" sz="850" b="1" kern="1200" baseline="0" dirty="0" smtClean="0">
                          <a:solidFill>
                            <a:schemeClr val="tx1"/>
                          </a:solidFill>
                          <a:latin typeface="+mn-lt"/>
                          <a:ea typeface="+mn-ea"/>
                          <a:cs typeface="Times New Roman" pitchFamily="18" charset="0"/>
                        </a:rPr>
                        <a:t>decision making </a:t>
                      </a:r>
                      <a:r>
                        <a:rPr lang="en-US" sz="850" kern="1200" baseline="0" dirty="0" smtClean="0">
                          <a:solidFill>
                            <a:schemeClr val="dk1"/>
                          </a:solidFill>
                          <a:latin typeface="+mn-lt"/>
                          <a:ea typeface="+mn-ea"/>
                          <a:cs typeface="Times New Roman" pitchFamily="18" charset="0"/>
                        </a:rPr>
                        <a:t>in uncertainty, teams weigh external and internal forces affecting business and make decisions.</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850" kern="1200" baseline="0" dirty="0" smtClean="0">
                          <a:solidFill>
                            <a:schemeClr val="dk1"/>
                          </a:solidFill>
                          <a:latin typeface="+mn-lt"/>
                          <a:ea typeface="+mn-ea"/>
                          <a:cs typeface="Times New Roman" pitchFamily="18" charset="0"/>
                        </a:rPr>
                        <a:t>Use of simulated scenarios drive complex options for making effective decisions during activity.</a:t>
                      </a:r>
                      <a:endParaRPr lang="en-US" sz="850" dirty="0">
                        <a:solidFill>
                          <a:schemeClr val="tx1"/>
                        </a:solidFill>
                        <a:latin typeface="+mn-lt"/>
                      </a:endParaRPr>
                    </a:p>
                  </a:txBody>
                  <a:tcPr anchor="ctr"/>
                </a:tc>
                <a:tc>
                  <a:txBody>
                    <a:bodyPr/>
                    <a:lstStyle/>
                    <a:p>
                      <a:pPr marL="111125" marR="0" lvl="0" indent="-111125" algn="l" defTabSz="914400" rtl="0" eaLnBrk="1" fontAlgn="auto" latinLnBrk="0" hangingPunct="1">
                        <a:lnSpc>
                          <a:spcPct val="100000"/>
                        </a:lnSpc>
                        <a:spcBef>
                          <a:spcPts val="0"/>
                        </a:spcBef>
                        <a:spcAft>
                          <a:spcPts val="0"/>
                        </a:spcAft>
                        <a:buClrTx/>
                        <a:buSzTx/>
                        <a:buFont typeface="Arial" pitchFamily="34" charset="0"/>
                        <a:buNone/>
                        <a:tabLst/>
                        <a:defRPr/>
                      </a:pPr>
                      <a:r>
                        <a:rPr lang="en-US" sz="850" b="1" kern="1200" dirty="0" smtClean="0">
                          <a:solidFill>
                            <a:schemeClr val="dk1"/>
                          </a:solidFill>
                          <a:latin typeface="+mn-lt"/>
                          <a:ea typeface="+mn-ea"/>
                          <a:cs typeface="Times New Roman" pitchFamily="18" charset="0"/>
                        </a:rPr>
                        <a:t>Simulation</a:t>
                      </a:r>
                      <a:r>
                        <a:rPr lang="en-US" sz="850" b="1" kern="1200" baseline="0" dirty="0" smtClean="0">
                          <a:solidFill>
                            <a:schemeClr val="dk1"/>
                          </a:solidFill>
                          <a:latin typeface="+mn-lt"/>
                          <a:ea typeface="+mn-ea"/>
                          <a:cs typeface="Times New Roman" pitchFamily="18" charset="0"/>
                        </a:rPr>
                        <a:t> – Apply Learning:</a:t>
                      </a:r>
                      <a:endParaRPr lang="en-US" sz="850" b="1" kern="1200" dirty="0" smtClean="0">
                        <a:solidFill>
                          <a:schemeClr val="dk1"/>
                        </a:solidFill>
                        <a:latin typeface="+mn-lt"/>
                        <a:ea typeface="+mn-ea"/>
                        <a:cs typeface="+mn-cs"/>
                      </a:endParaRPr>
                    </a:p>
                    <a:p>
                      <a:pPr marL="111125" marR="0" lvl="0" indent="-1111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850" kern="1200" dirty="0" smtClean="0">
                          <a:solidFill>
                            <a:schemeClr val="dk1"/>
                          </a:solidFill>
                          <a:latin typeface="+mn-lt"/>
                          <a:ea typeface="+mn-ea"/>
                          <a:cs typeface="Times New Roman" pitchFamily="18" charset="0"/>
                        </a:rPr>
                        <a:t>Break 20 into 4 groups. Use</a:t>
                      </a:r>
                      <a:r>
                        <a:rPr lang="en-US" sz="850" kern="1200" baseline="0" dirty="0" smtClean="0">
                          <a:solidFill>
                            <a:schemeClr val="dk1"/>
                          </a:solidFill>
                          <a:latin typeface="+mn-lt"/>
                          <a:ea typeface="+mn-ea"/>
                          <a:cs typeface="Times New Roman" pitchFamily="18" charset="0"/>
                        </a:rPr>
                        <a:t> business issues identified earlier in the workshop. </a:t>
                      </a:r>
                      <a:r>
                        <a:rPr lang="en-US" sz="850" kern="1200" dirty="0" smtClean="0">
                          <a:solidFill>
                            <a:schemeClr val="dk1"/>
                          </a:solidFill>
                          <a:latin typeface="+mn-lt"/>
                          <a:ea typeface="+mn-ea"/>
                          <a:cs typeface="Times New Roman" pitchFamily="18" charset="0"/>
                        </a:rPr>
                        <a:t>P</a:t>
                      </a:r>
                      <a:r>
                        <a:rPr lang="en-US" sz="850" kern="1200" baseline="0" dirty="0" smtClean="0">
                          <a:solidFill>
                            <a:schemeClr val="dk1"/>
                          </a:solidFill>
                          <a:latin typeface="+mn-lt"/>
                          <a:ea typeface="+mn-ea"/>
                          <a:cs typeface="Times New Roman" pitchFamily="18" charset="0"/>
                        </a:rPr>
                        <a:t>ractice what they’ve learned by weighing multiple options, thinking critically and making a decision. Simulation designed to throw curveballs and minimize information shared. </a:t>
                      </a:r>
                      <a:endParaRPr lang="en-US" sz="850" dirty="0">
                        <a:latin typeface="+mn-lt"/>
                      </a:endParaRPr>
                    </a:p>
                  </a:txBody>
                  <a:tcPr anchor="ctr"/>
                </a:tc>
              </a:tr>
              <a:tr h="1478280">
                <a:tc>
                  <a:txBody>
                    <a:bodyPr/>
                    <a:lstStyle/>
                    <a:p>
                      <a:pPr marL="111125" indent="-111125" algn="l" defTabSz="914400" rtl="0" eaLnBrk="1" latinLnBrk="0" hangingPunct="1">
                        <a:buFont typeface="Arial" pitchFamily="34" charset="0"/>
                        <a:buNone/>
                      </a:pPr>
                      <a:r>
                        <a:rPr lang="en-US" sz="850" b="1" kern="1200" dirty="0" smtClean="0">
                          <a:solidFill>
                            <a:schemeClr val="dk1"/>
                          </a:solidFill>
                          <a:latin typeface="+mn-lt"/>
                          <a:ea typeface="+mn-ea"/>
                          <a:cs typeface="+mn-cs"/>
                        </a:rPr>
                        <a:t>Connect the Dots: What’s happening out there? </a:t>
                      </a:r>
                    </a:p>
                    <a:p>
                      <a:pPr marL="111125" lvl="0" indent="-111125" algn="l" defTabSz="914400" rtl="0" eaLnBrk="1" latinLnBrk="0" hangingPunct="1">
                        <a:buFont typeface="Arial" pitchFamily="34" charset="0"/>
                        <a:buChar char="•"/>
                      </a:pPr>
                      <a:r>
                        <a:rPr lang="en-US" sz="850" kern="1200" dirty="0" smtClean="0">
                          <a:solidFill>
                            <a:schemeClr val="dk1"/>
                          </a:solidFill>
                          <a:latin typeface="+mn-lt"/>
                          <a:ea typeface="+mn-ea"/>
                          <a:cs typeface="Times New Roman" pitchFamily="18" charset="0"/>
                        </a:rPr>
                        <a:t>Overview of external environment that effects our business, i.e., megatrends in healthcare, healthcare</a:t>
                      </a:r>
                      <a:r>
                        <a:rPr lang="en-US" sz="850" kern="1200" baseline="0" dirty="0" smtClean="0">
                          <a:solidFill>
                            <a:schemeClr val="dk1"/>
                          </a:solidFill>
                          <a:latin typeface="+mn-lt"/>
                          <a:ea typeface="+mn-ea"/>
                          <a:cs typeface="Times New Roman" pitchFamily="18" charset="0"/>
                        </a:rPr>
                        <a:t> reform</a:t>
                      </a:r>
                      <a:r>
                        <a:rPr lang="en-US" sz="850" kern="1200" dirty="0" smtClean="0">
                          <a:solidFill>
                            <a:schemeClr val="dk1"/>
                          </a:solidFill>
                          <a:latin typeface="+mn-lt"/>
                          <a:ea typeface="+mn-ea"/>
                          <a:cs typeface="Times New Roman" pitchFamily="18" charset="0"/>
                        </a:rPr>
                        <a:t>, advancements in pediatrics and</a:t>
                      </a:r>
                      <a:r>
                        <a:rPr lang="en-US" sz="850" kern="1200" baseline="0" dirty="0" smtClean="0">
                          <a:solidFill>
                            <a:schemeClr val="dk1"/>
                          </a:solidFill>
                          <a:latin typeface="+mn-lt"/>
                          <a:ea typeface="+mn-ea"/>
                          <a:cs typeface="Times New Roman" pitchFamily="18" charset="0"/>
                        </a:rPr>
                        <a:t> implications for our business.</a:t>
                      </a:r>
                    </a:p>
                    <a:p>
                      <a:pPr marL="111125" lvl="0" indent="-111125" algn="l" defTabSz="914400" rtl="0" eaLnBrk="1" latinLnBrk="0" hangingPunct="1">
                        <a:buFont typeface="Arial" pitchFamily="34" charset="0"/>
                        <a:buChar char="•"/>
                      </a:pPr>
                      <a:r>
                        <a:rPr lang="en-US" sz="850" kern="1200" baseline="0" dirty="0" smtClean="0">
                          <a:solidFill>
                            <a:schemeClr val="dk1"/>
                          </a:solidFill>
                          <a:latin typeface="+mn-lt"/>
                          <a:ea typeface="+mn-ea"/>
                          <a:cs typeface="Times New Roman" pitchFamily="18" charset="0"/>
                        </a:rPr>
                        <a:t>Clearly outline what leaders should be thinking about and preparing for related to trends.</a:t>
                      </a:r>
                    </a:p>
                    <a:p>
                      <a:pPr marL="111125" lvl="0" indent="-111125" algn="l" defTabSz="914400" rtl="0" eaLnBrk="1" latinLnBrk="0" hangingPunct="1">
                        <a:buFont typeface="Arial" pitchFamily="34" charset="0"/>
                        <a:buChar char="•"/>
                      </a:pPr>
                      <a:r>
                        <a:rPr lang="en-US" sz="850" kern="1200" baseline="0" dirty="0" smtClean="0">
                          <a:solidFill>
                            <a:schemeClr val="dk1"/>
                          </a:solidFill>
                          <a:latin typeface="+mn-lt"/>
                          <a:ea typeface="+mn-ea"/>
                          <a:cs typeface="Times New Roman" pitchFamily="18" charset="0"/>
                        </a:rPr>
                        <a:t>Pediatric differentiators</a:t>
                      </a:r>
                    </a:p>
                    <a:p>
                      <a:pPr marL="111125" lvl="0" indent="-111125" algn="l" defTabSz="914400" rtl="0" eaLnBrk="1" latinLnBrk="0" hangingPunct="1">
                        <a:buFont typeface="Arial" pitchFamily="34" charset="0"/>
                        <a:buNone/>
                      </a:pPr>
                      <a:r>
                        <a:rPr lang="en-US" sz="850" b="1" kern="1200" baseline="0" dirty="0" smtClean="0">
                          <a:solidFill>
                            <a:schemeClr val="dk1"/>
                          </a:solidFill>
                          <a:latin typeface="+mn-lt"/>
                          <a:ea typeface="+mn-ea"/>
                          <a:cs typeface="Times New Roman" pitchFamily="18" charset="0"/>
                        </a:rPr>
                        <a:t>Ask the Right Questions:</a:t>
                      </a:r>
                    </a:p>
                    <a:p>
                      <a:pPr marL="111125" lvl="0" indent="-111125" algn="l" defTabSz="914400" rtl="0" eaLnBrk="1" latinLnBrk="0" hangingPunct="1">
                        <a:buFont typeface="Arial" pitchFamily="34" charset="0"/>
                        <a:buChar char="•"/>
                      </a:pPr>
                      <a:r>
                        <a:rPr lang="en-US" sz="850" b="0" kern="1200" baseline="0" dirty="0" smtClean="0">
                          <a:solidFill>
                            <a:schemeClr val="dk1"/>
                          </a:solidFill>
                          <a:latin typeface="+mn-lt"/>
                          <a:ea typeface="+mn-ea"/>
                          <a:cs typeface="Times New Roman" pitchFamily="18" charset="0"/>
                        </a:rPr>
                        <a:t>Understand the key questions and criteria that should be considered when making critical business decisions. </a:t>
                      </a:r>
                    </a:p>
                  </a:txBody>
                  <a:tcPr anchor="ctr"/>
                </a:tc>
                <a:tc>
                  <a:txBody>
                    <a:bodyPr/>
                    <a:lstStyle/>
                    <a:p>
                      <a:pPr marL="111125" marR="0" indent="-111125" algn="l" defTabSz="914400" rtl="0" eaLnBrk="1" fontAlgn="auto" latinLnBrk="0" hangingPunct="1">
                        <a:lnSpc>
                          <a:spcPct val="100000"/>
                        </a:lnSpc>
                        <a:spcBef>
                          <a:spcPts val="0"/>
                        </a:spcBef>
                        <a:spcAft>
                          <a:spcPts val="0"/>
                        </a:spcAft>
                        <a:buClrTx/>
                        <a:buSzTx/>
                        <a:buFont typeface="Arial" pitchFamily="34" charset="0"/>
                        <a:buNone/>
                        <a:tabLst/>
                        <a:defRPr/>
                      </a:pPr>
                      <a:r>
                        <a:rPr lang="en-US" sz="850" b="1" kern="1200" dirty="0" smtClean="0">
                          <a:solidFill>
                            <a:schemeClr val="dk1"/>
                          </a:solidFill>
                          <a:latin typeface="+mn-lt"/>
                          <a:ea typeface="+mn-ea"/>
                          <a:cs typeface="+mn-cs"/>
                        </a:rPr>
                        <a:t>Make Decisions</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850" kern="1200" dirty="0" smtClean="0">
                          <a:solidFill>
                            <a:schemeClr val="dk1"/>
                          </a:solidFill>
                          <a:latin typeface="+mn-lt"/>
                          <a:ea typeface="+mn-ea"/>
                          <a:cs typeface="Times New Roman" pitchFamily="18" charset="0"/>
                        </a:rPr>
                        <a:t>Understand individual and group bias in decision-making, learn methodology for evaluating multiple options critically and choosing the best course </a:t>
                      </a:r>
                      <a:r>
                        <a:rPr lang="en-US" sz="850" kern="1200" baseline="0" dirty="0" smtClean="0">
                          <a:solidFill>
                            <a:schemeClr val="dk1"/>
                          </a:solidFill>
                          <a:latin typeface="+mn-lt"/>
                          <a:ea typeface="+mn-ea"/>
                          <a:cs typeface="Times New Roman" pitchFamily="18" charset="0"/>
                        </a:rPr>
                        <a:t>of action using an integrated case study. </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850" kern="1200" dirty="0" smtClean="0">
                          <a:solidFill>
                            <a:schemeClr val="dk1"/>
                          </a:solidFill>
                          <a:latin typeface="+mn-lt"/>
                          <a:ea typeface="+mn-ea"/>
                          <a:cs typeface="+mn-cs"/>
                        </a:rPr>
                        <a:t>Recognize which decision making tools are useful in influencing a decision when you do not have final decision making authority.</a:t>
                      </a:r>
                    </a:p>
                    <a:p>
                      <a:pPr marL="111125" marR="0" indent="-111125" algn="l" defTabSz="914400" rtl="0" eaLnBrk="1" fontAlgn="auto" latinLnBrk="0" hangingPunct="1">
                        <a:lnSpc>
                          <a:spcPct val="100000"/>
                        </a:lnSpc>
                        <a:spcBef>
                          <a:spcPts val="0"/>
                        </a:spcBef>
                        <a:spcAft>
                          <a:spcPts val="0"/>
                        </a:spcAft>
                        <a:buClrTx/>
                        <a:buSzTx/>
                        <a:buFont typeface="Arial" pitchFamily="34" charset="0"/>
                        <a:buNone/>
                        <a:tabLst/>
                        <a:defRPr/>
                      </a:pPr>
                      <a:r>
                        <a:rPr lang="en-US" sz="850" b="1" kern="1200" dirty="0" smtClean="0">
                          <a:solidFill>
                            <a:schemeClr val="dk1"/>
                          </a:solidFill>
                          <a:latin typeface="+mn-lt"/>
                          <a:ea typeface="+mn-ea"/>
                          <a:cs typeface="+mn-cs"/>
                        </a:rPr>
                        <a:t>Manage Uncertainty</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850" kern="1200" dirty="0" smtClean="0">
                          <a:solidFill>
                            <a:schemeClr val="dk1"/>
                          </a:solidFill>
                          <a:latin typeface="+mn-lt"/>
                          <a:ea typeface="+mn-ea"/>
                          <a:cs typeface="Times New Roman" pitchFamily="18" charset="0"/>
                        </a:rPr>
                        <a:t>Shift thinking from uncertainty as an obstacle to an opportunity. Participants will analyze multiple scenarios, develop nimble strategies, implement them using an options approach </a:t>
                      </a:r>
                      <a:r>
                        <a:rPr lang="en-US" sz="850" kern="1200" baseline="0" dirty="0" smtClean="0">
                          <a:solidFill>
                            <a:schemeClr val="dk1"/>
                          </a:solidFill>
                          <a:latin typeface="+mn-lt"/>
                          <a:ea typeface="+mn-ea"/>
                          <a:cs typeface="Times New Roman" pitchFamily="18" charset="0"/>
                        </a:rPr>
                        <a:t>and </a:t>
                      </a:r>
                      <a:r>
                        <a:rPr lang="en-US" sz="850" kern="1200" dirty="0" smtClean="0">
                          <a:solidFill>
                            <a:schemeClr val="dk1"/>
                          </a:solidFill>
                          <a:latin typeface="+mn-lt"/>
                          <a:ea typeface="+mn-ea"/>
                          <a:cs typeface="Times New Roman" pitchFamily="18" charset="0"/>
                        </a:rPr>
                        <a:t>make real-time adjustments.</a:t>
                      </a:r>
                      <a:endParaRPr lang="en-US" sz="850" dirty="0">
                        <a:latin typeface="+mn-lt"/>
                      </a:endParaRPr>
                    </a:p>
                  </a:txBody>
                  <a:tcPr anchor="ctr"/>
                </a:tc>
                <a:tc>
                  <a:txBody>
                    <a:bodyPr/>
                    <a:lstStyle/>
                    <a:p>
                      <a:pPr marL="111125" marR="0" lvl="0" indent="-111125" algn="l" defTabSz="914400" rtl="0" eaLnBrk="1" fontAlgn="auto" latinLnBrk="0" hangingPunct="1">
                        <a:lnSpc>
                          <a:spcPct val="100000"/>
                        </a:lnSpc>
                        <a:spcBef>
                          <a:spcPts val="0"/>
                        </a:spcBef>
                        <a:spcAft>
                          <a:spcPts val="0"/>
                        </a:spcAft>
                        <a:buClrTx/>
                        <a:buSzTx/>
                        <a:buFont typeface="Arial" pitchFamily="34" charset="0"/>
                        <a:buNone/>
                        <a:tabLst/>
                        <a:defRPr/>
                      </a:pPr>
                      <a:r>
                        <a:rPr lang="en-US" sz="850" b="1" kern="1200" dirty="0" smtClean="0">
                          <a:solidFill>
                            <a:schemeClr val="dk1"/>
                          </a:solidFill>
                          <a:latin typeface="+mn-lt"/>
                          <a:ea typeface="+mn-ea"/>
                          <a:cs typeface="+mn-cs"/>
                        </a:rPr>
                        <a:t>Challenge Simulation Report Outs </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850" kern="1200" dirty="0" smtClean="0">
                          <a:solidFill>
                            <a:schemeClr val="dk1"/>
                          </a:solidFill>
                          <a:latin typeface="+mn-lt"/>
                          <a:ea typeface="+mn-ea"/>
                          <a:cs typeface="Times New Roman" pitchFamily="18" charset="0"/>
                        </a:rPr>
                        <a:t>Teams walk through their decision making process and defend their decisions;</a:t>
                      </a:r>
                      <a:r>
                        <a:rPr lang="en-US" sz="850" kern="1200" baseline="0" dirty="0" smtClean="0">
                          <a:solidFill>
                            <a:schemeClr val="dk1"/>
                          </a:solidFill>
                          <a:latin typeface="+mn-lt"/>
                          <a:ea typeface="+mn-ea"/>
                          <a:cs typeface="Times New Roman" pitchFamily="18" charset="0"/>
                        </a:rPr>
                        <a:t> the other teams challenge their thinking. </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None/>
                        <a:tabLst/>
                        <a:defRPr/>
                      </a:pPr>
                      <a:r>
                        <a:rPr lang="en-US" sz="850" b="1" kern="1200" dirty="0" smtClean="0">
                          <a:solidFill>
                            <a:schemeClr val="dk1"/>
                          </a:solidFill>
                          <a:latin typeface="+mn-lt"/>
                          <a:ea typeface="+mn-ea"/>
                          <a:cs typeface="+mn-cs"/>
                        </a:rPr>
                        <a:t>Individual Planning </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850" kern="1200" dirty="0" smtClean="0">
                          <a:solidFill>
                            <a:schemeClr val="dk1"/>
                          </a:solidFill>
                          <a:latin typeface="+mn-lt"/>
                          <a:ea typeface="+mn-ea"/>
                          <a:cs typeface="Times New Roman" pitchFamily="18" charset="0"/>
                        </a:rPr>
                        <a:t>Participants develop a plan to apply what they learned back on the job and commit to it publicly.</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None/>
                        <a:tabLst/>
                        <a:defRPr/>
                      </a:pPr>
                      <a:r>
                        <a:rPr lang="en-US" sz="850" b="1" kern="1200" dirty="0" smtClean="0">
                          <a:solidFill>
                            <a:schemeClr val="dk1"/>
                          </a:solidFill>
                          <a:latin typeface="+mn-lt"/>
                          <a:ea typeface="+mn-ea"/>
                          <a:cs typeface="+mn-cs"/>
                        </a:rPr>
                        <a:t>Next Steps and Adjourn </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850" kern="1200" dirty="0" smtClean="0">
                          <a:solidFill>
                            <a:schemeClr val="dk1"/>
                          </a:solidFill>
                          <a:latin typeface="+mn-lt"/>
                          <a:ea typeface="+mn-ea"/>
                          <a:cs typeface="Times New Roman" pitchFamily="18" charset="0"/>
                        </a:rPr>
                        <a:t>Review expectations for inter-session work and preview next session (i.e. articles,</a:t>
                      </a:r>
                      <a:r>
                        <a:rPr lang="en-US" sz="850" kern="1200" baseline="0" dirty="0" smtClean="0">
                          <a:solidFill>
                            <a:schemeClr val="dk1"/>
                          </a:solidFill>
                          <a:latin typeface="+mn-lt"/>
                          <a:ea typeface="+mn-ea"/>
                          <a:cs typeface="Times New Roman" pitchFamily="18" charset="0"/>
                        </a:rPr>
                        <a:t> TED Talks, application)</a:t>
                      </a:r>
                      <a:r>
                        <a:rPr lang="en-US" sz="850" kern="1200" dirty="0" smtClean="0">
                          <a:solidFill>
                            <a:schemeClr val="dk1"/>
                          </a:solidFill>
                          <a:latin typeface="+mn-lt"/>
                          <a:ea typeface="+mn-ea"/>
                          <a:cs typeface="Times New Roman" pitchFamily="18" charset="0"/>
                        </a:rPr>
                        <a:t>.</a:t>
                      </a:r>
                      <a:endParaRPr lang="en-US" sz="850" dirty="0">
                        <a:latin typeface="+mn-lt"/>
                      </a:endParaRPr>
                    </a:p>
                  </a:txBody>
                  <a:tcPr anchor="ctr"/>
                </a:tc>
              </a:tr>
              <a:tr h="228600">
                <a:tc>
                  <a:txBody>
                    <a:bodyPr/>
                    <a:lstStyle/>
                    <a:p>
                      <a:pPr algn="ctr"/>
                      <a:r>
                        <a:rPr lang="en-US" sz="850" b="1" dirty="0" smtClean="0">
                          <a:latin typeface="+mn-lt"/>
                        </a:rPr>
                        <a:t>Lunch</a:t>
                      </a:r>
                      <a:endParaRPr lang="en-US" sz="850" b="1" dirty="0">
                        <a:latin typeface="+mn-lt"/>
                      </a:endParaRPr>
                    </a:p>
                  </a:txBody>
                  <a:tcPr anchor="ctr"/>
                </a:tc>
                <a:tc>
                  <a:txBody>
                    <a:bodyPr/>
                    <a:lstStyle/>
                    <a:p>
                      <a:pPr algn="ctr"/>
                      <a:r>
                        <a:rPr lang="en-US" sz="850" b="1" dirty="0" smtClean="0">
                          <a:latin typeface="+mn-lt"/>
                        </a:rPr>
                        <a:t>Lunch</a:t>
                      </a:r>
                      <a:endParaRPr lang="en-US" sz="850" b="1" dirty="0">
                        <a:latin typeface="+mn-lt"/>
                      </a:endParaRPr>
                    </a:p>
                  </a:txBody>
                  <a:tcPr anchor="ctr"/>
                </a:tc>
                <a:tc>
                  <a:txBody>
                    <a:bodyPr/>
                    <a:lstStyle/>
                    <a:p>
                      <a:pPr algn="ctr"/>
                      <a:r>
                        <a:rPr lang="en-US" sz="850" b="1" dirty="0" smtClean="0">
                          <a:latin typeface="+mn-lt"/>
                        </a:rPr>
                        <a:t>Adjourn</a:t>
                      </a:r>
                      <a:endParaRPr lang="en-US" sz="850" b="1" dirty="0">
                        <a:latin typeface="+mn-lt"/>
                      </a:endParaRPr>
                    </a:p>
                  </a:txBody>
                  <a:tcPr anchor="ctr"/>
                </a:tc>
              </a:tr>
              <a:tr h="487680">
                <a:tc>
                  <a:txBody>
                    <a:bodyPr/>
                    <a:lstStyle/>
                    <a:p>
                      <a:pPr marL="111125" lvl="0" indent="-111125" algn="l" defTabSz="914400" rtl="0" eaLnBrk="1" latinLnBrk="0" hangingPunct="1">
                        <a:buFont typeface="Arial" pitchFamily="34" charset="0"/>
                        <a:buNone/>
                      </a:pPr>
                      <a:r>
                        <a:rPr lang="en-US" sz="850" b="1" dirty="0" smtClean="0">
                          <a:latin typeface="+mn-lt"/>
                        </a:rPr>
                        <a:t>Internal Facilitators for the afternoon:</a:t>
                      </a:r>
                    </a:p>
                    <a:p>
                      <a:pPr marL="111125" lvl="0" indent="-111125" algn="l" defTabSz="914400" rtl="0" eaLnBrk="1" latinLnBrk="0" hangingPunct="1">
                        <a:buFont typeface="Arial" pitchFamily="34" charset="0"/>
                        <a:buChar char="•"/>
                      </a:pPr>
                      <a:r>
                        <a:rPr lang="en-US" sz="850" b="0" dirty="0" smtClean="0">
                          <a:latin typeface="+mn-lt"/>
                        </a:rPr>
                        <a:t>Ruth Fowler (and COO if hired) – early afternoon</a:t>
                      </a:r>
                    </a:p>
                    <a:p>
                      <a:pPr marL="111125" lvl="0" indent="-111125" algn="l" defTabSz="914400" rtl="0" eaLnBrk="1" latinLnBrk="0" hangingPunct="1">
                        <a:buFont typeface="Arial" pitchFamily="34" charset="0"/>
                        <a:buChar char="•"/>
                      </a:pPr>
                      <a:r>
                        <a:rPr lang="en-US" sz="850" b="0" dirty="0" smtClean="0">
                          <a:latin typeface="+mn-lt"/>
                        </a:rPr>
                        <a:t>Donna Hyland – late afternoon</a:t>
                      </a:r>
                    </a:p>
                  </a:txBody>
                  <a:tcPr anchor="ctr">
                    <a:solidFill>
                      <a:schemeClr val="accent3">
                        <a:lumMod val="40000"/>
                        <a:lumOff val="60000"/>
                      </a:schemeClr>
                    </a:solidFill>
                  </a:tcPr>
                </a:tc>
                <a:tc>
                  <a:txBody>
                    <a:bodyPr/>
                    <a:lstStyle/>
                    <a:p>
                      <a:pPr marL="111125" lvl="0" indent="-111125">
                        <a:buFont typeface="Arial" pitchFamily="34" charset="0"/>
                        <a:buNone/>
                      </a:pPr>
                      <a:r>
                        <a:rPr lang="en-US" sz="850" b="1" kern="1200" baseline="0" dirty="0" smtClean="0">
                          <a:solidFill>
                            <a:schemeClr val="tx1"/>
                          </a:solidFill>
                          <a:latin typeface="+mn-lt"/>
                          <a:ea typeface="+mn-ea"/>
                          <a:cs typeface="Times New Roman" pitchFamily="18" charset="0"/>
                        </a:rPr>
                        <a:t>External Facilitator (Continued):</a:t>
                      </a:r>
                    </a:p>
                    <a:p>
                      <a:pPr marL="111125" lvl="0" indent="-111125">
                        <a:buFont typeface="Arial" pitchFamily="34" charset="0"/>
                        <a:buChar char="•"/>
                      </a:pPr>
                      <a:r>
                        <a:rPr lang="en-US" sz="850" b="1" kern="1200" baseline="0" dirty="0" smtClean="0">
                          <a:solidFill>
                            <a:schemeClr val="tx1"/>
                          </a:solidFill>
                          <a:latin typeface="+mn-lt"/>
                          <a:ea typeface="+mn-ea"/>
                          <a:cs typeface="Times New Roman" pitchFamily="18" charset="0"/>
                        </a:rPr>
                        <a:t>Kathy Pearson, MD </a:t>
                      </a:r>
                      <a:r>
                        <a:rPr lang="en-US" sz="850" kern="1200" baseline="0" dirty="0" smtClean="0">
                          <a:solidFill>
                            <a:schemeClr val="tx1"/>
                          </a:solidFill>
                          <a:latin typeface="+mn-lt"/>
                          <a:ea typeface="+mn-ea"/>
                          <a:cs typeface="Times New Roman" pitchFamily="18" charset="0"/>
                        </a:rPr>
                        <a:t>- Expertise: Health care, critical thinking, scenario planning, decision making</a:t>
                      </a:r>
                    </a:p>
                  </a:txBody>
                  <a:tcPr anchor="ctr">
                    <a:solidFill>
                      <a:schemeClr val="accent3">
                        <a:lumMod val="40000"/>
                        <a:lumOff val="60000"/>
                      </a:schemeClr>
                    </a:solidFill>
                  </a:tcPr>
                </a:tc>
                <a:tc rowSpan="4">
                  <a:txBody>
                    <a:bodyPr/>
                    <a:lstStyle/>
                    <a:p>
                      <a:endParaRPr lang="en-US" sz="850" dirty="0">
                        <a:latin typeface="+mn-lt"/>
                      </a:endParaRPr>
                    </a:p>
                  </a:txBody>
                  <a:tcPr anchor="ctr"/>
                </a:tc>
              </a:tr>
              <a:tr h="370840">
                <a:tc>
                  <a:txBody>
                    <a:bodyPr/>
                    <a:lstStyle/>
                    <a:p>
                      <a:pPr marL="111125" indent="-111125" algn="l" defTabSz="914400" rtl="0" eaLnBrk="1" latinLnBrk="0" hangingPunct="1">
                        <a:buFont typeface="Arial" pitchFamily="34" charset="0"/>
                        <a:buNone/>
                      </a:pPr>
                      <a:r>
                        <a:rPr lang="en-US" sz="850" b="1" kern="1200" dirty="0" smtClean="0">
                          <a:solidFill>
                            <a:schemeClr val="dk1"/>
                          </a:solidFill>
                          <a:latin typeface="+mn-lt"/>
                          <a:ea typeface="+mn-ea"/>
                          <a:cs typeface="+mn-cs"/>
                        </a:rPr>
                        <a:t>Understand Issues: Ruth Fowler</a:t>
                      </a:r>
                    </a:p>
                    <a:p>
                      <a:pPr marL="111125" lvl="0" indent="-111125" algn="l" defTabSz="914400" rtl="0" eaLnBrk="1" latinLnBrk="0" hangingPunct="1">
                        <a:buFont typeface="Arial" pitchFamily="34" charset="0"/>
                        <a:buChar char="•"/>
                      </a:pPr>
                      <a:r>
                        <a:rPr lang="en-US" sz="850" kern="1200" dirty="0" smtClean="0">
                          <a:solidFill>
                            <a:schemeClr val="dk1"/>
                          </a:solidFill>
                          <a:latin typeface="+mn-lt"/>
                          <a:ea typeface="+mn-ea"/>
                          <a:cs typeface="Times New Roman" pitchFamily="18" charset="0"/>
                        </a:rPr>
                        <a:t>Review Children’s financials, business mix and current position in changing landscape.</a:t>
                      </a:r>
                      <a:endParaRPr lang="en-US" sz="850" dirty="0">
                        <a:latin typeface="+mn-lt"/>
                      </a:endParaRPr>
                    </a:p>
                  </a:txBody>
                  <a:tcPr anchor="ctr"/>
                </a:tc>
                <a:tc rowSpan="3">
                  <a:txBody>
                    <a:bodyPr/>
                    <a:lstStyle/>
                    <a:p>
                      <a:pPr marL="111125" marR="0" indent="-111125" algn="l" defTabSz="914400" rtl="0" eaLnBrk="1" fontAlgn="auto" latinLnBrk="0" hangingPunct="1">
                        <a:lnSpc>
                          <a:spcPct val="100000"/>
                        </a:lnSpc>
                        <a:spcBef>
                          <a:spcPts val="0"/>
                        </a:spcBef>
                        <a:spcAft>
                          <a:spcPts val="0"/>
                        </a:spcAft>
                        <a:buClrTx/>
                        <a:buSzTx/>
                        <a:buFont typeface="Arial" pitchFamily="34" charset="0"/>
                        <a:buNone/>
                        <a:tabLst/>
                        <a:defRPr/>
                      </a:pPr>
                      <a:r>
                        <a:rPr lang="en-US" sz="850" b="1" kern="1200" dirty="0" smtClean="0">
                          <a:solidFill>
                            <a:schemeClr val="dk1"/>
                          </a:solidFill>
                          <a:latin typeface="+mn-lt"/>
                          <a:ea typeface="+mn-ea"/>
                          <a:cs typeface="+mn-cs"/>
                        </a:rPr>
                        <a:t>Get (Sustainable) Results</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850" kern="1200" dirty="0" smtClean="0">
                          <a:solidFill>
                            <a:schemeClr val="dk1"/>
                          </a:solidFill>
                          <a:latin typeface="+mn-lt"/>
                          <a:ea typeface="+mn-ea"/>
                          <a:cs typeface="Times New Roman" pitchFamily="18" charset="0"/>
                        </a:rPr>
                        <a:t>Lecture and best</a:t>
                      </a:r>
                      <a:r>
                        <a:rPr lang="en-US" sz="850" kern="1200" baseline="0" dirty="0" smtClean="0">
                          <a:solidFill>
                            <a:schemeClr val="dk1"/>
                          </a:solidFill>
                          <a:latin typeface="+mn-lt"/>
                          <a:ea typeface="+mn-ea"/>
                          <a:cs typeface="Times New Roman" pitchFamily="18" charset="0"/>
                        </a:rPr>
                        <a:t> practice examples used to teach need to b</a:t>
                      </a:r>
                      <a:r>
                        <a:rPr lang="en-US" sz="850" kern="1200" dirty="0" smtClean="0">
                          <a:solidFill>
                            <a:schemeClr val="dk1"/>
                          </a:solidFill>
                          <a:latin typeface="+mn-lt"/>
                          <a:ea typeface="+mn-ea"/>
                          <a:cs typeface="Times New Roman" pitchFamily="18" charset="0"/>
                        </a:rPr>
                        <a:t>alance both short and long-term results, explore best practices.</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850" kern="1200" dirty="0" smtClean="0">
                          <a:solidFill>
                            <a:schemeClr val="dk1"/>
                          </a:solidFill>
                          <a:latin typeface="+mn-lt"/>
                          <a:ea typeface="+mn-ea"/>
                          <a:cs typeface="Times New Roman" pitchFamily="18" charset="0"/>
                        </a:rPr>
                        <a:t>Use</a:t>
                      </a:r>
                      <a:r>
                        <a:rPr lang="en-US" sz="850" kern="1200" baseline="0" dirty="0" smtClean="0">
                          <a:solidFill>
                            <a:schemeClr val="dk1"/>
                          </a:solidFill>
                          <a:latin typeface="+mn-lt"/>
                          <a:ea typeface="+mn-ea"/>
                          <a:cs typeface="Times New Roman" pitchFamily="18" charset="0"/>
                        </a:rPr>
                        <a:t> of case study designed to demonstrate best practice example of sustained results.</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850" kern="1200" baseline="0" dirty="0" smtClean="0">
                          <a:solidFill>
                            <a:schemeClr val="dk1"/>
                          </a:solidFill>
                          <a:latin typeface="+mn-lt"/>
                          <a:ea typeface="+mn-ea"/>
                          <a:cs typeface="Times New Roman" pitchFamily="18" charset="0"/>
                        </a:rPr>
                        <a:t>Participants identify real business issues facing them today.</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850" kern="1200" baseline="0" dirty="0" smtClean="0">
                          <a:solidFill>
                            <a:schemeClr val="dk1"/>
                          </a:solidFill>
                          <a:latin typeface="+mn-lt"/>
                          <a:ea typeface="+mn-ea"/>
                          <a:cs typeface="Times New Roman" pitchFamily="18" charset="0"/>
                        </a:rPr>
                        <a:t>Team discussion designed to apply principles, leverage external and internal trends and determine the course to sustainable outcomes. </a:t>
                      </a:r>
                      <a:endParaRPr lang="en-US" sz="850" dirty="0">
                        <a:latin typeface="+mn-lt"/>
                      </a:endParaRPr>
                    </a:p>
                  </a:txBody>
                  <a:tcPr anchor="ctr"/>
                </a:tc>
                <a:tc vMerge="1">
                  <a:txBody>
                    <a:bodyPr/>
                    <a:lstStyle/>
                    <a:p>
                      <a:endParaRPr lang="en-US" sz="850" dirty="0">
                        <a:latin typeface="+mn-lt"/>
                      </a:endParaRPr>
                    </a:p>
                  </a:txBody>
                  <a:tcPr anchor="ctr"/>
                </a:tc>
              </a:tr>
              <a:tr h="370840">
                <a:tc>
                  <a:txBody>
                    <a:bodyPr/>
                    <a:lstStyle/>
                    <a:p>
                      <a:pPr marL="111125" marR="0" indent="-111125" algn="l" defTabSz="914400" rtl="0" eaLnBrk="1" fontAlgn="auto" latinLnBrk="0" hangingPunct="1">
                        <a:lnSpc>
                          <a:spcPct val="100000"/>
                        </a:lnSpc>
                        <a:spcBef>
                          <a:spcPts val="0"/>
                        </a:spcBef>
                        <a:spcAft>
                          <a:spcPts val="0"/>
                        </a:spcAft>
                        <a:buClrTx/>
                        <a:buSzTx/>
                        <a:buFont typeface="Arial" pitchFamily="34" charset="0"/>
                        <a:buNone/>
                        <a:tabLst/>
                        <a:defRPr/>
                      </a:pPr>
                      <a:r>
                        <a:rPr lang="en-US" sz="850" b="1" kern="1200" dirty="0" smtClean="0">
                          <a:solidFill>
                            <a:schemeClr val="dk1"/>
                          </a:solidFill>
                          <a:latin typeface="+mn-lt"/>
                          <a:ea typeface="+mn-ea"/>
                          <a:cs typeface="+mn-cs"/>
                        </a:rPr>
                        <a:t>Tour: Research Center</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850" kern="1200" dirty="0" smtClean="0">
                          <a:solidFill>
                            <a:schemeClr val="dk1"/>
                          </a:solidFill>
                          <a:latin typeface="+mn-lt"/>
                          <a:ea typeface="+mn-ea"/>
                          <a:cs typeface="Times New Roman" pitchFamily="18" charset="0"/>
                        </a:rPr>
                        <a:t>Experience advancements in pediatrics.</a:t>
                      </a:r>
                    </a:p>
                    <a:p>
                      <a:pPr marL="111125" marR="0" indent="-111125" algn="l" defTabSz="914400" rtl="0" eaLnBrk="1" fontAlgn="auto" latinLnBrk="0" hangingPunct="1">
                        <a:lnSpc>
                          <a:spcPct val="100000"/>
                        </a:lnSpc>
                        <a:spcBef>
                          <a:spcPts val="0"/>
                        </a:spcBef>
                        <a:spcAft>
                          <a:spcPts val="0"/>
                        </a:spcAft>
                        <a:buClrTx/>
                        <a:buSzTx/>
                        <a:buFont typeface="Arial" pitchFamily="34" charset="0"/>
                        <a:buNone/>
                        <a:tabLst/>
                        <a:defRPr/>
                      </a:pPr>
                      <a:r>
                        <a:rPr lang="en-US" sz="850" b="1" kern="1200" dirty="0" smtClean="0">
                          <a:solidFill>
                            <a:schemeClr val="dk1"/>
                          </a:solidFill>
                          <a:latin typeface="+mn-lt"/>
                          <a:ea typeface="+mn-ea"/>
                          <a:cs typeface="+mn-cs"/>
                        </a:rPr>
                        <a:t>Fireside Chat with CEO </a:t>
                      </a:r>
                      <a:r>
                        <a:rPr lang="en-US" sz="850" b="1" kern="1200" baseline="0" dirty="0" smtClean="0">
                          <a:solidFill>
                            <a:schemeClr val="dk1"/>
                          </a:solidFill>
                          <a:latin typeface="+mn-lt"/>
                          <a:ea typeface="+mn-ea"/>
                          <a:cs typeface="+mn-cs"/>
                        </a:rPr>
                        <a:t>(onsite at Research Ctr)</a:t>
                      </a:r>
                      <a:endParaRPr lang="en-US" sz="850" b="1" kern="1200" dirty="0" smtClean="0">
                        <a:solidFill>
                          <a:schemeClr val="dk1"/>
                        </a:solidFill>
                        <a:latin typeface="+mn-lt"/>
                        <a:ea typeface="+mn-ea"/>
                        <a:cs typeface="+mn-cs"/>
                      </a:endParaRPr>
                    </a:p>
                    <a:p>
                      <a:pPr marL="111125" marR="0" lvl="0" indent="-1111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850" kern="1200" dirty="0" smtClean="0">
                          <a:solidFill>
                            <a:schemeClr val="dk1"/>
                          </a:solidFill>
                          <a:latin typeface="+mn-lt"/>
                          <a:ea typeface="+mn-ea"/>
                          <a:cs typeface="Times New Roman" pitchFamily="18" charset="0"/>
                        </a:rPr>
                        <a:t>Participants prepare questions in advance</a:t>
                      </a:r>
                      <a:r>
                        <a:rPr lang="en-US" sz="850" kern="1200" baseline="0" dirty="0" smtClean="0">
                          <a:solidFill>
                            <a:schemeClr val="dk1"/>
                          </a:solidFill>
                          <a:latin typeface="+mn-lt"/>
                          <a:ea typeface="+mn-ea"/>
                          <a:cs typeface="Times New Roman" pitchFamily="18" charset="0"/>
                        </a:rPr>
                        <a:t> </a:t>
                      </a:r>
                      <a:r>
                        <a:rPr lang="en-US" sz="850" kern="1200" dirty="0" smtClean="0">
                          <a:solidFill>
                            <a:schemeClr val="dk1"/>
                          </a:solidFill>
                          <a:latin typeface="+mn-lt"/>
                          <a:ea typeface="+mn-ea"/>
                          <a:cs typeface="Times New Roman" pitchFamily="18" charset="0"/>
                        </a:rPr>
                        <a:t>for discussion with Donna (or ET member) based on what they learned. Participants left </a:t>
                      </a:r>
                      <a:r>
                        <a:rPr lang="en-US" sz="850" kern="1200" baseline="0" dirty="0" smtClean="0">
                          <a:solidFill>
                            <a:schemeClr val="dk1"/>
                          </a:solidFill>
                          <a:latin typeface="+mn-lt"/>
                          <a:ea typeface="+mn-ea"/>
                          <a:cs typeface="Times New Roman" pitchFamily="18" charset="0"/>
                        </a:rPr>
                        <a:t>with business challenges to discuss and resolve. </a:t>
                      </a:r>
                      <a:endParaRPr lang="en-US" sz="850" dirty="0">
                        <a:latin typeface="+mn-lt"/>
                      </a:endParaRPr>
                    </a:p>
                  </a:txBody>
                  <a:tcPr anchor="ctr"/>
                </a:tc>
                <a:tc vMerge="1">
                  <a:txBody>
                    <a:bodyPr/>
                    <a:lstStyle/>
                    <a:p>
                      <a:endParaRPr lang="en-US" sz="850" dirty="0">
                        <a:latin typeface="+mn-lt"/>
                      </a:endParaRPr>
                    </a:p>
                  </a:txBody>
                  <a:tcPr anchor="ctr"/>
                </a:tc>
                <a:tc vMerge="1">
                  <a:txBody>
                    <a:bodyPr/>
                    <a:lstStyle/>
                    <a:p>
                      <a:endParaRPr lang="en-US" sz="850" dirty="0">
                        <a:latin typeface="+mn-lt"/>
                      </a:endParaRPr>
                    </a:p>
                  </a:txBody>
                  <a:tcPr anchor="ctr"/>
                </a:tc>
              </a:tr>
              <a:tr h="370840">
                <a:tc>
                  <a:txBody>
                    <a:bodyPr/>
                    <a:lstStyle/>
                    <a:p>
                      <a:pPr marL="111125" marR="0" lvl="0" indent="-111125" algn="l" defTabSz="914400" rtl="0" eaLnBrk="1" fontAlgn="auto" latinLnBrk="0" hangingPunct="1">
                        <a:lnSpc>
                          <a:spcPct val="100000"/>
                        </a:lnSpc>
                        <a:spcBef>
                          <a:spcPts val="0"/>
                        </a:spcBef>
                        <a:spcAft>
                          <a:spcPts val="0"/>
                        </a:spcAft>
                        <a:buClrTx/>
                        <a:buSzTx/>
                        <a:buFont typeface="Arial" pitchFamily="34" charset="0"/>
                        <a:buNone/>
                        <a:tabLst/>
                        <a:defRPr/>
                      </a:pPr>
                      <a:r>
                        <a:rPr lang="en-US" sz="850" b="1" dirty="0" smtClean="0">
                          <a:latin typeface="+mn-lt"/>
                        </a:rPr>
                        <a:t>Cocktail Hour with Executive Team</a:t>
                      </a:r>
                      <a:r>
                        <a:rPr lang="en-US" sz="850" b="1" baseline="0" dirty="0" smtClean="0">
                          <a:latin typeface="+mn-lt"/>
                        </a:rPr>
                        <a:t> and Participants</a:t>
                      </a:r>
                      <a:endParaRPr lang="en-US" sz="850" b="1" dirty="0" smtClean="0">
                        <a:latin typeface="+mn-lt"/>
                      </a:endParaRPr>
                    </a:p>
                  </a:txBody>
                  <a:tcPr anchor="ctr">
                    <a:solidFill>
                      <a:schemeClr val="accent2">
                        <a:lumMod val="20000"/>
                        <a:lumOff val="80000"/>
                      </a:schemeClr>
                    </a:solidFill>
                  </a:tcPr>
                </a:tc>
                <a:tc vMerge="1">
                  <a:txBody>
                    <a:bodyPr/>
                    <a:lstStyle/>
                    <a:p>
                      <a:endParaRPr lang="en-US" sz="850" dirty="0">
                        <a:latin typeface="+mn-lt"/>
                      </a:endParaRPr>
                    </a:p>
                  </a:txBody>
                  <a:tcPr anchor="ctr">
                    <a:solidFill>
                      <a:schemeClr val="accent2">
                        <a:lumMod val="20000"/>
                        <a:lumOff val="80000"/>
                      </a:schemeClr>
                    </a:solidFill>
                  </a:tcPr>
                </a:tc>
                <a:tc vMerge="1">
                  <a:txBody>
                    <a:bodyPr/>
                    <a:lstStyle/>
                    <a:p>
                      <a:endParaRPr lang="en-US" sz="850" dirty="0">
                        <a:latin typeface="+mn-lt"/>
                      </a:endParaRPr>
                    </a:p>
                  </a:txBody>
                  <a:tcPr anchor="ctr">
                    <a:solidFill>
                      <a:schemeClr val="accent2">
                        <a:lumMod val="20000"/>
                        <a:lumOff val="80000"/>
                      </a:schemeClr>
                    </a:solidFill>
                  </a:tcPr>
                </a:tc>
              </a:tr>
            </a:tbl>
          </a:graphicData>
        </a:graphic>
      </p:graphicFrame>
      <p:sp>
        <p:nvSpPr>
          <p:cNvPr id="7" name="TextBox 6"/>
          <p:cNvSpPr txBox="1"/>
          <p:nvPr/>
        </p:nvSpPr>
        <p:spPr>
          <a:xfrm>
            <a:off x="6629400" y="4800600"/>
            <a:ext cx="2209800" cy="1785104"/>
          </a:xfrm>
          <a:prstGeom prst="rect">
            <a:avLst/>
          </a:prstGeom>
          <a:solidFill>
            <a:srgbClr val="FFFF99"/>
          </a:solidFill>
        </p:spPr>
        <p:txBody>
          <a:bodyPr wrap="square" rtlCol="0">
            <a:spAutoFit/>
          </a:bodyPr>
          <a:lstStyle/>
          <a:p>
            <a:r>
              <a:rPr lang="en-US" sz="1000" b="1" dirty="0" smtClean="0">
                <a:latin typeface="+mn-lt"/>
              </a:rPr>
              <a:t>Note:</a:t>
            </a:r>
          </a:p>
          <a:p>
            <a:r>
              <a:rPr lang="en-US" sz="1000" dirty="0" smtClean="0">
                <a:latin typeface="+mn-lt"/>
              </a:rPr>
              <a:t>External Facilitators will be on site throughout each workshop session in its entirety.</a:t>
            </a:r>
          </a:p>
          <a:p>
            <a:endParaRPr lang="en-US" sz="1000" dirty="0" smtClean="0">
              <a:latin typeface="+mn-lt"/>
            </a:endParaRPr>
          </a:p>
          <a:p>
            <a:r>
              <a:rPr lang="en-US" sz="1000" dirty="0" smtClean="0">
                <a:latin typeface="+mn-lt"/>
              </a:rPr>
              <a:t>Preparation will be done with all external facilitators to ensure continuity. </a:t>
            </a:r>
          </a:p>
          <a:p>
            <a:endParaRPr lang="en-US" sz="1000" dirty="0" smtClean="0">
              <a:latin typeface="+mn-lt"/>
            </a:endParaRPr>
          </a:p>
          <a:p>
            <a:r>
              <a:rPr lang="en-US" sz="1000" dirty="0" smtClean="0">
                <a:latin typeface="+mn-lt"/>
              </a:rPr>
              <a:t>Internal ET member participation will be critical to connecting back to the operation.</a:t>
            </a:r>
            <a:endParaRPr lang="en-US" sz="1000" dirty="0">
              <a:latin typeface="+mn-lt"/>
            </a:endParaRPr>
          </a:p>
        </p:txBody>
      </p:sp>
      <p:sp>
        <p:nvSpPr>
          <p:cNvPr id="8" name="Slide Number Placeholder 7"/>
          <p:cNvSpPr>
            <a:spLocks noGrp="1"/>
          </p:cNvSpPr>
          <p:nvPr>
            <p:ph type="sldNum" sz="quarter" idx="10"/>
          </p:nvPr>
        </p:nvSpPr>
        <p:spPr/>
        <p:txBody>
          <a:bodyPr/>
          <a:lstStyle/>
          <a:p>
            <a:pPr>
              <a:defRPr/>
            </a:pPr>
            <a:fld id="{01D945C9-0277-4107-B589-EC55ECD240BC}" type="slidenum">
              <a:rPr lang="en-US" smtClean="0"/>
              <a:pPr>
                <a:defRPr/>
              </a:pPr>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6675"/>
            <a:ext cx="8229600" cy="762000"/>
          </a:xfrm>
        </p:spPr>
        <p:txBody>
          <a:bodyPr/>
          <a:lstStyle/>
          <a:p>
            <a:r>
              <a:rPr lang="en-US" sz="2800" dirty="0" smtClean="0"/>
              <a:t>Workshop 2: Lead Your Business</a:t>
            </a:r>
            <a:endParaRPr lang="en-US" sz="2800" dirty="0"/>
          </a:p>
        </p:txBody>
      </p:sp>
      <p:graphicFrame>
        <p:nvGraphicFramePr>
          <p:cNvPr id="5" name="Content Placeholder 4"/>
          <p:cNvGraphicFramePr>
            <a:graphicFrameLocks noGrp="1"/>
          </p:cNvGraphicFramePr>
          <p:nvPr>
            <p:ph idx="1"/>
          </p:nvPr>
        </p:nvGraphicFramePr>
        <p:xfrm>
          <a:off x="76200" y="552450"/>
          <a:ext cx="8991599" cy="6263640"/>
        </p:xfrm>
        <a:graphic>
          <a:graphicData uri="http://schemas.openxmlformats.org/drawingml/2006/table">
            <a:tbl>
              <a:tblPr firstRow="1" bandRow="1">
                <a:tableStyleId>{5C22544A-7EE6-4342-B048-85BDC9FD1C3A}</a:tableStyleId>
              </a:tblPr>
              <a:tblGrid>
                <a:gridCol w="2819400"/>
                <a:gridCol w="2971800"/>
                <a:gridCol w="3200399"/>
              </a:tblGrid>
              <a:tr h="228600">
                <a:tc>
                  <a:txBody>
                    <a:bodyPr/>
                    <a:lstStyle/>
                    <a:p>
                      <a:pPr algn="ctr"/>
                      <a:r>
                        <a:rPr lang="en-US" sz="1200" dirty="0" smtClean="0">
                          <a:latin typeface="+mn-lt"/>
                        </a:rPr>
                        <a:t>Day 1:</a:t>
                      </a:r>
                      <a:r>
                        <a:rPr lang="en-US" sz="1200" baseline="0" dirty="0" smtClean="0">
                          <a:latin typeface="+mn-lt"/>
                        </a:rPr>
                        <a:t> </a:t>
                      </a:r>
                      <a:r>
                        <a:rPr lang="en-US" sz="1200" b="1" kern="1200" baseline="0" dirty="0" smtClean="0">
                          <a:solidFill>
                            <a:schemeClr val="lt1"/>
                          </a:solidFill>
                          <a:latin typeface="+mn-lt"/>
                          <a:ea typeface="+mn-ea"/>
                          <a:cs typeface="+mn-cs"/>
                        </a:rPr>
                        <a:t>Be Efficient and Consistent</a:t>
                      </a:r>
                      <a:endParaRPr lang="en-US" sz="1200" dirty="0">
                        <a:latin typeface="+mn-lt"/>
                      </a:endParaRPr>
                    </a:p>
                  </a:txBody>
                  <a:tcPr anchor="ctr"/>
                </a:tc>
                <a:tc>
                  <a:txBody>
                    <a:bodyPr/>
                    <a:lstStyle/>
                    <a:p>
                      <a:pPr algn="ctr"/>
                      <a:r>
                        <a:rPr lang="en-US" sz="1200" dirty="0" smtClean="0">
                          <a:latin typeface="+mn-lt"/>
                        </a:rPr>
                        <a:t>Day 2: </a:t>
                      </a:r>
                      <a:r>
                        <a:rPr lang="en-US" sz="1200" b="1" kern="1200" dirty="0" smtClean="0">
                          <a:solidFill>
                            <a:schemeClr val="lt1"/>
                          </a:solidFill>
                          <a:latin typeface="+mn-lt"/>
                          <a:ea typeface="+mn-ea"/>
                          <a:cs typeface="+mn-cs"/>
                        </a:rPr>
                        <a:t>Work Across</a:t>
                      </a:r>
                      <a:r>
                        <a:rPr lang="en-US" sz="1200" b="1" kern="1200" baseline="0" dirty="0" smtClean="0">
                          <a:solidFill>
                            <a:schemeClr val="lt1"/>
                          </a:solidFill>
                          <a:latin typeface="+mn-lt"/>
                          <a:ea typeface="+mn-ea"/>
                          <a:cs typeface="+mn-cs"/>
                        </a:rPr>
                        <a:t> Boundaries</a:t>
                      </a:r>
                      <a:endParaRPr lang="en-US" sz="1200" dirty="0">
                        <a:latin typeface="+mn-lt"/>
                      </a:endParaRPr>
                    </a:p>
                  </a:txBody>
                  <a:tcPr anchor="ctr"/>
                </a:tc>
                <a:tc>
                  <a:txBody>
                    <a:bodyPr/>
                    <a:lstStyle/>
                    <a:p>
                      <a:pPr algn="ctr"/>
                      <a:r>
                        <a:rPr lang="en-US" sz="1200" dirty="0" smtClean="0">
                          <a:latin typeface="+mn-lt"/>
                        </a:rPr>
                        <a:t>Day 3:</a:t>
                      </a:r>
                      <a:r>
                        <a:rPr lang="en-US" sz="1200" baseline="0" dirty="0" smtClean="0">
                          <a:latin typeface="+mn-lt"/>
                        </a:rPr>
                        <a:t> Tell the Story</a:t>
                      </a:r>
                      <a:endParaRPr lang="en-US" sz="1200" dirty="0">
                        <a:latin typeface="+mn-lt"/>
                      </a:endParaRPr>
                    </a:p>
                  </a:txBody>
                  <a:tcPr anchor="ctr"/>
                </a:tc>
              </a:tr>
              <a:tr h="497205">
                <a:tc>
                  <a:txBody>
                    <a:bodyPr/>
                    <a:lstStyle/>
                    <a:p>
                      <a:pPr marL="111125" indent="-111125">
                        <a:buFont typeface="Arial" pitchFamily="34" charset="0"/>
                        <a:buNone/>
                      </a:pPr>
                      <a:r>
                        <a:rPr lang="en-US" sz="900" b="1" kern="1200" dirty="0" smtClean="0">
                          <a:solidFill>
                            <a:schemeClr val="dk1"/>
                          </a:solidFill>
                          <a:latin typeface="+mn-lt"/>
                          <a:ea typeface="+mn-ea"/>
                          <a:cs typeface="+mn-cs"/>
                        </a:rPr>
                        <a:t>Leader Welcome – (COO/Linda or Dan)</a:t>
                      </a:r>
                    </a:p>
                    <a:p>
                      <a:pPr marL="111125" lvl="0" indent="-111125">
                        <a:buFont typeface="Arial" pitchFamily="34" charset="0"/>
                        <a:buChar char="•"/>
                      </a:pPr>
                      <a:r>
                        <a:rPr lang="en-US" sz="900" kern="1200" dirty="0" smtClean="0">
                          <a:solidFill>
                            <a:schemeClr val="dk1"/>
                          </a:solidFill>
                          <a:latin typeface="+mn-lt"/>
                          <a:ea typeface="+mn-ea"/>
                          <a:cs typeface="Times New Roman" pitchFamily="18" charset="0"/>
                        </a:rPr>
                        <a:t>Welcome participants, </a:t>
                      </a:r>
                      <a:r>
                        <a:rPr lang="en-US" sz="900" kern="1200" baseline="0" dirty="0" smtClean="0">
                          <a:solidFill>
                            <a:schemeClr val="dk1"/>
                          </a:solidFill>
                          <a:latin typeface="+mn-lt"/>
                          <a:ea typeface="+mn-ea"/>
                          <a:cs typeface="Times New Roman" pitchFamily="18" charset="0"/>
                        </a:rPr>
                        <a:t>r</a:t>
                      </a:r>
                      <a:r>
                        <a:rPr lang="en-US" sz="900" kern="1200" dirty="0" smtClean="0">
                          <a:solidFill>
                            <a:schemeClr val="dk1"/>
                          </a:solidFill>
                          <a:latin typeface="+mn-lt"/>
                          <a:ea typeface="+mn-ea"/>
                          <a:cs typeface="Times New Roman" pitchFamily="18" charset="0"/>
                        </a:rPr>
                        <a:t>eview program agenda and objectives.</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900" kern="1200" dirty="0" smtClean="0">
                          <a:solidFill>
                            <a:schemeClr val="dk1"/>
                          </a:solidFill>
                          <a:latin typeface="+mn-lt"/>
                          <a:ea typeface="+mn-ea"/>
                          <a:cs typeface="Times New Roman" pitchFamily="18" charset="0"/>
                        </a:rPr>
                        <a:t>Introduce</a:t>
                      </a:r>
                      <a:r>
                        <a:rPr lang="en-US" sz="900" kern="1200" baseline="0" dirty="0" smtClean="0">
                          <a:solidFill>
                            <a:schemeClr val="dk1"/>
                          </a:solidFill>
                          <a:latin typeface="+mn-lt"/>
                          <a:ea typeface="+mn-ea"/>
                          <a:cs typeface="Times New Roman" pitchFamily="18" charset="0"/>
                        </a:rPr>
                        <a:t> facilitators for the day</a:t>
                      </a:r>
                      <a:endParaRPr lang="en-US" sz="900" dirty="0">
                        <a:latin typeface="+mn-lt"/>
                      </a:endParaRPr>
                    </a:p>
                  </a:txBody>
                  <a:tcPr anchor="ctr"/>
                </a:tc>
                <a:tc>
                  <a:txBody>
                    <a:bodyPr/>
                    <a:lstStyle/>
                    <a:p>
                      <a:pPr marL="111125" marR="0" lvl="0" indent="-111125" algn="l" defTabSz="914400" rtl="0" eaLnBrk="1" fontAlgn="auto" latinLnBrk="0" hangingPunct="1">
                        <a:lnSpc>
                          <a:spcPct val="100000"/>
                        </a:lnSpc>
                        <a:spcBef>
                          <a:spcPts val="0"/>
                        </a:spcBef>
                        <a:spcAft>
                          <a:spcPts val="0"/>
                        </a:spcAft>
                        <a:buClrTx/>
                        <a:buSzTx/>
                        <a:buFont typeface="Arial" pitchFamily="34" charset="0"/>
                        <a:buNone/>
                        <a:tabLst/>
                        <a:defRPr/>
                      </a:pPr>
                      <a:r>
                        <a:rPr lang="en-US" sz="900" b="1" kern="1200" dirty="0" smtClean="0">
                          <a:solidFill>
                            <a:schemeClr val="dk1"/>
                          </a:solidFill>
                          <a:latin typeface="+mn-lt"/>
                          <a:ea typeface="+mn-ea"/>
                          <a:cs typeface="+mn-cs"/>
                        </a:rPr>
                        <a:t>Overview of the Day</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900" kern="1200" dirty="0" smtClean="0">
                          <a:solidFill>
                            <a:schemeClr val="dk1"/>
                          </a:solidFill>
                          <a:latin typeface="+mn-lt"/>
                          <a:ea typeface="+mn-ea"/>
                          <a:cs typeface="Times New Roman" pitchFamily="18" charset="0"/>
                        </a:rPr>
                        <a:t>Review Day 1 lessons learned and Day 2 agenda.</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900" kern="1200" dirty="0" smtClean="0">
                          <a:solidFill>
                            <a:schemeClr val="dk1"/>
                          </a:solidFill>
                          <a:latin typeface="+mn-lt"/>
                          <a:ea typeface="+mn-ea"/>
                          <a:cs typeface="Times New Roman" pitchFamily="18" charset="0"/>
                        </a:rPr>
                        <a:t>   Introduce</a:t>
                      </a:r>
                      <a:r>
                        <a:rPr lang="en-US" sz="900" kern="1200" baseline="0" dirty="0" smtClean="0">
                          <a:solidFill>
                            <a:schemeClr val="dk1"/>
                          </a:solidFill>
                          <a:latin typeface="+mn-lt"/>
                          <a:ea typeface="+mn-ea"/>
                          <a:cs typeface="Times New Roman" pitchFamily="18" charset="0"/>
                        </a:rPr>
                        <a:t> facilitators for the day</a:t>
                      </a:r>
                      <a:endParaRPr lang="en-US" sz="900" dirty="0">
                        <a:latin typeface="+mn-lt"/>
                      </a:endParaRPr>
                    </a:p>
                  </a:txBody>
                  <a:tcPr anchor="ctr"/>
                </a:tc>
                <a:tc>
                  <a:txBody>
                    <a:bodyPr/>
                    <a:lstStyle/>
                    <a:p>
                      <a:pPr marL="111125" marR="0" lvl="0" indent="-111125" algn="l" defTabSz="914400" rtl="0" eaLnBrk="1" fontAlgn="auto" latinLnBrk="0" hangingPunct="1">
                        <a:lnSpc>
                          <a:spcPct val="100000"/>
                        </a:lnSpc>
                        <a:spcBef>
                          <a:spcPts val="0"/>
                        </a:spcBef>
                        <a:spcAft>
                          <a:spcPts val="0"/>
                        </a:spcAft>
                        <a:buClrTx/>
                        <a:buSzTx/>
                        <a:buFont typeface="Arial" pitchFamily="34" charset="0"/>
                        <a:buNone/>
                        <a:tabLst/>
                        <a:defRPr/>
                      </a:pPr>
                      <a:r>
                        <a:rPr lang="en-US" sz="900" b="1" kern="1200" dirty="0" smtClean="0">
                          <a:solidFill>
                            <a:schemeClr val="dk1"/>
                          </a:solidFill>
                          <a:latin typeface="+mn-lt"/>
                          <a:ea typeface="+mn-ea"/>
                          <a:cs typeface="+mn-cs"/>
                        </a:rPr>
                        <a:t>Overview of the Day</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900" kern="1200" dirty="0" smtClean="0">
                          <a:solidFill>
                            <a:schemeClr val="dk1"/>
                          </a:solidFill>
                          <a:latin typeface="+mn-lt"/>
                          <a:ea typeface="+mn-ea"/>
                          <a:cs typeface="Times New Roman" pitchFamily="18" charset="0"/>
                        </a:rPr>
                        <a:t>Review Day 2 lessons learned and Day 3 agenda.</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900" kern="1200" dirty="0" smtClean="0">
                          <a:solidFill>
                            <a:schemeClr val="dk1"/>
                          </a:solidFill>
                          <a:latin typeface="+mn-lt"/>
                          <a:ea typeface="+mn-ea"/>
                          <a:cs typeface="Times New Roman" pitchFamily="18" charset="0"/>
                        </a:rPr>
                        <a:t>Introduce</a:t>
                      </a:r>
                      <a:r>
                        <a:rPr lang="en-US" sz="900" kern="1200" baseline="0" dirty="0" smtClean="0">
                          <a:solidFill>
                            <a:schemeClr val="dk1"/>
                          </a:solidFill>
                          <a:latin typeface="+mn-lt"/>
                          <a:ea typeface="+mn-ea"/>
                          <a:cs typeface="Times New Roman" pitchFamily="18" charset="0"/>
                        </a:rPr>
                        <a:t> facilitators for the day</a:t>
                      </a:r>
                      <a:endParaRPr lang="en-US" sz="900" kern="1200" dirty="0" smtClean="0">
                        <a:solidFill>
                          <a:schemeClr val="dk1"/>
                        </a:solidFill>
                        <a:latin typeface="+mn-lt"/>
                        <a:ea typeface="+mn-ea"/>
                        <a:cs typeface="Times New Roman" pitchFamily="18" charset="0"/>
                      </a:endParaRPr>
                    </a:p>
                    <a:p>
                      <a:pPr marL="111125" marR="0" lvl="0" indent="-111125" algn="l" defTabSz="914400" rtl="0" eaLnBrk="1" fontAlgn="auto" latinLnBrk="0" hangingPunct="1">
                        <a:lnSpc>
                          <a:spcPct val="100000"/>
                        </a:lnSpc>
                        <a:spcBef>
                          <a:spcPts val="0"/>
                        </a:spcBef>
                        <a:spcAft>
                          <a:spcPts val="0"/>
                        </a:spcAft>
                        <a:buClrTx/>
                        <a:buSzTx/>
                        <a:buFont typeface="Arial" pitchFamily="34" charset="0"/>
                        <a:buNone/>
                        <a:tabLst/>
                        <a:defRPr/>
                      </a:pPr>
                      <a:endParaRPr lang="en-US" sz="900" dirty="0">
                        <a:latin typeface="+mn-lt"/>
                      </a:endParaRPr>
                    </a:p>
                  </a:txBody>
                  <a:tcPr anchor="ctr"/>
                </a:tc>
              </a:tr>
              <a:tr h="464820">
                <a:tc>
                  <a:txBody>
                    <a:bodyPr/>
                    <a:lstStyle/>
                    <a:p>
                      <a:pPr marL="111125" lvl="0" indent="-111125" algn="l" defTabSz="914400" rtl="0" eaLnBrk="1" latinLnBrk="0" hangingPunct="1">
                        <a:buFont typeface="Arial" pitchFamily="34" charset="0"/>
                        <a:buNone/>
                      </a:pPr>
                      <a:r>
                        <a:rPr lang="en-US" sz="900" b="1" kern="1200" baseline="0" dirty="0" smtClean="0">
                          <a:solidFill>
                            <a:schemeClr val="tx1"/>
                          </a:solidFill>
                          <a:latin typeface="+mn-lt"/>
                          <a:ea typeface="+mn-ea"/>
                          <a:cs typeface="Times New Roman" pitchFamily="18" charset="0"/>
                        </a:rPr>
                        <a:t>External Facilitator – Morning Session:</a:t>
                      </a:r>
                    </a:p>
                    <a:p>
                      <a:pPr marL="111125" lvl="0" indent="-111125" algn="l" defTabSz="914400" rtl="0" eaLnBrk="1" latinLnBrk="0" hangingPunct="1">
                        <a:buFont typeface="Arial" pitchFamily="34" charset="0"/>
                        <a:buChar char="•"/>
                      </a:pPr>
                      <a:r>
                        <a:rPr lang="en-US" sz="900" b="1" kern="1200" baseline="0" dirty="0" smtClean="0">
                          <a:solidFill>
                            <a:schemeClr val="tx1"/>
                          </a:solidFill>
                          <a:latin typeface="+mn-lt"/>
                          <a:ea typeface="+mn-ea"/>
                          <a:cs typeface="Times New Roman" pitchFamily="18" charset="0"/>
                        </a:rPr>
                        <a:t>Rob Kazanjian, PhD - </a:t>
                      </a:r>
                      <a:r>
                        <a:rPr lang="en-US" sz="900" kern="1200" baseline="0" dirty="0" smtClean="0">
                          <a:solidFill>
                            <a:schemeClr val="tx1"/>
                          </a:solidFill>
                          <a:latin typeface="+mn-lt"/>
                          <a:ea typeface="+mn-ea"/>
                          <a:cs typeface="Times New Roman" pitchFamily="18" charset="0"/>
                        </a:rPr>
                        <a:t>Expertise: Strategy, Management, Innovation, Organizational Transformation </a:t>
                      </a:r>
                    </a:p>
                  </a:txBody>
                  <a:tcPr anchor="ctr">
                    <a:solidFill>
                      <a:schemeClr val="accent3">
                        <a:lumMod val="40000"/>
                        <a:lumOff val="60000"/>
                      </a:schemeClr>
                    </a:solidFill>
                  </a:tcPr>
                </a:tc>
                <a:tc>
                  <a:txBody>
                    <a:bodyPr/>
                    <a:lstStyle/>
                    <a:p>
                      <a:pPr marL="111125" lvl="0" indent="-111125" algn="l" defTabSz="914400" rtl="0" eaLnBrk="1" latinLnBrk="0" hangingPunct="1">
                        <a:buFont typeface="Arial" pitchFamily="34" charset="0"/>
                        <a:buNone/>
                      </a:pPr>
                      <a:r>
                        <a:rPr lang="en-US" sz="900" b="1" kern="1200" baseline="0" dirty="0" smtClean="0">
                          <a:solidFill>
                            <a:schemeClr val="tx1"/>
                          </a:solidFill>
                          <a:latin typeface="+mn-lt"/>
                          <a:ea typeface="+mn-ea"/>
                          <a:cs typeface="Times New Roman" pitchFamily="18" charset="0"/>
                        </a:rPr>
                        <a:t>External Facilitator – Morning Session: </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None/>
                        <a:tabLst/>
                        <a:defRPr/>
                      </a:pPr>
                      <a:r>
                        <a:rPr lang="en-US" sz="900" b="1" kern="1200" baseline="0" dirty="0" smtClean="0">
                          <a:solidFill>
                            <a:schemeClr val="tx1"/>
                          </a:solidFill>
                          <a:latin typeface="+mn-lt"/>
                          <a:ea typeface="+mn-ea"/>
                          <a:cs typeface="Times New Roman" pitchFamily="18" charset="0"/>
                        </a:rPr>
                        <a:t>Rob Kazanjian, PhD - </a:t>
                      </a:r>
                      <a:r>
                        <a:rPr lang="en-US" sz="900" kern="1200" baseline="0" dirty="0" smtClean="0">
                          <a:solidFill>
                            <a:schemeClr val="tx1"/>
                          </a:solidFill>
                          <a:latin typeface="+mn-lt"/>
                          <a:ea typeface="+mn-ea"/>
                          <a:cs typeface="Times New Roman" pitchFamily="18" charset="0"/>
                        </a:rPr>
                        <a:t>Expertise: Strategy, Management, Innovation, Organizational Transformation </a:t>
                      </a:r>
                      <a:endParaRPr lang="en-US" sz="900" b="1" kern="1200" baseline="0" dirty="0" smtClean="0">
                        <a:solidFill>
                          <a:schemeClr val="tx1"/>
                        </a:solidFill>
                        <a:latin typeface="+mn-lt"/>
                        <a:ea typeface="+mn-ea"/>
                        <a:cs typeface="Times New Roman" pitchFamily="18" charset="0"/>
                      </a:endParaRPr>
                    </a:p>
                  </a:txBody>
                  <a:tcPr anchor="ctr">
                    <a:solidFill>
                      <a:schemeClr val="accent3">
                        <a:lumMod val="40000"/>
                        <a:lumOff val="60000"/>
                      </a:schemeClr>
                    </a:solidFill>
                  </a:tcPr>
                </a:tc>
                <a:tc>
                  <a:txBody>
                    <a:bodyPr/>
                    <a:lstStyle/>
                    <a:p>
                      <a:pPr marL="111125" lvl="0" indent="-111125">
                        <a:buFont typeface="Arial" pitchFamily="34" charset="0"/>
                        <a:buNone/>
                      </a:pPr>
                      <a:r>
                        <a:rPr lang="en-US" sz="900" b="1" kern="1200" baseline="0" dirty="0" smtClean="0">
                          <a:solidFill>
                            <a:schemeClr val="tx1"/>
                          </a:solidFill>
                          <a:latin typeface="+mn-lt"/>
                          <a:ea typeface="+mn-ea"/>
                          <a:cs typeface="Times New Roman" pitchFamily="18" charset="0"/>
                        </a:rPr>
                        <a:t>External Facilitator – Full Day: </a:t>
                      </a:r>
                    </a:p>
                    <a:p>
                      <a:pPr marL="111125" lvl="0" indent="-111125">
                        <a:buFont typeface="Arial" pitchFamily="34" charset="0"/>
                        <a:buChar char="•"/>
                      </a:pPr>
                      <a:r>
                        <a:rPr lang="en-US" sz="900" b="1" kern="1200" baseline="0" dirty="0" smtClean="0">
                          <a:solidFill>
                            <a:schemeClr val="tx1"/>
                          </a:solidFill>
                          <a:latin typeface="+mn-lt"/>
                          <a:ea typeface="+mn-ea"/>
                          <a:cs typeface="Times New Roman" pitchFamily="18" charset="0"/>
                        </a:rPr>
                        <a:t>SpeechWorks, Inc. - </a:t>
                      </a:r>
                      <a:r>
                        <a:rPr lang="en-US" sz="900" kern="1200" baseline="0" dirty="0" smtClean="0">
                          <a:solidFill>
                            <a:schemeClr val="tx1"/>
                          </a:solidFill>
                          <a:latin typeface="+mn-lt"/>
                          <a:ea typeface="+mn-ea"/>
                          <a:cs typeface="Times New Roman" pitchFamily="18" charset="0"/>
                        </a:rPr>
                        <a:t>Expertise: Effective Communication, Influence, Executive Presence</a:t>
                      </a:r>
                      <a:endParaRPr lang="en-US" sz="900" dirty="0">
                        <a:solidFill>
                          <a:schemeClr val="tx1"/>
                        </a:solidFill>
                        <a:latin typeface="+mn-lt"/>
                      </a:endParaRPr>
                    </a:p>
                  </a:txBody>
                  <a:tcPr anchor="ctr">
                    <a:solidFill>
                      <a:schemeClr val="accent3">
                        <a:lumMod val="40000"/>
                        <a:lumOff val="60000"/>
                      </a:schemeClr>
                    </a:solidFill>
                  </a:tcPr>
                </a:tc>
              </a:tr>
              <a:tr h="822960">
                <a:tc>
                  <a:txBody>
                    <a:bodyPr/>
                    <a:lstStyle/>
                    <a:p>
                      <a:pPr>
                        <a:buFont typeface="Arial" pitchFamily="34" charset="0"/>
                        <a:buNone/>
                      </a:pPr>
                      <a:r>
                        <a:rPr lang="en-US" sz="900" b="1" kern="1200" dirty="0" smtClean="0">
                          <a:solidFill>
                            <a:schemeClr val="dk1"/>
                          </a:solidFill>
                          <a:latin typeface="+mn-lt"/>
                          <a:ea typeface="+mn-ea"/>
                          <a:cs typeface="+mn-cs"/>
                        </a:rPr>
                        <a:t>Transform the Business</a:t>
                      </a:r>
                    </a:p>
                    <a:p>
                      <a:pPr marL="111125" lvl="0" indent="-111125" algn="l" defTabSz="914400" rtl="0" eaLnBrk="1" latinLnBrk="0" hangingPunct="1">
                        <a:buFont typeface="Arial" pitchFamily="34" charset="0"/>
                        <a:buChar char="•"/>
                      </a:pPr>
                      <a:r>
                        <a:rPr lang="en-US" sz="900" b="0" kern="1200" dirty="0" smtClean="0">
                          <a:solidFill>
                            <a:schemeClr val="dk1"/>
                          </a:solidFill>
                          <a:latin typeface="+mn-lt"/>
                          <a:ea typeface="+mn-ea"/>
                          <a:cs typeface="+mn-cs"/>
                        </a:rPr>
                        <a:t>Examine</a:t>
                      </a:r>
                      <a:r>
                        <a:rPr lang="en-US" sz="900" b="0" kern="1200" baseline="0" dirty="0" smtClean="0">
                          <a:solidFill>
                            <a:schemeClr val="dk1"/>
                          </a:solidFill>
                          <a:latin typeface="+mn-lt"/>
                          <a:ea typeface="+mn-ea"/>
                          <a:cs typeface="+mn-cs"/>
                        </a:rPr>
                        <a:t> what transformation looks like to drive efficiencies required in our current environment.</a:t>
                      </a:r>
                      <a:endParaRPr lang="en-US" sz="900" b="0" kern="1200" dirty="0" smtClean="0">
                        <a:solidFill>
                          <a:schemeClr val="dk1"/>
                        </a:solidFill>
                        <a:latin typeface="+mn-lt"/>
                        <a:ea typeface="+mn-ea"/>
                        <a:cs typeface="+mn-cs"/>
                      </a:endParaRPr>
                    </a:p>
                    <a:p>
                      <a:pPr marL="111125" lvl="0" indent="-111125" algn="l" defTabSz="914400" rtl="0" eaLnBrk="1" latinLnBrk="0" hangingPunct="1">
                        <a:buFont typeface="Arial" pitchFamily="34" charset="0"/>
                        <a:buChar char="•"/>
                      </a:pPr>
                      <a:r>
                        <a:rPr lang="en-US" sz="900" b="0" kern="1200" dirty="0" smtClean="0">
                          <a:solidFill>
                            <a:schemeClr val="dk1"/>
                          </a:solidFill>
                          <a:latin typeface="+mn-lt"/>
                          <a:ea typeface="+mn-ea"/>
                          <a:cs typeface="+mn-cs"/>
                        </a:rPr>
                        <a:t>External:</a:t>
                      </a:r>
                      <a:r>
                        <a:rPr lang="en-US" sz="900" b="0" kern="1200" baseline="0" dirty="0" smtClean="0">
                          <a:solidFill>
                            <a:schemeClr val="dk1"/>
                          </a:solidFill>
                          <a:latin typeface="+mn-lt"/>
                          <a:ea typeface="+mn-ea"/>
                          <a:cs typeface="+mn-cs"/>
                        </a:rPr>
                        <a:t> Use a case format to discuss ways other healthcare organizations have transformed their business. (Use of credible pediatric or top national healthcare systems required for optimal impact).</a:t>
                      </a:r>
                      <a:endParaRPr lang="en-US" sz="900" b="0" kern="1200" dirty="0" smtClean="0">
                        <a:solidFill>
                          <a:schemeClr val="dk1"/>
                        </a:solidFill>
                        <a:latin typeface="+mn-lt"/>
                        <a:ea typeface="+mn-ea"/>
                        <a:cs typeface="+mn-cs"/>
                      </a:endParaRPr>
                    </a:p>
                    <a:p>
                      <a:pPr marL="111125" lvl="0" indent="-111125" algn="l" defTabSz="914400" rtl="0" eaLnBrk="1" latinLnBrk="0" hangingPunct="1">
                        <a:buFont typeface="Arial" pitchFamily="34" charset="0"/>
                        <a:buChar char="•"/>
                      </a:pPr>
                      <a:r>
                        <a:rPr lang="en-US" sz="900" b="0" kern="1200" dirty="0" smtClean="0">
                          <a:solidFill>
                            <a:schemeClr val="dk1"/>
                          </a:solidFill>
                          <a:latin typeface="+mn-lt"/>
                          <a:ea typeface="+mn-ea"/>
                          <a:cs typeface="+mn-cs"/>
                        </a:rPr>
                        <a:t>Internal: Children’s leaders</a:t>
                      </a:r>
                      <a:r>
                        <a:rPr lang="en-US" sz="900" b="0" kern="1200" baseline="0" dirty="0" smtClean="0">
                          <a:solidFill>
                            <a:schemeClr val="dk1"/>
                          </a:solidFill>
                          <a:latin typeface="+mn-lt"/>
                          <a:ea typeface="+mn-ea"/>
                          <a:cs typeface="+mn-cs"/>
                        </a:rPr>
                        <a:t> share best practices </a:t>
                      </a:r>
                      <a:r>
                        <a:rPr lang="en-US" sz="900" b="0" kern="1200" dirty="0" smtClean="0">
                          <a:solidFill>
                            <a:schemeClr val="dk1"/>
                          </a:solidFill>
                          <a:latin typeface="+mn-lt"/>
                          <a:ea typeface="+mn-ea"/>
                          <a:cs typeface="+mn-cs"/>
                        </a:rPr>
                        <a:t>from across the system, e.g.., how we have used resources to transform</a:t>
                      </a:r>
                      <a:r>
                        <a:rPr lang="en-US" sz="900" b="0" kern="1200" baseline="0" dirty="0" smtClean="0">
                          <a:solidFill>
                            <a:schemeClr val="dk1"/>
                          </a:solidFill>
                          <a:latin typeface="+mn-lt"/>
                          <a:ea typeface="+mn-ea"/>
                          <a:cs typeface="+mn-cs"/>
                        </a:rPr>
                        <a:t> </a:t>
                      </a:r>
                      <a:r>
                        <a:rPr lang="en-US" sz="900" b="0" kern="1200" dirty="0" smtClean="0">
                          <a:solidFill>
                            <a:schemeClr val="dk1"/>
                          </a:solidFill>
                          <a:latin typeface="+mn-lt"/>
                          <a:ea typeface="+mn-ea"/>
                          <a:cs typeface="+mn-cs"/>
                        </a:rPr>
                        <a:t>patient care.</a:t>
                      </a:r>
                      <a:endParaRPr lang="en-US" sz="900" dirty="0">
                        <a:latin typeface="+mn-lt"/>
                      </a:endParaRPr>
                    </a:p>
                  </a:txBody>
                  <a:tcPr anchor="ctr"/>
                </a:tc>
                <a:tc>
                  <a:txBody>
                    <a:bodyPr/>
                    <a:lstStyle/>
                    <a:p>
                      <a:r>
                        <a:rPr lang="en-US" sz="900" b="1" kern="1200" dirty="0" smtClean="0">
                          <a:solidFill>
                            <a:schemeClr val="dk1"/>
                          </a:solidFill>
                          <a:latin typeface="+mn-lt"/>
                          <a:ea typeface="+mn-ea"/>
                          <a:cs typeface="+mn-cs"/>
                        </a:rPr>
                        <a:t>Work</a:t>
                      </a:r>
                      <a:r>
                        <a:rPr lang="en-US" sz="900" b="1" kern="1200" baseline="0" dirty="0" smtClean="0">
                          <a:solidFill>
                            <a:schemeClr val="dk1"/>
                          </a:solidFill>
                          <a:latin typeface="+mn-lt"/>
                          <a:ea typeface="+mn-ea"/>
                          <a:cs typeface="+mn-cs"/>
                        </a:rPr>
                        <a:t> Across Boundaries</a:t>
                      </a:r>
                    </a:p>
                    <a:p>
                      <a:pPr marL="111125" lvl="0" indent="-111125" algn="l" defTabSz="914400" rtl="0" eaLnBrk="1" latinLnBrk="0" hangingPunct="1">
                        <a:buFont typeface="Arial" pitchFamily="34" charset="0"/>
                        <a:buChar char="•"/>
                      </a:pPr>
                      <a:r>
                        <a:rPr lang="en-US" sz="900" b="0" kern="1200" dirty="0" smtClean="0">
                          <a:solidFill>
                            <a:schemeClr val="dk1"/>
                          </a:solidFill>
                          <a:latin typeface="+mn-lt"/>
                          <a:ea typeface="+mn-ea"/>
                          <a:cs typeface="+mn-cs"/>
                        </a:rPr>
                        <a:t>Lecture and highly interactive discussion on developing organizational structures that foster information sharing, coordination, and clear accountability.</a:t>
                      </a:r>
                    </a:p>
                    <a:p>
                      <a:pPr marL="111125" lvl="0" indent="-111125" algn="l" defTabSz="914400" rtl="0" eaLnBrk="1" latinLnBrk="0" hangingPunct="1">
                        <a:buFont typeface="Arial" pitchFamily="34" charset="0"/>
                        <a:buChar char="•"/>
                      </a:pPr>
                      <a:r>
                        <a:rPr lang="en-US" sz="900" b="0" kern="1200" dirty="0" smtClean="0">
                          <a:solidFill>
                            <a:schemeClr val="dk1"/>
                          </a:solidFill>
                          <a:latin typeface="+mn-lt"/>
                          <a:ea typeface="+mn-ea"/>
                          <a:cs typeface="+mn-cs"/>
                        </a:rPr>
                        <a:t>Develop effective controls and feedback mechanisms.</a:t>
                      </a:r>
                    </a:p>
                    <a:p>
                      <a:pPr marL="111125" marR="0" indent="-111125" algn="l" defTabSz="914400" rtl="0" eaLnBrk="1" fontAlgn="auto" latinLnBrk="0" hangingPunct="1">
                        <a:lnSpc>
                          <a:spcPct val="100000"/>
                        </a:lnSpc>
                        <a:spcBef>
                          <a:spcPts val="0"/>
                        </a:spcBef>
                        <a:spcAft>
                          <a:spcPts val="0"/>
                        </a:spcAft>
                        <a:buClrTx/>
                        <a:buSzTx/>
                        <a:buFont typeface="Arial" pitchFamily="34" charset="0"/>
                        <a:buNone/>
                        <a:tabLst/>
                        <a:defRPr/>
                      </a:pPr>
                      <a:r>
                        <a:rPr lang="en-US" sz="900" b="1" kern="1200" dirty="0" smtClean="0">
                          <a:solidFill>
                            <a:schemeClr val="dk1"/>
                          </a:solidFill>
                          <a:latin typeface="+mn-lt"/>
                          <a:ea typeface="+mn-ea"/>
                          <a:cs typeface="+mn-cs"/>
                        </a:rPr>
                        <a:t>Set Expectations: Leading Change </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900" kern="1200" dirty="0" smtClean="0">
                          <a:solidFill>
                            <a:schemeClr val="dk1"/>
                          </a:solidFill>
                          <a:latin typeface="+mn-lt"/>
                          <a:ea typeface="+mn-ea"/>
                          <a:cs typeface="Times New Roman" pitchFamily="18" charset="0"/>
                        </a:rPr>
                        <a:t>Discuss drivers of change and reasons for resistance, learn tactics for leading through change.</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900" kern="1200" dirty="0" smtClean="0">
                          <a:solidFill>
                            <a:schemeClr val="dk1"/>
                          </a:solidFill>
                          <a:latin typeface="+mn-lt"/>
                          <a:ea typeface="+mn-ea"/>
                          <a:cs typeface="Times New Roman" pitchFamily="18" charset="0"/>
                        </a:rPr>
                        <a:t>Stories</a:t>
                      </a:r>
                      <a:r>
                        <a:rPr lang="en-US" sz="900" kern="1200" baseline="0" dirty="0" smtClean="0">
                          <a:solidFill>
                            <a:schemeClr val="dk1"/>
                          </a:solidFill>
                          <a:latin typeface="+mn-lt"/>
                          <a:ea typeface="+mn-ea"/>
                          <a:cs typeface="Times New Roman" pitchFamily="18" charset="0"/>
                        </a:rPr>
                        <a:t> shared by facilitator to demonstrate successes and failures. </a:t>
                      </a:r>
                      <a:endParaRPr lang="en-US" sz="900" dirty="0">
                        <a:solidFill>
                          <a:schemeClr val="tx1"/>
                        </a:solidFill>
                        <a:latin typeface="+mn-lt"/>
                      </a:endParaRPr>
                    </a:p>
                  </a:txBody>
                  <a:tcPr anchor="ctr"/>
                </a:tc>
                <a:tc>
                  <a:txBody>
                    <a:bodyPr/>
                    <a:lstStyle/>
                    <a:p>
                      <a:pPr marL="0" marR="0">
                        <a:lnSpc>
                          <a:spcPct val="115000"/>
                        </a:lnSpc>
                        <a:spcBef>
                          <a:spcPts val="0"/>
                        </a:spcBef>
                        <a:spcAft>
                          <a:spcPts val="0"/>
                        </a:spcAft>
                      </a:pPr>
                      <a:r>
                        <a:rPr lang="en-US" sz="900" b="1" kern="1200" dirty="0" smtClean="0">
                          <a:solidFill>
                            <a:schemeClr val="dk1"/>
                          </a:solidFill>
                          <a:latin typeface="+mn-lt"/>
                          <a:ea typeface="Calibri"/>
                          <a:cs typeface="Times New Roman"/>
                        </a:rPr>
                        <a:t>Manage</a:t>
                      </a:r>
                      <a:r>
                        <a:rPr lang="en-US" sz="900" b="1" kern="1200" baseline="0" dirty="0" smtClean="0">
                          <a:solidFill>
                            <a:schemeClr val="dk1"/>
                          </a:solidFill>
                          <a:latin typeface="+mn-lt"/>
                          <a:ea typeface="Calibri"/>
                          <a:cs typeface="Times New Roman"/>
                        </a:rPr>
                        <a:t> the Message</a:t>
                      </a:r>
                    </a:p>
                    <a:p>
                      <a:pPr marL="119063" marR="0" lvl="0" indent="-119063" algn="l" defTabSz="914400" rtl="0" eaLnBrk="0" fontAlgn="base" latinLnBrk="0" hangingPunct="0">
                        <a:lnSpc>
                          <a:spcPct val="100000"/>
                        </a:lnSpc>
                        <a:spcBef>
                          <a:spcPct val="0"/>
                        </a:spcBef>
                        <a:spcAft>
                          <a:spcPct val="0"/>
                        </a:spcAft>
                        <a:buClr>
                          <a:schemeClr val="tx1"/>
                        </a:buClr>
                        <a:buSzTx/>
                        <a:buFontTx/>
                        <a:buChar char="•"/>
                        <a:tabLst>
                          <a:tab pos="457200" algn="l"/>
                        </a:tabLst>
                        <a:defRPr/>
                      </a:pPr>
                      <a:r>
                        <a:rPr lang="en-US" sz="900" b="0" kern="1200" dirty="0" smtClean="0">
                          <a:solidFill>
                            <a:schemeClr val="dk1"/>
                          </a:solidFill>
                          <a:latin typeface="+mn-lt"/>
                          <a:ea typeface="+mn-ea"/>
                          <a:cs typeface="+mn-cs"/>
                        </a:rPr>
                        <a:t>Organize</a:t>
                      </a:r>
                      <a:r>
                        <a:rPr lang="en-US" sz="900" b="0" kern="1200" baseline="0" dirty="0" smtClean="0">
                          <a:solidFill>
                            <a:schemeClr val="dk1"/>
                          </a:solidFill>
                          <a:latin typeface="+mn-lt"/>
                          <a:ea typeface="+mn-ea"/>
                          <a:cs typeface="+mn-cs"/>
                        </a:rPr>
                        <a:t> </a:t>
                      </a:r>
                      <a:r>
                        <a:rPr lang="en-US" sz="900" b="0" kern="1200" dirty="0" smtClean="0">
                          <a:solidFill>
                            <a:schemeClr val="dk1"/>
                          </a:solidFill>
                          <a:latin typeface="+mn-lt"/>
                          <a:ea typeface="+mn-ea"/>
                          <a:cs typeface="+mn-cs"/>
                        </a:rPr>
                        <a:t>a persuasive message around the performance</a:t>
                      </a:r>
                      <a:r>
                        <a:rPr lang="en-US" sz="900" b="0" kern="1200" baseline="0" dirty="0" smtClean="0">
                          <a:solidFill>
                            <a:schemeClr val="dk1"/>
                          </a:solidFill>
                          <a:latin typeface="+mn-lt"/>
                          <a:ea typeface="+mn-ea"/>
                          <a:cs typeface="+mn-cs"/>
                        </a:rPr>
                        <a:t> enhancement plan outlined on Day 1.</a:t>
                      </a:r>
                    </a:p>
                    <a:p>
                      <a:pPr marL="119063" marR="0" lvl="0" indent="-119063" algn="l" defTabSz="914400" rtl="0" eaLnBrk="0" fontAlgn="base" latinLnBrk="0" hangingPunct="0">
                        <a:lnSpc>
                          <a:spcPct val="100000"/>
                        </a:lnSpc>
                        <a:spcBef>
                          <a:spcPct val="0"/>
                        </a:spcBef>
                        <a:spcAft>
                          <a:spcPct val="0"/>
                        </a:spcAft>
                        <a:buClr>
                          <a:schemeClr val="tx1"/>
                        </a:buClr>
                        <a:buSzTx/>
                        <a:buFontTx/>
                        <a:buChar char="•"/>
                        <a:tabLst>
                          <a:tab pos="457200" algn="l"/>
                        </a:tabLst>
                        <a:defRPr/>
                      </a:pPr>
                      <a:r>
                        <a:rPr lang="en-US" sz="900" b="0" kern="1200" dirty="0" smtClean="0">
                          <a:solidFill>
                            <a:schemeClr val="dk1"/>
                          </a:solidFill>
                          <a:latin typeface="+mn-lt"/>
                          <a:ea typeface="+mn-ea"/>
                          <a:cs typeface="+mn-cs"/>
                        </a:rPr>
                        <a:t>Create simple, listener-focused messages that connect and persuade. </a:t>
                      </a:r>
                    </a:p>
                    <a:p>
                      <a:pPr marL="119063" marR="0" lvl="0" indent="-119063" algn="l" defTabSz="914400" rtl="0" eaLnBrk="0" fontAlgn="base" latinLnBrk="0" hangingPunct="0">
                        <a:lnSpc>
                          <a:spcPct val="100000"/>
                        </a:lnSpc>
                        <a:spcBef>
                          <a:spcPct val="0"/>
                        </a:spcBef>
                        <a:spcAft>
                          <a:spcPct val="0"/>
                        </a:spcAft>
                        <a:buClr>
                          <a:schemeClr val="tx1"/>
                        </a:buClr>
                        <a:buSzTx/>
                        <a:buFontTx/>
                        <a:buChar char="•"/>
                        <a:tabLst>
                          <a:tab pos="457200" algn="l"/>
                        </a:tabLst>
                        <a:defRPr/>
                      </a:pPr>
                      <a:r>
                        <a:rPr lang="en-US" sz="900" b="0" kern="1200" dirty="0" smtClean="0">
                          <a:solidFill>
                            <a:schemeClr val="dk1"/>
                          </a:solidFill>
                          <a:latin typeface="+mn-lt"/>
                          <a:ea typeface="+mn-ea"/>
                          <a:cs typeface="+mn-cs"/>
                        </a:rPr>
                        <a:t>Two on-camera exercises with group feedback.</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None/>
                        <a:tabLst/>
                        <a:defRPr/>
                      </a:pPr>
                      <a:endParaRPr lang="en-US" sz="900" dirty="0">
                        <a:latin typeface="+mn-lt"/>
                      </a:endParaRPr>
                    </a:p>
                  </a:txBody>
                  <a:tcPr anchor="ctr"/>
                </a:tc>
              </a:tr>
              <a:tr h="2286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00" b="1" kern="1200" dirty="0" smtClean="0">
                          <a:solidFill>
                            <a:schemeClr val="dk1"/>
                          </a:solidFill>
                          <a:latin typeface="+mn-lt"/>
                          <a:ea typeface="+mn-ea"/>
                          <a:cs typeface="+mn-cs"/>
                        </a:rPr>
                        <a:t>Lunch</a:t>
                      </a:r>
                      <a:endParaRPr lang="en-US" sz="900" b="1" dirty="0">
                        <a:latin typeface="+mn-lt"/>
                      </a:endParaRPr>
                    </a:p>
                  </a:txBody>
                  <a:tcPr anchor="ctr"/>
                </a:tc>
                <a:tc>
                  <a:txBody>
                    <a:bodyPr/>
                    <a:lstStyle/>
                    <a:p>
                      <a:pPr algn="ctr"/>
                      <a:r>
                        <a:rPr lang="en-US" sz="900" b="1" dirty="0" smtClean="0">
                          <a:latin typeface="+mn-lt"/>
                        </a:rPr>
                        <a:t>Lunch</a:t>
                      </a:r>
                      <a:endParaRPr lang="en-US" sz="900" b="1" dirty="0">
                        <a:latin typeface="+mn-lt"/>
                      </a:endParaRPr>
                    </a:p>
                  </a:txBody>
                  <a:tcPr anchor="ctr"/>
                </a:tc>
                <a:tc>
                  <a:txBody>
                    <a:bodyPr/>
                    <a:lstStyle/>
                    <a:p>
                      <a:pPr algn="ctr"/>
                      <a:r>
                        <a:rPr lang="en-US" sz="900" b="1" dirty="0" smtClean="0">
                          <a:latin typeface="+mn-lt"/>
                        </a:rPr>
                        <a:t>Lunch</a:t>
                      </a:r>
                      <a:endParaRPr lang="en-US" sz="900" b="1" dirty="0">
                        <a:latin typeface="+mn-lt"/>
                      </a:endParaRPr>
                    </a:p>
                  </a:txBody>
                  <a:tcPr anchor="ctr"/>
                </a:tc>
              </a:tr>
              <a:tr h="502920">
                <a:tc>
                  <a:txBody>
                    <a:bodyPr/>
                    <a:lstStyle/>
                    <a:p>
                      <a:pPr marL="111125" lvl="0" indent="-111125" algn="l" defTabSz="914400" rtl="0" eaLnBrk="1" latinLnBrk="0" hangingPunct="1">
                        <a:buFont typeface="Arial" pitchFamily="34" charset="0"/>
                        <a:buNone/>
                      </a:pPr>
                      <a:r>
                        <a:rPr lang="en-US" sz="900" b="1" kern="1200" baseline="0" dirty="0" smtClean="0">
                          <a:solidFill>
                            <a:schemeClr val="tx1"/>
                          </a:solidFill>
                          <a:latin typeface="+mn-lt"/>
                          <a:ea typeface="+mn-ea"/>
                          <a:cs typeface="Times New Roman" pitchFamily="18" charset="0"/>
                        </a:rPr>
                        <a:t>External Facilitator – Afternoon Session: </a:t>
                      </a:r>
                    </a:p>
                    <a:p>
                      <a:pPr marL="111125" lvl="0" indent="-111125" algn="l" defTabSz="914400" rtl="0" eaLnBrk="1" latinLnBrk="0" hangingPunct="1">
                        <a:buFont typeface="Arial" pitchFamily="34" charset="0"/>
                        <a:buChar char="•"/>
                      </a:pPr>
                      <a:r>
                        <a:rPr lang="en-US" sz="900" b="1" kern="1200" baseline="0" dirty="0" smtClean="0">
                          <a:solidFill>
                            <a:schemeClr val="tx1"/>
                          </a:solidFill>
                          <a:latin typeface="+mn-lt"/>
                          <a:ea typeface="+mn-ea"/>
                          <a:cs typeface="Times New Roman" pitchFamily="18" charset="0"/>
                        </a:rPr>
                        <a:t>Steve Walton, PhD - </a:t>
                      </a:r>
                      <a:r>
                        <a:rPr lang="en-US" sz="900" kern="1200" baseline="0" dirty="0" smtClean="0">
                          <a:solidFill>
                            <a:schemeClr val="tx1"/>
                          </a:solidFill>
                          <a:latin typeface="+mn-lt"/>
                          <a:ea typeface="+mn-ea"/>
                          <a:cs typeface="Times New Roman" pitchFamily="18" charset="0"/>
                        </a:rPr>
                        <a:t>Expertise: Operations Management, Decision Science</a:t>
                      </a:r>
                      <a:endParaRPr lang="en-US" sz="900" dirty="0">
                        <a:latin typeface="+mn-lt"/>
                      </a:endParaRPr>
                    </a:p>
                  </a:txBody>
                  <a:tcPr anchor="ctr">
                    <a:solidFill>
                      <a:schemeClr val="accent3">
                        <a:lumMod val="40000"/>
                        <a:lumOff val="60000"/>
                      </a:schemeClr>
                    </a:solidFill>
                  </a:tcPr>
                </a:tc>
                <a:tc>
                  <a:txBody>
                    <a:bodyPr/>
                    <a:lstStyle/>
                    <a:p>
                      <a:pPr marL="111125" lvl="0" indent="-111125" algn="l" defTabSz="914400" rtl="0" eaLnBrk="1" latinLnBrk="0" hangingPunct="1">
                        <a:buFont typeface="Arial" pitchFamily="34" charset="0"/>
                        <a:buNone/>
                      </a:pPr>
                      <a:r>
                        <a:rPr lang="en-US" sz="900" b="1" kern="1200" baseline="0" dirty="0" smtClean="0">
                          <a:solidFill>
                            <a:schemeClr val="tx1"/>
                          </a:solidFill>
                          <a:latin typeface="+mn-lt"/>
                          <a:ea typeface="+mn-ea"/>
                          <a:cs typeface="Times New Roman" pitchFamily="18" charset="0"/>
                        </a:rPr>
                        <a:t>External Facilitator – Afternoon Session: </a:t>
                      </a:r>
                    </a:p>
                    <a:p>
                      <a:pPr marL="111125" lvl="0" indent="-111125" algn="l" defTabSz="914400" rtl="0" eaLnBrk="1" latinLnBrk="0" hangingPunct="1">
                        <a:buFont typeface="Arial" pitchFamily="34" charset="0"/>
                        <a:buChar char="•"/>
                      </a:pPr>
                      <a:r>
                        <a:rPr lang="en-US" sz="900" b="1" kern="1200" baseline="0" dirty="0" smtClean="0">
                          <a:solidFill>
                            <a:schemeClr val="tx1"/>
                          </a:solidFill>
                          <a:latin typeface="+mn-lt"/>
                          <a:ea typeface="+mn-ea"/>
                          <a:cs typeface="Times New Roman" pitchFamily="18" charset="0"/>
                        </a:rPr>
                        <a:t>Michael Sacks - </a:t>
                      </a:r>
                      <a:r>
                        <a:rPr lang="en-US" sz="900" kern="1200" baseline="0" dirty="0" smtClean="0">
                          <a:solidFill>
                            <a:schemeClr val="tx1"/>
                          </a:solidFill>
                          <a:latin typeface="+mn-lt"/>
                          <a:ea typeface="+mn-ea"/>
                          <a:cs typeface="Times New Roman" pitchFamily="18" charset="0"/>
                        </a:rPr>
                        <a:t>Expertise: Managing Conflict, Negotiation and Influence</a:t>
                      </a:r>
                      <a:endParaRPr lang="en-US" sz="900" b="1" kern="1200" baseline="0" dirty="0" smtClean="0">
                        <a:solidFill>
                          <a:schemeClr val="tx1"/>
                        </a:solidFill>
                        <a:latin typeface="+mn-lt"/>
                        <a:ea typeface="+mn-ea"/>
                        <a:cs typeface="Times New Roman" pitchFamily="18" charset="0"/>
                      </a:endParaRPr>
                    </a:p>
                  </a:txBody>
                  <a:tcPr anchor="ctr">
                    <a:solidFill>
                      <a:schemeClr val="accent3">
                        <a:lumMod val="40000"/>
                        <a:lumOff val="60000"/>
                      </a:schemeClr>
                    </a:solidFill>
                  </a:tcPr>
                </a:tc>
                <a:tc>
                  <a:txBody>
                    <a:bodyPr/>
                    <a:lstStyle/>
                    <a:p>
                      <a:pPr marL="111125" lvl="0" indent="-111125">
                        <a:buFont typeface="Arial" pitchFamily="34" charset="0"/>
                        <a:buNone/>
                      </a:pPr>
                      <a:r>
                        <a:rPr lang="en-US" sz="900" b="1" kern="1200" baseline="0" dirty="0" smtClean="0">
                          <a:solidFill>
                            <a:schemeClr val="tx1"/>
                          </a:solidFill>
                          <a:latin typeface="+mn-lt"/>
                          <a:ea typeface="+mn-ea"/>
                          <a:cs typeface="Times New Roman" pitchFamily="18" charset="0"/>
                        </a:rPr>
                        <a:t>External Facilitator (continued): </a:t>
                      </a:r>
                    </a:p>
                    <a:p>
                      <a:pPr marL="111125" lvl="0" indent="-111125">
                        <a:buFont typeface="Arial" pitchFamily="34" charset="0"/>
                        <a:buChar char="•"/>
                      </a:pPr>
                      <a:r>
                        <a:rPr lang="en-US" sz="900" b="1" kern="1200" baseline="0" dirty="0" smtClean="0">
                          <a:solidFill>
                            <a:schemeClr val="tx1"/>
                          </a:solidFill>
                          <a:latin typeface="+mn-lt"/>
                          <a:ea typeface="+mn-ea"/>
                          <a:cs typeface="Times New Roman" pitchFamily="18" charset="0"/>
                        </a:rPr>
                        <a:t>SpeechWorks, Inc. - </a:t>
                      </a:r>
                      <a:r>
                        <a:rPr lang="en-US" sz="900" kern="1200" baseline="0" dirty="0" smtClean="0">
                          <a:solidFill>
                            <a:schemeClr val="tx1"/>
                          </a:solidFill>
                          <a:latin typeface="+mn-lt"/>
                          <a:ea typeface="+mn-ea"/>
                          <a:cs typeface="Times New Roman" pitchFamily="18" charset="0"/>
                        </a:rPr>
                        <a:t>Expertise: Effective Communication, Influence, Executive Presence</a:t>
                      </a:r>
                      <a:endParaRPr lang="en-US" sz="900" dirty="0">
                        <a:latin typeface="+mn-lt"/>
                      </a:endParaRPr>
                    </a:p>
                  </a:txBody>
                  <a:tcPr anchor="ctr">
                    <a:solidFill>
                      <a:schemeClr val="accent3">
                        <a:lumMod val="40000"/>
                        <a:lumOff val="60000"/>
                      </a:schemeClr>
                    </a:solidFill>
                  </a:tcPr>
                </a:tc>
              </a:tr>
              <a:tr h="1371600">
                <a:tc>
                  <a:txBody>
                    <a:bodyPr/>
                    <a:lstStyle/>
                    <a:p>
                      <a:pPr marL="111125" marR="0" lvl="0" indent="-111125" algn="l" defTabSz="914400" rtl="0" eaLnBrk="1" fontAlgn="auto" latinLnBrk="0" hangingPunct="1">
                        <a:lnSpc>
                          <a:spcPct val="100000"/>
                        </a:lnSpc>
                        <a:spcBef>
                          <a:spcPts val="0"/>
                        </a:spcBef>
                        <a:spcAft>
                          <a:spcPts val="0"/>
                        </a:spcAft>
                        <a:buClrTx/>
                        <a:buSzTx/>
                        <a:buFont typeface="Arial" pitchFamily="34" charset="0"/>
                        <a:buNone/>
                        <a:tabLst/>
                        <a:defRPr/>
                      </a:pPr>
                      <a:r>
                        <a:rPr lang="en-US" sz="900" b="1" kern="1200" dirty="0" smtClean="0">
                          <a:solidFill>
                            <a:schemeClr val="dk1"/>
                          </a:solidFill>
                          <a:latin typeface="+mn-lt"/>
                          <a:ea typeface="+mn-ea"/>
                          <a:cs typeface="+mn-cs"/>
                        </a:rPr>
                        <a:t>System Dynamics Simulation: Beer Game</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900" b="0" kern="1200" dirty="0" smtClean="0">
                          <a:solidFill>
                            <a:schemeClr val="dk1"/>
                          </a:solidFill>
                          <a:latin typeface="+mn-lt"/>
                          <a:ea typeface="+mn-ea"/>
                          <a:cs typeface="+mn-cs"/>
                        </a:rPr>
                        <a:t>Enhance understanding of system dynamics and demonstrate the importance of framing, understanding and discussing complex organizational issues.</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900" b="0" kern="1200" dirty="0" smtClean="0">
                          <a:solidFill>
                            <a:schemeClr val="dk1"/>
                          </a:solidFill>
                          <a:latin typeface="+mn-lt"/>
                          <a:ea typeface="+mn-ea"/>
                          <a:cs typeface="+mn-cs"/>
                        </a:rPr>
                        <a:t>Simulation</a:t>
                      </a:r>
                      <a:r>
                        <a:rPr lang="en-US" sz="900" b="0" kern="1200" baseline="0" dirty="0" smtClean="0">
                          <a:solidFill>
                            <a:schemeClr val="dk1"/>
                          </a:solidFill>
                          <a:latin typeface="+mn-lt"/>
                          <a:ea typeface="+mn-ea"/>
                          <a:cs typeface="+mn-cs"/>
                        </a:rPr>
                        <a:t> designed to enhance recognition that complex systems have many forces, functions and processes that need to be managed. </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900" b="0" kern="1200" baseline="0" dirty="0" smtClean="0">
                          <a:solidFill>
                            <a:schemeClr val="dk1"/>
                          </a:solidFill>
                          <a:latin typeface="+mn-lt"/>
                          <a:ea typeface="+mn-ea"/>
                          <a:cs typeface="+mn-cs"/>
                        </a:rPr>
                        <a:t>Participants practice business principles experienced  in an unfamiliar industry. </a:t>
                      </a:r>
                      <a:endParaRPr lang="en-US" sz="900" dirty="0">
                        <a:latin typeface="+mn-lt"/>
                      </a:endParaRPr>
                    </a:p>
                  </a:txBody>
                  <a:tcPr anchor="ctr"/>
                </a:tc>
                <a:tc>
                  <a:txBody>
                    <a:bodyPr/>
                    <a:lstStyle/>
                    <a:p>
                      <a:pPr marL="0" algn="l" defTabSz="914400" rtl="0" eaLnBrk="1" latinLnBrk="0" hangingPunct="1"/>
                      <a:r>
                        <a:rPr lang="en-US" sz="900" b="1" kern="1200" dirty="0" smtClean="0">
                          <a:solidFill>
                            <a:schemeClr val="dk1"/>
                          </a:solidFill>
                          <a:latin typeface="+mn-lt"/>
                          <a:ea typeface="+mn-ea"/>
                          <a:cs typeface="+mn-cs"/>
                        </a:rPr>
                        <a:t>Manage Conflict </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900" b="0" kern="1200" dirty="0" smtClean="0">
                          <a:solidFill>
                            <a:schemeClr val="dk1"/>
                          </a:solidFill>
                          <a:latin typeface="+mn-lt"/>
                          <a:ea typeface="+mn-ea"/>
                          <a:cs typeface="+mn-cs"/>
                        </a:rPr>
                        <a:t>Use role play to get participants outside their comfort zone by forcing them to take on a different</a:t>
                      </a:r>
                      <a:r>
                        <a:rPr lang="en-US" sz="900" b="0" kern="1200" baseline="0" dirty="0" smtClean="0">
                          <a:solidFill>
                            <a:schemeClr val="dk1"/>
                          </a:solidFill>
                          <a:latin typeface="+mn-lt"/>
                          <a:ea typeface="+mn-ea"/>
                          <a:cs typeface="+mn-cs"/>
                        </a:rPr>
                        <a:t> role in a simulated conflict / negotiation.</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900" b="0" kern="1200" baseline="0" dirty="0" smtClean="0">
                          <a:solidFill>
                            <a:schemeClr val="dk1"/>
                          </a:solidFill>
                          <a:latin typeface="+mn-lt"/>
                          <a:ea typeface="+mn-ea"/>
                          <a:cs typeface="+mn-cs"/>
                        </a:rPr>
                        <a:t>Participants experience uncomfortable conversations and circumstances.</a:t>
                      </a:r>
                      <a:endParaRPr lang="en-US" sz="900" b="0" kern="1200" dirty="0" smtClean="0">
                        <a:solidFill>
                          <a:schemeClr val="dk1"/>
                        </a:solidFill>
                        <a:latin typeface="+mn-lt"/>
                        <a:ea typeface="+mn-ea"/>
                        <a:cs typeface="+mn-cs"/>
                      </a:endParaRPr>
                    </a:p>
                    <a:p>
                      <a:pPr marL="111125" marR="0" lvl="0" indent="-1111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900" b="0" kern="1200" dirty="0" smtClean="0">
                          <a:solidFill>
                            <a:schemeClr val="dk1"/>
                          </a:solidFill>
                          <a:latin typeface="+mn-lt"/>
                          <a:ea typeface="+mn-ea"/>
                          <a:cs typeface="+mn-cs"/>
                        </a:rPr>
                        <a:t>Participants</a:t>
                      </a:r>
                      <a:r>
                        <a:rPr lang="en-US" sz="900" b="0" kern="1200" baseline="0" dirty="0" smtClean="0">
                          <a:solidFill>
                            <a:schemeClr val="dk1"/>
                          </a:solidFill>
                          <a:latin typeface="+mn-lt"/>
                          <a:ea typeface="+mn-ea"/>
                          <a:cs typeface="+mn-cs"/>
                        </a:rPr>
                        <a:t> then discuss publicly and d</a:t>
                      </a:r>
                      <a:r>
                        <a:rPr lang="en-US" sz="900" b="0" kern="1200" dirty="0" smtClean="0">
                          <a:solidFill>
                            <a:schemeClr val="dk1"/>
                          </a:solidFill>
                          <a:latin typeface="+mn-lt"/>
                          <a:ea typeface="+mn-ea"/>
                          <a:cs typeface="+mn-cs"/>
                        </a:rPr>
                        <a:t>evelop a detailed action plan for managing a difficult relationship. </a:t>
                      </a:r>
                      <a:endParaRPr lang="en-US" sz="900" dirty="0">
                        <a:latin typeface="+mn-lt"/>
                      </a:endParaRPr>
                    </a:p>
                  </a:txBody>
                  <a:tcPr anchor="ctr"/>
                </a:tc>
                <a:tc>
                  <a:txBody>
                    <a:bodyPr/>
                    <a:lstStyle/>
                    <a:p>
                      <a:pPr marL="111125" marR="0" lvl="0" indent="-111125" algn="l" defTabSz="914400" rtl="0" eaLnBrk="1" fontAlgn="auto" latinLnBrk="0" hangingPunct="1">
                        <a:lnSpc>
                          <a:spcPct val="100000"/>
                        </a:lnSpc>
                        <a:spcBef>
                          <a:spcPts val="0"/>
                        </a:spcBef>
                        <a:spcAft>
                          <a:spcPts val="0"/>
                        </a:spcAft>
                        <a:buClrTx/>
                        <a:buSzTx/>
                        <a:buFont typeface="Arial" pitchFamily="34" charset="0"/>
                        <a:buNone/>
                        <a:tabLst/>
                        <a:defRPr/>
                      </a:pPr>
                      <a:r>
                        <a:rPr lang="en-US" sz="900" b="1" kern="1200" baseline="0" dirty="0" smtClean="0">
                          <a:solidFill>
                            <a:schemeClr val="dk1"/>
                          </a:solidFill>
                          <a:latin typeface="+mn-lt"/>
                          <a:ea typeface="Calibri"/>
                          <a:cs typeface="Times New Roman"/>
                        </a:rPr>
                        <a:t>Make Your Point</a:t>
                      </a:r>
                    </a:p>
                    <a:p>
                      <a:pPr marL="119063" marR="0" lvl="0" indent="-119063" algn="l" defTabSz="914400" rtl="0" eaLnBrk="0" fontAlgn="base" latinLnBrk="0" hangingPunct="0">
                        <a:lnSpc>
                          <a:spcPct val="100000"/>
                        </a:lnSpc>
                        <a:spcBef>
                          <a:spcPct val="0"/>
                        </a:spcBef>
                        <a:spcAft>
                          <a:spcPct val="0"/>
                        </a:spcAft>
                        <a:buClr>
                          <a:schemeClr val="tx1"/>
                        </a:buClr>
                        <a:buSzTx/>
                        <a:buFontTx/>
                        <a:buChar char="•"/>
                        <a:tabLst>
                          <a:tab pos="457200" algn="l"/>
                        </a:tabLst>
                        <a:defRPr/>
                      </a:pPr>
                      <a:r>
                        <a:rPr lang="en-US" sz="900" b="0" kern="1200" dirty="0" smtClean="0">
                          <a:solidFill>
                            <a:schemeClr val="dk1"/>
                          </a:solidFill>
                          <a:latin typeface="+mn-lt"/>
                          <a:ea typeface="+mn-ea"/>
                          <a:cs typeface="+mn-cs"/>
                        </a:rPr>
                        <a:t>Deliver messages limited to a few key points and brought to life with stories and other evidence. </a:t>
                      </a:r>
                    </a:p>
                    <a:p>
                      <a:pPr marL="119063" marR="0" lvl="0" indent="-119063" algn="l" defTabSz="914400" rtl="0" eaLnBrk="0" fontAlgn="base" latinLnBrk="0" hangingPunct="0">
                        <a:lnSpc>
                          <a:spcPct val="100000"/>
                        </a:lnSpc>
                        <a:spcBef>
                          <a:spcPct val="0"/>
                        </a:spcBef>
                        <a:spcAft>
                          <a:spcPct val="0"/>
                        </a:spcAft>
                        <a:buClr>
                          <a:schemeClr val="tx1"/>
                        </a:buClr>
                        <a:buSzTx/>
                        <a:buFontTx/>
                        <a:buChar char="•"/>
                        <a:tabLst>
                          <a:tab pos="457200" algn="l"/>
                        </a:tabLst>
                        <a:defRPr/>
                      </a:pPr>
                      <a:r>
                        <a:rPr lang="en-US" sz="900" b="0" kern="1200" dirty="0" smtClean="0">
                          <a:solidFill>
                            <a:schemeClr val="dk1"/>
                          </a:solidFill>
                          <a:latin typeface="+mn-lt"/>
                          <a:ea typeface="+mn-ea"/>
                          <a:cs typeface="+mn-cs"/>
                        </a:rPr>
                        <a:t>Learn to communicate with a personal style that builds relationships, i.e.., speak with passion, make strong eye contact, and carry themselves with “presence.”</a:t>
                      </a:r>
                    </a:p>
                    <a:p>
                      <a:pPr marL="119063" marR="0" lvl="0" indent="-119063" algn="l" defTabSz="914400" rtl="0" eaLnBrk="0" fontAlgn="base" latinLnBrk="0" hangingPunct="0">
                        <a:lnSpc>
                          <a:spcPct val="100000"/>
                        </a:lnSpc>
                        <a:spcBef>
                          <a:spcPct val="0"/>
                        </a:spcBef>
                        <a:spcAft>
                          <a:spcPct val="0"/>
                        </a:spcAft>
                        <a:buClr>
                          <a:schemeClr val="tx1"/>
                        </a:buClr>
                        <a:buSzTx/>
                        <a:buFontTx/>
                        <a:buChar char="•"/>
                        <a:tabLst>
                          <a:tab pos="457200" algn="l"/>
                        </a:tabLst>
                        <a:defRPr/>
                      </a:pPr>
                      <a:r>
                        <a:rPr lang="en-US" sz="900" b="0" kern="1200" dirty="0" smtClean="0">
                          <a:solidFill>
                            <a:schemeClr val="dk1"/>
                          </a:solidFill>
                          <a:latin typeface="+mn-lt"/>
                          <a:ea typeface="+mn-ea"/>
                          <a:cs typeface="+mn-cs"/>
                        </a:rPr>
                        <a:t>3 exercises: Handle Q&amp;A, how to use evidence, expanded pitch – all on camera with group feedback.</a:t>
                      </a:r>
                      <a:endParaRPr lang="en-US" sz="900" dirty="0">
                        <a:latin typeface="+mn-lt"/>
                      </a:endParaRPr>
                    </a:p>
                  </a:txBody>
                  <a:tcPr anchor="ctr"/>
                </a:tc>
              </a:tr>
              <a:tr h="320040">
                <a:tc rowSpan="2">
                  <a:txBody>
                    <a:bodyPr/>
                    <a:lstStyle/>
                    <a:p>
                      <a:pPr marL="111125" marR="0" lvl="0" indent="-111125" algn="l" defTabSz="914400" rtl="0" eaLnBrk="1" fontAlgn="auto" latinLnBrk="0" hangingPunct="1">
                        <a:lnSpc>
                          <a:spcPct val="100000"/>
                        </a:lnSpc>
                        <a:spcBef>
                          <a:spcPts val="0"/>
                        </a:spcBef>
                        <a:spcAft>
                          <a:spcPts val="0"/>
                        </a:spcAft>
                        <a:buClrTx/>
                        <a:buSzTx/>
                        <a:buFont typeface="Arial" pitchFamily="34" charset="0"/>
                        <a:buNone/>
                        <a:tabLst/>
                        <a:defRPr/>
                      </a:pPr>
                      <a:r>
                        <a:rPr lang="en-US" sz="900" b="1" kern="1200" dirty="0" smtClean="0">
                          <a:solidFill>
                            <a:schemeClr val="tx1"/>
                          </a:solidFill>
                          <a:latin typeface="+mn-lt"/>
                          <a:ea typeface="+mn-ea"/>
                          <a:cs typeface="+mn-cs"/>
                        </a:rPr>
                        <a:t>Apply System Perspective </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900" kern="1200" dirty="0" smtClean="0">
                          <a:solidFill>
                            <a:schemeClr val="tx1"/>
                          </a:solidFill>
                          <a:latin typeface="+mn-lt"/>
                          <a:ea typeface="+mn-ea"/>
                          <a:cs typeface="+mn-cs"/>
                        </a:rPr>
                        <a:t>Distinguish Children’s as a complex system and the criticality of each business function. </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None/>
                        <a:tabLst/>
                        <a:defRPr/>
                      </a:pPr>
                      <a:r>
                        <a:rPr lang="en-US" sz="900" b="1" kern="1200" dirty="0" smtClean="0">
                          <a:solidFill>
                            <a:schemeClr val="dk1"/>
                          </a:solidFill>
                          <a:latin typeface="+mn-lt"/>
                          <a:ea typeface="+mn-ea"/>
                          <a:cs typeface="+mn-cs"/>
                        </a:rPr>
                        <a:t>Improve</a:t>
                      </a:r>
                      <a:r>
                        <a:rPr lang="en-US" sz="900" b="1" kern="1200" baseline="0" dirty="0" smtClean="0">
                          <a:solidFill>
                            <a:schemeClr val="dk1"/>
                          </a:solidFill>
                          <a:latin typeface="+mn-lt"/>
                          <a:ea typeface="+mn-ea"/>
                          <a:cs typeface="+mn-cs"/>
                        </a:rPr>
                        <a:t> your Process</a:t>
                      </a:r>
                      <a:endParaRPr lang="en-US" sz="900" b="1" kern="1200" dirty="0" smtClean="0">
                        <a:solidFill>
                          <a:schemeClr val="dk1"/>
                        </a:solidFill>
                        <a:latin typeface="+mn-lt"/>
                        <a:ea typeface="+mn-ea"/>
                        <a:cs typeface="+mn-cs"/>
                      </a:endParaRPr>
                    </a:p>
                    <a:p>
                      <a:pPr marL="111125" lvl="0" indent="-111125" algn="l" defTabSz="914400" rtl="0" eaLnBrk="1" latinLnBrk="0" hangingPunct="1">
                        <a:buFont typeface="Arial" pitchFamily="34" charset="0"/>
                        <a:buChar char="•"/>
                      </a:pPr>
                      <a:r>
                        <a:rPr lang="en-US" sz="900" b="0" kern="1200" dirty="0" smtClean="0">
                          <a:solidFill>
                            <a:schemeClr val="dk1"/>
                          </a:solidFill>
                          <a:latin typeface="+mn-lt"/>
                          <a:ea typeface="+mn-ea"/>
                          <a:cs typeface="+mn-cs"/>
                        </a:rPr>
                        <a:t>Assess your operational performance capabilities and develop a plan for performance enhancement.</a:t>
                      </a:r>
                    </a:p>
                    <a:p>
                      <a:pPr marL="111125" lvl="0" indent="-111125" algn="l" defTabSz="914400" rtl="0" eaLnBrk="1" latinLnBrk="0" hangingPunct="1">
                        <a:buFont typeface="Arial" pitchFamily="34" charset="0"/>
                        <a:buChar char="•"/>
                      </a:pPr>
                      <a:r>
                        <a:rPr lang="en-US" sz="900" b="0" kern="1200" dirty="0" smtClean="0">
                          <a:solidFill>
                            <a:schemeClr val="dk1"/>
                          </a:solidFill>
                          <a:latin typeface="+mn-lt"/>
                          <a:ea typeface="+mn-ea"/>
                          <a:cs typeface="+mn-cs"/>
                        </a:rPr>
                        <a:t>Discuss implications for the broader system.</a:t>
                      </a:r>
                      <a:endParaRPr lang="en-US" sz="900" dirty="0">
                        <a:latin typeface="+mn-lt"/>
                      </a:endParaRPr>
                    </a:p>
                  </a:txBody>
                  <a:tcPr anchor="ctr"/>
                </a:tc>
                <a:tc rowSpan="2">
                  <a:txBody>
                    <a:bodyPr/>
                    <a:lstStyle/>
                    <a:p>
                      <a:pPr marL="0" algn="l" defTabSz="914400" rtl="0" eaLnBrk="1" latinLnBrk="0" hangingPunct="1"/>
                      <a:r>
                        <a:rPr lang="en-US" sz="900" b="1" kern="1200" baseline="0" dirty="0" smtClean="0">
                          <a:solidFill>
                            <a:schemeClr val="dk1"/>
                          </a:solidFill>
                          <a:latin typeface="+mn-lt"/>
                          <a:ea typeface="+mn-ea"/>
                          <a:cs typeface="+mn-cs"/>
                        </a:rPr>
                        <a:t>The Art of Influence</a:t>
                      </a:r>
                      <a:endParaRPr lang="en-US" sz="900" b="1" kern="1200" dirty="0" smtClean="0">
                        <a:solidFill>
                          <a:schemeClr val="dk1"/>
                        </a:solidFill>
                        <a:latin typeface="+mn-lt"/>
                        <a:ea typeface="+mn-ea"/>
                        <a:cs typeface="+mn-cs"/>
                      </a:endParaRPr>
                    </a:p>
                    <a:p>
                      <a:pPr marL="111125" marR="0" lvl="0" indent="-1111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900" b="0" kern="1200" dirty="0" smtClean="0">
                          <a:solidFill>
                            <a:schemeClr val="dk1"/>
                          </a:solidFill>
                          <a:latin typeface="+mn-lt"/>
                          <a:ea typeface="+mn-ea"/>
                          <a:cs typeface="+mn-cs"/>
                        </a:rPr>
                        <a:t>Identify and assess your key stakeholders and your ability to influence</a:t>
                      </a:r>
                      <a:r>
                        <a:rPr lang="en-US" sz="900" b="0" kern="1200" baseline="0" dirty="0" smtClean="0">
                          <a:solidFill>
                            <a:schemeClr val="dk1"/>
                          </a:solidFill>
                          <a:latin typeface="+mn-lt"/>
                          <a:ea typeface="+mn-ea"/>
                          <a:cs typeface="+mn-cs"/>
                        </a:rPr>
                        <a:t> them today</a:t>
                      </a:r>
                      <a:r>
                        <a:rPr lang="en-US" sz="900" b="0" kern="1200" dirty="0" smtClean="0">
                          <a:solidFill>
                            <a:schemeClr val="dk1"/>
                          </a:solidFill>
                          <a:latin typeface="+mn-lt"/>
                          <a:ea typeface="+mn-ea"/>
                          <a:cs typeface="+mn-cs"/>
                        </a:rPr>
                        <a:t>.</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900" b="0" kern="1200" dirty="0" smtClean="0">
                          <a:solidFill>
                            <a:schemeClr val="dk1"/>
                          </a:solidFill>
                          <a:latin typeface="+mn-lt"/>
                          <a:ea typeface="+mn-ea"/>
                          <a:cs typeface="+mn-cs"/>
                        </a:rPr>
                        <a:t>Learn strategies</a:t>
                      </a:r>
                      <a:r>
                        <a:rPr lang="en-US" sz="900" b="0" kern="1200" baseline="0" dirty="0" smtClean="0">
                          <a:solidFill>
                            <a:schemeClr val="dk1"/>
                          </a:solidFill>
                          <a:latin typeface="+mn-lt"/>
                          <a:ea typeface="+mn-ea"/>
                          <a:cs typeface="+mn-cs"/>
                        </a:rPr>
                        <a:t> for influence.</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900" b="0" kern="1200" baseline="0" dirty="0" smtClean="0">
                          <a:solidFill>
                            <a:schemeClr val="dk1"/>
                          </a:solidFill>
                          <a:latin typeface="+mn-lt"/>
                          <a:ea typeface="+mn-ea"/>
                          <a:cs typeface="+mn-cs"/>
                        </a:rPr>
                        <a:t>Publicly discuss challenges and how a new approach can be applied.</a:t>
                      </a:r>
                    </a:p>
                  </a:txBody>
                  <a:tcPr anchor="ctr"/>
                </a:tc>
                <a:tc>
                  <a:txBody>
                    <a:bodyPr/>
                    <a:lstStyle/>
                    <a:p>
                      <a:pPr marL="111125" marR="0" lvl="0" indent="-111125" algn="l" defTabSz="914400" rtl="0" eaLnBrk="1" fontAlgn="auto" latinLnBrk="0" hangingPunct="1">
                        <a:lnSpc>
                          <a:spcPct val="100000"/>
                        </a:lnSpc>
                        <a:spcBef>
                          <a:spcPts val="0"/>
                        </a:spcBef>
                        <a:spcAft>
                          <a:spcPts val="0"/>
                        </a:spcAft>
                        <a:buClrTx/>
                        <a:buSzTx/>
                        <a:buFont typeface="Arial" pitchFamily="34" charset="0"/>
                        <a:buNone/>
                        <a:tabLst/>
                        <a:defRPr/>
                      </a:pPr>
                      <a:r>
                        <a:rPr lang="en-US" sz="900" b="1" kern="1200" dirty="0" smtClean="0">
                          <a:solidFill>
                            <a:schemeClr val="dk1"/>
                          </a:solidFill>
                          <a:latin typeface="+mn-lt"/>
                          <a:ea typeface="+mn-ea"/>
                          <a:cs typeface="+mn-cs"/>
                        </a:rPr>
                        <a:t>Internal</a:t>
                      </a:r>
                      <a:r>
                        <a:rPr lang="en-US" sz="900" b="1" kern="1200" baseline="0" dirty="0" smtClean="0">
                          <a:solidFill>
                            <a:schemeClr val="dk1"/>
                          </a:solidFill>
                          <a:latin typeface="+mn-lt"/>
                          <a:ea typeface="+mn-ea"/>
                          <a:cs typeface="+mn-cs"/>
                        </a:rPr>
                        <a:t> Facilitator:</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900" b="0" kern="1200" baseline="0" dirty="0" smtClean="0">
                          <a:solidFill>
                            <a:schemeClr val="dk1"/>
                          </a:solidFill>
                          <a:latin typeface="+mn-lt"/>
                          <a:ea typeface="+mn-ea"/>
                          <a:cs typeface="+mn-cs"/>
                        </a:rPr>
                        <a:t>Megan Graham (or Operations leader)</a:t>
                      </a:r>
                      <a:endParaRPr lang="en-US" sz="900" b="0" kern="1200" dirty="0" smtClean="0">
                        <a:solidFill>
                          <a:schemeClr val="dk1"/>
                        </a:solidFill>
                        <a:latin typeface="+mn-lt"/>
                        <a:ea typeface="+mn-ea"/>
                        <a:cs typeface="+mn-cs"/>
                      </a:endParaRPr>
                    </a:p>
                  </a:txBody>
                  <a:tcPr anchor="ctr">
                    <a:solidFill>
                      <a:schemeClr val="accent3">
                        <a:lumMod val="40000"/>
                        <a:lumOff val="60000"/>
                      </a:schemeClr>
                    </a:solidFill>
                  </a:tcPr>
                </a:tc>
              </a:tr>
              <a:tr h="579120">
                <a:tc vMerge="1">
                  <a:txBody>
                    <a:bodyPr/>
                    <a:lstStyle/>
                    <a:p>
                      <a:endParaRPr lang="en-US"/>
                    </a:p>
                  </a:txBody>
                  <a:tcPr/>
                </a:tc>
                <a:tc vMerge="1">
                  <a:txBody>
                    <a:bodyPr/>
                    <a:lstStyle/>
                    <a:p>
                      <a:endParaRPr lang="en-US"/>
                    </a:p>
                  </a:txBody>
                  <a:tcPr/>
                </a:tc>
                <a:tc>
                  <a:txBody>
                    <a:bodyPr/>
                    <a:lstStyle/>
                    <a:p>
                      <a:pPr marL="111125" marR="0" lvl="0" indent="-111125" algn="l" defTabSz="914400" rtl="0" eaLnBrk="1" fontAlgn="auto" latinLnBrk="0" hangingPunct="1">
                        <a:lnSpc>
                          <a:spcPct val="100000"/>
                        </a:lnSpc>
                        <a:spcBef>
                          <a:spcPts val="0"/>
                        </a:spcBef>
                        <a:spcAft>
                          <a:spcPts val="0"/>
                        </a:spcAft>
                        <a:buClrTx/>
                        <a:buSzTx/>
                        <a:buFont typeface="Arial" pitchFamily="34" charset="0"/>
                        <a:buNone/>
                        <a:tabLst/>
                        <a:defRPr/>
                      </a:pPr>
                      <a:r>
                        <a:rPr lang="en-US" sz="900" b="1" kern="1200" dirty="0" smtClean="0">
                          <a:solidFill>
                            <a:schemeClr val="dk1"/>
                          </a:solidFill>
                          <a:latin typeface="+mn-lt"/>
                          <a:ea typeface="+mn-ea"/>
                          <a:cs typeface="+mn-cs"/>
                        </a:rPr>
                        <a:t>Individual Planning </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900" kern="1200" dirty="0" smtClean="0">
                          <a:solidFill>
                            <a:schemeClr val="dk1"/>
                          </a:solidFill>
                          <a:latin typeface="+mn-lt"/>
                          <a:ea typeface="+mn-ea"/>
                          <a:cs typeface="Times New Roman" pitchFamily="18" charset="0"/>
                        </a:rPr>
                        <a:t>Participants develop a plan to apply what they learned back on the job and commit to it publicly.</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None/>
                        <a:tabLst/>
                        <a:defRPr/>
                      </a:pPr>
                      <a:r>
                        <a:rPr lang="en-US" sz="900" b="1" kern="1200" dirty="0" smtClean="0">
                          <a:solidFill>
                            <a:schemeClr val="dk1"/>
                          </a:solidFill>
                          <a:latin typeface="+mn-lt"/>
                          <a:ea typeface="+mn-ea"/>
                          <a:cs typeface="+mn-cs"/>
                        </a:rPr>
                        <a:t>Next Steps and Adjourn </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900" kern="1200" dirty="0" smtClean="0">
                          <a:solidFill>
                            <a:schemeClr val="dk1"/>
                          </a:solidFill>
                          <a:latin typeface="+mn-lt"/>
                          <a:ea typeface="+mn-ea"/>
                          <a:cs typeface="Times New Roman" pitchFamily="18" charset="0"/>
                        </a:rPr>
                        <a:t>Review expectations for inter-session work</a:t>
                      </a:r>
                      <a:endParaRPr lang="en-US" sz="900" dirty="0">
                        <a:latin typeface="+mn-lt"/>
                      </a:endParaRPr>
                    </a:p>
                  </a:txBody>
                  <a:tcPr anchor="ctr"/>
                </a:tc>
              </a:tr>
            </a:tbl>
          </a:graphicData>
        </a:graphic>
      </p:graphicFrame>
      <p:sp>
        <p:nvSpPr>
          <p:cNvPr id="6" name="Slide Number Placeholder 5"/>
          <p:cNvSpPr>
            <a:spLocks noGrp="1"/>
          </p:cNvSpPr>
          <p:nvPr>
            <p:ph type="sldNum" sz="quarter" idx="10"/>
          </p:nvPr>
        </p:nvSpPr>
        <p:spPr/>
        <p:txBody>
          <a:bodyPr/>
          <a:lstStyle/>
          <a:p>
            <a:pPr>
              <a:defRPr/>
            </a:pPr>
            <a:fld id="{01D945C9-0277-4107-B589-EC55ECD240BC}" type="slidenum">
              <a:rPr lang="en-US" smtClean="0"/>
              <a:pPr>
                <a:defRPr/>
              </a:pPr>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609600"/>
          </a:xfrm>
        </p:spPr>
        <p:txBody>
          <a:bodyPr/>
          <a:lstStyle/>
          <a:p>
            <a:r>
              <a:rPr lang="en-US" sz="2800" dirty="0" smtClean="0"/>
              <a:t>Workshop 3: Lead Your Team</a:t>
            </a:r>
            <a:endParaRPr lang="en-US" sz="2800" dirty="0"/>
          </a:p>
        </p:txBody>
      </p:sp>
      <p:graphicFrame>
        <p:nvGraphicFramePr>
          <p:cNvPr id="5" name="Content Placeholder 4"/>
          <p:cNvGraphicFramePr>
            <a:graphicFrameLocks noGrp="1"/>
          </p:cNvGraphicFramePr>
          <p:nvPr>
            <p:ph idx="1"/>
          </p:nvPr>
        </p:nvGraphicFramePr>
        <p:xfrm>
          <a:off x="333375" y="561975"/>
          <a:ext cx="8458200" cy="6172200"/>
        </p:xfrm>
        <a:graphic>
          <a:graphicData uri="http://schemas.openxmlformats.org/drawingml/2006/table">
            <a:tbl>
              <a:tblPr firstRow="1" bandRow="1">
                <a:tableStyleId>{5C22544A-7EE6-4342-B048-85BDC9FD1C3A}</a:tableStyleId>
              </a:tblPr>
              <a:tblGrid>
                <a:gridCol w="4229099"/>
                <a:gridCol w="4229101"/>
              </a:tblGrid>
              <a:tr h="235369">
                <a:tc>
                  <a:txBody>
                    <a:bodyPr/>
                    <a:lstStyle/>
                    <a:p>
                      <a:pPr algn="ctr"/>
                      <a:r>
                        <a:rPr lang="en-US" sz="1200" dirty="0" smtClean="0">
                          <a:latin typeface="+mn-lt"/>
                        </a:rPr>
                        <a:t>Day 1:</a:t>
                      </a:r>
                      <a:r>
                        <a:rPr lang="en-US" sz="1200" baseline="0" dirty="0" smtClean="0">
                          <a:latin typeface="+mn-lt"/>
                        </a:rPr>
                        <a:t> Lead Your Team</a:t>
                      </a:r>
                      <a:endParaRPr lang="en-US" sz="1200" dirty="0">
                        <a:latin typeface="+mn-lt"/>
                      </a:endParaRPr>
                    </a:p>
                  </a:txBody>
                  <a:tcPr anchor="ctr"/>
                </a:tc>
                <a:tc>
                  <a:txBody>
                    <a:bodyPr/>
                    <a:lstStyle/>
                    <a:p>
                      <a:pPr algn="ctr"/>
                      <a:r>
                        <a:rPr lang="en-US" sz="1200" dirty="0" smtClean="0">
                          <a:latin typeface="+mn-lt"/>
                        </a:rPr>
                        <a:t>Day 2: Increase Your</a:t>
                      </a:r>
                      <a:r>
                        <a:rPr lang="en-US" sz="1200" baseline="0" dirty="0" smtClean="0">
                          <a:latin typeface="+mn-lt"/>
                        </a:rPr>
                        <a:t> Impact</a:t>
                      </a:r>
                      <a:endParaRPr lang="en-US" sz="1200" dirty="0">
                        <a:latin typeface="+mn-lt"/>
                      </a:endParaRPr>
                    </a:p>
                  </a:txBody>
                  <a:tcPr anchor="ctr"/>
                </a:tc>
              </a:tr>
              <a:tr h="569317">
                <a:tc>
                  <a:txBody>
                    <a:bodyPr/>
                    <a:lstStyle/>
                    <a:p>
                      <a:pPr marL="111125" indent="-111125">
                        <a:buFont typeface="Arial" pitchFamily="34" charset="0"/>
                        <a:buNone/>
                      </a:pPr>
                      <a:r>
                        <a:rPr lang="en-US" sz="1000" b="1" kern="1200" dirty="0" smtClean="0">
                          <a:solidFill>
                            <a:schemeClr val="dk1"/>
                          </a:solidFill>
                          <a:latin typeface="+mn-lt"/>
                          <a:ea typeface="+mn-ea"/>
                          <a:cs typeface="+mn-cs"/>
                        </a:rPr>
                        <a:t>Leader Welcome – Linda Matzigkeit</a:t>
                      </a:r>
                    </a:p>
                    <a:p>
                      <a:pPr marL="111125" lvl="0" indent="-111125">
                        <a:buFont typeface="Arial" pitchFamily="34" charset="0"/>
                        <a:buChar char="•"/>
                      </a:pPr>
                      <a:r>
                        <a:rPr lang="en-US" sz="1000" kern="1200" dirty="0" smtClean="0">
                          <a:solidFill>
                            <a:schemeClr val="dk1"/>
                          </a:solidFill>
                          <a:latin typeface="+mn-lt"/>
                          <a:ea typeface="+mn-ea"/>
                          <a:cs typeface="Times New Roman" pitchFamily="18" charset="0"/>
                        </a:rPr>
                        <a:t>Welcome participants, </a:t>
                      </a:r>
                      <a:r>
                        <a:rPr lang="en-US" sz="1000" kern="1200" baseline="0" dirty="0" smtClean="0">
                          <a:solidFill>
                            <a:schemeClr val="dk1"/>
                          </a:solidFill>
                          <a:latin typeface="+mn-lt"/>
                          <a:ea typeface="+mn-ea"/>
                          <a:cs typeface="Times New Roman" pitchFamily="18" charset="0"/>
                        </a:rPr>
                        <a:t>r</a:t>
                      </a:r>
                      <a:r>
                        <a:rPr lang="en-US" sz="1000" kern="1200" dirty="0" smtClean="0">
                          <a:solidFill>
                            <a:schemeClr val="dk1"/>
                          </a:solidFill>
                          <a:latin typeface="+mn-lt"/>
                          <a:ea typeface="+mn-ea"/>
                          <a:cs typeface="Times New Roman" pitchFamily="18" charset="0"/>
                        </a:rPr>
                        <a:t>eview program agenda and objectives.</a:t>
                      </a:r>
                    </a:p>
                  </a:txBody>
                  <a:tcPr anchor="ctr"/>
                </a:tc>
                <a:tc>
                  <a:txBody>
                    <a:bodyPr/>
                    <a:lstStyle/>
                    <a:p>
                      <a:pPr marL="111125" marR="0" lvl="0" indent="-111125" algn="l" defTabSz="914400" rtl="0" eaLnBrk="1" fontAlgn="auto" latinLnBrk="0" hangingPunct="1">
                        <a:lnSpc>
                          <a:spcPct val="100000"/>
                        </a:lnSpc>
                        <a:spcBef>
                          <a:spcPts val="0"/>
                        </a:spcBef>
                        <a:spcAft>
                          <a:spcPts val="0"/>
                        </a:spcAft>
                        <a:buClrTx/>
                        <a:buSzTx/>
                        <a:buFont typeface="Arial" pitchFamily="34" charset="0"/>
                        <a:buNone/>
                        <a:tabLst/>
                        <a:defRPr/>
                      </a:pPr>
                      <a:r>
                        <a:rPr lang="en-US" sz="1000" b="1" kern="1200" dirty="0" smtClean="0">
                          <a:solidFill>
                            <a:schemeClr val="dk1"/>
                          </a:solidFill>
                          <a:latin typeface="+mn-lt"/>
                          <a:ea typeface="+mn-ea"/>
                          <a:cs typeface="+mn-cs"/>
                        </a:rPr>
                        <a:t>Overview of the Day – Linda Matzigkeit</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000" kern="1200" dirty="0" smtClean="0">
                          <a:solidFill>
                            <a:schemeClr val="dk1"/>
                          </a:solidFill>
                          <a:latin typeface="+mn-lt"/>
                          <a:ea typeface="+mn-ea"/>
                          <a:cs typeface="Times New Roman" pitchFamily="18" charset="0"/>
                        </a:rPr>
                        <a:t>Review Day 1 lessons learned and Day 2 agenda.</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000" dirty="0" smtClean="0">
                          <a:latin typeface="+mn-lt"/>
                        </a:rPr>
                        <a:t>  </a:t>
                      </a:r>
                      <a:r>
                        <a:rPr lang="en-US" sz="1000" kern="1200" dirty="0" smtClean="0">
                          <a:solidFill>
                            <a:schemeClr val="dk1"/>
                          </a:solidFill>
                          <a:latin typeface="+mn-lt"/>
                          <a:ea typeface="+mn-ea"/>
                          <a:cs typeface="Times New Roman" pitchFamily="18" charset="0"/>
                        </a:rPr>
                        <a:t>Introduce</a:t>
                      </a:r>
                      <a:r>
                        <a:rPr lang="en-US" sz="1000" kern="1200" baseline="0" dirty="0" smtClean="0">
                          <a:solidFill>
                            <a:schemeClr val="dk1"/>
                          </a:solidFill>
                          <a:latin typeface="+mn-lt"/>
                          <a:ea typeface="+mn-ea"/>
                          <a:cs typeface="Times New Roman" pitchFamily="18" charset="0"/>
                        </a:rPr>
                        <a:t> facilitators for the day (Selected ET members join after lunch)</a:t>
                      </a:r>
                      <a:endParaRPr lang="en-US" sz="1000" dirty="0" smtClean="0">
                        <a:latin typeface="+mn-lt"/>
                      </a:endParaRPr>
                    </a:p>
                  </a:txBody>
                  <a:tcPr anchor="ctr"/>
                </a:tc>
              </a:tr>
              <a:tr h="451763">
                <a:tc>
                  <a:txBody>
                    <a:bodyPr/>
                    <a:lstStyle/>
                    <a:p>
                      <a:pPr marL="111125" lvl="0" indent="-111125" algn="l" defTabSz="914400" rtl="0" eaLnBrk="1" latinLnBrk="0" hangingPunct="1">
                        <a:buFont typeface="Arial" pitchFamily="34" charset="0"/>
                        <a:buNone/>
                      </a:pPr>
                      <a:r>
                        <a:rPr lang="en-US" sz="1000" b="1" kern="1200" baseline="0" dirty="0" smtClean="0">
                          <a:solidFill>
                            <a:schemeClr val="tx1"/>
                          </a:solidFill>
                          <a:latin typeface="+mn-lt"/>
                          <a:ea typeface="+mn-ea"/>
                          <a:cs typeface="Times New Roman" pitchFamily="18" charset="0"/>
                        </a:rPr>
                        <a:t>Internal Facilitator – first hour: </a:t>
                      </a:r>
                    </a:p>
                    <a:p>
                      <a:pPr marL="111125" lvl="0" indent="-111125" algn="l" defTabSz="914400" rtl="0" eaLnBrk="1" latinLnBrk="0" hangingPunct="1">
                        <a:buFont typeface="Arial" pitchFamily="34" charset="0"/>
                        <a:buChar char="•"/>
                      </a:pPr>
                      <a:r>
                        <a:rPr lang="en-US" sz="1000" b="0" kern="1200" baseline="0" dirty="0" smtClean="0">
                          <a:solidFill>
                            <a:schemeClr val="tx1"/>
                          </a:solidFill>
                          <a:latin typeface="+mn-lt"/>
                          <a:ea typeface="+mn-ea"/>
                          <a:cs typeface="Times New Roman" pitchFamily="18" charset="0"/>
                        </a:rPr>
                        <a:t>Linda Matzigkeit</a:t>
                      </a:r>
                    </a:p>
                  </a:txBody>
                  <a:tcPr anchor="ctr">
                    <a:solidFill>
                      <a:schemeClr val="accent3">
                        <a:lumMod val="40000"/>
                        <a:lumOff val="60000"/>
                      </a:schemeClr>
                    </a:solidFill>
                  </a:tcPr>
                </a:tc>
                <a:tc>
                  <a:txBody>
                    <a:bodyPr/>
                    <a:lstStyle/>
                    <a:p>
                      <a:pPr marL="111125" lvl="0" indent="-111125" algn="l" defTabSz="914400" rtl="0" eaLnBrk="1" latinLnBrk="0" hangingPunct="1">
                        <a:buFont typeface="Arial" pitchFamily="34" charset="0"/>
                        <a:buNone/>
                      </a:pPr>
                      <a:r>
                        <a:rPr lang="en-US" sz="1000" b="1" dirty="0" smtClean="0">
                          <a:latin typeface="+mn-lt"/>
                        </a:rPr>
                        <a:t>External Facilitator: </a:t>
                      </a:r>
                    </a:p>
                    <a:p>
                      <a:pPr marL="111125" lvl="0" indent="-111125" algn="l" defTabSz="914400" rtl="0" eaLnBrk="1" latinLnBrk="0" hangingPunct="1">
                        <a:buFont typeface="Arial" pitchFamily="34" charset="0"/>
                        <a:buChar char="•"/>
                      </a:pPr>
                      <a:r>
                        <a:rPr lang="en-US" sz="1000" b="1" kern="1200" baseline="0" dirty="0" smtClean="0">
                          <a:solidFill>
                            <a:schemeClr val="tx1"/>
                          </a:solidFill>
                          <a:latin typeface="+mn-lt"/>
                          <a:ea typeface="+mn-ea"/>
                          <a:cs typeface="Times New Roman" pitchFamily="18" charset="0"/>
                        </a:rPr>
                        <a:t>Rick Gilkey, PhD - </a:t>
                      </a:r>
                      <a:r>
                        <a:rPr lang="en-US" sz="1000" kern="1200" baseline="0" dirty="0" smtClean="0">
                          <a:solidFill>
                            <a:schemeClr val="tx1"/>
                          </a:solidFill>
                          <a:latin typeface="+mn-lt"/>
                          <a:ea typeface="+mn-ea"/>
                          <a:cs typeface="Times New Roman" pitchFamily="18" charset="0"/>
                        </a:rPr>
                        <a:t>Expertise: strategic thinking, leadership and creative problem solving, organizational dynamics </a:t>
                      </a:r>
                      <a:endParaRPr lang="en-US" sz="1000" dirty="0">
                        <a:solidFill>
                          <a:schemeClr val="tx1"/>
                        </a:solidFill>
                        <a:latin typeface="+mn-lt"/>
                      </a:endParaRPr>
                    </a:p>
                  </a:txBody>
                  <a:tcPr anchor="ctr">
                    <a:solidFill>
                      <a:schemeClr val="accent3">
                        <a:lumMod val="40000"/>
                        <a:lumOff val="60000"/>
                      </a:schemeClr>
                    </a:solidFill>
                  </a:tcPr>
                </a:tc>
              </a:tr>
              <a:tr h="824528">
                <a:tc>
                  <a:txBody>
                    <a:bodyPr/>
                    <a:lstStyle/>
                    <a:p>
                      <a:pPr marL="111125" lvl="0" indent="-111125">
                        <a:buFont typeface="Arial" pitchFamily="34" charset="0"/>
                        <a:buNone/>
                      </a:pPr>
                      <a:r>
                        <a:rPr lang="en-US" sz="1000" b="1" kern="1200" dirty="0" smtClean="0">
                          <a:solidFill>
                            <a:schemeClr val="dk1"/>
                          </a:solidFill>
                          <a:latin typeface="+mn-lt"/>
                          <a:ea typeface="+mn-ea"/>
                          <a:cs typeface="Times New Roman" pitchFamily="18" charset="0"/>
                        </a:rPr>
                        <a:t>Hire and Keep</a:t>
                      </a:r>
                      <a:r>
                        <a:rPr lang="en-US" sz="1000" b="1" kern="1200" baseline="0" dirty="0" smtClean="0">
                          <a:solidFill>
                            <a:schemeClr val="dk1"/>
                          </a:solidFill>
                          <a:latin typeface="+mn-lt"/>
                          <a:ea typeface="+mn-ea"/>
                          <a:cs typeface="Times New Roman" pitchFamily="18" charset="0"/>
                        </a:rPr>
                        <a:t> the Best</a:t>
                      </a:r>
                    </a:p>
                    <a:p>
                      <a:pPr marL="111125" lvl="0" indent="-111125">
                        <a:buFont typeface="Arial" pitchFamily="34" charset="0"/>
                        <a:buChar char="•"/>
                      </a:pPr>
                      <a:r>
                        <a:rPr lang="en-US" sz="1000" kern="1200" dirty="0" smtClean="0">
                          <a:solidFill>
                            <a:schemeClr val="dk1"/>
                          </a:solidFill>
                          <a:latin typeface="+mn-lt"/>
                          <a:ea typeface="+mn-ea"/>
                          <a:cs typeface="+mn-cs"/>
                        </a:rPr>
                        <a:t>Plan, manage, and grow your leadership pipeline in three areas: talent identification, development, and retention. </a:t>
                      </a:r>
                      <a:endParaRPr lang="en-US" sz="1000" kern="1200" dirty="0" smtClean="0">
                        <a:solidFill>
                          <a:schemeClr val="dk1"/>
                        </a:solidFill>
                        <a:latin typeface="+mn-lt"/>
                        <a:ea typeface="+mn-ea"/>
                        <a:cs typeface="Times New Roman" pitchFamily="18" charset="0"/>
                      </a:endParaRPr>
                    </a:p>
                    <a:p>
                      <a:pPr marL="111125" marR="0" lvl="0" indent="-1111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000" kern="1200" dirty="0" smtClean="0">
                          <a:solidFill>
                            <a:schemeClr val="dk1"/>
                          </a:solidFill>
                          <a:latin typeface="+mn-lt"/>
                          <a:ea typeface="+mn-ea"/>
                          <a:cs typeface="+mn-cs"/>
                        </a:rPr>
                        <a:t>Recognize which talent management practices are best suited for your department</a:t>
                      </a:r>
                      <a:r>
                        <a:rPr lang="en-US" sz="1000" kern="1200" baseline="0" dirty="0" smtClean="0">
                          <a:solidFill>
                            <a:schemeClr val="dk1"/>
                          </a:solidFill>
                          <a:latin typeface="+mn-lt"/>
                          <a:ea typeface="+mn-ea"/>
                          <a:cs typeface="+mn-cs"/>
                        </a:rPr>
                        <a:t> </a:t>
                      </a:r>
                      <a:r>
                        <a:rPr lang="en-US" sz="1000" kern="1200" dirty="0" smtClean="0">
                          <a:solidFill>
                            <a:schemeClr val="dk1"/>
                          </a:solidFill>
                          <a:latin typeface="+mn-lt"/>
                          <a:ea typeface="+mn-ea"/>
                          <a:cs typeface="+mn-cs"/>
                        </a:rPr>
                        <a:t>and determine how they should be executed.</a:t>
                      </a:r>
                      <a:endParaRPr lang="en-US" sz="1000" dirty="0">
                        <a:latin typeface="+mn-lt"/>
                      </a:endParaRPr>
                    </a:p>
                  </a:txBody>
                  <a:tcPr anchor="ctr"/>
                </a:tc>
                <a:tc rowSpan="2">
                  <a:txBody>
                    <a:bodyPr/>
                    <a:lstStyle/>
                    <a:p>
                      <a:pPr marL="119063" lvl="0" indent="-119063" eaLnBrk="0" hangingPunct="0">
                        <a:buClr>
                          <a:schemeClr val="tx1"/>
                        </a:buClr>
                        <a:tabLst>
                          <a:tab pos="457200" algn="l"/>
                        </a:tabLst>
                      </a:pPr>
                      <a:r>
                        <a:rPr lang="en-US" sz="1000" b="1" kern="1200" dirty="0" smtClean="0">
                          <a:solidFill>
                            <a:schemeClr val="dk1"/>
                          </a:solidFill>
                          <a:latin typeface="+mn-lt"/>
                          <a:ea typeface="+mn-ea"/>
                          <a:cs typeface="Times New Roman" pitchFamily="18" charset="0"/>
                        </a:rPr>
                        <a:t>Increase your</a:t>
                      </a:r>
                      <a:r>
                        <a:rPr lang="en-US" sz="1000" b="1" kern="1200" baseline="0" dirty="0" smtClean="0">
                          <a:solidFill>
                            <a:schemeClr val="dk1"/>
                          </a:solidFill>
                          <a:latin typeface="+mn-lt"/>
                          <a:ea typeface="+mn-ea"/>
                          <a:cs typeface="Times New Roman" pitchFamily="18" charset="0"/>
                        </a:rPr>
                        <a:t> Leadership Impact</a:t>
                      </a:r>
                      <a:endParaRPr lang="en-US" sz="1000" b="1" kern="1200" dirty="0" smtClean="0">
                        <a:solidFill>
                          <a:schemeClr val="dk1"/>
                        </a:solidFill>
                        <a:latin typeface="+mn-lt"/>
                        <a:ea typeface="+mn-ea"/>
                        <a:cs typeface="Times New Roman" pitchFamily="18" charset="0"/>
                      </a:endParaRPr>
                    </a:p>
                    <a:p>
                      <a:pPr marL="119063" lvl="0" indent="-119063" eaLnBrk="0" hangingPunct="0">
                        <a:buClr>
                          <a:schemeClr val="tx1"/>
                        </a:buClr>
                        <a:buFontTx/>
                        <a:buChar char="•"/>
                        <a:tabLst>
                          <a:tab pos="457200" algn="l"/>
                        </a:tabLst>
                      </a:pPr>
                      <a:r>
                        <a:rPr lang="en-US" sz="1000" kern="1200" dirty="0" smtClean="0">
                          <a:solidFill>
                            <a:schemeClr val="dk1"/>
                          </a:solidFill>
                          <a:latin typeface="+mn-lt"/>
                          <a:ea typeface="+mn-ea"/>
                          <a:cs typeface="Times New Roman" pitchFamily="18" charset="0"/>
                        </a:rPr>
                        <a:t>Discuss implications for leader behavior around strengths</a:t>
                      </a:r>
                      <a:r>
                        <a:rPr lang="en-US" sz="1000" kern="1200" baseline="0" dirty="0" smtClean="0">
                          <a:solidFill>
                            <a:schemeClr val="dk1"/>
                          </a:solidFill>
                          <a:latin typeface="+mn-lt"/>
                          <a:ea typeface="+mn-ea"/>
                          <a:cs typeface="Times New Roman" pitchFamily="18" charset="0"/>
                        </a:rPr>
                        <a:t> and gaps.</a:t>
                      </a:r>
                    </a:p>
                    <a:p>
                      <a:pPr marL="119063" lvl="0" indent="-119063" eaLnBrk="0" hangingPunct="0">
                        <a:buClr>
                          <a:schemeClr val="tx1"/>
                        </a:buClr>
                        <a:buFontTx/>
                        <a:buChar char="•"/>
                        <a:tabLst>
                          <a:tab pos="457200" algn="l"/>
                        </a:tabLst>
                      </a:pPr>
                      <a:r>
                        <a:rPr lang="en-US" sz="1000" kern="1200" baseline="0" dirty="0" smtClean="0">
                          <a:solidFill>
                            <a:schemeClr val="dk1"/>
                          </a:solidFill>
                          <a:latin typeface="+mn-lt"/>
                          <a:ea typeface="+mn-ea"/>
                          <a:cs typeface="Times New Roman" pitchFamily="18" charset="0"/>
                        </a:rPr>
                        <a:t>Connect back to tools available for understanding what style leadership your teams need. </a:t>
                      </a:r>
                    </a:p>
                    <a:p>
                      <a:pPr marL="119063" lvl="0" indent="-119063" eaLnBrk="0" hangingPunct="0">
                        <a:buClr>
                          <a:schemeClr val="tx1"/>
                        </a:buClr>
                        <a:buFontTx/>
                        <a:buChar char="•"/>
                        <a:tabLst>
                          <a:tab pos="457200" algn="l"/>
                        </a:tabLst>
                      </a:pPr>
                      <a:r>
                        <a:rPr lang="en-US" sz="1000" kern="1200" baseline="0" dirty="0" smtClean="0">
                          <a:solidFill>
                            <a:schemeClr val="dk1"/>
                          </a:solidFill>
                          <a:latin typeface="+mn-lt"/>
                          <a:ea typeface="+mn-ea"/>
                          <a:cs typeface="Times New Roman" pitchFamily="18" charset="0"/>
                        </a:rPr>
                        <a:t>Discuss traits of a good leader and what it takes to truly inspire</a:t>
                      </a:r>
                      <a:endParaRPr lang="en-US" sz="1000" kern="1200" dirty="0" smtClean="0">
                        <a:solidFill>
                          <a:schemeClr val="dk1"/>
                        </a:solidFill>
                        <a:latin typeface="+mn-lt"/>
                        <a:ea typeface="+mn-ea"/>
                        <a:cs typeface="Times New Roman" pitchFamily="18" charset="0"/>
                      </a:endParaRPr>
                    </a:p>
                    <a:p>
                      <a:pPr marL="119063" lvl="0" indent="-119063" eaLnBrk="0" hangingPunct="0">
                        <a:buClr>
                          <a:schemeClr val="tx1"/>
                        </a:buClr>
                        <a:tabLst>
                          <a:tab pos="457200" algn="l"/>
                        </a:tabLst>
                      </a:pPr>
                      <a:r>
                        <a:rPr lang="en-US" sz="1000" b="1" kern="1200" dirty="0" smtClean="0">
                          <a:solidFill>
                            <a:schemeClr val="dk1"/>
                          </a:solidFill>
                          <a:latin typeface="+mn-lt"/>
                          <a:ea typeface="+mn-ea"/>
                          <a:cs typeface="+mn-cs"/>
                        </a:rPr>
                        <a:t>Live</a:t>
                      </a:r>
                      <a:r>
                        <a:rPr lang="en-US" sz="1000" b="1" kern="1200" baseline="0" dirty="0" smtClean="0">
                          <a:solidFill>
                            <a:schemeClr val="dk1"/>
                          </a:solidFill>
                          <a:latin typeface="+mn-lt"/>
                          <a:ea typeface="+mn-ea"/>
                          <a:cs typeface="+mn-cs"/>
                        </a:rPr>
                        <a:t> </a:t>
                      </a:r>
                      <a:r>
                        <a:rPr lang="en-US" sz="1000" b="1" kern="1200" dirty="0" smtClean="0">
                          <a:solidFill>
                            <a:schemeClr val="dk1"/>
                          </a:solidFill>
                          <a:latin typeface="+mn-lt"/>
                          <a:ea typeface="+mn-ea"/>
                          <a:cs typeface="+mn-cs"/>
                        </a:rPr>
                        <a:t>the Values</a:t>
                      </a:r>
                      <a:endParaRPr lang="en-US" sz="1000" b="1" kern="1200" dirty="0" smtClean="0">
                        <a:solidFill>
                          <a:schemeClr val="dk1"/>
                        </a:solidFill>
                        <a:latin typeface="+mn-lt"/>
                        <a:ea typeface="+mn-ea"/>
                        <a:cs typeface="Times New Roman" pitchFamily="18" charset="0"/>
                      </a:endParaRPr>
                    </a:p>
                    <a:p>
                      <a:pPr marL="119063" lvl="0" indent="-119063">
                        <a:buClr>
                          <a:schemeClr val="tx1"/>
                        </a:buClr>
                        <a:buFontTx/>
                        <a:buChar char="•"/>
                        <a:tabLst>
                          <a:tab pos="457200" algn="l"/>
                        </a:tabLst>
                      </a:pPr>
                      <a:r>
                        <a:rPr lang="en-US" sz="1000" kern="1200" dirty="0" smtClean="0">
                          <a:solidFill>
                            <a:schemeClr val="dk1"/>
                          </a:solidFill>
                          <a:latin typeface="+mn-lt"/>
                          <a:ea typeface="+mn-ea"/>
                          <a:cs typeface="+mn-cs"/>
                        </a:rPr>
                        <a:t>Values map exercise; discuss how Children’s values</a:t>
                      </a:r>
                      <a:r>
                        <a:rPr lang="en-US" sz="1000" kern="1200" baseline="0" dirty="0" smtClean="0">
                          <a:solidFill>
                            <a:schemeClr val="dk1"/>
                          </a:solidFill>
                          <a:latin typeface="+mn-lt"/>
                          <a:ea typeface="+mn-ea"/>
                          <a:cs typeface="+mn-cs"/>
                        </a:rPr>
                        <a:t> underscore our behaviors as leaders (i.e. decision making, reward &amp; recognition)</a:t>
                      </a:r>
                    </a:p>
                    <a:p>
                      <a:pPr marL="119063" lvl="0" indent="-119063">
                        <a:buClr>
                          <a:schemeClr val="tx1"/>
                        </a:buClr>
                        <a:buFontTx/>
                        <a:buChar char="•"/>
                        <a:tabLst>
                          <a:tab pos="457200" algn="l"/>
                        </a:tabLst>
                      </a:pPr>
                      <a:r>
                        <a:rPr lang="en-US" sz="1000" kern="1200" baseline="0" dirty="0" smtClean="0">
                          <a:solidFill>
                            <a:schemeClr val="dk1"/>
                          </a:solidFill>
                          <a:latin typeface="+mn-lt"/>
                          <a:ea typeface="+mn-ea"/>
                          <a:cs typeface="+mn-cs"/>
                        </a:rPr>
                        <a:t>Integrating persuasion and influence to drive engagement</a:t>
                      </a:r>
                      <a:endParaRPr lang="en-US" sz="1000" dirty="0">
                        <a:solidFill>
                          <a:schemeClr val="tx1"/>
                        </a:solidFill>
                        <a:latin typeface="+mn-lt"/>
                      </a:endParaRPr>
                    </a:p>
                  </a:txBody>
                  <a:tcPr anchor="ctr"/>
                </a:tc>
              </a:tr>
              <a:tr h="421283">
                <a:tc>
                  <a:txBody>
                    <a:bodyPr/>
                    <a:lstStyle/>
                    <a:p>
                      <a:pPr marL="111125" lvl="0" indent="-111125" algn="l" defTabSz="914400" rtl="0" eaLnBrk="1" latinLnBrk="0" hangingPunct="1">
                        <a:buFont typeface="Arial" pitchFamily="34" charset="0"/>
                        <a:buNone/>
                      </a:pPr>
                      <a:r>
                        <a:rPr lang="en-US" sz="1000" b="1" dirty="0" smtClean="0">
                          <a:latin typeface="+mn-lt"/>
                        </a:rPr>
                        <a:t>External Facilitator – rest of the day: </a:t>
                      </a:r>
                    </a:p>
                    <a:p>
                      <a:pPr marL="111125" lvl="0" indent="-111125" algn="l" defTabSz="914400" rtl="0" eaLnBrk="1" latinLnBrk="0" hangingPunct="1">
                        <a:buFont typeface="Arial" pitchFamily="34" charset="0"/>
                        <a:buChar char="•"/>
                      </a:pPr>
                      <a:r>
                        <a:rPr lang="en-US" sz="1000" b="1" kern="1200" baseline="0" dirty="0" smtClean="0">
                          <a:solidFill>
                            <a:schemeClr val="tx1"/>
                          </a:solidFill>
                          <a:latin typeface="+mn-lt"/>
                          <a:ea typeface="+mn-ea"/>
                          <a:cs typeface="Times New Roman" pitchFamily="18" charset="0"/>
                        </a:rPr>
                        <a:t>Rick Gilkey, PhD - </a:t>
                      </a:r>
                      <a:r>
                        <a:rPr lang="en-US" sz="1000" kern="1200" baseline="0" dirty="0" smtClean="0">
                          <a:solidFill>
                            <a:schemeClr val="tx1"/>
                          </a:solidFill>
                          <a:latin typeface="+mn-lt"/>
                          <a:ea typeface="+mn-ea"/>
                          <a:cs typeface="Times New Roman" pitchFamily="18" charset="0"/>
                        </a:rPr>
                        <a:t>Expertise: strategic thinking, leadership and creative problem solving, organizational dynamics </a:t>
                      </a:r>
                      <a:endParaRPr lang="en-US" sz="1000" dirty="0">
                        <a:latin typeface="+mn-lt"/>
                      </a:endParaRPr>
                    </a:p>
                  </a:txBody>
                  <a:tcPr anchor="ctr">
                    <a:solidFill>
                      <a:schemeClr val="accent3">
                        <a:lumMod val="40000"/>
                        <a:lumOff val="60000"/>
                      </a:schemeClr>
                    </a:solidFill>
                  </a:tcPr>
                </a:tc>
                <a:tc vMerge="1">
                  <a:txBody>
                    <a:bodyPr/>
                    <a:lstStyle/>
                    <a:p>
                      <a:endParaRPr lang="en-US"/>
                    </a:p>
                  </a:txBody>
                  <a:tcPr/>
                </a:tc>
              </a:tr>
              <a:tr h="1015643">
                <a:tc>
                  <a:txBody>
                    <a:bodyPr/>
                    <a:lstStyle/>
                    <a:p>
                      <a:r>
                        <a:rPr lang="en-US" sz="1000" b="1" kern="1200" dirty="0" smtClean="0">
                          <a:solidFill>
                            <a:schemeClr val="dk1"/>
                          </a:solidFill>
                          <a:latin typeface="+mn-lt"/>
                          <a:ea typeface="+mn-ea"/>
                          <a:cs typeface="+mn-cs"/>
                        </a:rPr>
                        <a:t>Set the Stage for High Performance</a:t>
                      </a:r>
                      <a:endParaRPr lang="en-US" sz="1000" kern="1200" dirty="0" smtClean="0">
                        <a:solidFill>
                          <a:schemeClr val="dk1"/>
                        </a:solidFill>
                        <a:latin typeface="+mn-lt"/>
                        <a:ea typeface="+mn-ea"/>
                        <a:cs typeface="+mn-cs"/>
                      </a:endParaRPr>
                    </a:p>
                    <a:p>
                      <a:pPr lvl="0"/>
                      <a:r>
                        <a:rPr lang="en-US" sz="1000" kern="1200" dirty="0" smtClean="0">
                          <a:solidFill>
                            <a:schemeClr val="dk1"/>
                          </a:solidFill>
                          <a:latin typeface="+mn-lt"/>
                          <a:ea typeface="+mn-ea"/>
                          <a:cs typeface="+mn-cs"/>
                        </a:rPr>
                        <a:t>Explore the key relationships among quality, customer focus, personal engagement and learning, and how concentrating on these areas helps create and maintain highly effective, high-performing environments. </a:t>
                      </a:r>
                    </a:p>
                    <a:p>
                      <a:pPr lvl="0"/>
                      <a:r>
                        <a:rPr lang="en-US" sz="1000" kern="1200" dirty="0" smtClean="0">
                          <a:solidFill>
                            <a:schemeClr val="dk1"/>
                          </a:solidFill>
                          <a:latin typeface="+mn-lt"/>
                          <a:ea typeface="+mn-ea"/>
                          <a:cs typeface="+mn-cs"/>
                        </a:rPr>
                        <a:t>Learn ways to foster an environment of honest feedback and coaching. </a:t>
                      </a:r>
                      <a:endParaRPr lang="en-US" sz="1000" dirty="0">
                        <a:latin typeface="+mn-lt"/>
                      </a:endParaRPr>
                    </a:p>
                  </a:txBody>
                  <a:tcPr anchor="ctr"/>
                </a:tc>
                <a:tc>
                  <a:txBody>
                    <a:bodyPr/>
                    <a:lstStyle/>
                    <a:p>
                      <a:pPr marL="111125" marR="0" indent="-111125" algn="l" defTabSz="914400" rtl="0" eaLnBrk="1" fontAlgn="auto" latinLnBrk="0" hangingPunct="1">
                        <a:lnSpc>
                          <a:spcPct val="100000"/>
                        </a:lnSpc>
                        <a:spcBef>
                          <a:spcPts val="0"/>
                        </a:spcBef>
                        <a:spcAft>
                          <a:spcPts val="0"/>
                        </a:spcAft>
                        <a:buClrTx/>
                        <a:buSzTx/>
                        <a:buFont typeface="Arial" pitchFamily="34" charset="0"/>
                        <a:buNone/>
                        <a:tabLst/>
                        <a:defRPr/>
                      </a:pPr>
                      <a:r>
                        <a:rPr lang="en-US" sz="1000" b="1" kern="1200" dirty="0" smtClean="0">
                          <a:solidFill>
                            <a:schemeClr val="dk1"/>
                          </a:solidFill>
                          <a:latin typeface="+mn-lt"/>
                          <a:ea typeface="+mn-ea"/>
                          <a:cs typeface="+mn-cs"/>
                        </a:rPr>
                        <a:t>Simulation: Applying</a:t>
                      </a:r>
                      <a:r>
                        <a:rPr lang="en-US" sz="1000" b="1" kern="1200" baseline="0" dirty="0" smtClean="0">
                          <a:solidFill>
                            <a:schemeClr val="dk1"/>
                          </a:solidFill>
                          <a:latin typeface="+mn-lt"/>
                          <a:ea typeface="+mn-ea"/>
                          <a:cs typeface="+mn-cs"/>
                        </a:rPr>
                        <a:t> what we’ve learned</a:t>
                      </a:r>
                      <a:endParaRPr lang="en-US" sz="1000" b="1" kern="1200" dirty="0" smtClean="0">
                        <a:solidFill>
                          <a:schemeClr val="dk1"/>
                        </a:solidFill>
                        <a:latin typeface="+mn-lt"/>
                        <a:ea typeface="+mn-ea"/>
                        <a:cs typeface="+mn-cs"/>
                      </a:endParaRPr>
                    </a:p>
                    <a:p>
                      <a:pPr marL="111125" marR="0" lvl="0" indent="-1111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000" kern="1200" dirty="0" smtClean="0">
                          <a:solidFill>
                            <a:schemeClr val="dk1"/>
                          </a:solidFill>
                          <a:latin typeface="+mn-lt"/>
                          <a:ea typeface="+mn-ea"/>
                          <a:cs typeface="Times New Roman" pitchFamily="18" charset="0"/>
                        </a:rPr>
                        <a:t>Participants</a:t>
                      </a:r>
                      <a:r>
                        <a:rPr lang="en-US" sz="1000" kern="1200" baseline="0" dirty="0" smtClean="0">
                          <a:solidFill>
                            <a:schemeClr val="dk1"/>
                          </a:solidFill>
                          <a:latin typeface="+mn-lt"/>
                          <a:ea typeface="+mn-ea"/>
                          <a:cs typeface="Times New Roman" pitchFamily="18" charset="0"/>
                        </a:rPr>
                        <a:t> split into teams as part of a simulation.</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000" kern="1200" baseline="0" dirty="0" smtClean="0">
                          <a:solidFill>
                            <a:schemeClr val="dk1"/>
                          </a:solidFill>
                          <a:latin typeface="+mn-lt"/>
                          <a:ea typeface="+mn-ea"/>
                          <a:cs typeface="Times New Roman" pitchFamily="18" charset="0"/>
                        </a:rPr>
                        <a:t>Participants are faced with a challenge that enables them to use all the skills they’ve learned to date, e.g.., critical thinking, decision-making, driving operational effectiveness, working across boundaries, influence and delegation, etc. </a:t>
                      </a:r>
                      <a:endParaRPr lang="en-US" sz="1000" dirty="0">
                        <a:solidFill>
                          <a:schemeClr val="tx1"/>
                        </a:solidFill>
                        <a:latin typeface="+mn-lt"/>
                      </a:endParaRPr>
                    </a:p>
                  </a:txBody>
                  <a:tcPr anchor="ctr"/>
                </a:tc>
              </a:tr>
              <a:tr h="2286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b="1" kern="1200" dirty="0" smtClean="0">
                          <a:solidFill>
                            <a:schemeClr val="dk1"/>
                          </a:solidFill>
                          <a:latin typeface="+mn-lt"/>
                          <a:ea typeface="+mn-ea"/>
                          <a:cs typeface="+mn-cs"/>
                        </a:rPr>
                        <a:t>Lunch</a:t>
                      </a:r>
                      <a:endParaRPr lang="en-US" sz="1000" b="1" dirty="0">
                        <a:latin typeface="+mn-lt"/>
                      </a:endParaRPr>
                    </a:p>
                  </a:txBody>
                  <a:tcPr anchor="ctr"/>
                </a:tc>
                <a:tc>
                  <a:txBody>
                    <a:bodyPr/>
                    <a:lstStyle/>
                    <a:p>
                      <a:pPr algn="ctr"/>
                      <a:r>
                        <a:rPr lang="en-US" sz="1000" b="1" dirty="0" smtClean="0">
                          <a:latin typeface="+mn-lt"/>
                        </a:rPr>
                        <a:t>Lunch</a:t>
                      </a:r>
                      <a:endParaRPr lang="en-US" sz="1000" b="1" dirty="0">
                        <a:latin typeface="+mn-lt"/>
                      </a:endParaRPr>
                    </a:p>
                  </a:txBody>
                  <a:tcPr anchor="ctr"/>
                </a:tc>
              </a:tr>
              <a:tr h="1051560">
                <a:tc>
                  <a:txBody>
                    <a:bodyPr/>
                    <a:lstStyle/>
                    <a:p>
                      <a:pPr marL="111125" lvl="0" indent="-111125">
                        <a:buFont typeface="Arial" pitchFamily="34" charset="0"/>
                        <a:buNone/>
                      </a:pPr>
                      <a:r>
                        <a:rPr lang="en-US" sz="1000" b="1" kern="1200" dirty="0" smtClean="0">
                          <a:solidFill>
                            <a:schemeClr val="dk1"/>
                          </a:solidFill>
                          <a:latin typeface="+mn-lt"/>
                          <a:ea typeface="+mn-ea"/>
                          <a:cs typeface="+mn-cs"/>
                        </a:rPr>
                        <a:t>Delegate Authority</a:t>
                      </a:r>
                    </a:p>
                    <a:p>
                      <a:pPr marL="111125" lvl="0" indent="-111125" algn="l" defTabSz="914400" rtl="0" eaLnBrk="1" latinLnBrk="0" hangingPunct="1">
                        <a:buFont typeface="Arial" pitchFamily="34" charset="0"/>
                        <a:buChar char="•"/>
                      </a:pPr>
                      <a:r>
                        <a:rPr lang="en-US" sz="1000" kern="1200" dirty="0" smtClean="0">
                          <a:solidFill>
                            <a:schemeClr val="dk1"/>
                          </a:solidFill>
                          <a:latin typeface="+mn-lt"/>
                          <a:ea typeface="+mn-ea"/>
                          <a:cs typeface="+mn-cs"/>
                        </a:rPr>
                        <a:t>Lecture</a:t>
                      </a:r>
                      <a:r>
                        <a:rPr lang="en-US" sz="1000" kern="1200" baseline="0" dirty="0" smtClean="0">
                          <a:solidFill>
                            <a:schemeClr val="dk1"/>
                          </a:solidFill>
                          <a:latin typeface="+mn-lt"/>
                          <a:ea typeface="+mn-ea"/>
                          <a:cs typeface="+mn-cs"/>
                        </a:rPr>
                        <a:t> and interactive discussion on</a:t>
                      </a:r>
                      <a:r>
                        <a:rPr lang="en-US" sz="1000" kern="1200" dirty="0" smtClean="0">
                          <a:solidFill>
                            <a:schemeClr val="dk1"/>
                          </a:solidFill>
                          <a:latin typeface="+mn-lt"/>
                          <a:ea typeface="+mn-ea"/>
                          <a:cs typeface="+mn-cs"/>
                        </a:rPr>
                        <a:t> how to assess which projects/initiatives can be delegated and apply tools for effective delegation.</a:t>
                      </a:r>
                    </a:p>
                    <a:p>
                      <a:pPr marL="111125" lvl="0" indent="-111125" algn="l" defTabSz="914400" rtl="0" eaLnBrk="1" latinLnBrk="0" hangingPunct="1">
                        <a:buFont typeface="Arial" pitchFamily="34" charset="0"/>
                        <a:buChar char="•"/>
                      </a:pPr>
                      <a:r>
                        <a:rPr lang="en-US" sz="1000" kern="1200" dirty="0" smtClean="0">
                          <a:solidFill>
                            <a:schemeClr val="dk1"/>
                          </a:solidFill>
                          <a:latin typeface="+mn-lt"/>
                          <a:ea typeface="+mn-ea"/>
                          <a:cs typeface="+mn-cs"/>
                        </a:rPr>
                        <a:t>Learn how to assess individual capability and align work based on capability and development need. </a:t>
                      </a:r>
                      <a:r>
                        <a:rPr lang="en-US" sz="1000" kern="1200" baseline="0" dirty="0" smtClean="0">
                          <a:solidFill>
                            <a:schemeClr val="dk1"/>
                          </a:solidFill>
                          <a:latin typeface="+mn-lt"/>
                          <a:ea typeface="+mn-ea"/>
                          <a:cs typeface="+mn-cs"/>
                        </a:rPr>
                        <a:t> </a:t>
                      </a:r>
                      <a:endParaRPr lang="en-US" sz="1000" dirty="0">
                        <a:latin typeface="+mn-lt"/>
                      </a:endParaRPr>
                    </a:p>
                  </a:txBody>
                  <a:tcPr anchor="ctr"/>
                </a:tc>
                <a:tc>
                  <a:txBody>
                    <a:bodyPr/>
                    <a:lstStyle/>
                    <a:p>
                      <a:pPr marL="111125" marR="0" lvl="0" indent="-111125" algn="l" defTabSz="914400" rtl="0" eaLnBrk="1" fontAlgn="auto" latinLnBrk="0" hangingPunct="1">
                        <a:lnSpc>
                          <a:spcPct val="100000"/>
                        </a:lnSpc>
                        <a:spcBef>
                          <a:spcPts val="0"/>
                        </a:spcBef>
                        <a:spcAft>
                          <a:spcPts val="0"/>
                        </a:spcAft>
                        <a:buClrTx/>
                        <a:buSzTx/>
                        <a:buFont typeface="Arial" pitchFamily="34" charset="0"/>
                        <a:buNone/>
                        <a:tabLst/>
                        <a:defRPr/>
                      </a:pPr>
                      <a:r>
                        <a:rPr lang="en-US" sz="1000" b="1" kern="1200" baseline="0" dirty="0" smtClean="0">
                          <a:solidFill>
                            <a:schemeClr val="dk1"/>
                          </a:solidFill>
                          <a:latin typeface="+mn-lt"/>
                          <a:ea typeface="+mn-ea"/>
                          <a:cs typeface="Times New Roman" pitchFamily="18" charset="0"/>
                        </a:rPr>
                        <a:t>Debrief and Discussion (1.5 - 2 hours)</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000" kern="1200" baseline="0" dirty="0" smtClean="0">
                          <a:solidFill>
                            <a:schemeClr val="dk1"/>
                          </a:solidFill>
                          <a:latin typeface="+mn-lt"/>
                          <a:ea typeface="+mn-ea"/>
                          <a:cs typeface="Times New Roman" pitchFamily="18" charset="0"/>
                        </a:rPr>
                        <a:t>Participants observed by Faculty members on the extent to which they demonstrate leadership competencies.</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000" kern="1200" baseline="0" dirty="0" smtClean="0">
                          <a:solidFill>
                            <a:schemeClr val="dk1"/>
                          </a:solidFill>
                          <a:latin typeface="+mn-lt"/>
                          <a:ea typeface="+mn-ea"/>
                          <a:cs typeface="Times New Roman" pitchFamily="18" charset="0"/>
                        </a:rPr>
                        <a:t>Group debrief on simulation and what they have learned, what they will take back and how they will continue to develop. </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None/>
                        <a:tabLst/>
                        <a:defRPr/>
                      </a:pPr>
                      <a:r>
                        <a:rPr lang="en-US" sz="1000" b="1" kern="1200" baseline="0" dirty="0" smtClean="0">
                          <a:solidFill>
                            <a:schemeClr val="dk1"/>
                          </a:solidFill>
                          <a:latin typeface="+mn-lt"/>
                          <a:ea typeface="+mn-ea"/>
                          <a:cs typeface="Times New Roman" pitchFamily="18" charset="0"/>
                        </a:rPr>
                        <a:t>Wrap Up: </a:t>
                      </a:r>
                      <a:r>
                        <a:rPr lang="en-US" sz="1000" b="0" kern="1200" baseline="0" dirty="0" smtClean="0">
                          <a:solidFill>
                            <a:schemeClr val="dk1"/>
                          </a:solidFill>
                          <a:latin typeface="+mn-lt"/>
                          <a:ea typeface="+mn-ea"/>
                          <a:cs typeface="Times New Roman" pitchFamily="18" charset="0"/>
                        </a:rPr>
                        <a:t>Executive Team member wrap up and break for celebration</a:t>
                      </a:r>
                      <a:endParaRPr lang="en-US" sz="1000" b="0" dirty="0">
                        <a:latin typeface="+mn-lt"/>
                      </a:endParaRPr>
                    </a:p>
                  </a:txBody>
                  <a:tcPr anchor="ctr"/>
                </a:tc>
              </a:tr>
              <a:tr h="844161">
                <a:tc>
                  <a:txBody>
                    <a:bodyPr/>
                    <a:lstStyle/>
                    <a:p>
                      <a:r>
                        <a:rPr lang="en-US" sz="1000" b="1" kern="1200" dirty="0" smtClean="0">
                          <a:solidFill>
                            <a:schemeClr val="dk1"/>
                          </a:solidFill>
                          <a:latin typeface="+mn-lt"/>
                          <a:ea typeface="+mn-ea"/>
                          <a:cs typeface="+mn-cs"/>
                        </a:rPr>
                        <a:t>Experiential Learning Off Site:</a:t>
                      </a:r>
                      <a:r>
                        <a:rPr lang="en-US" sz="1000" b="1" kern="1200" baseline="0" dirty="0" smtClean="0">
                          <a:solidFill>
                            <a:schemeClr val="dk1"/>
                          </a:solidFill>
                          <a:latin typeface="+mn-lt"/>
                          <a:ea typeface="+mn-ea"/>
                          <a:cs typeface="+mn-cs"/>
                        </a:rPr>
                        <a:t> Conducting for Results</a:t>
                      </a:r>
                    </a:p>
                    <a:p>
                      <a:pPr marL="111125" lvl="0" indent="-111125" algn="l" defTabSz="914400" rtl="0" eaLnBrk="1" latinLnBrk="0" hangingPunct="1">
                        <a:buFont typeface="Arial" pitchFamily="34" charset="0"/>
                        <a:buChar char="•"/>
                      </a:pPr>
                      <a:r>
                        <a:rPr lang="en-US" sz="1000" kern="1200" dirty="0" smtClean="0">
                          <a:solidFill>
                            <a:schemeClr val="dk1"/>
                          </a:solidFill>
                          <a:latin typeface="+mn-lt"/>
                          <a:ea typeface="+mn-ea"/>
                          <a:cs typeface="+mn-cs"/>
                        </a:rPr>
                        <a:t>Participants will join</a:t>
                      </a:r>
                      <a:r>
                        <a:rPr lang="en-US" sz="1000" kern="1200" baseline="0" dirty="0" smtClean="0">
                          <a:solidFill>
                            <a:schemeClr val="dk1"/>
                          </a:solidFill>
                          <a:latin typeface="+mn-lt"/>
                          <a:ea typeface="+mn-ea"/>
                          <a:cs typeface="+mn-cs"/>
                        </a:rPr>
                        <a:t> Dr. Eric Nelson to understand leadership and execution through the lens of a choral ensemble. They will learn how effective leadership is leading other, both directly and indirectly, in a way that values the outcome of the team over the individual. </a:t>
                      </a:r>
                      <a:endParaRPr lang="en-US" sz="1000" kern="1200" dirty="0" smtClean="0">
                        <a:solidFill>
                          <a:schemeClr val="dk1"/>
                        </a:solidFill>
                        <a:latin typeface="+mn-lt"/>
                        <a:ea typeface="+mn-ea"/>
                        <a:cs typeface="+mn-cs"/>
                      </a:endParaRPr>
                    </a:p>
                    <a:p>
                      <a:pPr marL="111125" lvl="0" indent="-111125" algn="l" defTabSz="914400" rtl="0" eaLnBrk="1" latinLnBrk="0" hangingPunct="1">
                        <a:buFont typeface="Arial" pitchFamily="34" charset="0"/>
                        <a:buChar char="•"/>
                      </a:pPr>
                      <a:r>
                        <a:rPr lang="en-US" sz="1000" kern="1200" dirty="0" smtClean="0">
                          <a:solidFill>
                            <a:schemeClr val="dk1"/>
                          </a:solidFill>
                          <a:latin typeface="+mn-lt"/>
                          <a:ea typeface="+mn-ea"/>
                          <a:cs typeface="+mn-cs"/>
                        </a:rPr>
                        <a:t>Exercise done at the Schwartz</a:t>
                      </a:r>
                      <a:r>
                        <a:rPr lang="en-US" sz="1000" kern="1200" baseline="0" dirty="0" smtClean="0">
                          <a:solidFill>
                            <a:schemeClr val="dk1"/>
                          </a:solidFill>
                          <a:latin typeface="+mn-lt"/>
                          <a:ea typeface="+mn-ea"/>
                          <a:cs typeface="+mn-cs"/>
                        </a:rPr>
                        <a:t> Center for Performing Arts - Emory</a:t>
                      </a:r>
                      <a:endParaRPr lang="en-US" sz="1000" dirty="0">
                        <a:latin typeface="+mn-lt"/>
                      </a:endParaRPr>
                    </a:p>
                  </a:txBody>
                  <a:tcPr anchor="ctr"/>
                </a:tc>
                <a:tc>
                  <a:txBody>
                    <a:bodyPr/>
                    <a:lstStyle/>
                    <a:p>
                      <a:pPr marL="111125" marR="0" lvl="0" indent="-111125" algn="l" defTabSz="914400" rtl="0" eaLnBrk="1" fontAlgn="auto" latinLnBrk="0" hangingPunct="1">
                        <a:lnSpc>
                          <a:spcPct val="100000"/>
                        </a:lnSpc>
                        <a:spcBef>
                          <a:spcPts val="0"/>
                        </a:spcBef>
                        <a:spcAft>
                          <a:spcPts val="0"/>
                        </a:spcAft>
                        <a:buClrTx/>
                        <a:buSzTx/>
                        <a:buFont typeface="Arial" pitchFamily="34" charset="0"/>
                        <a:buNone/>
                        <a:tabLst/>
                        <a:defRPr/>
                      </a:pPr>
                      <a:r>
                        <a:rPr lang="en-US" sz="1000" b="1" kern="1200" dirty="0" smtClean="0">
                          <a:solidFill>
                            <a:schemeClr val="dk1"/>
                          </a:solidFill>
                          <a:latin typeface="+mn-lt"/>
                          <a:ea typeface="+mn-ea"/>
                          <a:cs typeface="+mn-cs"/>
                        </a:rPr>
                        <a:t>3:00</a:t>
                      </a:r>
                      <a:r>
                        <a:rPr lang="en-US" sz="1000" b="1" kern="1200" baseline="0" dirty="0" smtClean="0">
                          <a:solidFill>
                            <a:schemeClr val="dk1"/>
                          </a:solidFill>
                          <a:latin typeface="+mn-lt"/>
                          <a:ea typeface="+mn-ea"/>
                          <a:cs typeface="+mn-cs"/>
                        </a:rPr>
                        <a:t> - G</a:t>
                      </a:r>
                      <a:r>
                        <a:rPr lang="en-US" sz="1000" b="1" kern="1200" dirty="0" smtClean="0">
                          <a:solidFill>
                            <a:schemeClr val="dk1"/>
                          </a:solidFill>
                          <a:latin typeface="+mn-lt"/>
                          <a:ea typeface="+mn-ea"/>
                          <a:cs typeface="+mn-cs"/>
                        </a:rPr>
                        <a:t>raduation Reception (heavy</a:t>
                      </a:r>
                      <a:r>
                        <a:rPr lang="en-US" sz="1000" b="1" kern="1200" baseline="0" dirty="0" smtClean="0">
                          <a:solidFill>
                            <a:schemeClr val="dk1"/>
                          </a:solidFill>
                          <a:latin typeface="+mn-lt"/>
                          <a:ea typeface="+mn-ea"/>
                          <a:cs typeface="+mn-cs"/>
                        </a:rPr>
                        <a:t> hors d'oeuvres) </a:t>
                      </a:r>
                      <a:r>
                        <a:rPr lang="en-US" sz="1000" b="1" kern="1200" dirty="0" smtClean="0">
                          <a:solidFill>
                            <a:schemeClr val="dk1"/>
                          </a:solidFill>
                          <a:latin typeface="+mn-lt"/>
                          <a:ea typeface="+mn-ea"/>
                          <a:cs typeface="+mn-cs"/>
                        </a:rPr>
                        <a:t>with Executive Team </a:t>
                      </a:r>
                    </a:p>
                    <a:p>
                      <a:pPr marL="111125" marR="0" lvl="0" indent="-111125" algn="l" defTabSz="914400" rtl="0" eaLnBrk="1" fontAlgn="auto" latinLnBrk="0" hangingPunct="1">
                        <a:lnSpc>
                          <a:spcPct val="100000"/>
                        </a:lnSpc>
                        <a:spcBef>
                          <a:spcPts val="0"/>
                        </a:spcBef>
                        <a:spcAft>
                          <a:spcPts val="0"/>
                        </a:spcAft>
                        <a:buClrTx/>
                        <a:buSzTx/>
                        <a:buFont typeface="Arial" pitchFamily="34" charset="0"/>
                        <a:buNone/>
                        <a:tabLst/>
                        <a:defRPr/>
                      </a:pPr>
                      <a:r>
                        <a:rPr lang="en-US" sz="1000" b="1" kern="1200" dirty="0" smtClean="0">
                          <a:solidFill>
                            <a:schemeClr val="dk1"/>
                          </a:solidFill>
                          <a:latin typeface="+mn-lt"/>
                          <a:ea typeface="+mn-ea"/>
                          <a:cs typeface="+mn-cs"/>
                        </a:rPr>
                        <a:t>Carlos Museum</a:t>
                      </a:r>
                    </a:p>
                    <a:p>
                      <a:pPr marL="115888" lvl="0" indent="-115888" eaLnBrk="0" hangingPunct="0">
                        <a:buClr>
                          <a:schemeClr val="tx1"/>
                        </a:buClr>
                        <a:buFont typeface="Arial" pitchFamily="34" charset="0"/>
                        <a:buNone/>
                      </a:pPr>
                      <a:endParaRPr lang="en-US" sz="1000" b="0" kern="1200" baseline="0" dirty="0" smtClean="0">
                        <a:solidFill>
                          <a:schemeClr val="dk1"/>
                        </a:solidFill>
                        <a:latin typeface="+mn-lt"/>
                        <a:ea typeface="+mn-ea"/>
                        <a:cs typeface="+mn-cs"/>
                      </a:endParaRPr>
                    </a:p>
                  </a:txBody>
                  <a:tcPr anchor="ctr"/>
                </a:tc>
              </a:tr>
            </a:tbl>
          </a:graphicData>
        </a:graphic>
      </p:graphicFrame>
      <p:sp>
        <p:nvSpPr>
          <p:cNvPr id="7" name="Slide Number Placeholder 6"/>
          <p:cNvSpPr>
            <a:spLocks noGrp="1"/>
          </p:cNvSpPr>
          <p:nvPr>
            <p:ph type="sldNum" sz="quarter" idx="10"/>
          </p:nvPr>
        </p:nvSpPr>
        <p:spPr/>
        <p:txBody>
          <a:bodyPr/>
          <a:lstStyle/>
          <a:p>
            <a:pPr>
              <a:defRPr/>
            </a:pPr>
            <a:fld id="{01D945C9-0277-4107-B589-EC55ECD240BC}" type="slidenum">
              <a:rPr lang="en-US" smtClean="0"/>
              <a:pPr>
                <a:defRPr/>
              </a:pPr>
              <a:t>28</a:t>
            </a:fld>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990600"/>
          </a:xfrm>
        </p:spPr>
        <p:txBody>
          <a:bodyPr/>
          <a:lstStyle/>
          <a:p>
            <a:r>
              <a:rPr lang="en-US" sz="3000" dirty="0" smtClean="0"/>
              <a:t>Time Commitment Required for Program</a:t>
            </a:r>
            <a:endParaRPr lang="en-US" sz="3000" dirty="0"/>
          </a:p>
        </p:txBody>
      </p:sp>
      <p:sp>
        <p:nvSpPr>
          <p:cNvPr id="3" name="Content Placeholder 2"/>
          <p:cNvSpPr>
            <a:spLocks noGrp="1"/>
          </p:cNvSpPr>
          <p:nvPr>
            <p:ph sz="half" idx="1"/>
          </p:nvPr>
        </p:nvSpPr>
        <p:spPr>
          <a:xfrm>
            <a:off x="457200" y="1752600"/>
            <a:ext cx="8229600" cy="3810000"/>
          </a:xfrm>
          <a:noFill/>
          <a:ln w="28575">
            <a:solidFill>
              <a:srgbClr val="00AA50"/>
            </a:solidFill>
          </a:ln>
        </p:spPr>
        <p:txBody>
          <a:bodyPr/>
          <a:lstStyle/>
          <a:p>
            <a:pPr>
              <a:buNone/>
            </a:pPr>
            <a:r>
              <a:rPr lang="en-US" sz="1800" b="1" dirty="0" smtClean="0">
                <a:solidFill>
                  <a:srgbClr val="0070C0"/>
                </a:solidFill>
              </a:rPr>
              <a:t>Participants – 8 days:</a:t>
            </a:r>
          </a:p>
          <a:p>
            <a:r>
              <a:rPr lang="en-US" sz="1800" dirty="0" smtClean="0">
                <a:solidFill>
                  <a:schemeClr val="tx1"/>
                </a:solidFill>
              </a:rPr>
              <a:t>4-hours over 30 days for the Assessment Process</a:t>
            </a:r>
          </a:p>
          <a:p>
            <a:r>
              <a:rPr lang="en-US" sz="1800" dirty="0" smtClean="0">
                <a:solidFill>
                  <a:schemeClr val="tx1"/>
                </a:solidFill>
              </a:rPr>
              <a:t>7.5 days over the year for Workshops</a:t>
            </a:r>
          </a:p>
          <a:p>
            <a:endParaRPr lang="en-US" sz="1800" dirty="0" smtClean="0">
              <a:solidFill>
                <a:schemeClr val="tx1"/>
              </a:solidFill>
            </a:endParaRPr>
          </a:p>
          <a:p>
            <a:pPr>
              <a:buNone/>
            </a:pPr>
            <a:r>
              <a:rPr lang="en-US" sz="1800" b="1" dirty="0" smtClean="0">
                <a:solidFill>
                  <a:schemeClr val="accent1"/>
                </a:solidFill>
              </a:rPr>
              <a:t>Executive Team – 3 days:</a:t>
            </a:r>
          </a:p>
          <a:p>
            <a:r>
              <a:rPr lang="en-US" sz="1800" dirty="0" smtClean="0">
                <a:solidFill>
                  <a:schemeClr val="tx1"/>
                </a:solidFill>
              </a:rPr>
              <a:t>1-2 hours over the year for workshop development with external facilitators</a:t>
            </a:r>
          </a:p>
          <a:p>
            <a:r>
              <a:rPr lang="en-US" sz="1800" dirty="0" smtClean="0">
                <a:solidFill>
                  <a:schemeClr val="tx1"/>
                </a:solidFill>
              </a:rPr>
              <a:t>2-3 days over the year for involvement and facilitation of Workshops</a:t>
            </a:r>
          </a:p>
          <a:p>
            <a:r>
              <a:rPr lang="en-US" sz="1800" dirty="0" smtClean="0">
                <a:solidFill>
                  <a:schemeClr val="tx1"/>
                </a:solidFill>
              </a:rPr>
              <a:t>2 hours for participant cocktail hour and graduation celebration</a:t>
            </a:r>
          </a:p>
          <a:p>
            <a:endParaRPr lang="en-US" sz="1800" dirty="0" smtClean="0">
              <a:solidFill>
                <a:schemeClr val="tx1"/>
              </a:solidFill>
            </a:endParaRPr>
          </a:p>
          <a:p>
            <a:pPr>
              <a:buNone/>
            </a:pPr>
            <a:r>
              <a:rPr lang="en-US" sz="1800" b="1" dirty="0" smtClean="0">
                <a:solidFill>
                  <a:schemeClr val="accent1"/>
                </a:solidFill>
              </a:rPr>
              <a:t>Other Subject Matter Experts - .5 days </a:t>
            </a:r>
            <a:r>
              <a:rPr lang="en-US" sz="1800" dirty="0" smtClean="0">
                <a:solidFill>
                  <a:schemeClr val="tx1"/>
                </a:solidFill>
              </a:rPr>
              <a:t>(i.e. Quality, Strategy, Operations):</a:t>
            </a:r>
          </a:p>
          <a:p>
            <a:r>
              <a:rPr lang="en-US" sz="1800" dirty="0" smtClean="0">
                <a:solidFill>
                  <a:schemeClr val="tx1"/>
                </a:solidFill>
              </a:rPr>
              <a:t>2-3 hours over the year for workshop development with external facilitators</a:t>
            </a:r>
          </a:p>
          <a:p>
            <a:endParaRPr lang="en-US" sz="1800" dirty="0" smtClean="0">
              <a:solidFill>
                <a:schemeClr val="tx1"/>
              </a:solidFill>
            </a:endParaRPr>
          </a:p>
        </p:txBody>
      </p:sp>
      <p:sp>
        <p:nvSpPr>
          <p:cNvPr id="14" name="Slide Number Placeholder 13"/>
          <p:cNvSpPr>
            <a:spLocks noGrp="1"/>
          </p:cNvSpPr>
          <p:nvPr>
            <p:ph type="sldNum" sz="quarter" idx="10"/>
          </p:nvPr>
        </p:nvSpPr>
        <p:spPr/>
        <p:txBody>
          <a:bodyPr/>
          <a:lstStyle/>
          <a:p>
            <a:pPr>
              <a:defRPr/>
            </a:pPr>
            <a:fld id="{01D945C9-0277-4107-B589-EC55ECD240BC}" type="slidenum">
              <a:rPr lang="en-US" smtClean="0"/>
              <a:pPr>
                <a:defRPr/>
              </a:pPr>
              <a:t>29</a:t>
            </a:fld>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200" dirty="0" smtClean="0"/>
              <a:t>Generation Next</a:t>
            </a:r>
            <a:endParaRPr lang="en-US" sz="3200" dirty="0"/>
          </a:p>
        </p:txBody>
      </p:sp>
      <p:sp>
        <p:nvSpPr>
          <p:cNvPr id="3" name="Subtitle 2"/>
          <p:cNvSpPr>
            <a:spLocks noGrp="1"/>
          </p:cNvSpPr>
          <p:nvPr>
            <p:ph type="subTitle" idx="1"/>
          </p:nvPr>
        </p:nvSpPr>
        <p:spPr>
          <a:xfrm>
            <a:off x="685800" y="3886200"/>
            <a:ext cx="7772400" cy="914400"/>
          </a:xfrm>
        </p:spPr>
        <p:txBody>
          <a:bodyPr/>
          <a:lstStyle/>
          <a:p>
            <a:r>
              <a:rPr lang="en-US" sz="1800" dirty="0" smtClean="0"/>
              <a:t>Top Talent Managers – Invitation only</a:t>
            </a:r>
            <a:endParaRPr lang="en-US" sz="1800" dirty="0"/>
          </a:p>
        </p:txBody>
      </p:sp>
      <p:sp>
        <p:nvSpPr>
          <p:cNvPr id="4" name="Slide Number Placeholder 11"/>
          <p:cNvSpPr txBox="1">
            <a:spLocks/>
          </p:cNvSpPr>
          <p:nvPr/>
        </p:nvSpPr>
        <p:spPr>
          <a:xfrm>
            <a:off x="8763000" y="6492875"/>
            <a:ext cx="381000" cy="365125"/>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01D945C9-0277-4107-B589-EC55ECD240BC}" type="slidenum">
              <a:rPr kumimoji="0" lang="en-US" sz="1200" b="0" i="0" u="none" strike="noStrike" kern="1200" cap="none" spc="0" normalizeH="0" baseline="0" noProof="0" smtClean="0">
                <a:ln>
                  <a:noFill/>
                </a:ln>
                <a:solidFill>
                  <a:schemeClr val="tx1"/>
                </a:solidFill>
                <a:effectLst/>
                <a:uLnTx/>
                <a:uFillTx/>
                <a:latin typeface="+mn-lt"/>
                <a:ea typeface="+mn-ea"/>
                <a:cs typeface="+mn-cs"/>
              </a:rPr>
              <a:pPr marL="0" marR="0" lvl="0" indent="0" algn="ctr" defTabSz="914400" rtl="0" eaLnBrk="1" fontAlgn="base" latinLnBrk="0" hangingPunct="1">
                <a:lnSpc>
                  <a:spcPct val="100000"/>
                </a:lnSpc>
                <a:spcBef>
                  <a:spcPct val="0"/>
                </a:spcBef>
                <a:spcAft>
                  <a:spcPct val="0"/>
                </a:spcAft>
                <a:buClrTx/>
                <a:buSzTx/>
                <a:buFontTx/>
                <a:buNone/>
                <a:tabLst/>
                <a:defRPr/>
              </a:pPr>
              <a:t>30</a:t>
            </a:fld>
            <a:endParaRPr kumimoji="0" lang="en-US" sz="1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p:cNvSpPr/>
          <p:nvPr/>
        </p:nvSpPr>
        <p:spPr>
          <a:xfrm>
            <a:off x="4695825" y="6305550"/>
            <a:ext cx="4419600" cy="533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w Cen MT" pitchFamily="34" charset="0"/>
            </a:endParaRPr>
          </a:p>
        </p:txBody>
      </p:sp>
      <p:sp>
        <p:nvSpPr>
          <p:cNvPr id="2" name="Title 1"/>
          <p:cNvSpPr>
            <a:spLocks noGrp="1"/>
          </p:cNvSpPr>
          <p:nvPr>
            <p:ph type="title"/>
          </p:nvPr>
        </p:nvSpPr>
        <p:spPr>
          <a:xfrm>
            <a:off x="304800" y="304800"/>
            <a:ext cx="8686800" cy="990600"/>
          </a:xfrm>
        </p:spPr>
        <p:txBody>
          <a:bodyPr/>
          <a:lstStyle/>
          <a:p>
            <a:r>
              <a:rPr lang="en-US" sz="3000" dirty="0" smtClean="0">
                <a:latin typeface="Tw Cen MT" pitchFamily="34" charset="0"/>
              </a:rPr>
              <a:t>Generation Next: Top Talent Managers</a:t>
            </a:r>
            <a:endParaRPr lang="en-US" sz="3000" dirty="0">
              <a:latin typeface="Tw Cen MT" pitchFamily="34" charset="0"/>
            </a:endParaRPr>
          </a:p>
        </p:txBody>
      </p:sp>
      <p:sp>
        <p:nvSpPr>
          <p:cNvPr id="3" name="Content Placeholder 2"/>
          <p:cNvSpPr>
            <a:spLocks noGrp="1"/>
          </p:cNvSpPr>
          <p:nvPr>
            <p:ph sz="half" idx="1"/>
          </p:nvPr>
        </p:nvSpPr>
        <p:spPr>
          <a:xfrm>
            <a:off x="457200" y="1676400"/>
            <a:ext cx="8229600" cy="2819400"/>
          </a:xfrm>
          <a:noFill/>
          <a:ln w="28575">
            <a:solidFill>
              <a:srgbClr val="0070C0"/>
            </a:solidFill>
          </a:ln>
        </p:spPr>
        <p:txBody>
          <a:bodyPr/>
          <a:lstStyle/>
          <a:p>
            <a:pPr>
              <a:buNone/>
            </a:pPr>
            <a:r>
              <a:rPr lang="en-US" sz="1400" b="1" dirty="0" smtClean="0">
                <a:solidFill>
                  <a:srgbClr val="0070C0"/>
                </a:solidFill>
                <a:latin typeface="Tw Cen MT" pitchFamily="34" charset="0"/>
              </a:rPr>
              <a:t>Objective: </a:t>
            </a:r>
          </a:p>
          <a:p>
            <a:r>
              <a:rPr lang="en-US" sz="1400" dirty="0" smtClean="0">
                <a:latin typeface="Tw Cen MT" pitchFamily="34" charset="0"/>
              </a:rPr>
              <a:t>To prepare “ready” managers (box 1) for taking on a new role at Children’s (lateral or promotion) by accelerating the key skills needed to be successful.  </a:t>
            </a:r>
          </a:p>
          <a:p>
            <a:pPr>
              <a:buNone/>
            </a:pPr>
            <a:r>
              <a:rPr lang="en-US" sz="1400" b="1" dirty="0" smtClean="0">
                <a:solidFill>
                  <a:srgbClr val="0070C0"/>
                </a:solidFill>
                <a:latin typeface="Tw Cen MT" pitchFamily="34" charset="0"/>
              </a:rPr>
              <a:t>Program Details:</a:t>
            </a:r>
          </a:p>
          <a:p>
            <a:r>
              <a:rPr lang="en-US" sz="1400" dirty="0" smtClean="0">
                <a:latin typeface="Tw Cen MT" pitchFamily="34" charset="0"/>
              </a:rPr>
              <a:t>Class size: Maximum 15  </a:t>
            </a:r>
          </a:p>
          <a:p>
            <a:r>
              <a:rPr lang="en-US" sz="1400" dirty="0" smtClean="0">
                <a:latin typeface="Tw Cen MT" pitchFamily="34" charset="0"/>
              </a:rPr>
              <a:t>Selection Process: Align succession plans with current vacancies and business needs; accept nominations by participant leaders. </a:t>
            </a:r>
          </a:p>
          <a:p>
            <a:pPr lvl="1"/>
            <a:r>
              <a:rPr lang="en-US" sz="1200" dirty="0" smtClean="0">
                <a:latin typeface="Tw Cen MT" pitchFamily="34" charset="0"/>
              </a:rPr>
              <a:t>Participants must successfully complete assessment as a part of the selection process.</a:t>
            </a:r>
          </a:p>
          <a:p>
            <a:r>
              <a:rPr lang="en-US" sz="1400" dirty="0" smtClean="0">
                <a:latin typeface="Tw Cen MT" pitchFamily="34" charset="0"/>
              </a:rPr>
              <a:t>Content: Designed in 2010; redesign of workshops is currently underway.</a:t>
            </a:r>
          </a:p>
          <a:p>
            <a:r>
              <a:rPr lang="en-US" sz="1400" dirty="0" smtClean="0">
                <a:latin typeface="Tw Cen MT" pitchFamily="34" charset="0"/>
              </a:rPr>
              <a:t>Frequency: One cohort annually</a:t>
            </a:r>
          </a:p>
          <a:p>
            <a:r>
              <a:rPr lang="en-US" sz="1400" dirty="0" smtClean="0">
                <a:latin typeface="Tw Cen MT" pitchFamily="34" charset="0"/>
              </a:rPr>
              <a:t>Duration: 12 months</a:t>
            </a:r>
          </a:p>
        </p:txBody>
      </p:sp>
      <p:sp>
        <p:nvSpPr>
          <p:cNvPr id="8" name="AutoShape 253"/>
          <p:cNvSpPr>
            <a:spLocks noChangeArrowheads="1"/>
          </p:cNvSpPr>
          <p:nvPr/>
        </p:nvSpPr>
        <p:spPr bwMode="auto">
          <a:xfrm>
            <a:off x="6038850" y="4991100"/>
            <a:ext cx="1447800" cy="838200"/>
          </a:xfrm>
          <a:prstGeom prst="homePlate">
            <a:avLst>
              <a:gd name="adj" fmla="val 42857"/>
            </a:avLst>
          </a:prstGeom>
          <a:solidFill>
            <a:srgbClr val="009D57"/>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200" dirty="0" smtClean="0">
                <a:solidFill>
                  <a:schemeClr val="bg1"/>
                </a:solidFill>
                <a:latin typeface="Tw Cen MT" pitchFamily="34" charset="0"/>
                <a:ea typeface="ＭＳ Ｐゴシック" charset="0"/>
              </a:rPr>
              <a:t>Being Clear </a:t>
            </a:r>
          </a:p>
          <a:p>
            <a:pPr algn="ctr">
              <a:defRPr/>
            </a:pPr>
            <a:r>
              <a:rPr lang="en-US" sz="1200" dirty="0" smtClean="0">
                <a:solidFill>
                  <a:schemeClr val="bg1"/>
                </a:solidFill>
                <a:latin typeface="Tw Cen MT" pitchFamily="34" charset="0"/>
                <a:ea typeface="ＭＳ Ｐゴシック" charset="0"/>
              </a:rPr>
              <a:t>and Compelling</a:t>
            </a:r>
          </a:p>
          <a:p>
            <a:pPr algn="ctr">
              <a:defRPr/>
            </a:pPr>
            <a:r>
              <a:rPr lang="en-US" sz="1200" dirty="0" smtClean="0">
                <a:solidFill>
                  <a:schemeClr val="bg1"/>
                </a:solidFill>
                <a:latin typeface="Tw Cen MT" pitchFamily="34" charset="0"/>
                <a:ea typeface="ＭＳ Ｐゴシック" charset="0"/>
              </a:rPr>
              <a:t>Workshop</a:t>
            </a:r>
          </a:p>
          <a:p>
            <a:pPr algn="ctr">
              <a:defRPr/>
            </a:pPr>
            <a:r>
              <a:rPr lang="en-US" sz="1200" dirty="0" smtClean="0">
                <a:solidFill>
                  <a:schemeClr val="bg1"/>
                </a:solidFill>
                <a:latin typeface="Tw Cen MT" pitchFamily="34" charset="0"/>
                <a:ea typeface="ＭＳ Ｐゴシック" charset="0"/>
              </a:rPr>
              <a:t>(2 days)</a:t>
            </a:r>
            <a:endParaRPr lang="en-US" sz="1200" dirty="0">
              <a:solidFill>
                <a:schemeClr val="bg1"/>
              </a:solidFill>
              <a:latin typeface="Tw Cen MT" pitchFamily="34" charset="0"/>
              <a:ea typeface="ＭＳ Ｐゴシック" charset="0"/>
            </a:endParaRPr>
          </a:p>
        </p:txBody>
      </p:sp>
      <p:sp>
        <p:nvSpPr>
          <p:cNvPr id="9" name="AutoShape 253"/>
          <p:cNvSpPr>
            <a:spLocks noChangeArrowheads="1"/>
          </p:cNvSpPr>
          <p:nvPr/>
        </p:nvSpPr>
        <p:spPr bwMode="auto">
          <a:xfrm>
            <a:off x="4591050" y="4991100"/>
            <a:ext cx="1447800" cy="838200"/>
          </a:xfrm>
          <a:prstGeom prst="homePlate">
            <a:avLst>
              <a:gd name="adj" fmla="val 42857"/>
            </a:avLst>
          </a:prstGeom>
          <a:solidFill>
            <a:srgbClr val="009D57"/>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200" dirty="0" smtClean="0">
                <a:solidFill>
                  <a:schemeClr val="bg1"/>
                </a:solidFill>
                <a:latin typeface="Tw Cen MT" pitchFamily="34" charset="0"/>
                <a:ea typeface="ＭＳ Ｐゴシック" charset="0"/>
              </a:rPr>
              <a:t>Know the Business </a:t>
            </a:r>
          </a:p>
          <a:p>
            <a:pPr algn="ctr">
              <a:defRPr/>
            </a:pPr>
            <a:r>
              <a:rPr lang="en-US" sz="1200" dirty="0" smtClean="0">
                <a:solidFill>
                  <a:schemeClr val="bg1"/>
                </a:solidFill>
                <a:latin typeface="Tw Cen MT" pitchFamily="34" charset="0"/>
                <a:ea typeface="ＭＳ Ｐゴシック" charset="0"/>
              </a:rPr>
              <a:t>and Decision Making</a:t>
            </a:r>
          </a:p>
          <a:p>
            <a:pPr algn="ctr">
              <a:defRPr/>
            </a:pPr>
            <a:r>
              <a:rPr lang="en-US" sz="1200" dirty="0" smtClean="0">
                <a:solidFill>
                  <a:schemeClr val="bg1"/>
                </a:solidFill>
                <a:latin typeface="Tw Cen MT" pitchFamily="34" charset="0"/>
                <a:ea typeface="ＭＳ Ｐゴシック" charset="0"/>
              </a:rPr>
              <a:t>Workshop</a:t>
            </a:r>
          </a:p>
          <a:p>
            <a:pPr algn="ctr">
              <a:defRPr/>
            </a:pPr>
            <a:r>
              <a:rPr lang="en-US" sz="1200" dirty="0" smtClean="0">
                <a:solidFill>
                  <a:schemeClr val="bg1"/>
                </a:solidFill>
                <a:latin typeface="Tw Cen MT" pitchFamily="34" charset="0"/>
                <a:ea typeface="ＭＳ Ｐゴシック" charset="0"/>
              </a:rPr>
              <a:t>(2 days)</a:t>
            </a:r>
            <a:endParaRPr lang="en-US" sz="1200" dirty="0">
              <a:solidFill>
                <a:schemeClr val="bg1"/>
              </a:solidFill>
              <a:latin typeface="Tw Cen MT" pitchFamily="34" charset="0"/>
              <a:ea typeface="ＭＳ Ｐゴシック" charset="0"/>
            </a:endParaRPr>
          </a:p>
        </p:txBody>
      </p:sp>
      <p:sp>
        <p:nvSpPr>
          <p:cNvPr id="10" name="AutoShape 253"/>
          <p:cNvSpPr>
            <a:spLocks noChangeArrowheads="1"/>
          </p:cNvSpPr>
          <p:nvPr/>
        </p:nvSpPr>
        <p:spPr bwMode="auto">
          <a:xfrm>
            <a:off x="3143250" y="4991100"/>
            <a:ext cx="1447800" cy="838200"/>
          </a:xfrm>
          <a:prstGeom prst="homePlate">
            <a:avLst>
              <a:gd name="adj" fmla="val 42857"/>
            </a:avLst>
          </a:prstGeom>
          <a:solidFill>
            <a:srgbClr val="009D57"/>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200" dirty="0" smtClean="0">
                <a:solidFill>
                  <a:schemeClr val="bg1"/>
                </a:solidFill>
                <a:latin typeface="Tw Cen MT" pitchFamily="34" charset="0"/>
                <a:ea typeface="ＭＳ Ｐゴシック" charset="0"/>
              </a:rPr>
              <a:t>Connecting the </a:t>
            </a:r>
          </a:p>
          <a:p>
            <a:pPr algn="ctr">
              <a:defRPr/>
            </a:pPr>
            <a:r>
              <a:rPr lang="en-US" sz="1200" dirty="0" smtClean="0">
                <a:solidFill>
                  <a:schemeClr val="bg1"/>
                </a:solidFill>
                <a:latin typeface="Tw Cen MT" pitchFamily="34" charset="0"/>
                <a:ea typeface="ＭＳ Ｐゴシック" charset="0"/>
              </a:rPr>
              <a:t>Dots Workshop</a:t>
            </a:r>
          </a:p>
          <a:p>
            <a:pPr algn="ctr">
              <a:defRPr/>
            </a:pPr>
            <a:r>
              <a:rPr lang="en-US" sz="1200" dirty="0" smtClean="0">
                <a:solidFill>
                  <a:schemeClr val="bg1"/>
                </a:solidFill>
                <a:latin typeface="Tw Cen MT" pitchFamily="34" charset="0"/>
                <a:ea typeface="ＭＳ Ｐゴシック" charset="0"/>
              </a:rPr>
              <a:t>(2 days)</a:t>
            </a:r>
            <a:endParaRPr lang="en-US" sz="1200" dirty="0">
              <a:solidFill>
                <a:schemeClr val="bg1"/>
              </a:solidFill>
              <a:latin typeface="Tw Cen MT" pitchFamily="34" charset="0"/>
              <a:ea typeface="ＭＳ Ｐゴシック" charset="0"/>
            </a:endParaRPr>
          </a:p>
        </p:txBody>
      </p:sp>
      <p:sp>
        <p:nvSpPr>
          <p:cNvPr id="11" name="AutoShape 253"/>
          <p:cNvSpPr>
            <a:spLocks noChangeArrowheads="1"/>
          </p:cNvSpPr>
          <p:nvPr/>
        </p:nvSpPr>
        <p:spPr bwMode="auto">
          <a:xfrm>
            <a:off x="1695450" y="4991100"/>
            <a:ext cx="1447800" cy="838200"/>
          </a:xfrm>
          <a:prstGeom prst="homePlate">
            <a:avLst>
              <a:gd name="adj" fmla="val 42857"/>
            </a:avLst>
          </a:prstGeom>
          <a:solidFill>
            <a:srgbClr val="009D57"/>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200" dirty="0" smtClean="0">
                <a:solidFill>
                  <a:schemeClr val="bg1"/>
                </a:solidFill>
                <a:latin typeface="Tw Cen MT" pitchFamily="34" charset="0"/>
                <a:ea typeface="ＭＳ Ｐゴシック" charset="0"/>
              </a:rPr>
              <a:t>Leading Change</a:t>
            </a:r>
          </a:p>
          <a:p>
            <a:pPr algn="ctr">
              <a:defRPr/>
            </a:pPr>
            <a:r>
              <a:rPr lang="en-US" sz="1200" dirty="0" smtClean="0">
                <a:solidFill>
                  <a:schemeClr val="bg1"/>
                </a:solidFill>
                <a:latin typeface="Tw Cen MT" pitchFamily="34" charset="0"/>
                <a:ea typeface="ＭＳ Ｐゴシック" charset="0"/>
              </a:rPr>
              <a:t>Workshop</a:t>
            </a:r>
          </a:p>
          <a:p>
            <a:pPr algn="ctr">
              <a:defRPr/>
            </a:pPr>
            <a:r>
              <a:rPr lang="en-US" sz="1200" dirty="0" smtClean="0">
                <a:solidFill>
                  <a:schemeClr val="bg1"/>
                </a:solidFill>
                <a:latin typeface="Tw Cen MT" pitchFamily="34" charset="0"/>
                <a:ea typeface="ＭＳ Ｐゴシック" charset="0"/>
              </a:rPr>
              <a:t>(2 days)</a:t>
            </a:r>
            <a:endParaRPr lang="en-US" sz="1200" dirty="0">
              <a:solidFill>
                <a:schemeClr val="bg1"/>
              </a:solidFill>
              <a:latin typeface="Tw Cen MT" pitchFamily="34" charset="0"/>
              <a:ea typeface="ＭＳ Ｐゴシック" charset="0"/>
            </a:endParaRPr>
          </a:p>
        </p:txBody>
      </p:sp>
      <p:sp>
        <p:nvSpPr>
          <p:cNvPr id="12" name="AutoShape 253"/>
          <p:cNvSpPr>
            <a:spLocks noChangeArrowheads="1"/>
          </p:cNvSpPr>
          <p:nvPr/>
        </p:nvSpPr>
        <p:spPr bwMode="auto">
          <a:xfrm>
            <a:off x="247650" y="4991100"/>
            <a:ext cx="1447800" cy="838200"/>
          </a:xfrm>
          <a:prstGeom prst="homePlate">
            <a:avLst>
              <a:gd name="adj" fmla="val 42857"/>
            </a:avLst>
          </a:prstGeom>
          <a:solidFill>
            <a:srgbClr val="FFFF0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200" dirty="0" smtClean="0">
                <a:latin typeface="Tw Cen MT" pitchFamily="34" charset="0"/>
                <a:ea typeface="ＭＳ Ｐゴシック" charset="0"/>
              </a:rPr>
              <a:t>Assessment </a:t>
            </a:r>
          </a:p>
          <a:p>
            <a:pPr algn="ctr">
              <a:defRPr/>
            </a:pPr>
            <a:r>
              <a:rPr lang="en-US" sz="1200" dirty="0" smtClean="0">
                <a:latin typeface="Tw Cen MT" pitchFamily="34" charset="0"/>
                <a:ea typeface="ＭＳ Ｐゴシック" charset="0"/>
              </a:rPr>
              <a:t>&amp; Feedback</a:t>
            </a:r>
          </a:p>
        </p:txBody>
      </p:sp>
      <p:sp>
        <p:nvSpPr>
          <p:cNvPr id="13" name="AutoShape 253"/>
          <p:cNvSpPr>
            <a:spLocks noChangeArrowheads="1"/>
          </p:cNvSpPr>
          <p:nvPr/>
        </p:nvSpPr>
        <p:spPr bwMode="auto">
          <a:xfrm>
            <a:off x="7477125" y="4991100"/>
            <a:ext cx="1447800" cy="838200"/>
          </a:xfrm>
          <a:prstGeom prst="homePlate">
            <a:avLst>
              <a:gd name="adj" fmla="val 42857"/>
            </a:avLst>
          </a:prstGeom>
          <a:solidFill>
            <a:srgbClr val="009D57"/>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200" dirty="0" smtClean="0">
                <a:solidFill>
                  <a:schemeClr val="bg1"/>
                </a:solidFill>
                <a:latin typeface="Tw Cen MT" pitchFamily="34" charset="0"/>
                <a:ea typeface="ＭＳ Ｐゴシック" charset="0"/>
              </a:rPr>
              <a:t>Build a Strong Team</a:t>
            </a:r>
          </a:p>
          <a:p>
            <a:pPr algn="ctr">
              <a:defRPr/>
            </a:pPr>
            <a:r>
              <a:rPr lang="en-US" sz="1200" dirty="0" smtClean="0">
                <a:solidFill>
                  <a:schemeClr val="bg1"/>
                </a:solidFill>
                <a:latin typeface="Tw Cen MT" pitchFamily="34" charset="0"/>
                <a:ea typeface="ＭＳ Ｐゴシック" charset="0"/>
              </a:rPr>
              <a:t>Workshop</a:t>
            </a:r>
          </a:p>
          <a:p>
            <a:pPr algn="ctr">
              <a:defRPr/>
            </a:pPr>
            <a:r>
              <a:rPr lang="en-US" sz="1200" dirty="0" smtClean="0">
                <a:solidFill>
                  <a:schemeClr val="bg1"/>
                </a:solidFill>
                <a:latin typeface="Tw Cen MT" pitchFamily="34" charset="0"/>
                <a:ea typeface="ＭＳ Ｐゴシック" charset="0"/>
              </a:rPr>
              <a:t>(2 days)</a:t>
            </a:r>
            <a:endParaRPr lang="en-US" sz="1200" dirty="0">
              <a:solidFill>
                <a:schemeClr val="bg1"/>
              </a:solidFill>
              <a:latin typeface="Tw Cen MT" pitchFamily="34" charset="0"/>
              <a:ea typeface="ＭＳ Ｐゴシック" charset="0"/>
            </a:endParaRPr>
          </a:p>
        </p:txBody>
      </p:sp>
      <p:sp>
        <p:nvSpPr>
          <p:cNvPr id="21" name="TextBox 20"/>
          <p:cNvSpPr txBox="1"/>
          <p:nvPr/>
        </p:nvSpPr>
        <p:spPr>
          <a:xfrm>
            <a:off x="270482" y="6219825"/>
            <a:ext cx="8683018" cy="307777"/>
          </a:xfrm>
          <a:prstGeom prst="rect">
            <a:avLst/>
          </a:prstGeom>
          <a:solidFill>
            <a:schemeClr val="bg1"/>
          </a:solidFill>
        </p:spPr>
        <p:txBody>
          <a:bodyPr wrap="none" rtlCol="0">
            <a:spAutoFit/>
          </a:bodyPr>
          <a:lstStyle/>
          <a:p>
            <a:r>
              <a:rPr lang="en-US" sz="1400" dirty="0" smtClean="0">
                <a:solidFill>
                  <a:srgbClr val="0070C0"/>
                </a:solidFill>
                <a:latin typeface="Tw Cen MT" pitchFamily="34" charset="0"/>
              </a:rPr>
              <a:t>To date, 30 have graduated with 8 expected to graduate in 2013. Promotion rate is 50%. Currently assessing impact. </a:t>
            </a:r>
            <a:endParaRPr lang="en-US" sz="1400" dirty="0">
              <a:solidFill>
                <a:srgbClr val="0070C0"/>
              </a:solidFill>
              <a:latin typeface="Tw Cen MT" pitchFamily="34" charset="0"/>
            </a:endParaRPr>
          </a:p>
        </p:txBody>
      </p:sp>
      <p:sp>
        <p:nvSpPr>
          <p:cNvPr id="14" name="Slide Number Placeholder 13"/>
          <p:cNvSpPr>
            <a:spLocks noGrp="1"/>
          </p:cNvSpPr>
          <p:nvPr>
            <p:ph type="sldNum" sz="quarter" idx="10"/>
          </p:nvPr>
        </p:nvSpPr>
        <p:spPr/>
        <p:txBody>
          <a:bodyPr/>
          <a:lstStyle/>
          <a:p>
            <a:pPr>
              <a:defRPr/>
            </a:pPr>
            <a:fld id="{01D945C9-0277-4107-B589-EC55ECD240BC}" type="slidenum">
              <a:rPr lang="en-US" smtClean="0"/>
              <a:pPr>
                <a:defRPr/>
              </a:pPr>
              <a:t>31</a:t>
            </a:fld>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200" dirty="0" smtClean="0"/>
              <a:t>Chiefs Workshop</a:t>
            </a:r>
            <a:endParaRPr lang="en-US" sz="3200" dirty="0"/>
          </a:p>
        </p:txBody>
      </p:sp>
      <p:sp>
        <p:nvSpPr>
          <p:cNvPr id="3" name="Subtitle 2"/>
          <p:cNvSpPr>
            <a:spLocks noGrp="1"/>
          </p:cNvSpPr>
          <p:nvPr>
            <p:ph type="subTitle" idx="1"/>
          </p:nvPr>
        </p:nvSpPr>
        <p:spPr>
          <a:xfrm>
            <a:off x="685800" y="3886200"/>
            <a:ext cx="7772400" cy="914400"/>
          </a:xfrm>
        </p:spPr>
        <p:txBody>
          <a:bodyPr/>
          <a:lstStyle/>
          <a:p>
            <a:r>
              <a:rPr lang="en-US" sz="1800" dirty="0" smtClean="0"/>
              <a:t>Invitation only</a:t>
            </a:r>
            <a:endParaRPr lang="en-US" sz="1800" dirty="0"/>
          </a:p>
        </p:txBody>
      </p:sp>
      <p:sp>
        <p:nvSpPr>
          <p:cNvPr id="4" name="Slide Number Placeholder 11"/>
          <p:cNvSpPr txBox="1">
            <a:spLocks/>
          </p:cNvSpPr>
          <p:nvPr/>
        </p:nvSpPr>
        <p:spPr>
          <a:xfrm>
            <a:off x="8763000" y="6492875"/>
            <a:ext cx="381000" cy="365125"/>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01D945C9-0277-4107-B589-EC55ECD240BC}" type="slidenum">
              <a:rPr kumimoji="0" lang="en-US" sz="1200" b="0" i="0" u="none" strike="noStrike" kern="1200" cap="none" spc="0" normalizeH="0" baseline="0" noProof="0" smtClean="0">
                <a:ln>
                  <a:noFill/>
                </a:ln>
                <a:solidFill>
                  <a:schemeClr val="tx1"/>
                </a:solidFill>
                <a:effectLst/>
                <a:uLnTx/>
                <a:uFillTx/>
                <a:latin typeface="+mn-lt"/>
                <a:ea typeface="+mn-ea"/>
                <a:cs typeface="+mn-cs"/>
              </a:rPr>
              <a:pPr marL="0" marR="0" lvl="0" indent="0" algn="ctr" defTabSz="914400" rtl="0" eaLnBrk="1" fontAlgn="base" latinLnBrk="0" hangingPunct="1">
                <a:lnSpc>
                  <a:spcPct val="100000"/>
                </a:lnSpc>
                <a:spcBef>
                  <a:spcPct val="0"/>
                </a:spcBef>
                <a:spcAft>
                  <a:spcPct val="0"/>
                </a:spcAft>
                <a:buClrTx/>
                <a:buSzTx/>
                <a:buFontTx/>
                <a:buNone/>
                <a:tabLst/>
                <a:defRPr/>
              </a:pPr>
              <a:t>32</a:t>
            </a:fld>
            <a:endParaRPr kumimoji="0" lang="en-US" sz="1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990600"/>
          </a:xfrm>
        </p:spPr>
        <p:txBody>
          <a:bodyPr/>
          <a:lstStyle/>
          <a:p>
            <a:r>
              <a:rPr lang="en-US" sz="3000" dirty="0" smtClean="0"/>
              <a:t>Chiefs Workshop</a:t>
            </a:r>
            <a:endParaRPr lang="en-US" sz="3000" dirty="0"/>
          </a:p>
        </p:txBody>
      </p:sp>
      <p:sp>
        <p:nvSpPr>
          <p:cNvPr id="3" name="Content Placeholder 2"/>
          <p:cNvSpPr>
            <a:spLocks noGrp="1"/>
          </p:cNvSpPr>
          <p:nvPr>
            <p:ph sz="half" idx="1"/>
          </p:nvPr>
        </p:nvSpPr>
        <p:spPr>
          <a:xfrm>
            <a:off x="457200" y="1371600"/>
            <a:ext cx="8229600" cy="3124200"/>
          </a:xfrm>
          <a:noFill/>
          <a:ln w="28575">
            <a:solidFill>
              <a:srgbClr val="00AA50"/>
            </a:solidFill>
          </a:ln>
        </p:spPr>
        <p:txBody>
          <a:bodyPr/>
          <a:lstStyle/>
          <a:p>
            <a:pPr>
              <a:buNone/>
            </a:pPr>
            <a:r>
              <a:rPr lang="en-US" sz="1400" b="1" dirty="0" smtClean="0">
                <a:solidFill>
                  <a:srgbClr val="0070C0"/>
                </a:solidFill>
              </a:rPr>
              <a:t>Objective: </a:t>
            </a:r>
          </a:p>
          <a:p>
            <a:r>
              <a:rPr lang="en-US" sz="1400" dirty="0" smtClean="0"/>
              <a:t>To build foundational leadership and management skills for our physician Chiefs.</a:t>
            </a:r>
          </a:p>
          <a:p>
            <a:r>
              <a:rPr lang="en-US" sz="1400" dirty="0" smtClean="0"/>
              <a:t>To better educate our physician leaders on Children’s administrative and support businesses. </a:t>
            </a:r>
          </a:p>
          <a:p>
            <a:r>
              <a:rPr lang="en-US" sz="1400" dirty="0" smtClean="0"/>
              <a:t>To provide clarity of role and leverage the Service Line Administrators. </a:t>
            </a:r>
          </a:p>
          <a:p>
            <a:pPr>
              <a:buNone/>
            </a:pPr>
            <a:r>
              <a:rPr lang="en-US" sz="1400" b="1" dirty="0" smtClean="0">
                <a:solidFill>
                  <a:srgbClr val="0070C0"/>
                </a:solidFill>
              </a:rPr>
              <a:t>Program Details:</a:t>
            </a:r>
          </a:p>
          <a:p>
            <a:r>
              <a:rPr lang="en-US" sz="1400" dirty="0" smtClean="0"/>
              <a:t>Class size: All Physician Chiefs; SLAs participate in 3 of the 5 workshops</a:t>
            </a:r>
          </a:p>
          <a:p>
            <a:r>
              <a:rPr lang="en-US" sz="1400" dirty="0" smtClean="0"/>
              <a:t>Program launched in 2012</a:t>
            </a:r>
          </a:p>
          <a:p>
            <a:r>
              <a:rPr lang="en-US" sz="1400" dirty="0" smtClean="0"/>
              <a:t>4 of 6 workshops completed</a:t>
            </a:r>
          </a:p>
          <a:p>
            <a:r>
              <a:rPr lang="en-US" sz="1400" dirty="0" smtClean="0"/>
              <a:t>Workshop 5 – April (to align with research building opening), Workshop 6 - October</a:t>
            </a:r>
          </a:p>
          <a:p>
            <a:r>
              <a:rPr lang="en-US" sz="1400" dirty="0" smtClean="0"/>
              <a:t>Duration: 12 months</a:t>
            </a:r>
          </a:p>
          <a:p>
            <a:r>
              <a:rPr lang="en-US" sz="1400" dirty="0" smtClean="0"/>
              <a:t>Next generation of Chiefs development will be determined upon the end of this cohort. Current focus is on emerging physician leaders and physician staff as we build the bench strength of our next generation.</a:t>
            </a:r>
            <a:endParaRPr lang="en-US" sz="1400" dirty="0"/>
          </a:p>
        </p:txBody>
      </p:sp>
      <p:sp>
        <p:nvSpPr>
          <p:cNvPr id="8" name="AutoShape 253"/>
          <p:cNvSpPr>
            <a:spLocks noChangeArrowheads="1"/>
          </p:cNvSpPr>
          <p:nvPr/>
        </p:nvSpPr>
        <p:spPr bwMode="auto">
          <a:xfrm>
            <a:off x="6048375" y="4619625"/>
            <a:ext cx="1447800" cy="1447800"/>
          </a:xfrm>
          <a:prstGeom prst="homePlate">
            <a:avLst>
              <a:gd name="adj" fmla="val 42857"/>
            </a:avLst>
          </a:prstGeom>
          <a:solidFill>
            <a:srgbClr val="0070C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300" dirty="0" smtClean="0">
                <a:solidFill>
                  <a:schemeClr val="bg1"/>
                </a:solidFill>
                <a:latin typeface="+mn-lt"/>
                <a:ea typeface="ＭＳ Ｐゴシック" charset="0"/>
              </a:rPr>
              <a:t>Academic Model</a:t>
            </a:r>
          </a:p>
          <a:p>
            <a:pPr algn="ctr">
              <a:defRPr/>
            </a:pPr>
            <a:r>
              <a:rPr lang="en-US" sz="1300" dirty="0" smtClean="0">
                <a:solidFill>
                  <a:schemeClr val="bg1"/>
                </a:solidFill>
                <a:latin typeface="+mn-lt"/>
                <a:ea typeface="ＭＳ Ｐゴシック" charset="0"/>
              </a:rPr>
              <a:t>and Leading</a:t>
            </a:r>
          </a:p>
          <a:p>
            <a:pPr algn="ctr">
              <a:defRPr/>
            </a:pPr>
            <a:r>
              <a:rPr lang="en-US" sz="1300" dirty="0" smtClean="0">
                <a:solidFill>
                  <a:schemeClr val="bg1"/>
                </a:solidFill>
                <a:latin typeface="+mn-lt"/>
                <a:ea typeface="ＭＳ Ｐゴシック" charset="0"/>
              </a:rPr>
              <a:t>Quality</a:t>
            </a:r>
          </a:p>
        </p:txBody>
      </p:sp>
      <p:sp>
        <p:nvSpPr>
          <p:cNvPr id="9" name="AutoShape 253"/>
          <p:cNvSpPr>
            <a:spLocks noChangeArrowheads="1"/>
          </p:cNvSpPr>
          <p:nvPr/>
        </p:nvSpPr>
        <p:spPr bwMode="auto">
          <a:xfrm>
            <a:off x="4600575" y="4619625"/>
            <a:ext cx="1447800" cy="1447800"/>
          </a:xfrm>
          <a:prstGeom prst="homePlate">
            <a:avLst>
              <a:gd name="adj" fmla="val 42857"/>
            </a:avLst>
          </a:prstGeom>
          <a:solidFill>
            <a:srgbClr val="0070C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300" dirty="0" smtClean="0">
                <a:solidFill>
                  <a:schemeClr val="bg1"/>
                </a:solidFill>
                <a:latin typeface="+mn-lt"/>
                <a:ea typeface="ＭＳ Ｐゴシック" charset="0"/>
              </a:rPr>
              <a:t>Leading for </a:t>
            </a:r>
          </a:p>
          <a:p>
            <a:pPr algn="ctr">
              <a:defRPr/>
            </a:pPr>
            <a:r>
              <a:rPr lang="en-US" sz="1300" dirty="0" smtClean="0">
                <a:solidFill>
                  <a:schemeClr val="bg1"/>
                </a:solidFill>
                <a:latin typeface="+mn-lt"/>
                <a:ea typeface="ＭＳ Ｐゴシック" charset="0"/>
              </a:rPr>
              <a:t>Growth</a:t>
            </a:r>
            <a:endParaRPr lang="en-US" sz="1300" dirty="0">
              <a:solidFill>
                <a:schemeClr val="bg1"/>
              </a:solidFill>
              <a:latin typeface="+mn-lt"/>
              <a:ea typeface="ＭＳ Ｐゴシック" charset="0"/>
            </a:endParaRPr>
          </a:p>
        </p:txBody>
      </p:sp>
      <p:sp>
        <p:nvSpPr>
          <p:cNvPr id="10" name="AutoShape 253"/>
          <p:cNvSpPr>
            <a:spLocks noChangeArrowheads="1"/>
          </p:cNvSpPr>
          <p:nvPr/>
        </p:nvSpPr>
        <p:spPr bwMode="auto">
          <a:xfrm>
            <a:off x="3152775" y="4619625"/>
            <a:ext cx="1447800" cy="1447800"/>
          </a:xfrm>
          <a:prstGeom prst="homePlate">
            <a:avLst>
              <a:gd name="adj" fmla="val 42857"/>
            </a:avLst>
          </a:prstGeom>
          <a:solidFill>
            <a:srgbClr val="0070C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300" dirty="0" smtClean="0">
                <a:solidFill>
                  <a:schemeClr val="bg1"/>
                </a:solidFill>
                <a:latin typeface="+mn-lt"/>
                <a:ea typeface="ＭＳ Ｐゴシック" charset="0"/>
              </a:rPr>
              <a:t>Optimizing</a:t>
            </a:r>
          </a:p>
          <a:p>
            <a:pPr algn="ctr">
              <a:defRPr/>
            </a:pPr>
            <a:r>
              <a:rPr lang="en-US" sz="1300" dirty="0" smtClean="0">
                <a:solidFill>
                  <a:schemeClr val="bg1"/>
                </a:solidFill>
                <a:latin typeface="+mn-lt"/>
                <a:ea typeface="ＭＳ Ｐゴシック" charset="0"/>
              </a:rPr>
              <a:t>Business</a:t>
            </a:r>
          </a:p>
          <a:p>
            <a:pPr algn="ctr">
              <a:defRPr/>
            </a:pPr>
            <a:r>
              <a:rPr lang="en-US" sz="1300" dirty="0" smtClean="0">
                <a:solidFill>
                  <a:schemeClr val="bg1"/>
                </a:solidFill>
                <a:latin typeface="+mn-lt"/>
                <a:ea typeface="ＭＳ Ｐゴシック" charset="0"/>
              </a:rPr>
              <a:t>Getting </a:t>
            </a:r>
          </a:p>
          <a:p>
            <a:pPr algn="ctr">
              <a:defRPr/>
            </a:pPr>
            <a:r>
              <a:rPr lang="en-US" sz="1300" dirty="0" smtClean="0">
                <a:solidFill>
                  <a:schemeClr val="bg1"/>
                </a:solidFill>
                <a:latin typeface="+mn-lt"/>
                <a:ea typeface="ＭＳ Ｐゴシック" charset="0"/>
              </a:rPr>
              <a:t>Things</a:t>
            </a:r>
          </a:p>
          <a:p>
            <a:pPr algn="ctr">
              <a:defRPr/>
            </a:pPr>
            <a:r>
              <a:rPr lang="en-US" sz="1300" dirty="0" smtClean="0">
                <a:solidFill>
                  <a:schemeClr val="bg1"/>
                </a:solidFill>
                <a:latin typeface="+mn-lt"/>
                <a:ea typeface="ＭＳ Ｐゴシック" charset="0"/>
              </a:rPr>
              <a:t>Done</a:t>
            </a:r>
            <a:endParaRPr lang="en-US" sz="1300" dirty="0">
              <a:solidFill>
                <a:schemeClr val="bg1"/>
              </a:solidFill>
              <a:latin typeface="+mn-lt"/>
              <a:ea typeface="ＭＳ Ｐゴシック" charset="0"/>
            </a:endParaRPr>
          </a:p>
        </p:txBody>
      </p:sp>
      <p:sp>
        <p:nvSpPr>
          <p:cNvPr id="11" name="AutoShape 253"/>
          <p:cNvSpPr>
            <a:spLocks noChangeArrowheads="1"/>
          </p:cNvSpPr>
          <p:nvPr/>
        </p:nvSpPr>
        <p:spPr bwMode="auto">
          <a:xfrm>
            <a:off x="1704975" y="4619625"/>
            <a:ext cx="1447800" cy="1447800"/>
          </a:xfrm>
          <a:prstGeom prst="homePlate">
            <a:avLst>
              <a:gd name="adj" fmla="val 42857"/>
            </a:avLst>
          </a:prstGeom>
          <a:solidFill>
            <a:srgbClr val="0070C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300" dirty="0" smtClean="0">
                <a:solidFill>
                  <a:schemeClr val="bg1"/>
                </a:solidFill>
                <a:latin typeface="+mn-lt"/>
                <a:ea typeface="ＭＳ Ｐゴシック" charset="0"/>
              </a:rPr>
              <a:t>Build a Strong</a:t>
            </a:r>
          </a:p>
          <a:p>
            <a:pPr algn="ctr">
              <a:defRPr/>
            </a:pPr>
            <a:r>
              <a:rPr lang="en-US" sz="1300" dirty="0" smtClean="0">
                <a:solidFill>
                  <a:schemeClr val="bg1"/>
                </a:solidFill>
                <a:latin typeface="+mn-lt"/>
                <a:ea typeface="ＭＳ Ｐゴシック" charset="0"/>
              </a:rPr>
              <a:t>Team</a:t>
            </a:r>
          </a:p>
        </p:txBody>
      </p:sp>
      <p:sp>
        <p:nvSpPr>
          <p:cNvPr id="12" name="AutoShape 253"/>
          <p:cNvSpPr>
            <a:spLocks noChangeArrowheads="1"/>
          </p:cNvSpPr>
          <p:nvPr/>
        </p:nvSpPr>
        <p:spPr bwMode="auto">
          <a:xfrm>
            <a:off x="257175" y="4619625"/>
            <a:ext cx="1447800" cy="1447800"/>
          </a:xfrm>
          <a:prstGeom prst="homePlate">
            <a:avLst>
              <a:gd name="adj" fmla="val 42857"/>
            </a:avLst>
          </a:prstGeom>
          <a:solidFill>
            <a:srgbClr val="0070C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300" dirty="0" smtClean="0">
                <a:solidFill>
                  <a:schemeClr val="bg1"/>
                </a:solidFill>
                <a:latin typeface="+mn-lt"/>
                <a:ea typeface="ＭＳ Ｐゴシック" charset="0"/>
              </a:rPr>
              <a:t>Be a Leader</a:t>
            </a:r>
          </a:p>
          <a:p>
            <a:pPr algn="ctr">
              <a:defRPr/>
            </a:pPr>
            <a:r>
              <a:rPr lang="en-US" sz="1300" dirty="0" smtClean="0">
                <a:solidFill>
                  <a:schemeClr val="bg1"/>
                </a:solidFill>
                <a:latin typeface="+mn-lt"/>
                <a:ea typeface="ＭＳ Ｐゴシック" charset="0"/>
              </a:rPr>
              <a:t>and Change</a:t>
            </a:r>
          </a:p>
          <a:p>
            <a:pPr algn="ctr">
              <a:defRPr/>
            </a:pPr>
            <a:r>
              <a:rPr lang="en-US" sz="1300" dirty="0" smtClean="0">
                <a:solidFill>
                  <a:schemeClr val="bg1"/>
                </a:solidFill>
                <a:latin typeface="+mn-lt"/>
                <a:ea typeface="ＭＳ Ｐゴシック" charset="0"/>
              </a:rPr>
              <a:t>Leadership</a:t>
            </a:r>
          </a:p>
        </p:txBody>
      </p:sp>
      <p:sp>
        <p:nvSpPr>
          <p:cNvPr id="13" name="AutoShape 253"/>
          <p:cNvSpPr>
            <a:spLocks noChangeArrowheads="1"/>
          </p:cNvSpPr>
          <p:nvPr/>
        </p:nvSpPr>
        <p:spPr bwMode="auto">
          <a:xfrm>
            <a:off x="7486650" y="4619625"/>
            <a:ext cx="1447800" cy="1447800"/>
          </a:xfrm>
          <a:prstGeom prst="homePlate">
            <a:avLst>
              <a:gd name="adj" fmla="val 42857"/>
            </a:avLst>
          </a:prstGeom>
          <a:solidFill>
            <a:srgbClr val="0070C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300" dirty="0" smtClean="0">
                <a:solidFill>
                  <a:schemeClr val="bg1"/>
                </a:solidFill>
                <a:latin typeface="+mn-lt"/>
                <a:ea typeface="ＭＳ Ｐゴシック" charset="0"/>
              </a:rPr>
              <a:t>Application</a:t>
            </a:r>
          </a:p>
          <a:p>
            <a:pPr algn="ctr">
              <a:defRPr/>
            </a:pPr>
            <a:r>
              <a:rPr lang="en-US" sz="1300" dirty="0" smtClean="0">
                <a:solidFill>
                  <a:schemeClr val="bg1"/>
                </a:solidFill>
                <a:latin typeface="+mn-lt"/>
                <a:ea typeface="ＭＳ Ｐゴシック" charset="0"/>
              </a:rPr>
              <a:t>Simulation</a:t>
            </a:r>
            <a:endParaRPr lang="en-US" sz="1300" dirty="0">
              <a:solidFill>
                <a:schemeClr val="bg1"/>
              </a:solidFill>
              <a:latin typeface="+mn-lt"/>
              <a:ea typeface="ＭＳ Ｐゴシック" charset="0"/>
            </a:endParaRPr>
          </a:p>
        </p:txBody>
      </p:sp>
      <p:sp>
        <p:nvSpPr>
          <p:cNvPr id="14" name="Slide Number Placeholder 13"/>
          <p:cNvSpPr>
            <a:spLocks noGrp="1"/>
          </p:cNvSpPr>
          <p:nvPr>
            <p:ph type="sldNum" sz="quarter" idx="10"/>
          </p:nvPr>
        </p:nvSpPr>
        <p:spPr/>
        <p:txBody>
          <a:bodyPr/>
          <a:lstStyle/>
          <a:p>
            <a:pPr>
              <a:defRPr/>
            </a:pPr>
            <a:fld id="{01D945C9-0277-4107-B589-EC55ECD240BC}" type="slidenum">
              <a:rPr lang="en-US" smtClean="0"/>
              <a:pPr>
                <a:defRPr/>
              </a:pPr>
              <a:t>33</a:t>
            </a:fld>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dirty="0" smtClean="0"/>
              <a:t>Appendix</a:t>
            </a:r>
            <a:endParaRPr lang="en-US" sz="3600" dirty="0"/>
          </a:p>
        </p:txBody>
      </p:sp>
      <p:sp>
        <p:nvSpPr>
          <p:cNvPr id="3" name="Subtitle 2"/>
          <p:cNvSpPr>
            <a:spLocks noGrp="1"/>
          </p:cNvSpPr>
          <p:nvPr>
            <p:ph type="subTitle" idx="1"/>
          </p:nvPr>
        </p:nvSpPr>
        <p:spPr/>
        <p:txBody>
          <a:bodyPr/>
          <a:lstStyle/>
          <a:p>
            <a:r>
              <a:rPr lang="en-US" dirty="0" smtClean="0"/>
              <a:t>External Facilitator Bios</a:t>
            </a:r>
            <a:endParaRPr lang="en-US" dirty="0"/>
          </a:p>
        </p:txBody>
      </p:sp>
      <p:sp>
        <p:nvSpPr>
          <p:cNvPr id="4" name="Slide Number Placeholder 11"/>
          <p:cNvSpPr txBox="1">
            <a:spLocks/>
          </p:cNvSpPr>
          <p:nvPr/>
        </p:nvSpPr>
        <p:spPr>
          <a:xfrm>
            <a:off x="8763000" y="6492875"/>
            <a:ext cx="381000" cy="365125"/>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01D945C9-0277-4107-B589-EC55ECD240BC}" type="slidenum">
              <a:rPr kumimoji="0" lang="en-US" sz="1200" b="0" i="0" u="none" strike="noStrike" kern="1200" cap="none" spc="0" normalizeH="0" baseline="0" noProof="0" smtClean="0">
                <a:ln>
                  <a:noFill/>
                </a:ln>
                <a:solidFill>
                  <a:schemeClr val="tx1"/>
                </a:solidFill>
                <a:effectLst/>
                <a:uLnTx/>
                <a:uFillTx/>
                <a:latin typeface="+mn-lt"/>
                <a:ea typeface="+mn-ea"/>
                <a:cs typeface="+mn-cs"/>
              </a:rPr>
              <a:pPr marL="0" marR="0" lvl="0" indent="0" algn="ctr" defTabSz="914400" rtl="0" eaLnBrk="1" fontAlgn="base" latinLnBrk="0" hangingPunct="1">
                <a:lnSpc>
                  <a:spcPct val="100000"/>
                </a:lnSpc>
                <a:spcBef>
                  <a:spcPct val="0"/>
                </a:spcBef>
                <a:spcAft>
                  <a:spcPct val="0"/>
                </a:spcAft>
                <a:buClrTx/>
                <a:buSzTx/>
                <a:buFontTx/>
                <a:buNone/>
                <a:tabLst/>
                <a:defRPr/>
              </a:pPr>
              <a:t>34</a:t>
            </a:fld>
            <a:endParaRPr kumimoji="0" lang="en-US" sz="1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dirty="0" smtClean="0"/>
              <a:t>Leader Next</a:t>
            </a:r>
            <a:endParaRPr lang="en-US" sz="3600" dirty="0"/>
          </a:p>
        </p:txBody>
      </p:sp>
      <p:sp>
        <p:nvSpPr>
          <p:cNvPr id="3" name="Subtitle 2"/>
          <p:cNvSpPr>
            <a:spLocks noGrp="1"/>
          </p:cNvSpPr>
          <p:nvPr>
            <p:ph type="subTitle" idx="1"/>
          </p:nvPr>
        </p:nvSpPr>
        <p:spPr/>
        <p:txBody>
          <a:bodyPr/>
          <a:lstStyle/>
          <a:p>
            <a:r>
              <a:rPr lang="en-US" dirty="0" smtClean="0"/>
              <a:t>External Facilitator Bios</a:t>
            </a:r>
            <a:endParaRPr lang="en-US" dirty="0"/>
          </a:p>
        </p:txBody>
      </p:sp>
      <p:sp>
        <p:nvSpPr>
          <p:cNvPr id="4" name="Slide Number Placeholder 11"/>
          <p:cNvSpPr txBox="1">
            <a:spLocks/>
          </p:cNvSpPr>
          <p:nvPr/>
        </p:nvSpPr>
        <p:spPr>
          <a:xfrm>
            <a:off x="8763000" y="6492875"/>
            <a:ext cx="381000" cy="365125"/>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01D945C9-0277-4107-B589-EC55ECD240BC}" type="slidenum">
              <a:rPr kumimoji="0" lang="en-US" sz="1200" b="0" i="0" u="none" strike="noStrike" kern="1200" cap="none" spc="0" normalizeH="0" baseline="0" noProof="0" smtClean="0">
                <a:ln>
                  <a:noFill/>
                </a:ln>
                <a:solidFill>
                  <a:schemeClr val="tx1"/>
                </a:solidFill>
                <a:effectLst/>
                <a:uLnTx/>
                <a:uFillTx/>
                <a:latin typeface="+mn-lt"/>
                <a:ea typeface="+mn-ea"/>
                <a:cs typeface="+mn-cs"/>
              </a:rPr>
              <a:pPr marL="0" marR="0" lvl="0" indent="0" algn="ctr" defTabSz="914400" rtl="0" eaLnBrk="1" fontAlgn="base" latinLnBrk="0" hangingPunct="1">
                <a:lnSpc>
                  <a:spcPct val="100000"/>
                </a:lnSpc>
                <a:spcBef>
                  <a:spcPct val="0"/>
                </a:spcBef>
                <a:spcAft>
                  <a:spcPct val="0"/>
                </a:spcAft>
                <a:buClrTx/>
                <a:buSzTx/>
                <a:buFontTx/>
                <a:buNone/>
                <a:tabLst/>
                <a:defRPr/>
              </a:pPr>
              <a:t>35</a:t>
            </a:fld>
            <a:endParaRPr kumimoji="0" lang="en-US" sz="1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2"/>
          <p:cNvSpPr>
            <a:spLocks noGrp="1"/>
          </p:cNvSpPr>
          <p:nvPr>
            <p:ph idx="1"/>
          </p:nvPr>
        </p:nvSpPr>
        <p:spPr>
          <a:xfrm>
            <a:off x="457200" y="1504950"/>
            <a:ext cx="8229600" cy="4953000"/>
          </a:xfrm>
        </p:spPr>
        <p:txBody>
          <a:bodyPr/>
          <a:lstStyle/>
          <a:p>
            <a:pPr lvl="3">
              <a:lnSpc>
                <a:spcPct val="150000"/>
              </a:lnSpc>
              <a:spcBef>
                <a:spcPts val="600"/>
              </a:spcBef>
              <a:buFont typeface="Arial" pitchFamily="34" charset="0"/>
              <a:buChar char="•"/>
            </a:pPr>
            <a:r>
              <a:rPr lang="en-US" sz="1400" dirty="0" smtClean="0"/>
              <a:t>Brad Killaly joined the Goizueta Business School faculty in 2008. He taught at the University of California, Irvine for eight years and has held the position of Associate Fellow at the Said Business School, University of Oxford, Oxford, UK since 2006.  </a:t>
            </a:r>
          </a:p>
          <a:p>
            <a:pPr lvl="3">
              <a:lnSpc>
                <a:spcPct val="150000"/>
              </a:lnSpc>
              <a:spcBef>
                <a:spcPts val="600"/>
              </a:spcBef>
              <a:buFont typeface="Arial" pitchFamily="34" charset="0"/>
              <a:buChar char="•"/>
            </a:pPr>
            <a:r>
              <a:rPr lang="en-US" sz="1400" dirty="0" smtClean="0"/>
              <a:t>Killaly holds a PhD in business administration from the Ross School of Business, University of Michigan; a Master of Public Affairs (international affairs) from the Woodrow Wilson School of Public and International Affairs, Princeton University; an MSC in economics and international political economy from the London School of Economics and Political Science; and a BA(Hons) in economics from Queen’s University at Kingston, Ontario, Canada. </a:t>
            </a:r>
          </a:p>
          <a:p>
            <a:pPr>
              <a:lnSpc>
                <a:spcPct val="150000"/>
              </a:lnSpc>
              <a:spcBef>
                <a:spcPts val="600"/>
              </a:spcBef>
              <a:buFont typeface="Arial" pitchFamily="34" charset="0"/>
              <a:buChar char="•"/>
            </a:pPr>
            <a:r>
              <a:rPr lang="en-US" sz="1400" dirty="0" smtClean="0"/>
              <a:t>After completing his MPA and prior to his doctoral studies, Killaly worked for four years in corporate banking for the Royal Bank of Canada. </a:t>
            </a:r>
          </a:p>
          <a:p>
            <a:pPr>
              <a:lnSpc>
                <a:spcPct val="150000"/>
              </a:lnSpc>
              <a:spcBef>
                <a:spcPts val="600"/>
              </a:spcBef>
            </a:pPr>
            <a:r>
              <a:rPr lang="en-US" sz="1400" dirty="0" smtClean="0"/>
              <a:t>His research interests include the US health care industry and access to care, as well as the effects of competition on access and quality of care. </a:t>
            </a:r>
          </a:p>
          <a:p>
            <a:pPr>
              <a:lnSpc>
                <a:spcPct val="150000"/>
              </a:lnSpc>
              <a:spcBef>
                <a:spcPts val="600"/>
              </a:spcBef>
            </a:pPr>
            <a:r>
              <a:rPr lang="en-US" sz="1400" dirty="0" smtClean="0"/>
              <a:t>He also researches the influence of competitor market entries on the strategy making and market position of companies in the international telecommunication service industry.</a:t>
            </a:r>
          </a:p>
          <a:p>
            <a:pPr>
              <a:lnSpc>
                <a:spcPct val="150000"/>
              </a:lnSpc>
              <a:spcBef>
                <a:spcPts val="600"/>
              </a:spcBef>
            </a:pPr>
            <a:endParaRPr lang="en-US" sz="1400" dirty="0"/>
          </a:p>
        </p:txBody>
      </p:sp>
      <p:sp>
        <p:nvSpPr>
          <p:cNvPr id="2" name="Title 1"/>
          <p:cNvSpPr>
            <a:spLocks noGrp="1"/>
          </p:cNvSpPr>
          <p:nvPr>
            <p:ph type="title"/>
          </p:nvPr>
        </p:nvSpPr>
        <p:spPr>
          <a:xfrm>
            <a:off x="381000" y="1171575"/>
            <a:ext cx="5943600" cy="457200"/>
          </a:xfrm>
        </p:spPr>
        <p:txBody>
          <a:bodyPr/>
          <a:lstStyle/>
          <a:p>
            <a:r>
              <a:rPr lang="en-US" sz="1800" b="1" dirty="0" smtClean="0"/>
              <a:t>Brad Killaly, PhD: </a:t>
            </a:r>
            <a:r>
              <a:rPr lang="en-US" sz="1800" dirty="0" smtClean="0"/>
              <a:t>Organization and Management</a:t>
            </a:r>
            <a:endParaRPr lang="en-US" sz="1800" dirty="0"/>
          </a:p>
        </p:txBody>
      </p:sp>
      <p:sp>
        <p:nvSpPr>
          <p:cNvPr id="8" name="Title 1"/>
          <p:cNvSpPr txBox="1">
            <a:spLocks/>
          </p:cNvSpPr>
          <p:nvPr/>
        </p:nvSpPr>
        <p:spPr bwMode="auto">
          <a:xfrm>
            <a:off x="381000" y="381000"/>
            <a:ext cx="7239000" cy="76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800" i="0" u="none" strike="noStrike" kern="1200" cap="none" spc="0" normalizeH="0" baseline="0" noProof="0" dirty="0" smtClean="0">
                <a:ln>
                  <a:noFill/>
                </a:ln>
                <a:solidFill>
                  <a:srgbClr val="009D57"/>
                </a:solidFill>
                <a:effectLst/>
                <a:uLnTx/>
                <a:uFillTx/>
                <a:latin typeface="+mj-lt"/>
                <a:ea typeface="+mj-ea"/>
                <a:cs typeface="+mj-cs"/>
              </a:rPr>
              <a:t>Workshop</a:t>
            </a:r>
            <a:r>
              <a:rPr kumimoji="0" lang="en-US" sz="2800" i="0" u="none" strike="noStrike" kern="1200" cap="none" spc="0" normalizeH="0" noProof="0" dirty="0" smtClean="0">
                <a:ln>
                  <a:noFill/>
                </a:ln>
                <a:solidFill>
                  <a:srgbClr val="009D57"/>
                </a:solidFill>
                <a:effectLst/>
                <a:uLnTx/>
                <a:uFillTx/>
                <a:latin typeface="+mj-lt"/>
                <a:ea typeface="+mj-ea"/>
                <a:cs typeface="+mj-cs"/>
              </a:rPr>
              <a:t> 1 Facilitators: Know the Business</a:t>
            </a:r>
            <a:endParaRPr kumimoji="0" lang="en-US" sz="2800" i="0" u="none" strike="noStrike" kern="1200" cap="none" spc="0" normalizeH="0" baseline="0" noProof="0" dirty="0">
              <a:ln>
                <a:noFill/>
              </a:ln>
              <a:solidFill>
                <a:srgbClr val="009D57"/>
              </a:solidFill>
              <a:effectLst/>
              <a:uLnTx/>
              <a:uFillTx/>
              <a:latin typeface="+mj-lt"/>
              <a:ea typeface="+mj-ea"/>
              <a:cs typeface="+mj-cs"/>
            </a:endParaRPr>
          </a:p>
        </p:txBody>
      </p:sp>
      <p:pic>
        <p:nvPicPr>
          <p:cNvPr id="12" name="Picture 2" descr="Photo of Goizueta Business School - Brad Killaly"/>
          <p:cNvPicPr>
            <a:picLocks noChangeAspect="1" noChangeArrowheads="1"/>
          </p:cNvPicPr>
          <p:nvPr/>
        </p:nvPicPr>
        <p:blipFill>
          <a:blip r:embed="rId2" cstate="print"/>
          <a:srcRect/>
          <a:stretch>
            <a:fillRect/>
          </a:stretch>
        </p:blipFill>
        <p:spPr bwMode="auto">
          <a:xfrm>
            <a:off x="381000" y="1828800"/>
            <a:ext cx="1496961" cy="1600200"/>
          </a:xfrm>
          <a:prstGeom prst="rect">
            <a:avLst/>
          </a:prstGeom>
          <a:noFill/>
        </p:spPr>
      </p:pic>
      <p:sp>
        <p:nvSpPr>
          <p:cNvPr id="9" name="Slide Number Placeholder 8"/>
          <p:cNvSpPr>
            <a:spLocks noGrp="1"/>
          </p:cNvSpPr>
          <p:nvPr>
            <p:ph type="sldNum" sz="quarter" idx="10"/>
          </p:nvPr>
        </p:nvSpPr>
        <p:spPr/>
        <p:txBody>
          <a:bodyPr/>
          <a:lstStyle/>
          <a:p>
            <a:pPr>
              <a:defRPr/>
            </a:pPr>
            <a:fld id="{01D945C9-0277-4107-B589-EC55ECD240BC}" type="slidenum">
              <a:rPr lang="en-US" smtClean="0"/>
              <a:pPr>
                <a:defRPr/>
              </a:pPr>
              <a:t>36</a:t>
            </a:fld>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457200" y="1619250"/>
            <a:ext cx="8229600" cy="4724400"/>
          </a:xfrm>
        </p:spPr>
        <p:txBody>
          <a:bodyPr/>
          <a:lstStyle/>
          <a:p>
            <a:pPr lvl="3">
              <a:lnSpc>
                <a:spcPct val="150000"/>
              </a:lnSpc>
              <a:spcBef>
                <a:spcPts val="1200"/>
              </a:spcBef>
              <a:buFont typeface="Arial" pitchFamily="34" charset="0"/>
              <a:buChar char="•"/>
            </a:pPr>
            <a:r>
              <a:rPr lang="en-US" sz="1400" dirty="0" smtClean="0"/>
              <a:t>Dr. Kathy Pearson is currently serving as the Director of Health Care Management Executive Education at the Leonard Davis Institute of Health Economics at the University of Pennsylvania, with overall responsibility for the design and delivery of a portfolio of executive development programs for health care executives and managers. </a:t>
            </a:r>
          </a:p>
          <a:p>
            <a:pPr lvl="3">
              <a:lnSpc>
                <a:spcPct val="150000"/>
              </a:lnSpc>
              <a:spcBef>
                <a:spcPts val="1200"/>
              </a:spcBef>
              <a:buFont typeface="Arial" pitchFamily="34" charset="0"/>
              <a:buChar char="•"/>
            </a:pPr>
            <a:r>
              <a:rPr lang="en-US" sz="1400" dirty="0" smtClean="0"/>
              <a:t>Dr. Pearson is the Academic Director for several specific executive management programs, including the Wharton Executive Management Program for Academic Surgery Leaders, the Patient Safety Leadership Academy Executive Program and the GlaxoSmithKline Executive Management Program for Pharmacy Leaders. </a:t>
            </a:r>
          </a:p>
          <a:p>
            <a:pPr>
              <a:lnSpc>
                <a:spcPct val="150000"/>
              </a:lnSpc>
              <a:spcBef>
                <a:spcPts val="1200"/>
              </a:spcBef>
            </a:pPr>
            <a:r>
              <a:rPr lang="en-US" sz="1400" dirty="0" smtClean="0"/>
              <a:t>As an Adjunct Associate Professor at The Wharton School, she teaches operations management in the MBA program and Executive Masters of Technology Management as well as other graduate level courses for the department.</a:t>
            </a:r>
            <a:br>
              <a:rPr lang="en-US" sz="1400" dirty="0" smtClean="0"/>
            </a:br>
            <a:endParaRPr lang="en-US" sz="1400" dirty="0"/>
          </a:p>
        </p:txBody>
      </p:sp>
      <p:sp>
        <p:nvSpPr>
          <p:cNvPr id="2" name="Title 1"/>
          <p:cNvSpPr>
            <a:spLocks noGrp="1"/>
          </p:cNvSpPr>
          <p:nvPr>
            <p:ph type="title"/>
          </p:nvPr>
        </p:nvSpPr>
        <p:spPr>
          <a:xfrm>
            <a:off x="457200" y="1238250"/>
            <a:ext cx="5943600" cy="457200"/>
          </a:xfrm>
        </p:spPr>
        <p:txBody>
          <a:bodyPr/>
          <a:lstStyle/>
          <a:p>
            <a:r>
              <a:rPr lang="en-US" sz="1800" b="1" dirty="0" smtClean="0"/>
              <a:t>Kathy Pearson, MD: </a:t>
            </a:r>
            <a:r>
              <a:rPr lang="en-US" sz="1800" dirty="0" smtClean="0"/>
              <a:t>Healthcare Management</a:t>
            </a:r>
            <a:endParaRPr lang="en-US" sz="1800" dirty="0"/>
          </a:p>
        </p:txBody>
      </p:sp>
      <p:sp>
        <p:nvSpPr>
          <p:cNvPr id="8" name="Title 1"/>
          <p:cNvSpPr txBox="1">
            <a:spLocks/>
          </p:cNvSpPr>
          <p:nvPr/>
        </p:nvSpPr>
        <p:spPr bwMode="auto">
          <a:xfrm>
            <a:off x="457200" y="381000"/>
            <a:ext cx="7239000" cy="76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800" i="0" u="none" strike="noStrike" kern="1200" cap="none" spc="0" normalizeH="0" baseline="0" noProof="0" dirty="0" smtClean="0">
                <a:ln>
                  <a:noFill/>
                </a:ln>
                <a:solidFill>
                  <a:srgbClr val="009D57"/>
                </a:solidFill>
                <a:effectLst/>
                <a:uLnTx/>
                <a:uFillTx/>
                <a:latin typeface="+mj-lt"/>
                <a:ea typeface="+mj-ea"/>
                <a:cs typeface="+mj-cs"/>
              </a:rPr>
              <a:t>Workshop</a:t>
            </a:r>
            <a:r>
              <a:rPr kumimoji="0" lang="en-US" sz="2800" i="0" u="none" strike="noStrike" kern="1200" cap="none" spc="0" normalizeH="0" noProof="0" dirty="0" smtClean="0">
                <a:ln>
                  <a:noFill/>
                </a:ln>
                <a:solidFill>
                  <a:srgbClr val="009D57"/>
                </a:solidFill>
                <a:effectLst/>
                <a:uLnTx/>
                <a:uFillTx/>
                <a:latin typeface="+mj-lt"/>
                <a:ea typeface="+mj-ea"/>
                <a:cs typeface="+mj-cs"/>
              </a:rPr>
              <a:t> 1 Facilitators: Know the Business</a:t>
            </a:r>
            <a:endParaRPr kumimoji="0" lang="en-US" sz="2800" i="0" u="none" strike="noStrike" kern="1200" cap="none" spc="0" normalizeH="0" baseline="0" noProof="0" dirty="0">
              <a:ln>
                <a:noFill/>
              </a:ln>
              <a:solidFill>
                <a:srgbClr val="009D57"/>
              </a:solidFill>
              <a:effectLst/>
              <a:uLnTx/>
              <a:uFillTx/>
              <a:latin typeface="+mj-lt"/>
              <a:ea typeface="+mj-ea"/>
              <a:cs typeface="+mj-cs"/>
            </a:endParaRPr>
          </a:p>
        </p:txBody>
      </p:sp>
      <p:pic>
        <p:nvPicPr>
          <p:cNvPr id="6" name="Picture 2" descr="http://www.ims-online.com/widgets/sessions/photowidget.aspx?faculty_id=pearsonkathy"/>
          <p:cNvPicPr>
            <a:picLocks noChangeAspect="1" noChangeArrowheads="1"/>
          </p:cNvPicPr>
          <p:nvPr/>
        </p:nvPicPr>
        <p:blipFill>
          <a:blip r:embed="rId2" cstate="print"/>
          <a:srcRect l="37533"/>
          <a:stretch>
            <a:fillRect/>
          </a:stretch>
        </p:blipFill>
        <p:spPr bwMode="auto">
          <a:xfrm>
            <a:off x="685800" y="2133600"/>
            <a:ext cx="1167821" cy="1295400"/>
          </a:xfrm>
          <a:prstGeom prst="rect">
            <a:avLst/>
          </a:prstGeom>
          <a:noFill/>
        </p:spPr>
      </p:pic>
      <p:sp>
        <p:nvSpPr>
          <p:cNvPr id="10" name="Slide Number Placeholder 9"/>
          <p:cNvSpPr>
            <a:spLocks noGrp="1"/>
          </p:cNvSpPr>
          <p:nvPr>
            <p:ph type="sldNum" sz="quarter" idx="10"/>
          </p:nvPr>
        </p:nvSpPr>
        <p:spPr/>
        <p:txBody>
          <a:bodyPr/>
          <a:lstStyle/>
          <a:p>
            <a:pPr>
              <a:defRPr/>
            </a:pPr>
            <a:fld id="{01D945C9-0277-4107-B589-EC55ECD240BC}" type="slidenum">
              <a:rPr lang="en-US" smtClean="0"/>
              <a:pPr>
                <a:defRPr/>
              </a:pPr>
              <a:t>37</a:t>
            </a:fld>
            <a:endParaRPr 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p:cNvSpPr>
            <a:spLocks noGrp="1"/>
          </p:cNvSpPr>
          <p:nvPr>
            <p:ph idx="1"/>
          </p:nvPr>
        </p:nvSpPr>
        <p:spPr>
          <a:xfrm>
            <a:off x="381000" y="1714500"/>
            <a:ext cx="8229600" cy="5029200"/>
          </a:xfrm>
        </p:spPr>
        <p:txBody>
          <a:bodyPr/>
          <a:lstStyle/>
          <a:p>
            <a:pPr lvl="4">
              <a:buFont typeface="Arial" pitchFamily="34" charset="0"/>
              <a:buChar char="•"/>
            </a:pPr>
            <a:r>
              <a:rPr lang="en-US" sz="1400" dirty="0" smtClean="0"/>
              <a:t>Professor of Organization and Management at the Goizueta Business School of Emory University. Prior to his appointment at Emory, Rob was a faculty member at the Graduate School of Business, University of Michigan. More recently, he was a Visiting Professor at the School of Business at Dartmouth College. Rob received his Ph.D. in Organization and Strategy from The Wharton School of the University of Pennsylvania.</a:t>
            </a:r>
          </a:p>
          <a:p>
            <a:pPr lvl="4">
              <a:buFont typeface="Arial" pitchFamily="34" charset="0"/>
              <a:buChar char="•"/>
            </a:pPr>
            <a:r>
              <a:rPr lang="en-US" sz="1400" dirty="0" smtClean="0"/>
              <a:t>Rob has authored a number of articles in such journals as Management Science, Strategic Management Journal, Academy of Management Journal, Academy of Management Review, Journal of Business Venturing, and the Columbia Journal of World Business.</a:t>
            </a:r>
          </a:p>
          <a:p>
            <a:r>
              <a:rPr lang="en-US" sz="1400" dirty="0" smtClean="0"/>
              <a:t>His current research work falls into two areas: </a:t>
            </a:r>
          </a:p>
          <a:p>
            <a:pPr lvl="1"/>
            <a:r>
              <a:rPr lang="en-US" sz="1400" dirty="0" smtClean="0"/>
              <a:t>First, he is initiating several projects pertaining to the implementation of strategy and the management of change in large, diversified firms. Particular interests center on issues of capability, innovation processes, and broad-scale organizational transformations. </a:t>
            </a:r>
          </a:p>
          <a:p>
            <a:pPr lvl="1"/>
            <a:r>
              <a:rPr lang="en-US" sz="1400" dirty="0" smtClean="0"/>
              <a:t>Second, he has research in organizational issues associated with growth in firms at various stages of development</a:t>
            </a:r>
            <a:r>
              <a:rPr lang="en-US" sz="1000" dirty="0" smtClean="0"/>
              <a:t>.</a:t>
            </a:r>
          </a:p>
          <a:p>
            <a:pPr>
              <a:buNone/>
            </a:pPr>
            <a:r>
              <a:rPr lang="en-US" sz="1400" b="1" dirty="0" smtClean="0"/>
              <a:t>Selected Consulting Clients: </a:t>
            </a:r>
          </a:p>
          <a:p>
            <a:r>
              <a:rPr lang="en-US" sz="1400" dirty="0" smtClean="0"/>
              <a:t>General Electric, General Motors, The Home Depot, Singapore Airlines, IBM, Acer, Westinghouse, Abbott Labs, Exxon, Norwest Inc., Lockheed-Martin, Honeywell, and Siemens North America. </a:t>
            </a:r>
          </a:p>
          <a:p>
            <a:endParaRPr lang="en-US" sz="1400" dirty="0"/>
          </a:p>
        </p:txBody>
      </p:sp>
      <p:sp>
        <p:nvSpPr>
          <p:cNvPr id="2" name="Title 1"/>
          <p:cNvSpPr>
            <a:spLocks noGrp="1"/>
          </p:cNvSpPr>
          <p:nvPr>
            <p:ph type="title"/>
          </p:nvPr>
        </p:nvSpPr>
        <p:spPr>
          <a:xfrm>
            <a:off x="381000" y="1181100"/>
            <a:ext cx="5943600" cy="457200"/>
          </a:xfrm>
        </p:spPr>
        <p:txBody>
          <a:bodyPr/>
          <a:lstStyle/>
          <a:p>
            <a:r>
              <a:rPr lang="en-US" sz="1800" b="1" dirty="0" smtClean="0"/>
              <a:t>Robert Kazanjian: </a:t>
            </a:r>
            <a:r>
              <a:rPr lang="en-US" sz="1800" dirty="0" smtClean="0"/>
              <a:t>Organization and Management</a:t>
            </a:r>
            <a:endParaRPr lang="en-US" sz="1800" dirty="0"/>
          </a:p>
        </p:txBody>
      </p:sp>
      <p:sp>
        <p:nvSpPr>
          <p:cNvPr id="8" name="Title 1"/>
          <p:cNvSpPr txBox="1">
            <a:spLocks/>
          </p:cNvSpPr>
          <p:nvPr/>
        </p:nvSpPr>
        <p:spPr bwMode="auto">
          <a:xfrm>
            <a:off x="457200" y="381000"/>
            <a:ext cx="7239000" cy="76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800" i="0" u="none" strike="noStrike" kern="1200" cap="none" spc="0" normalizeH="0" baseline="0" noProof="0" dirty="0" smtClean="0">
                <a:ln>
                  <a:noFill/>
                </a:ln>
                <a:solidFill>
                  <a:srgbClr val="009D57"/>
                </a:solidFill>
                <a:effectLst/>
                <a:uLnTx/>
                <a:uFillTx/>
                <a:latin typeface="+mj-lt"/>
                <a:ea typeface="+mj-ea"/>
                <a:cs typeface="+mj-cs"/>
              </a:rPr>
              <a:t>Workshop</a:t>
            </a:r>
            <a:r>
              <a:rPr kumimoji="0" lang="en-US" sz="2800" i="0" u="none" strike="noStrike" kern="1200" cap="none" spc="0" normalizeH="0" noProof="0" dirty="0" smtClean="0">
                <a:ln>
                  <a:noFill/>
                </a:ln>
                <a:solidFill>
                  <a:srgbClr val="009D57"/>
                </a:solidFill>
                <a:effectLst/>
                <a:uLnTx/>
                <a:uFillTx/>
                <a:latin typeface="+mj-lt"/>
                <a:ea typeface="+mj-ea"/>
                <a:cs typeface="+mj-cs"/>
              </a:rPr>
              <a:t> 2 Facilitators: Lead Your Business</a:t>
            </a:r>
            <a:endParaRPr kumimoji="0" lang="en-US" sz="2800" i="0" u="none" strike="noStrike" kern="1200" cap="none" spc="0" normalizeH="0" baseline="0" noProof="0" dirty="0">
              <a:ln>
                <a:noFill/>
              </a:ln>
              <a:solidFill>
                <a:srgbClr val="009D57"/>
              </a:solidFill>
              <a:effectLst/>
              <a:uLnTx/>
              <a:uFillTx/>
              <a:latin typeface="+mj-lt"/>
              <a:ea typeface="+mj-ea"/>
              <a:cs typeface="+mj-cs"/>
            </a:endParaRPr>
          </a:p>
        </p:txBody>
      </p:sp>
      <p:pic>
        <p:nvPicPr>
          <p:cNvPr id="7" name="Picture 2" descr="Photo of Goizueta Business School - Robert Kazanjian"/>
          <p:cNvPicPr>
            <a:picLocks noChangeAspect="1" noChangeArrowheads="1"/>
          </p:cNvPicPr>
          <p:nvPr/>
        </p:nvPicPr>
        <p:blipFill>
          <a:blip r:embed="rId2" cstate="print"/>
          <a:srcRect/>
          <a:stretch>
            <a:fillRect/>
          </a:stretch>
        </p:blipFill>
        <p:spPr bwMode="auto">
          <a:xfrm>
            <a:off x="609600" y="1905000"/>
            <a:ext cx="1555700" cy="1676400"/>
          </a:xfrm>
          <a:prstGeom prst="rect">
            <a:avLst/>
          </a:prstGeom>
          <a:noFill/>
        </p:spPr>
      </p:pic>
      <p:sp>
        <p:nvSpPr>
          <p:cNvPr id="11" name="Slide Number Placeholder 10"/>
          <p:cNvSpPr>
            <a:spLocks noGrp="1"/>
          </p:cNvSpPr>
          <p:nvPr>
            <p:ph type="sldNum" sz="quarter" idx="10"/>
          </p:nvPr>
        </p:nvSpPr>
        <p:spPr/>
        <p:txBody>
          <a:bodyPr/>
          <a:lstStyle/>
          <a:p>
            <a:pPr>
              <a:defRPr/>
            </a:pPr>
            <a:fld id="{01D945C9-0277-4107-B589-EC55ECD240BC}" type="slidenum">
              <a:rPr lang="en-US" smtClean="0"/>
              <a:pPr>
                <a:defRPr/>
              </a:pPr>
              <a:t>38</a:t>
            </a:fld>
            <a:endParaRPr 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p:cNvSpPr txBox="1">
            <a:spLocks/>
          </p:cNvSpPr>
          <p:nvPr/>
        </p:nvSpPr>
        <p:spPr bwMode="auto">
          <a:xfrm>
            <a:off x="457200" y="1600200"/>
            <a:ext cx="8229600" cy="5181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171700" lvl="4" indent="-342900" eaLnBrk="0" hangingPunct="0">
              <a:spcBef>
                <a:spcPts val="600"/>
              </a:spcBef>
              <a:buFont typeface="Arial" charset="0"/>
              <a:buChar char="•"/>
            </a:pPr>
            <a:r>
              <a:rPr kumimoji="0" lang="en-US" sz="1400" b="0" i="0" u="none" strike="noStrike" kern="1200" cap="none" spc="0" normalizeH="0" baseline="0" noProof="0" dirty="0" smtClean="0">
                <a:ln>
                  <a:noFill/>
                </a:ln>
                <a:solidFill>
                  <a:srgbClr val="262626"/>
                </a:solidFill>
                <a:effectLst/>
                <a:uLnTx/>
                <a:uFillTx/>
                <a:latin typeface="+mj-lt"/>
                <a:ea typeface="+mn-ea"/>
                <a:cs typeface="+mn-cs"/>
              </a:rPr>
              <a:t>Professor Walton joined Goizueta Business School in the Fall of 1996. After receiving his Ph.D. in 1993 from the University of North Carolina at Chapel Hill, Steve served on the faculties of North Carolina A&amp;T State University and Baylor University. </a:t>
            </a:r>
          </a:p>
          <a:p>
            <a:pPr marL="2171700" lvl="4" indent="-342900" eaLnBrk="0" hangingPunct="0">
              <a:spcBef>
                <a:spcPts val="600"/>
              </a:spcBef>
              <a:buFont typeface="Arial" charset="0"/>
              <a:buChar char="•"/>
            </a:pPr>
            <a:r>
              <a:rPr kumimoji="0" lang="en-US" sz="1400" b="0" i="0" u="none" strike="noStrike" kern="1200" cap="none" spc="0" normalizeH="0" baseline="0" noProof="0" dirty="0" smtClean="0">
                <a:ln>
                  <a:noFill/>
                </a:ln>
                <a:solidFill>
                  <a:srgbClr val="262626"/>
                </a:solidFill>
                <a:effectLst/>
                <a:uLnTx/>
                <a:uFillTx/>
                <a:latin typeface="+mj-lt"/>
                <a:ea typeface="+mn-ea"/>
                <a:cs typeface="+mn-cs"/>
              </a:rPr>
              <a:t>Steve's has achieved 6 teaching awards, including The Emory Williams Distinguished Teaching Award, a university-wide honor, and the Adler Prize for Excellence in Teaching. </a:t>
            </a:r>
          </a:p>
          <a:p>
            <a:pPr marL="2171700" lvl="4" indent="-342900" eaLnBrk="0" hangingPunct="0">
              <a:spcBef>
                <a:spcPts val="600"/>
              </a:spcBef>
              <a:buFont typeface="Arial" charset="0"/>
              <a:buChar char="•"/>
            </a:pPr>
            <a:r>
              <a:rPr kumimoji="0" lang="en-US" sz="1400" b="0" i="0" u="none" strike="noStrike" kern="1200" cap="none" spc="0" normalizeH="0" baseline="0" noProof="0" dirty="0" smtClean="0">
                <a:ln>
                  <a:noFill/>
                </a:ln>
                <a:solidFill>
                  <a:srgbClr val="262626"/>
                </a:solidFill>
                <a:effectLst/>
                <a:uLnTx/>
                <a:uFillTx/>
                <a:latin typeface="+mj-lt"/>
                <a:ea typeface="+mn-ea"/>
                <a:cs typeface="+mn-cs"/>
              </a:rPr>
              <a:t>Before coming to Emory, Steve also worked for IBM.</a:t>
            </a:r>
          </a:p>
          <a:p>
            <a:pPr marL="342900" marR="0" lvl="0" indent="-342900" algn="l" defTabSz="914400" rtl="0" eaLnBrk="0" fontAlgn="base" latinLnBrk="0" hangingPunct="0">
              <a:spcBef>
                <a:spcPts val="600"/>
              </a:spcBef>
              <a:spcAft>
                <a:spcPct val="0"/>
              </a:spcAft>
              <a:buClrTx/>
              <a:buSzTx/>
              <a:buFont typeface="Arial" charset="0"/>
              <a:buChar char="•"/>
              <a:tabLst/>
              <a:defRPr/>
            </a:pPr>
            <a:r>
              <a:rPr kumimoji="0" lang="en-US" sz="1400" b="0" i="0" u="none" strike="noStrike" kern="1200" cap="none" spc="0" normalizeH="0" baseline="0" noProof="0" dirty="0" smtClean="0">
                <a:ln>
                  <a:noFill/>
                </a:ln>
                <a:solidFill>
                  <a:srgbClr val="262626"/>
                </a:solidFill>
                <a:effectLst/>
                <a:uLnTx/>
                <a:uFillTx/>
                <a:latin typeface="+mj-lt"/>
                <a:ea typeface="+mn-ea"/>
                <a:cs typeface="+mn-cs"/>
              </a:rPr>
              <a:t>Steve's current research interests include uses of electronic commerce technologies for environmental and supply chain management, environmental impacts of supply chain management and applications of qualitative research methods. </a:t>
            </a:r>
          </a:p>
          <a:p>
            <a:pPr marL="342900" marR="0" lvl="0" indent="-342900" algn="l" defTabSz="914400" rtl="0" eaLnBrk="0" fontAlgn="base" latinLnBrk="0" hangingPunct="0">
              <a:spcBef>
                <a:spcPts val="600"/>
              </a:spcBef>
              <a:spcAft>
                <a:spcPct val="0"/>
              </a:spcAft>
              <a:buClrTx/>
              <a:buSzTx/>
              <a:buFont typeface="Arial" charset="0"/>
              <a:buChar char="•"/>
              <a:tabLst/>
              <a:defRPr/>
            </a:pPr>
            <a:r>
              <a:rPr kumimoji="0" lang="en-US" sz="1400" b="0" i="0" u="none" strike="noStrike" kern="1200" cap="none" spc="0" normalizeH="0" baseline="0" noProof="0" dirty="0" smtClean="0">
                <a:ln>
                  <a:noFill/>
                </a:ln>
                <a:solidFill>
                  <a:srgbClr val="262626"/>
                </a:solidFill>
                <a:effectLst/>
                <a:uLnTx/>
                <a:uFillTx/>
                <a:latin typeface="+mj-lt"/>
                <a:ea typeface="+mn-ea"/>
                <a:cs typeface="+mn-cs"/>
              </a:rPr>
              <a:t>Steve has published in Journal of Operations Management, European Journal of Operational Research, International Journal of Operations and Production Management, International Journal of Purchasing and Materials Management and the Proceedings of the Decision Sciences Institute. Professor Walton also serves as a reviewer for Decision Sciences, Journal of Operations Management, the Journal of Supply Chain Management and Organization Science.</a:t>
            </a:r>
          </a:p>
          <a:p>
            <a:pPr marL="342900" indent="-342900" eaLnBrk="0" hangingPunct="0">
              <a:spcBef>
                <a:spcPts val="600"/>
              </a:spcBef>
            </a:pPr>
            <a:r>
              <a:rPr lang="en-US" sz="1400" b="1" dirty="0" smtClean="0">
                <a:latin typeface="+mn-lt"/>
              </a:rPr>
              <a:t>Selected Consulting Clients</a:t>
            </a:r>
          </a:p>
          <a:p>
            <a:pPr marL="342900" lvl="0" indent="-342900" eaLnBrk="0" hangingPunct="0">
              <a:spcBef>
                <a:spcPts val="600"/>
              </a:spcBef>
              <a:buFont typeface="Arial" charset="0"/>
              <a:buChar char="•"/>
            </a:pPr>
            <a:r>
              <a:rPr kumimoji="0" lang="en-US" sz="1400" b="0" i="0" u="none" strike="noStrike" kern="1200" cap="none" spc="0" normalizeH="0" baseline="0" noProof="0" dirty="0" smtClean="0">
                <a:ln>
                  <a:noFill/>
                </a:ln>
                <a:solidFill>
                  <a:srgbClr val="262626"/>
                </a:solidFill>
                <a:effectLst/>
                <a:uLnTx/>
                <a:uFillTx/>
                <a:latin typeface="+mn-lt"/>
                <a:ea typeface="+mn-ea"/>
                <a:cs typeface="+mn-cs"/>
              </a:rPr>
              <a:t>The Home Depot, Delta Air Lines, </a:t>
            </a:r>
            <a:r>
              <a:rPr lang="en-US" sz="1400" dirty="0" smtClean="0">
                <a:solidFill>
                  <a:srgbClr val="262626"/>
                </a:solidFill>
                <a:latin typeface="+mn-lt"/>
              </a:rPr>
              <a:t>Siemens, Synovus, McKesson, Kurt Salmon Associates</a:t>
            </a:r>
            <a:endParaRPr kumimoji="0" lang="en-US" sz="1400" b="0" i="0" u="none" strike="noStrike" kern="1200" cap="none" spc="0" normalizeH="0" baseline="0" noProof="0" dirty="0" smtClean="0">
              <a:ln>
                <a:noFill/>
              </a:ln>
              <a:solidFill>
                <a:srgbClr val="262626"/>
              </a:solidFill>
              <a:effectLst/>
              <a:uLnTx/>
              <a:uFillTx/>
              <a:latin typeface="+mn-lt"/>
              <a:ea typeface="+mn-ea"/>
              <a:cs typeface="+mn-cs"/>
            </a:endParaRPr>
          </a:p>
          <a:p>
            <a:pPr marL="342900" marR="0" lvl="0" indent="-342900" algn="l" defTabSz="914400" rtl="0" eaLnBrk="0" fontAlgn="base" latinLnBrk="0" hangingPunct="0">
              <a:spcBef>
                <a:spcPts val="600"/>
              </a:spcBef>
              <a:spcAft>
                <a:spcPct val="0"/>
              </a:spcAft>
              <a:buClrTx/>
              <a:buSzTx/>
              <a:buFont typeface="Arial" charset="0"/>
              <a:buChar char="•"/>
              <a:tabLst/>
              <a:defRPr/>
            </a:pPr>
            <a:r>
              <a:rPr kumimoji="0" lang="en-US" sz="1400" b="0" i="0" u="none" strike="noStrike" kern="1200" cap="none" spc="0" normalizeH="0" baseline="0" noProof="0" dirty="0" smtClean="0">
                <a:ln>
                  <a:noFill/>
                </a:ln>
                <a:solidFill>
                  <a:srgbClr val="262626"/>
                </a:solidFill>
                <a:effectLst/>
                <a:uLnTx/>
                <a:uFillTx/>
                <a:latin typeface="+mn-lt"/>
                <a:ea typeface="+mn-ea"/>
                <a:cs typeface="+mn-cs"/>
              </a:rPr>
              <a:t>The Arthur M. Blank Family Office, </a:t>
            </a:r>
            <a:r>
              <a:rPr kumimoji="0" lang="en-US" sz="1400" b="0" i="0" u="none" strike="noStrike" kern="1200" cap="none" spc="0" normalizeH="0" noProof="0" dirty="0" smtClean="0">
                <a:ln>
                  <a:noFill/>
                </a:ln>
                <a:solidFill>
                  <a:srgbClr val="262626"/>
                </a:solidFill>
                <a:effectLst/>
                <a:uLnTx/>
                <a:uFillTx/>
                <a:latin typeface="+mn-lt"/>
                <a:ea typeface="+mn-ea"/>
                <a:cs typeface="+mn-cs"/>
              </a:rPr>
              <a:t>Crawford Long Hospital</a:t>
            </a:r>
            <a:endParaRPr kumimoji="0" lang="en-US" sz="1400" b="0" i="0" u="none" strike="noStrike" kern="1200" cap="none" spc="0" normalizeH="0" baseline="0" noProof="0" dirty="0" smtClean="0">
              <a:ln>
                <a:noFill/>
              </a:ln>
              <a:solidFill>
                <a:srgbClr val="262626"/>
              </a:solidFill>
              <a:effectLst/>
              <a:uLnTx/>
              <a:uFillTx/>
              <a:latin typeface="+mn-lt"/>
              <a:ea typeface="+mn-ea"/>
              <a:cs typeface="+mn-cs"/>
            </a:endParaRPr>
          </a:p>
          <a:p>
            <a:pPr marL="342900" lvl="0" indent="-342900" eaLnBrk="0" hangingPunct="0">
              <a:spcBef>
                <a:spcPts val="600"/>
              </a:spcBef>
              <a:buFont typeface="Arial" charset="0"/>
              <a:buChar char="•"/>
            </a:pPr>
            <a:r>
              <a:rPr kumimoji="0" lang="en-US" sz="1400" b="0" i="0" u="none" strike="noStrike" kern="1200" cap="none" spc="0" normalizeH="0" baseline="0" noProof="0" dirty="0" smtClean="0">
                <a:ln>
                  <a:noFill/>
                </a:ln>
                <a:solidFill>
                  <a:srgbClr val="262626"/>
                </a:solidFill>
                <a:effectLst/>
                <a:uLnTx/>
                <a:uFillTx/>
                <a:latin typeface="+mn-lt"/>
                <a:ea typeface="+mn-ea"/>
                <a:cs typeface="+mn-cs"/>
              </a:rPr>
              <a:t>Great American Insurance Company, Atlanta Casualty</a:t>
            </a:r>
            <a:r>
              <a:rPr kumimoji="0" lang="en-US" sz="1400" b="0" i="0" u="none" strike="noStrike" kern="1200" cap="none" spc="0" normalizeH="0" noProof="0" dirty="0" smtClean="0">
                <a:ln>
                  <a:noFill/>
                </a:ln>
                <a:solidFill>
                  <a:srgbClr val="262626"/>
                </a:solidFill>
                <a:effectLst/>
                <a:uLnTx/>
                <a:uFillTx/>
                <a:latin typeface="+mn-lt"/>
                <a:ea typeface="+mn-ea"/>
                <a:cs typeface="+mn-cs"/>
              </a:rPr>
              <a:t> Company, </a:t>
            </a:r>
            <a:r>
              <a:rPr lang="en-US" sz="1400" dirty="0" smtClean="0">
                <a:solidFill>
                  <a:srgbClr val="262626"/>
                </a:solidFill>
                <a:latin typeface="+mn-lt"/>
              </a:rPr>
              <a:t>Crawford &amp; Company</a:t>
            </a:r>
            <a:endParaRPr kumimoji="0" lang="en-US" sz="1400" b="0" i="0" u="none" strike="noStrike" kern="1200" cap="none" spc="0" normalizeH="0" baseline="0" noProof="0" dirty="0" smtClean="0">
              <a:ln>
                <a:noFill/>
              </a:ln>
              <a:solidFill>
                <a:srgbClr val="262626"/>
              </a:solidFill>
              <a:effectLst/>
              <a:uLnTx/>
              <a:uFillTx/>
              <a:latin typeface="+mn-lt"/>
              <a:ea typeface="+mn-ea"/>
              <a:cs typeface="+mn-cs"/>
            </a:endParaRPr>
          </a:p>
          <a:p>
            <a:pPr marL="342900" marR="0" lvl="0" indent="-342900" algn="l" defTabSz="914400" rtl="0" eaLnBrk="0" fontAlgn="base" latinLnBrk="0" hangingPunct="0">
              <a:spcBef>
                <a:spcPts val="600"/>
              </a:spcBef>
              <a:spcAft>
                <a:spcPct val="0"/>
              </a:spcAft>
              <a:buClrTx/>
              <a:buSzTx/>
              <a:buFont typeface="Arial" charset="0"/>
              <a:buChar char="•"/>
              <a:tabLst/>
              <a:defRPr/>
            </a:pPr>
            <a:endParaRPr kumimoji="0" lang="en-US" sz="1400" b="0" i="0" u="none" strike="noStrike" kern="1200" cap="none" spc="0" normalizeH="0" baseline="0" noProof="0" dirty="0">
              <a:ln>
                <a:noFill/>
              </a:ln>
              <a:solidFill>
                <a:srgbClr val="262626"/>
              </a:solidFill>
              <a:effectLst/>
              <a:uLnTx/>
              <a:uFillTx/>
              <a:latin typeface="+mn-lt"/>
              <a:ea typeface="+mn-ea"/>
              <a:cs typeface="+mn-cs"/>
            </a:endParaRPr>
          </a:p>
        </p:txBody>
      </p:sp>
      <p:sp>
        <p:nvSpPr>
          <p:cNvPr id="2" name="Title 1"/>
          <p:cNvSpPr>
            <a:spLocks noGrp="1"/>
          </p:cNvSpPr>
          <p:nvPr>
            <p:ph type="title"/>
          </p:nvPr>
        </p:nvSpPr>
        <p:spPr>
          <a:xfrm>
            <a:off x="381000" y="1219200"/>
            <a:ext cx="5943600" cy="457200"/>
          </a:xfrm>
        </p:spPr>
        <p:txBody>
          <a:bodyPr/>
          <a:lstStyle/>
          <a:p>
            <a:r>
              <a:rPr lang="en-US" sz="1800" b="1" dirty="0" smtClean="0"/>
              <a:t>Steve Walton, PhD: </a:t>
            </a:r>
            <a:r>
              <a:rPr lang="en-US" sz="1800" dirty="0" smtClean="0"/>
              <a:t>Operations Management</a:t>
            </a:r>
            <a:endParaRPr lang="en-US" sz="1800" dirty="0"/>
          </a:p>
        </p:txBody>
      </p:sp>
      <p:sp>
        <p:nvSpPr>
          <p:cNvPr id="8" name="Title 1"/>
          <p:cNvSpPr txBox="1">
            <a:spLocks/>
          </p:cNvSpPr>
          <p:nvPr/>
        </p:nvSpPr>
        <p:spPr bwMode="auto">
          <a:xfrm>
            <a:off x="457200" y="457200"/>
            <a:ext cx="7239000" cy="76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800" i="0" u="none" strike="noStrike" kern="1200" cap="none" spc="0" normalizeH="0" baseline="0" noProof="0" dirty="0" smtClean="0">
                <a:ln>
                  <a:noFill/>
                </a:ln>
                <a:solidFill>
                  <a:srgbClr val="009D57"/>
                </a:solidFill>
                <a:effectLst/>
                <a:uLnTx/>
                <a:uFillTx/>
                <a:latin typeface="+mj-lt"/>
                <a:ea typeface="+mj-ea"/>
                <a:cs typeface="+mj-cs"/>
              </a:rPr>
              <a:t>Workshop</a:t>
            </a:r>
            <a:r>
              <a:rPr kumimoji="0" lang="en-US" sz="2800" i="0" u="none" strike="noStrike" kern="1200" cap="none" spc="0" normalizeH="0" noProof="0" dirty="0" smtClean="0">
                <a:ln>
                  <a:noFill/>
                </a:ln>
                <a:solidFill>
                  <a:srgbClr val="009D57"/>
                </a:solidFill>
                <a:effectLst/>
                <a:uLnTx/>
                <a:uFillTx/>
                <a:latin typeface="+mj-lt"/>
                <a:ea typeface="+mj-ea"/>
                <a:cs typeface="+mj-cs"/>
              </a:rPr>
              <a:t> 2 Facilitators: Lead Your Business</a:t>
            </a:r>
            <a:endParaRPr kumimoji="0" lang="en-US" sz="2800" i="0" u="none" strike="noStrike" kern="1200" cap="none" spc="0" normalizeH="0" baseline="0" noProof="0" dirty="0">
              <a:ln>
                <a:noFill/>
              </a:ln>
              <a:solidFill>
                <a:srgbClr val="009D57"/>
              </a:solidFill>
              <a:effectLst/>
              <a:uLnTx/>
              <a:uFillTx/>
              <a:latin typeface="+mj-lt"/>
              <a:ea typeface="+mj-ea"/>
              <a:cs typeface="+mj-cs"/>
            </a:endParaRPr>
          </a:p>
        </p:txBody>
      </p:sp>
      <p:pic>
        <p:nvPicPr>
          <p:cNvPr id="9" name="Picture 2" descr="Photo of Goizueta Business School - Steve Walton"/>
          <p:cNvPicPr>
            <a:picLocks noChangeAspect="1" noChangeArrowheads="1"/>
          </p:cNvPicPr>
          <p:nvPr/>
        </p:nvPicPr>
        <p:blipFill>
          <a:blip r:embed="rId2" cstate="print"/>
          <a:srcRect/>
          <a:stretch>
            <a:fillRect/>
          </a:stretch>
        </p:blipFill>
        <p:spPr bwMode="auto">
          <a:xfrm>
            <a:off x="762000" y="1676400"/>
            <a:ext cx="1484985" cy="1600200"/>
          </a:xfrm>
          <a:prstGeom prst="rect">
            <a:avLst/>
          </a:prstGeom>
          <a:noFill/>
        </p:spPr>
      </p:pic>
      <p:sp>
        <p:nvSpPr>
          <p:cNvPr id="10" name="Slide Number Placeholder 9"/>
          <p:cNvSpPr>
            <a:spLocks noGrp="1"/>
          </p:cNvSpPr>
          <p:nvPr>
            <p:ph type="sldNum" sz="quarter" idx="10"/>
          </p:nvPr>
        </p:nvSpPr>
        <p:spPr/>
        <p:txBody>
          <a:bodyPr/>
          <a:lstStyle/>
          <a:p>
            <a:pPr>
              <a:defRPr/>
            </a:pPr>
            <a:fld id="{01D945C9-0277-4107-B589-EC55ECD240BC}" type="slidenum">
              <a:rPr lang="en-US" smtClean="0"/>
              <a:pPr>
                <a:defRPr/>
              </a:pPr>
              <a:t>39</a:t>
            </a:fld>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2"/>
          <p:cNvSpPr>
            <a:spLocks noGrp="1"/>
          </p:cNvSpPr>
          <p:nvPr>
            <p:ph idx="1"/>
          </p:nvPr>
        </p:nvSpPr>
        <p:spPr>
          <a:xfrm>
            <a:off x="533400" y="1638300"/>
            <a:ext cx="8229600" cy="5029200"/>
          </a:xfrm>
        </p:spPr>
        <p:txBody>
          <a:bodyPr/>
          <a:lstStyle/>
          <a:p>
            <a:pPr lvl="3">
              <a:spcBef>
                <a:spcPts val="1200"/>
              </a:spcBef>
              <a:buFont typeface="Arial" pitchFamily="34" charset="0"/>
              <a:buChar char="•"/>
              <a:defRPr/>
            </a:pPr>
            <a:r>
              <a:rPr lang="en-US" sz="1400" dirty="0" smtClean="0">
                <a:latin typeface="+mn-lt"/>
              </a:rPr>
              <a:t>Professor in the Practice of Organization and Management at the Goizueta Business School. Michael joined the Goizueta Business School faculty in 2000 after  completing his Ph.D. in Organization Behavior and Sociology in the Kellogg Graduate  School of Management at Northwestern University. </a:t>
            </a:r>
          </a:p>
          <a:p>
            <a:pPr lvl="3">
              <a:spcBef>
                <a:spcPts val="1200"/>
              </a:spcBef>
              <a:buFont typeface="Arial" pitchFamily="34" charset="0"/>
              <a:buChar char="•"/>
              <a:defRPr/>
            </a:pPr>
            <a:r>
              <a:rPr lang="en-US" sz="1400" dirty="0" smtClean="0">
                <a:latin typeface="+mn-lt"/>
              </a:rPr>
              <a:t>For the past several years Michael has worked extensively with Emory Executive Education in both faculty member and Faculty Director Roles. Michael’s areas of specialty include organization theory, leadership development, personal development (360 and Birkman) executive coaching, negotiations and conflict resolution, qualitative aspects of critical thinking and decision making, and leading teams.</a:t>
            </a:r>
          </a:p>
          <a:p>
            <a:pPr>
              <a:spcBef>
                <a:spcPts val="1200"/>
              </a:spcBef>
              <a:defRPr/>
            </a:pPr>
            <a:r>
              <a:rPr lang="en-US" sz="1400" dirty="0" smtClean="0">
                <a:latin typeface="+mn-lt"/>
              </a:rPr>
              <a:t>His most recent research investigates how social networks heighten entrepreneurial  access to venture capital money, and how management of social capital affects future funding and ultimate economic profits. Other projects have been published in outlets including Research in the Sociology of Organizations, American Behavioral Scientist, Negotiation Journal, and The Financial Times. </a:t>
            </a:r>
          </a:p>
          <a:p>
            <a:pPr>
              <a:spcBef>
                <a:spcPts val="1200"/>
              </a:spcBef>
              <a:buNone/>
              <a:defRPr/>
            </a:pPr>
            <a:r>
              <a:rPr lang="en-US" sz="1400" dirty="0" smtClean="0">
                <a:latin typeface="+mn-lt"/>
              </a:rPr>
              <a:t> </a:t>
            </a:r>
            <a:r>
              <a:rPr lang="en-US" sz="1400" b="1" dirty="0" smtClean="0"/>
              <a:t>Selected Consulting Clients: </a:t>
            </a:r>
          </a:p>
          <a:p>
            <a:pPr>
              <a:spcBef>
                <a:spcPts val="1200"/>
              </a:spcBef>
              <a:defRPr/>
            </a:pPr>
            <a:r>
              <a:rPr lang="en-US" sz="1400" dirty="0" smtClean="0"/>
              <a:t>Microsoft, Delta Airlines, Coca-Cola Enterprises, Bayer Pharmaceuticals, Hanson Brick, Bard, Alston &amp; Bird, Kilpatrick Stockton, Newell Rubbermaid, First Data Corporation, and MarketSource.</a:t>
            </a:r>
          </a:p>
          <a:p>
            <a:pPr>
              <a:spcBef>
                <a:spcPts val="1200"/>
              </a:spcBef>
            </a:pPr>
            <a:endParaRPr lang="en-US" sz="1400" dirty="0">
              <a:latin typeface="+mn-lt"/>
            </a:endParaRPr>
          </a:p>
        </p:txBody>
      </p:sp>
      <p:sp>
        <p:nvSpPr>
          <p:cNvPr id="2" name="Title 1"/>
          <p:cNvSpPr>
            <a:spLocks noGrp="1"/>
          </p:cNvSpPr>
          <p:nvPr>
            <p:ph type="title"/>
          </p:nvPr>
        </p:nvSpPr>
        <p:spPr>
          <a:xfrm>
            <a:off x="457200" y="1181100"/>
            <a:ext cx="5943600" cy="457200"/>
          </a:xfrm>
        </p:spPr>
        <p:txBody>
          <a:bodyPr/>
          <a:lstStyle/>
          <a:p>
            <a:r>
              <a:rPr lang="en-US" sz="1800" b="1" dirty="0" smtClean="0"/>
              <a:t>Michael Sacks: </a:t>
            </a:r>
            <a:r>
              <a:rPr lang="en-US" sz="1800" dirty="0" smtClean="0"/>
              <a:t>Organization and Management</a:t>
            </a:r>
            <a:endParaRPr lang="en-US" sz="1800" dirty="0"/>
          </a:p>
        </p:txBody>
      </p:sp>
      <p:sp>
        <p:nvSpPr>
          <p:cNvPr id="8" name="Title 1"/>
          <p:cNvSpPr txBox="1">
            <a:spLocks/>
          </p:cNvSpPr>
          <p:nvPr/>
        </p:nvSpPr>
        <p:spPr bwMode="auto">
          <a:xfrm>
            <a:off x="457200" y="381000"/>
            <a:ext cx="7239000" cy="76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800" i="0" u="none" strike="noStrike" kern="1200" cap="none" spc="0" normalizeH="0" baseline="0" noProof="0" dirty="0" smtClean="0">
                <a:ln>
                  <a:noFill/>
                </a:ln>
                <a:solidFill>
                  <a:srgbClr val="009D57"/>
                </a:solidFill>
                <a:effectLst/>
                <a:uLnTx/>
                <a:uFillTx/>
                <a:latin typeface="+mj-lt"/>
                <a:ea typeface="+mj-ea"/>
                <a:cs typeface="+mj-cs"/>
              </a:rPr>
              <a:t>Workshop</a:t>
            </a:r>
            <a:r>
              <a:rPr kumimoji="0" lang="en-US" sz="2800" i="0" u="none" strike="noStrike" kern="1200" cap="none" spc="0" normalizeH="0" noProof="0" dirty="0" smtClean="0">
                <a:ln>
                  <a:noFill/>
                </a:ln>
                <a:solidFill>
                  <a:srgbClr val="009D57"/>
                </a:solidFill>
                <a:effectLst/>
                <a:uLnTx/>
                <a:uFillTx/>
                <a:latin typeface="+mj-lt"/>
                <a:ea typeface="+mj-ea"/>
                <a:cs typeface="+mj-cs"/>
              </a:rPr>
              <a:t> 2 Facilitators: Lead Your Business</a:t>
            </a:r>
            <a:endParaRPr kumimoji="0" lang="en-US" sz="2800" i="0" u="none" strike="noStrike" kern="1200" cap="none" spc="0" normalizeH="0" baseline="0" noProof="0" dirty="0">
              <a:ln>
                <a:noFill/>
              </a:ln>
              <a:solidFill>
                <a:srgbClr val="009D57"/>
              </a:solidFill>
              <a:effectLst/>
              <a:uLnTx/>
              <a:uFillTx/>
              <a:latin typeface="+mj-lt"/>
              <a:ea typeface="+mj-ea"/>
              <a:cs typeface="+mj-cs"/>
            </a:endParaRPr>
          </a:p>
        </p:txBody>
      </p:sp>
      <p:pic>
        <p:nvPicPr>
          <p:cNvPr id="11" name="Picture 2"/>
          <p:cNvPicPr>
            <a:picLocks noChangeAspect="1" noChangeArrowheads="1"/>
          </p:cNvPicPr>
          <p:nvPr/>
        </p:nvPicPr>
        <p:blipFill>
          <a:blip r:embed="rId2" cstate="print"/>
          <a:srcRect/>
          <a:stretch>
            <a:fillRect/>
          </a:stretch>
        </p:blipFill>
        <p:spPr bwMode="auto">
          <a:xfrm>
            <a:off x="457200" y="1828800"/>
            <a:ext cx="1371600" cy="1478017"/>
          </a:xfrm>
          <a:prstGeom prst="rect">
            <a:avLst/>
          </a:prstGeom>
          <a:noFill/>
          <a:ln w="9525">
            <a:noFill/>
            <a:miter lim="800000"/>
            <a:headEnd/>
            <a:tailEnd/>
          </a:ln>
        </p:spPr>
      </p:pic>
      <p:sp>
        <p:nvSpPr>
          <p:cNvPr id="9" name="Slide Number Placeholder 8"/>
          <p:cNvSpPr>
            <a:spLocks noGrp="1"/>
          </p:cNvSpPr>
          <p:nvPr>
            <p:ph type="sldNum" sz="quarter" idx="10"/>
          </p:nvPr>
        </p:nvSpPr>
        <p:spPr/>
        <p:txBody>
          <a:bodyPr/>
          <a:lstStyle/>
          <a:p>
            <a:pPr>
              <a:defRPr/>
            </a:pPr>
            <a:fld id="{01D945C9-0277-4107-B589-EC55ECD240BC}" type="slidenum">
              <a:rPr lang="en-US" smtClean="0"/>
              <a:pPr>
                <a:defRPr/>
              </a:pPr>
              <a:t>40</a:t>
            </a:fld>
            <a:endParaRPr 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p:cNvSpPr txBox="1">
            <a:spLocks/>
          </p:cNvSpPr>
          <p:nvPr/>
        </p:nvSpPr>
        <p:spPr bwMode="auto">
          <a:xfrm>
            <a:off x="457200" y="1695450"/>
            <a:ext cx="8229600" cy="4876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nSpc>
                <a:spcPct val="150000"/>
              </a:lnSpc>
            </a:pPr>
            <a:r>
              <a:rPr kumimoji="0" lang="en-US" sz="1400" b="0" i="0" u="none" strike="noStrike" kern="1200" cap="none" spc="0" normalizeH="0" baseline="0" noProof="0" dirty="0" smtClean="0">
                <a:ln>
                  <a:noFill/>
                </a:ln>
                <a:solidFill>
                  <a:srgbClr val="262626"/>
                </a:solidFill>
                <a:effectLst/>
                <a:uLnTx/>
                <a:uFillTx/>
                <a:latin typeface="+mn-lt"/>
                <a:ea typeface="+mn-ea"/>
                <a:cs typeface="+mn-cs"/>
              </a:rPr>
              <a:t>		</a:t>
            </a:r>
            <a:r>
              <a:rPr lang="en-US" sz="1400" dirty="0" smtClean="0">
                <a:latin typeface="+mn-lt"/>
              </a:rPr>
              <a:t>As President of Speechworks, Joey Asher combines his skills as an attorney and 		journalist to help executives communicate a clear, simple message even if the content is 		complex. He has authored four books: Communication &amp; Selling Skills for Lawyers, Even 		a Geek Can Speak: Low-Tech Presentation Skills For High-Tech People, How to Win a 		Pitch and his newest book, 15 Minutes Including Q &amp; A. </a:t>
            </a:r>
          </a:p>
          <a:p>
            <a:pPr>
              <a:lnSpc>
                <a:spcPct val="150000"/>
              </a:lnSpc>
            </a:pPr>
            <a:r>
              <a:rPr lang="en-US" sz="1400" dirty="0" smtClean="0">
                <a:latin typeface="+mn-lt"/>
              </a:rPr>
              <a:t> </a:t>
            </a:r>
          </a:p>
          <a:p>
            <a:pPr>
              <a:lnSpc>
                <a:spcPct val="150000"/>
              </a:lnSpc>
            </a:pPr>
            <a:r>
              <a:rPr lang="en-US" sz="1400" dirty="0" smtClean="0">
                <a:latin typeface="+mn-lt"/>
              </a:rPr>
              <a:t>Prior to joining Speechworks, Joey was a lawyer at Troutman Sanders L.L.P. in Atlanta and an adjunct professor of law at Emory University School of Law. He also has seven years of experience as a newspaper reporter for the Gannett newspaper chain in Georgia and New York.</a:t>
            </a:r>
          </a:p>
          <a:p>
            <a:endParaRPr lang="en-US" sz="1400" dirty="0" smtClean="0">
              <a:latin typeface="+mn-lt"/>
            </a:endParaRPr>
          </a:p>
          <a:p>
            <a:pPr>
              <a:spcBef>
                <a:spcPts val="600"/>
              </a:spcBef>
            </a:pPr>
            <a:r>
              <a:rPr lang="en-US" sz="1400" b="1" dirty="0" smtClean="0">
                <a:latin typeface="+mn-lt"/>
              </a:rPr>
              <a:t>Selected Healthcare Clients: </a:t>
            </a:r>
          </a:p>
          <a:p>
            <a:pPr>
              <a:spcBef>
                <a:spcPts val="600"/>
              </a:spcBef>
              <a:buFont typeface="Arial" pitchFamily="34" charset="0"/>
              <a:buChar char="•"/>
            </a:pPr>
            <a:r>
              <a:rPr lang="en-US" sz="1400" b="1" dirty="0" smtClean="0">
                <a:latin typeface="+mn-lt"/>
              </a:rPr>
              <a:t>  </a:t>
            </a:r>
            <a:r>
              <a:rPr lang="en-US" sz="1400" dirty="0" smtClean="0">
                <a:latin typeface="+mn-lt"/>
              </a:rPr>
              <a:t>Blue Cross Blue Shield, Emory Healthcare, Kaiser Permanente, Merck, Wellstar Health System, United </a:t>
            </a:r>
          </a:p>
          <a:p>
            <a:pPr>
              <a:spcBef>
                <a:spcPts val="600"/>
              </a:spcBef>
            </a:pPr>
            <a:r>
              <a:rPr lang="en-US" sz="1400" dirty="0" smtClean="0">
                <a:latin typeface="+mn-lt"/>
              </a:rPr>
              <a:t>   Healthcare, Shepherd Center, The Arthritis Foundation</a:t>
            </a:r>
          </a:p>
          <a:p>
            <a:pPr>
              <a:spcBef>
                <a:spcPts val="600"/>
              </a:spcBef>
            </a:pPr>
            <a:r>
              <a:rPr lang="en-US" sz="1400" b="1" dirty="0" smtClean="0">
                <a:latin typeface="+mn-lt"/>
              </a:rPr>
              <a:t>Selected Fortune 500 Company Clients:</a:t>
            </a:r>
          </a:p>
          <a:p>
            <a:pPr>
              <a:spcBef>
                <a:spcPts val="600"/>
              </a:spcBef>
              <a:buFont typeface="Arial" pitchFamily="34" charset="0"/>
              <a:buChar char="•"/>
            </a:pPr>
            <a:r>
              <a:rPr lang="en-US" sz="1400" dirty="0" smtClean="0">
                <a:latin typeface="+mn-lt"/>
              </a:rPr>
              <a:t>  Cox Enterprises, Kimberly-Clark, Morgan Stanley, Smith Barney, Coca-Cola Company, The Home Depot, UPS,     </a:t>
            </a:r>
          </a:p>
          <a:p>
            <a:pPr>
              <a:spcBef>
                <a:spcPts val="600"/>
              </a:spcBef>
            </a:pPr>
            <a:r>
              <a:rPr lang="en-US" sz="1400" dirty="0" smtClean="0">
                <a:latin typeface="+mn-lt"/>
              </a:rPr>
              <a:t>   Time Warner/Turner Broadcasting, LexisNexis, Novelis</a:t>
            </a:r>
          </a:p>
          <a:p>
            <a:pPr>
              <a:buFont typeface="Arial" pitchFamily="34" charset="0"/>
              <a:buChar char="•"/>
            </a:pPr>
            <a:endParaRPr lang="en-US" sz="1400" dirty="0" smtClean="0"/>
          </a:p>
          <a:p>
            <a:pPr marL="2171700" lvl="4" indent="-342900" eaLnBrk="0" hangingPunct="0">
              <a:lnSpc>
                <a:spcPct val="150000"/>
              </a:lnSpc>
              <a:spcBef>
                <a:spcPts val="600"/>
              </a:spcBef>
              <a:buFont typeface="Arial" charset="0"/>
              <a:buChar char="•"/>
            </a:pPr>
            <a:endParaRPr kumimoji="0" lang="en-US" sz="1400" b="0" i="0" u="none" strike="noStrike" kern="1200" cap="none" spc="0" normalizeH="0" baseline="0" noProof="0" dirty="0">
              <a:ln>
                <a:noFill/>
              </a:ln>
              <a:solidFill>
                <a:srgbClr val="262626"/>
              </a:solidFill>
              <a:effectLst/>
              <a:uLnTx/>
              <a:uFillTx/>
              <a:latin typeface="+mn-lt"/>
              <a:ea typeface="+mn-ea"/>
              <a:cs typeface="+mn-cs"/>
            </a:endParaRPr>
          </a:p>
        </p:txBody>
      </p:sp>
      <p:sp>
        <p:nvSpPr>
          <p:cNvPr id="2" name="Title 1"/>
          <p:cNvSpPr>
            <a:spLocks noGrp="1"/>
          </p:cNvSpPr>
          <p:nvPr>
            <p:ph type="title"/>
          </p:nvPr>
        </p:nvSpPr>
        <p:spPr>
          <a:xfrm>
            <a:off x="381000" y="1219200"/>
            <a:ext cx="5943600" cy="457200"/>
          </a:xfrm>
        </p:spPr>
        <p:txBody>
          <a:bodyPr/>
          <a:lstStyle/>
          <a:p>
            <a:r>
              <a:rPr lang="en-US" sz="1800" b="1" dirty="0" smtClean="0"/>
              <a:t>Joey Asher, </a:t>
            </a:r>
            <a:r>
              <a:rPr lang="en-US" sz="1800" dirty="0" smtClean="0"/>
              <a:t>Speechworks, Inc</a:t>
            </a:r>
            <a:endParaRPr lang="en-US" sz="1800" dirty="0"/>
          </a:p>
        </p:txBody>
      </p:sp>
      <p:sp>
        <p:nvSpPr>
          <p:cNvPr id="8" name="Title 1"/>
          <p:cNvSpPr txBox="1">
            <a:spLocks/>
          </p:cNvSpPr>
          <p:nvPr/>
        </p:nvSpPr>
        <p:spPr bwMode="auto">
          <a:xfrm>
            <a:off x="457200" y="457200"/>
            <a:ext cx="7239000" cy="76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800" i="0" u="none" strike="noStrike" kern="1200" cap="none" spc="0" normalizeH="0" baseline="0" noProof="0" dirty="0" smtClean="0">
                <a:ln>
                  <a:noFill/>
                </a:ln>
                <a:solidFill>
                  <a:srgbClr val="009D57"/>
                </a:solidFill>
                <a:effectLst/>
                <a:uLnTx/>
                <a:uFillTx/>
                <a:latin typeface="+mj-lt"/>
                <a:ea typeface="+mj-ea"/>
                <a:cs typeface="+mj-cs"/>
              </a:rPr>
              <a:t>Workshop</a:t>
            </a:r>
            <a:r>
              <a:rPr kumimoji="0" lang="en-US" sz="2800" i="0" u="none" strike="noStrike" kern="1200" cap="none" spc="0" normalizeH="0" noProof="0" dirty="0" smtClean="0">
                <a:ln>
                  <a:noFill/>
                </a:ln>
                <a:solidFill>
                  <a:srgbClr val="009D57"/>
                </a:solidFill>
                <a:effectLst/>
                <a:uLnTx/>
                <a:uFillTx/>
                <a:latin typeface="+mj-lt"/>
                <a:ea typeface="+mj-ea"/>
                <a:cs typeface="+mj-cs"/>
              </a:rPr>
              <a:t> 2 Facilitators: Lead Your Business</a:t>
            </a:r>
            <a:endParaRPr kumimoji="0" lang="en-US" sz="2800" i="0" u="none" strike="noStrike" kern="1200" cap="none" spc="0" normalizeH="0" baseline="0" noProof="0" dirty="0">
              <a:ln>
                <a:noFill/>
              </a:ln>
              <a:solidFill>
                <a:srgbClr val="009D57"/>
              </a:solidFill>
              <a:effectLst/>
              <a:uLnTx/>
              <a:uFillTx/>
              <a:latin typeface="+mj-lt"/>
              <a:ea typeface="+mj-ea"/>
              <a:cs typeface="+mj-cs"/>
            </a:endParaRPr>
          </a:p>
        </p:txBody>
      </p:sp>
      <p:pic>
        <p:nvPicPr>
          <p:cNvPr id="1026" name="Picture 2" descr="Joey Asher"/>
          <p:cNvPicPr>
            <a:picLocks noChangeAspect="1" noChangeArrowheads="1"/>
          </p:cNvPicPr>
          <p:nvPr/>
        </p:nvPicPr>
        <p:blipFill>
          <a:blip r:embed="rId2" cstate="print"/>
          <a:srcRect/>
          <a:stretch>
            <a:fillRect/>
          </a:stretch>
        </p:blipFill>
        <p:spPr bwMode="auto">
          <a:xfrm>
            <a:off x="685800" y="1676400"/>
            <a:ext cx="1419225" cy="1910086"/>
          </a:xfrm>
          <a:prstGeom prst="rect">
            <a:avLst/>
          </a:prstGeom>
          <a:noFill/>
        </p:spPr>
      </p:pic>
      <p:sp>
        <p:nvSpPr>
          <p:cNvPr id="9" name="Slide Number Placeholder 8"/>
          <p:cNvSpPr>
            <a:spLocks noGrp="1"/>
          </p:cNvSpPr>
          <p:nvPr>
            <p:ph type="sldNum" sz="quarter" idx="10"/>
          </p:nvPr>
        </p:nvSpPr>
        <p:spPr/>
        <p:txBody>
          <a:bodyPr/>
          <a:lstStyle/>
          <a:p>
            <a:pPr>
              <a:defRPr/>
            </a:pPr>
            <a:fld id="{01D945C9-0277-4107-B589-EC55ECD240BC}" type="slidenum">
              <a:rPr lang="en-US" smtClean="0"/>
              <a:pPr>
                <a:defRPr/>
              </a:pPr>
              <a:t>41</a:t>
            </a:fld>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457200" y="1676400"/>
            <a:ext cx="8305800" cy="4800600"/>
          </a:xfrm>
        </p:spPr>
        <p:txBody>
          <a:bodyPr/>
          <a:lstStyle/>
          <a:p>
            <a:pPr lvl="3">
              <a:spcBef>
                <a:spcPts val="600"/>
              </a:spcBef>
              <a:buFont typeface="Arial" pitchFamily="34" charset="0"/>
              <a:buChar char="•"/>
            </a:pPr>
            <a:r>
              <a:rPr lang="en-US" sz="1400" dirty="0" smtClean="0"/>
              <a:t>Professor Gilkey holds a joint appointment at Emory University, where he serves on the faculty of the Goizueta Business School as a professor in the practice of organization and management, and the School of Medicine, where he is an associate professor of psychiatry. Rick also serves on the faculty of Duke Corporate Education.</a:t>
            </a:r>
          </a:p>
          <a:p>
            <a:pPr lvl="3">
              <a:spcBef>
                <a:spcPts val="600"/>
              </a:spcBef>
              <a:buFont typeface="Arial" pitchFamily="34" charset="0"/>
              <a:buChar char="•"/>
            </a:pPr>
            <a:r>
              <a:rPr lang="en-US" sz="1400" dirty="0" smtClean="0"/>
              <a:t>He is the recipient of the Emory’s highest teaching honor, the Emory Williams Award. </a:t>
            </a:r>
          </a:p>
          <a:p>
            <a:pPr lvl="3">
              <a:spcBef>
                <a:spcPts val="600"/>
              </a:spcBef>
              <a:buFont typeface="Arial" pitchFamily="34" charset="0"/>
              <a:buChar char="•"/>
            </a:pPr>
            <a:r>
              <a:rPr lang="en-US" sz="1400" dirty="0" smtClean="0"/>
              <a:t>Current research focuses on the use of MRI scanning technology to understand the cognitive tasks of an executive population, and how to facilitate these types of learning and thinking for sustainability.</a:t>
            </a:r>
          </a:p>
          <a:p>
            <a:pPr>
              <a:spcBef>
                <a:spcPts val="600"/>
              </a:spcBef>
            </a:pPr>
            <a:r>
              <a:rPr lang="en-US" sz="1400" dirty="0" smtClean="0"/>
              <a:t>Rick Gilkey's articles have appeared in several leading professional journals, and he has served as an editorial consultant to The New York Times and Fortune Magazine. He is also editor of "The 21st Century Healthcare Leader", and contributing author to a book on strategic corporate leadership entitled, The "Agile Organization", published by Jossey-Bass. His forthcoming book on "Executive Coaching", co-authored with Randall White, Ph.D., will be published by Aronson Press in the fall of 2002.</a:t>
            </a:r>
            <a:endParaRPr lang="en-US" sz="1400" b="1" dirty="0" smtClean="0"/>
          </a:p>
          <a:p>
            <a:pPr>
              <a:spcBef>
                <a:spcPts val="600"/>
              </a:spcBef>
              <a:buNone/>
            </a:pPr>
            <a:r>
              <a:rPr lang="en-US" sz="1400" b="1" dirty="0" smtClean="0"/>
              <a:t>Selected Consulting Clients</a:t>
            </a:r>
          </a:p>
          <a:p>
            <a:pPr>
              <a:spcBef>
                <a:spcPts val="600"/>
              </a:spcBef>
            </a:pPr>
            <a:r>
              <a:rPr lang="en-US" sz="1400" dirty="0" smtClean="0"/>
              <a:t>Coca-Cola, General Electric, IBM, Johnson &amp; Johnson, MCI, Merck </a:t>
            </a:r>
          </a:p>
          <a:p>
            <a:pPr>
              <a:spcBef>
                <a:spcPts val="600"/>
              </a:spcBef>
            </a:pPr>
            <a:r>
              <a:rPr lang="en-US" sz="1400" dirty="0" smtClean="0"/>
              <a:t>Morgan Stanley, UPS, Warner-Lambert, Zeneca and Zurich Financial </a:t>
            </a:r>
          </a:p>
          <a:p>
            <a:pPr>
              <a:spcBef>
                <a:spcPts val="600"/>
              </a:spcBef>
            </a:pPr>
            <a:r>
              <a:rPr lang="en-US" sz="1400" dirty="0" smtClean="0"/>
              <a:t>Non-Profit Organizations: CARE, CDC, and the US Department of State</a:t>
            </a:r>
          </a:p>
          <a:p>
            <a:pPr>
              <a:spcBef>
                <a:spcPts val="600"/>
              </a:spcBef>
            </a:pPr>
            <a:endParaRPr lang="en-US" sz="1400" dirty="0" smtClean="0"/>
          </a:p>
          <a:p>
            <a:pPr>
              <a:spcBef>
                <a:spcPts val="600"/>
              </a:spcBef>
            </a:pPr>
            <a:endParaRPr lang="en-US" sz="1400" dirty="0"/>
          </a:p>
        </p:txBody>
      </p:sp>
      <p:sp>
        <p:nvSpPr>
          <p:cNvPr id="2" name="Title 1"/>
          <p:cNvSpPr>
            <a:spLocks noGrp="1"/>
          </p:cNvSpPr>
          <p:nvPr>
            <p:ph type="title"/>
          </p:nvPr>
        </p:nvSpPr>
        <p:spPr>
          <a:xfrm>
            <a:off x="381000" y="1219200"/>
            <a:ext cx="4800600" cy="457200"/>
          </a:xfrm>
        </p:spPr>
        <p:txBody>
          <a:bodyPr/>
          <a:lstStyle/>
          <a:p>
            <a:r>
              <a:rPr lang="en-US" sz="1800" b="1" dirty="0" smtClean="0"/>
              <a:t>Rick Gilkey, PhD: </a:t>
            </a:r>
            <a:r>
              <a:rPr lang="en-US" sz="1800" dirty="0" smtClean="0"/>
              <a:t>Organization &amp; Management</a:t>
            </a:r>
            <a:endParaRPr lang="en-US" sz="1800" dirty="0"/>
          </a:p>
        </p:txBody>
      </p:sp>
      <p:pic>
        <p:nvPicPr>
          <p:cNvPr id="35842" name="Picture 2" descr="Photo of Goizueta Business School - Rick Gilkey"/>
          <p:cNvPicPr>
            <a:picLocks noChangeAspect="1" noChangeArrowheads="1"/>
          </p:cNvPicPr>
          <p:nvPr/>
        </p:nvPicPr>
        <p:blipFill>
          <a:blip r:embed="rId2" cstate="print"/>
          <a:srcRect/>
          <a:stretch>
            <a:fillRect/>
          </a:stretch>
        </p:blipFill>
        <p:spPr bwMode="auto">
          <a:xfrm>
            <a:off x="381000" y="1828800"/>
            <a:ext cx="1495958" cy="1612024"/>
          </a:xfrm>
          <a:prstGeom prst="rect">
            <a:avLst/>
          </a:prstGeom>
          <a:noFill/>
        </p:spPr>
      </p:pic>
      <p:sp>
        <p:nvSpPr>
          <p:cNvPr id="8" name="Title 1"/>
          <p:cNvSpPr txBox="1">
            <a:spLocks/>
          </p:cNvSpPr>
          <p:nvPr/>
        </p:nvSpPr>
        <p:spPr bwMode="auto">
          <a:xfrm>
            <a:off x="457200" y="457200"/>
            <a:ext cx="7239000" cy="76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800" i="0" u="none" strike="noStrike" kern="1200" cap="none" spc="0" normalizeH="0" baseline="0" noProof="0" dirty="0" smtClean="0">
                <a:ln>
                  <a:noFill/>
                </a:ln>
                <a:solidFill>
                  <a:srgbClr val="009D57"/>
                </a:solidFill>
                <a:effectLst/>
                <a:uLnTx/>
                <a:uFillTx/>
                <a:latin typeface="+mj-lt"/>
                <a:ea typeface="+mj-ea"/>
                <a:cs typeface="+mj-cs"/>
              </a:rPr>
              <a:t>Workshop</a:t>
            </a:r>
            <a:r>
              <a:rPr kumimoji="0" lang="en-US" sz="2800" i="0" u="none" strike="noStrike" kern="1200" cap="none" spc="0" normalizeH="0" noProof="0" dirty="0" smtClean="0">
                <a:ln>
                  <a:noFill/>
                </a:ln>
                <a:solidFill>
                  <a:srgbClr val="009D57"/>
                </a:solidFill>
                <a:effectLst/>
                <a:uLnTx/>
                <a:uFillTx/>
                <a:latin typeface="+mj-lt"/>
                <a:ea typeface="+mj-ea"/>
                <a:cs typeface="+mj-cs"/>
              </a:rPr>
              <a:t> 3 Facilitator: Lead Your Teams</a:t>
            </a:r>
            <a:endParaRPr kumimoji="0" lang="en-US" sz="2800" i="0" u="none" strike="noStrike" kern="1200" cap="none" spc="0" normalizeH="0" baseline="0" noProof="0" dirty="0">
              <a:ln>
                <a:noFill/>
              </a:ln>
              <a:solidFill>
                <a:srgbClr val="009D57"/>
              </a:solidFill>
              <a:effectLst/>
              <a:uLnTx/>
              <a:uFillTx/>
              <a:latin typeface="+mj-lt"/>
              <a:ea typeface="+mj-ea"/>
              <a:cs typeface="+mj-cs"/>
            </a:endParaRPr>
          </a:p>
        </p:txBody>
      </p:sp>
      <p:sp>
        <p:nvSpPr>
          <p:cNvPr id="10" name="Slide Number Placeholder 9"/>
          <p:cNvSpPr>
            <a:spLocks noGrp="1"/>
          </p:cNvSpPr>
          <p:nvPr>
            <p:ph type="sldNum" sz="quarter" idx="10"/>
          </p:nvPr>
        </p:nvSpPr>
        <p:spPr/>
        <p:txBody>
          <a:bodyPr/>
          <a:lstStyle/>
          <a:p>
            <a:pPr>
              <a:defRPr/>
            </a:pPr>
            <a:fld id="{01D945C9-0277-4107-B589-EC55ECD240BC}" type="slidenum">
              <a:rPr lang="en-US" smtClean="0"/>
              <a:pPr>
                <a:defRPr/>
              </a:pPr>
              <a:t>42</a:t>
            </a:fld>
            <a:endParaRPr 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dirty="0" smtClean="0"/>
              <a:t>Leader Series </a:t>
            </a:r>
            <a:endParaRPr lang="en-US" sz="3600" dirty="0"/>
          </a:p>
        </p:txBody>
      </p:sp>
      <p:sp>
        <p:nvSpPr>
          <p:cNvPr id="3" name="Subtitle 2"/>
          <p:cNvSpPr>
            <a:spLocks noGrp="1"/>
          </p:cNvSpPr>
          <p:nvPr>
            <p:ph type="subTitle" idx="1"/>
          </p:nvPr>
        </p:nvSpPr>
        <p:spPr/>
        <p:txBody>
          <a:bodyPr/>
          <a:lstStyle/>
          <a:p>
            <a:r>
              <a:rPr lang="en-US" dirty="0" smtClean="0"/>
              <a:t>External Facilitator Bio</a:t>
            </a:r>
            <a:endParaRPr lang="en-US" dirty="0"/>
          </a:p>
        </p:txBody>
      </p:sp>
      <p:sp>
        <p:nvSpPr>
          <p:cNvPr id="4" name="Slide Number Placeholder 11"/>
          <p:cNvSpPr txBox="1">
            <a:spLocks/>
          </p:cNvSpPr>
          <p:nvPr/>
        </p:nvSpPr>
        <p:spPr>
          <a:xfrm>
            <a:off x="8763000" y="6492875"/>
            <a:ext cx="381000" cy="365125"/>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01D945C9-0277-4107-B589-EC55ECD240BC}" type="slidenum">
              <a:rPr kumimoji="0" lang="en-US" sz="1200" b="0" i="0" u="none" strike="noStrike" kern="1200" cap="none" spc="0" normalizeH="0" baseline="0" noProof="0" smtClean="0">
                <a:ln>
                  <a:noFill/>
                </a:ln>
                <a:solidFill>
                  <a:schemeClr val="tx1"/>
                </a:solidFill>
                <a:effectLst/>
                <a:uLnTx/>
                <a:uFillTx/>
                <a:latin typeface="+mn-lt"/>
                <a:ea typeface="+mn-ea"/>
                <a:cs typeface="+mn-cs"/>
              </a:rPr>
              <a:pPr marL="0" marR="0" lvl="0" indent="0" algn="ctr" defTabSz="914400" rtl="0" eaLnBrk="1" fontAlgn="base" latinLnBrk="0" hangingPunct="1">
                <a:lnSpc>
                  <a:spcPct val="100000"/>
                </a:lnSpc>
                <a:spcBef>
                  <a:spcPct val="0"/>
                </a:spcBef>
                <a:spcAft>
                  <a:spcPct val="0"/>
                </a:spcAft>
                <a:buClrTx/>
                <a:buSzTx/>
                <a:buFontTx/>
                <a:buNone/>
                <a:tabLst/>
                <a:defRPr/>
              </a:pPr>
              <a:t>43</a:t>
            </a:fld>
            <a:endParaRPr kumimoji="0" lang="en-US" sz="1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sz="3000" dirty="0" smtClean="0">
                <a:latin typeface="Tw Cen MT" pitchFamily="34" charset="0"/>
              </a:rPr>
              <a:t>Leader Series Speaker: Afterburner</a:t>
            </a:r>
          </a:p>
        </p:txBody>
      </p:sp>
      <p:sp>
        <p:nvSpPr>
          <p:cNvPr id="5" name="Content Placeholder 4"/>
          <p:cNvSpPr txBox="1">
            <a:spLocks noGrp="1"/>
          </p:cNvSpPr>
          <p:nvPr>
            <p:ph idx="1"/>
          </p:nvPr>
        </p:nvSpPr>
        <p:spPr>
          <a:xfrm>
            <a:off x="457200" y="1371600"/>
            <a:ext cx="6781800" cy="5038815"/>
          </a:xfrm>
        </p:spPr>
        <p:txBody>
          <a:bodyPr wrap="square" rtlCol="0">
            <a:spAutoFit/>
          </a:bodyPr>
          <a:lstStyle/>
          <a:p>
            <a:pPr marL="233363" indent="-233363">
              <a:spcBef>
                <a:spcPts val="100"/>
              </a:spcBef>
              <a:buFont typeface="Arial" charset="0"/>
              <a:buNone/>
              <a:defRPr/>
            </a:pPr>
            <a:r>
              <a:rPr lang="en-US" sz="2000" b="1" dirty="0" smtClean="0">
                <a:solidFill>
                  <a:srgbClr val="009D57"/>
                </a:solidFill>
                <a:latin typeface="Tw Cen MT" pitchFamily="34" charset="0"/>
                <a:ea typeface="+mj-ea"/>
                <a:cs typeface="+mj-cs"/>
              </a:rPr>
              <a:t>Jim “Murph” Murphy, </a:t>
            </a:r>
            <a:r>
              <a:rPr lang="en-US" sz="2000" dirty="0" smtClean="0">
                <a:solidFill>
                  <a:srgbClr val="009D57"/>
                </a:solidFill>
                <a:latin typeface="Tw Cen MT" pitchFamily="34" charset="0"/>
                <a:ea typeface="+mj-ea"/>
                <a:cs typeface="+mj-cs"/>
              </a:rPr>
              <a:t>Founder and CEO - Afterburner</a:t>
            </a:r>
            <a:endParaRPr lang="en-US" sz="2000" b="1" dirty="0" smtClean="0">
              <a:solidFill>
                <a:srgbClr val="009D57"/>
              </a:solidFill>
              <a:latin typeface="Tw Cen MT" pitchFamily="34" charset="0"/>
              <a:ea typeface="+mj-ea"/>
              <a:cs typeface="+mj-cs"/>
            </a:endParaRPr>
          </a:p>
          <a:p>
            <a:pPr marL="233363" indent="-233363">
              <a:spcBef>
                <a:spcPts val="100"/>
              </a:spcBef>
              <a:buFont typeface="Arial" charset="0"/>
              <a:buNone/>
              <a:defRPr/>
            </a:pPr>
            <a:endParaRPr lang="en-US" sz="300" dirty="0" smtClean="0">
              <a:solidFill>
                <a:srgbClr val="009D57"/>
              </a:solidFill>
              <a:latin typeface="Tw Cen MT" pitchFamily="34" charset="0"/>
              <a:ea typeface="+mj-ea"/>
              <a:cs typeface="+mj-cs"/>
            </a:endParaRPr>
          </a:p>
          <a:p>
            <a:r>
              <a:rPr lang="en-US" sz="1200" dirty="0" smtClean="0"/>
              <a:t>James D. "Murph" Murphy, the Founder &amp; CEO of Afterburner, Inc., has a unique and powerful mix of leadership skills in both the military and business worlds. Murph joined the U.S. Air Force where he learned to fly the F-15. He logged over 1,200 hours as an instructor pilot in the F-15 and accumulated over 3,200 hours of flight time in other high-performance aircraft. As the 116th Fighter Wing's Chief of Training for the Georgia Air National Guard, Murph's job was to keep 42 combat-trained fighter pilots ready to deploy worldwide within 72 hours. </a:t>
            </a:r>
          </a:p>
          <a:p>
            <a:r>
              <a:rPr lang="en-US" sz="1200" dirty="0" smtClean="0"/>
              <a:t>Through his leadership, Afterburner landed on Inc. Magazine's "Inc. 500 List" twice. Murph has been featured in The Wall Street Journal, Business Week, Inc. Magazine, Newsweek, Meetings &amp; Conventions Magazine and has appeared on CNN, Fox News, and Bloomberg News. He was also named as one of Atlanta's top 50 entrepreneurs by Catalyst Magazine. To date, the Afterburner team of elite military professionals has led over 1 million executives, sales professionals, and business people from every industry through Afterburner's Flawless Execution Model℠, and its unique, high-energy programs.</a:t>
            </a:r>
          </a:p>
          <a:p>
            <a:r>
              <a:rPr lang="en-US" sz="1200" dirty="0" smtClean="0"/>
              <a:t>Murph and Afterburner have shared the podium with notable speakers like Bill Clinton, Condoleezza Rice, Marcus Buckingham, Colin Powell, J.W. Marriott Sr. and Terry Bradshaw. Murph serves as a panel member of the League of Extraordinary Minds with business and self-improvement gurus such as Tony Robbins and Stephen Covey. He is the author of the groundbreaking books Business Is Combat and Flawless Execution through Harper Collins publishing and has spoken at many of the world's most notable business schools to include Harvard, Wharton, Cornell, Emory, Duke and Fudan University in Shanghai, China.</a:t>
            </a:r>
            <a:endParaRPr lang="en-US" sz="1300" dirty="0" smtClean="0">
              <a:solidFill>
                <a:schemeClr val="tx1"/>
              </a:solidFill>
              <a:latin typeface="Tw Cen MT" pitchFamily="34" charset="0"/>
            </a:endParaRPr>
          </a:p>
          <a:p>
            <a:r>
              <a:rPr lang="en-US" sz="1200" dirty="0" smtClean="0"/>
              <a:t>The concepts he developed and utilized in business and the U.S. Air Force would become known as Flawless Execution®. Applying Flawless Execution's continuous cycle of planning, briefing, executing, and debriefing, he increased his new employer's sales from $5 million to $52 million per year. Realizing that all companies and organizations could benefit from these same concepts, Murph started Afterburner Incorporated in early 1996.</a:t>
            </a:r>
          </a:p>
        </p:txBody>
      </p:sp>
      <p:pic>
        <p:nvPicPr>
          <p:cNvPr id="1026" name="Picture 2" descr="Jim Murphy"/>
          <p:cNvPicPr>
            <a:picLocks noChangeAspect="1" noChangeArrowheads="1"/>
          </p:cNvPicPr>
          <p:nvPr/>
        </p:nvPicPr>
        <p:blipFill>
          <a:blip r:embed="rId2" cstate="print"/>
          <a:srcRect b="16667"/>
          <a:stretch>
            <a:fillRect/>
          </a:stretch>
        </p:blipFill>
        <p:spPr bwMode="auto">
          <a:xfrm>
            <a:off x="7467600" y="2133600"/>
            <a:ext cx="1200150" cy="1600200"/>
          </a:xfrm>
          <a:prstGeom prst="rect">
            <a:avLst/>
          </a:prstGeom>
          <a:noFill/>
        </p:spPr>
      </p:pic>
      <p:sp>
        <p:nvSpPr>
          <p:cNvPr id="8" name="Slide Number Placeholder 7"/>
          <p:cNvSpPr>
            <a:spLocks noGrp="1"/>
          </p:cNvSpPr>
          <p:nvPr>
            <p:ph type="sldNum" sz="quarter" idx="10"/>
          </p:nvPr>
        </p:nvSpPr>
        <p:spPr/>
        <p:txBody>
          <a:bodyPr/>
          <a:lstStyle/>
          <a:p>
            <a:pPr>
              <a:defRPr/>
            </a:pPr>
            <a:fld id="{01D945C9-0277-4107-B589-EC55ECD240BC}" type="slidenum">
              <a:rPr lang="en-US" smtClean="0"/>
              <a:pPr>
                <a:defRPr/>
              </a:pPr>
              <a:t>44</a:t>
            </a:fld>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dirty="0" smtClean="0"/>
              <a:t>All Manager Meeting </a:t>
            </a:r>
            <a:endParaRPr lang="en-US" sz="3600" dirty="0"/>
          </a:p>
        </p:txBody>
      </p:sp>
      <p:sp>
        <p:nvSpPr>
          <p:cNvPr id="3" name="Subtitle 2"/>
          <p:cNvSpPr>
            <a:spLocks noGrp="1"/>
          </p:cNvSpPr>
          <p:nvPr>
            <p:ph type="subTitle" idx="1"/>
          </p:nvPr>
        </p:nvSpPr>
        <p:spPr/>
        <p:txBody>
          <a:bodyPr/>
          <a:lstStyle/>
          <a:p>
            <a:r>
              <a:rPr lang="en-US" dirty="0" smtClean="0"/>
              <a:t>External Facilitator Bio</a:t>
            </a:r>
            <a:endParaRPr lang="en-US" dirty="0"/>
          </a:p>
        </p:txBody>
      </p:sp>
      <p:sp>
        <p:nvSpPr>
          <p:cNvPr id="4" name="Slide Number Placeholder 11"/>
          <p:cNvSpPr txBox="1">
            <a:spLocks/>
          </p:cNvSpPr>
          <p:nvPr/>
        </p:nvSpPr>
        <p:spPr>
          <a:xfrm>
            <a:off x="8763000" y="6492875"/>
            <a:ext cx="381000" cy="365125"/>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01D945C9-0277-4107-B589-EC55ECD240BC}" type="slidenum">
              <a:rPr kumimoji="0" lang="en-US" sz="1200" b="0" i="0" u="none" strike="noStrike" kern="1200" cap="none" spc="0" normalizeH="0" baseline="0" noProof="0" smtClean="0">
                <a:ln>
                  <a:noFill/>
                </a:ln>
                <a:solidFill>
                  <a:schemeClr val="tx1"/>
                </a:solidFill>
                <a:effectLst/>
                <a:uLnTx/>
                <a:uFillTx/>
                <a:latin typeface="+mn-lt"/>
                <a:ea typeface="+mn-ea"/>
                <a:cs typeface="+mn-cs"/>
              </a:rPr>
              <a:pPr marL="0" marR="0" lvl="0" indent="0" algn="ctr" defTabSz="914400" rtl="0" eaLnBrk="1" fontAlgn="base" latinLnBrk="0" hangingPunct="1">
                <a:lnSpc>
                  <a:spcPct val="100000"/>
                </a:lnSpc>
                <a:spcBef>
                  <a:spcPct val="0"/>
                </a:spcBef>
                <a:spcAft>
                  <a:spcPct val="0"/>
                </a:spcAft>
                <a:buClrTx/>
                <a:buSzTx/>
                <a:buFontTx/>
                <a:buNone/>
                <a:tabLst/>
                <a:defRPr/>
              </a:pPr>
              <a:t>45</a:t>
            </a:fld>
            <a:endParaRPr kumimoji="0" lang="en-US" sz="1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sz="3000" dirty="0" smtClean="0">
                <a:latin typeface="Tw Cen MT" pitchFamily="34" charset="0"/>
              </a:rPr>
              <a:t>All Manager Meeting Speaker</a:t>
            </a:r>
          </a:p>
        </p:txBody>
      </p:sp>
      <p:sp>
        <p:nvSpPr>
          <p:cNvPr id="5" name="Content Placeholder 4"/>
          <p:cNvSpPr txBox="1">
            <a:spLocks noGrp="1"/>
          </p:cNvSpPr>
          <p:nvPr>
            <p:ph idx="1"/>
          </p:nvPr>
        </p:nvSpPr>
        <p:spPr>
          <a:xfrm>
            <a:off x="457200" y="1360489"/>
            <a:ext cx="6172200" cy="5614357"/>
          </a:xfrm>
        </p:spPr>
        <p:txBody>
          <a:bodyPr wrap="square" rtlCol="0">
            <a:spAutoFit/>
          </a:bodyPr>
          <a:lstStyle/>
          <a:p>
            <a:pPr marL="233363" indent="-233363">
              <a:spcBef>
                <a:spcPts val="100"/>
              </a:spcBef>
              <a:buFont typeface="Arial" charset="0"/>
              <a:buNone/>
              <a:defRPr/>
            </a:pPr>
            <a:r>
              <a:rPr lang="en-US" sz="2000" b="1" dirty="0" smtClean="0">
                <a:solidFill>
                  <a:srgbClr val="009D57"/>
                </a:solidFill>
                <a:latin typeface="Tw Cen MT" pitchFamily="34" charset="0"/>
                <a:ea typeface="+mj-ea"/>
                <a:cs typeface="+mj-cs"/>
              </a:rPr>
              <a:t>Jay Conger</a:t>
            </a:r>
          </a:p>
          <a:p>
            <a:pPr marL="233363" indent="-233363">
              <a:spcBef>
                <a:spcPts val="100"/>
              </a:spcBef>
              <a:buFont typeface="Arial" charset="0"/>
              <a:buNone/>
              <a:defRPr/>
            </a:pPr>
            <a:endParaRPr lang="en-US" sz="1300" dirty="0" smtClean="0">
              <a:solidFill>
                <a:srgbClr val="009D57"/>
              </a:solidFill>
              <a:latin typeface="Tw Cen MT" pitchFamily="34" charset="0"/>
              <a:ea typeface="+mj-ea"/>
              <a:cs typeface="+mj-cs"/>
            </a:endParaRPr>
          </a:p>
          <a:p>
            <a:pPr marL="233363" indent="-233363">
              <a:defRPr/>
            </a:pPr>
            <a:r>
              <a:rPr lang="en-US" sz="1300" dirty="0" smtClean="0">
                <a:latin typeface="Tw Cen MT" pitchFamily="34" charset="0"/>
              </a:rPr>
              <a:t>Expert on management, leadership and leadership development.</a:t>
            </a:r>
          </a:p>
          <a:p>
            <a:pPr marL="233363" indent="-233363">
              <a:defRPr/>
            </a:pPr>
            <a:r>
              <a:rPr lang="en-US" sz="1300" dirty="0" smtClean="0">
                <a:latin typeface="Tw Cen MT" pitchFamily="34" charset="0"/>
              </a:rPr>
              <a:t>Broad foundation of knowledge and great depth of experience in executive education and leadership development. </a:t>
            </a:r>
          </a:p>
          <a:p>
            <a:pPr marL="233363" indent="-233363">
              <a:defRPr/>
            </a:pPr>
            <a:r>
              <a:rPr lang="en-US" sz="1300" dirty="0" smtClean="0">
                <a:latin typeface="Tw Cen MT" pitchFamily="34" charset="0"/>
              </a:rPr>
              <a:t>Superlative platform skills with a strong focus on bringing value to his audience. </a:t>
            </a:r>
          </a:p>
          <a:p>
            <a:pPr marL="233363" indent="-233363">
              <a:defRPr/>
            </a:pPr>
            <a:r>
              <a:rPr lang="en-US" sz="1300" dirty="0" smtClean="0">
                <a:latin typeface="Tw Cen MT" pitchFamily="34" charset="0"/>
              </a:rPr>
              <a:t>Prolific writer with 14 books including </a:t>
            </a:r>
            <a:r>
              <a:rPr lang="en-US" sz="1300" b="1" i="1" dirty="0" smtClean="0">
                <a:latin typeface="Tw Cen MT" pitchFamily="34" charset="0"/>
              </a:rPr>
              <a:t>Winning ‘Em Over </a:t>
            </a:r>
            <a:r>
              <a:rPr lang="en-US" sz="1300" dirty="0" smtClean="0">
                <a:latin typeface="Tw Cen MT" pitchFamily="34" charset="0"/>
              </a:rPr>
              <a:t>– a book about persuasion and strategic communication.</a:t>
            </a:r>
          </a:p>
          <a:p>
            <a:pPr marL="233363" indent="-233363">
              <a:defRPr/>
            </a:pPr>
            <a:endParaRPr lang="en-US" sz="1300" b="1" dirty="0" smtClean="0">
              <a:latin typeface="Tw Cen MT" pitchFamily="34" charset="0"/>
            </a:endParaRPr>
          </a:p>
          <a:p>
            <a:pPr marL="233363" indent="-233363">
              <a:buFont typeface="Arial" charset="0"/>
              <a:buNone/>
              <a:defRPr/>
            </a:pPr>
            <a:r>
              <a:rPr lang="en-US" sz="1300" b="1" dirty="0" smtClean="0">
                <a:latin typeface="Tw Cen MT" pitchFamily="34" charset="0"/>
              </a:rPr>
              <a:t>Executive Education Experience </a:t>
            </a:r>
          </a:p>
          <a:p>
            <a:pPr marL="233363" indent="-233363">
              <a:defRPr/>
            </a:pPr>
            <a:r>
              <a:rPr lang="en-US" sz="1300" dirty="0" smtClean="0">
                <a:latin typeface="Tw Cen MT" pitchFamily="34" charset="0"/>
              </a:rPr>
              <a:t>Significant experience with executive education, for which he has won several awards. </a:t>
            </a:r>
          </a:p>
          <a:p>
            <a:pPr marL="233363" indent="-233363">
              <a:defRPr/>
            </a:pPr>
            <a:r>
              <a:rPr lang="en-US" sz="1300" dirty="0" smtClean="0">
                <a:latin typeface="Tw Cen MT" pitchFamily="34" charset="0"/>
              </a:rPr>
              <a:t>Jay has consulted with a worldwide list of private corporations and nonprofit organizations. </a:t>
            </a:r>
            <a:r>
              <a:rPr lang="en-US" sz="1300" b="1" dirty="0" smtClean="0">
                <a:latin typeface="Tw Cen MT" pitchFamily="34" charset="0"/>
              </a:rPr>
              <a:t/>
            </a:r>
            <a:br>
              <a:rPr lang="en-US" sz="1300" b="1" dirty="0" smtClean="0">
                <a:latin typeface="Tw Cen MT" pitchFamily="34" charset="0"/>
              </a:rPr>
            </a:br>
            <a:endParaRPr lang="en-US" sz="1300" b="1" dirty="0" smtClean="0">
              <a:latin typeface="Tw Cen MT" pitchFamily="34" charset="0"/>
            </a:endParaRPr>
          </a:p>
          <a:p>
            <a:pPr marL="233363" indent="-233363">
              <a:buFont typeface="Arial" charset="0"/>
              <a:buNone/>
              <a:defRPr/>
            </a:pPr>
            <a:r>
              <a:rPr lang="en-US" sz="1300" b="1" dirty="0" smtClean="0">
                <a:latin typeface="Tw Cen MT" pitchFamily="34" charset="0"/>
              </a:rPr>
              <a:t>Credentials:</a:t>
            </a:r>
          </a:p>
          <a:p>
            <a:pPr marL="233363" indent="-233363">
              <a:defRPr/>
            </a:pPr>
            <a:r>
              <a:rPr lang="en-US" sz="1300" dirty="0" smtClean="0">
                <a:latin typeface="Tw Cen MT" pitchFamily="34" charset="0"/>
              </a:rPr>
              <a:t>Henry Kravis Research Professor of Leadership Studies, Claremont McKenna College </a:t>
            </a:r>
          </a:p>
          <a:p>
            <a:pPr marL="233363" indent="-233363">
              <a:defRPr/>
            </a:pPr>
            <a:r>
              <a:rPr lang="en-US" sz="1300" dirty="0" smtClean="0">
                <a:latin typeface="Tw Cen MT" pitchFamily="34" charset="0"/>
              </a:rPr>
              <a:t>Visiting Professor of Organizational Behavior, London Business School </a:t>
            </a:r>
          </a:p>
          <a:p>
            <a:pPr marL="233363" indent="-233363">
              <a:defRPr/>
            </a:pPr>
            <a:r>
              <a:rPr lang="en-US" sz="1300" dirty="0" smtClean="0">
                <a:latin typeface="Tw Cen MT" pitchFamily="34" charset="0"/>
              </a:rPr>
              <a:t>Senior Research Scientist, Center for Effective Organizations, University of Southern California </a:t>
            </a:r>
          </a:p>
          <a:p>
            <a:pPr marL="233363" indent="-233363">
              <a:defRPr/>
            </a:pPr>
            <a:r>
              <a:rPr lang="en-US" sz="1300" dirty="0" smtClean="0">
                <a:latin typeface="Tw Cen MT" pitchFamily="34" charset="0"/>
              </a:rPr>
              <a:t>Former teaching positions at Harvard Business School, INSEAD (France), and McGill University </a:t>
            </a:r>
          </a:p>
          <a:p>
            <a:pPr marL="233363" indent="-233363">
              <a:buFont typeface="Arial" charset="0"/>
              <a:buNone/>
              <a:defRPr/>
            </a:pPr>
            <a:endParaRPr lang="en-US" sz="1300" b="1" dirty="0" smtClean="0">
              <a:latin typeface="Tw Cen MT" pitchFamily="34" charset="0"/>
            </a:endParaRPr>
          </a:p>
          <a:p>
            <a:pPr marL="233363" indent="-233363">
              <a:buFont typeface="Arial" charset="0"/>
              <a:buNone/>
              <a:defRPr/>
            </a:pPr>
            <a:r>
              <a:rPr lang="en-US" sz="1300" b="1" dirty="0" smtClean="0">
                <a:latin typeface="Tw Cen MT" pitchFamily="34" charset="0"/>
              </a:rPr>
              <a:t/>
            </a:r>
            <a:br>
              <a:rPr lang="en-US" sz="1300" b="1" dirty="0" smtClean="0">
                <a:latin typeface="Tw Cen MT" pitchFamily="34" charset="0"/>
              </a:rPr>
            </a:br>
            <a:endParaRPr lang="en-US" sz="1300" dirty="0">
              <a:solidFill>
                <a:schemeClr val="tx1"/>
              </a:solidFill>
              <a:latin typeface="Tw Cen MT" pitchFamily="34" charset="0"/>
            </a:endParaRPr>
          </a:p>
        </p:txBody>
      </p:sp>
      <p:pic>
        <p:nvPicPr>
          <p:cNvPr id="14341" name="Picture 2" descr="http://www.leighbureau.com/data/speaker/JConger_full.jpg"/>
          <p:cNvPicPr>
            <a:picLocks noChangeAspect="1" noChangeArrowheads="1"/>
          </p:cNvPicPr>
          <p:nvPr/>
        </p:nvPicPr>
        <p:blipFill>
          <a:blip r:embed="rId2" cstate="print"/>
          <a:srcRect/>
          <a:stretch>
            <a:fillRect/>
          </a:stretch>
        </p:blipFill>
        <p:spPr bwMode="auto">
          <a:xfrm>
            <a:off x="6977063" y="1371600"/>
            <a:ext cx="1714500" cy="2286000"/>
          </a:xfrm>
          <a:prstGeom prst="rect">
            <a:avLst/>
          </a:prstGeom>
          <a:noFill/>
          <a:ln w="9525">
            <a:noFill/>
            <a:miter lim="800000"/>
            <a:headEnd/>
            <a:tailEnd/>
          </a:ln>
        </p:spPr>
      </p:pic>
      <p:sp>
        <p:nvSpPr>
          <p:cNvPr id="14342" name="TextBox 7"/>
          <p:cNvSpPr txBox="1">
            <a:spLocks noChangeArrowheads="1"/>
          </p:cNvSpPr>
          <p:nvPr/>
        </p:nvSpPr>
        <p:spPr bwMode="auto">
          <a:xfrm>
            <a:off x="6883400" y="3810000"/>
            <a:ext cx="2076450" cy="1600438"/>
          </a:xfrm>
          <a:prstGeom prst="rect">
            <a:avLst/>
          </a:prstGeom>
          <a:noFill/>
          <a:ln w="9525">
            <a:noFill/>
            <a:miter lim="800000"/>
            <a:headEnd/>
            <a:tailEnd/>
          </a:ln>
        </p:spPr>
        <p:txBody>
          <a:bodyPr>
            <a:spAutoFit/>
          </a:bodyPr>
          <a:lstStyle/>
          <a:p>
            <a:pPr marL="233363" indent="-233363"/>
            <a:r>
              <a:rPr lang="en-US" sz="1400" b="1" i="1" dirty="0">
                <a:latin typeface="Tw Cen MT" pitchFamily="34" charset="0"/>
              </a:rPr>
              <a:t>#5 of the world’s top ten </a:t>
            </a:r>
          </a:p>
          <a:p>
            <a:pPr marL="233363" indent="-233363"/>
            <a:r>
              <a:rPr lang="en-US" sz="1400" b="1" i="1" dirty="0">
                <a:latin typeface="Tw Cen MT" pitchFamily="34" charset="0"/>
              </a:rPr>
              <a:t>management educators </a:t>
            </a:r>
          </a:p>
          <a:p>
            <a:pPr marL="233363" indent="-233363"/>
            <a:r>
              <a:rPr lang="en-US" sz="1400" b="1" i="1" dirty="0">
                <a:latin typeface="Tw Cen MT" pitchFamily="34" charset="0"/>
              </a:rPr>
              <a:t>and the best business school </a:t>
            </a:r>
          </a:p>
          <a:p>
            <a:pPr marL="233363" indent="-233363"/>
            <a:r>
              <a:rPr lang="en-US" sz="1400" b="1" i="1" dirty="0">
                <a:latin typeface="Tw Cen MT" pitchFamily="34" charset="0"/>
              </a:rPr>
              <a:t>professor to teach </a:t>
            </a:r>
          </a:p>
          <a:p>
            <a:pPr marL="233363" indent="-233363"/>
            <a:r>
              <a:rPr lang="en-US" sz="1400" b="1" i="1" dirty="0">
                <a:latin typeface="Tw Cen MT" pitchFamily="34" charset="0"/>
              </a:rPr>
              <a:t>leadership to executives.</a:t>
            </a:r>
          </a:p>
          <a:p>
            <a:pPr marL="233363" indent="-233363"/>
            <a:r>
              <a:rPr lang="en-US" sz="1400" b="1" i="1" dirty="0">
                <a:latin typeface="Tw Cen MT" pitchFamily="34" charset="0"/>
              </a:rPr>
              <a:t>               — </a:t>
            </a:r>
            <a:r>
              <a:rPr lang="en-US" sz="1400" b="1" i="1" dirty="0" smtClean="0">
                <a:latin typeface="Tw Cen MT" pitchFamily="34" charset="0"/>
              </a:rPr>
              <a:t>Business week</a:t>
            </a:r>
            <a:endParaRPr lang="en-US" sz="1400" dirty="0">
              <a:latin typeface="Tw Cen MT" pitchFamily="34" charset="0"/>
            </a:endParaRPr>
          </a:p>
        </p:txBody>
      </p:sp>
      <p:sp>
        <p:nvSpPr>
          <p:cNvPr id="7" name="Slide Number Placeholder 6"/>
          <p:cNvSpPr>
            <a:spLocks noGrp="1"/>
          </p:cNvSpPr>
          <p:nvPr>
            <p:ph type="sldNum" sz="quarter" idx="10"/>
          </p:nvPr>
        </p:nvSpPr>
        <p:spPr/>
        <p:txBody>
          <a:bodyPr/>
          <a:lstStyle/>
          <a:p>
            <a:pPr>
              <a:defRPr/>
            </a:pPr>
            <a:fld id="{01D945C9-0277-4107-B589-EC55ECD240BC}" type="slidenum">
              <a:rPr lang="en-US" smtClean="0"/>
              <a:pPr>
                <a:defRPr/>
              </a:pPr>
              <a:t>46</a:t>
            </a:fld>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2012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w Cen MT">
      <a:majorFont>
        <a:latin typeface="Tw Cen MT"/>
        <a:ea typeface=""/>
        <a:cs typeface=""/>
      </a:majorFont>
      <a:minorFont>
        <a:latin typeface="Tw Cen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B0FB2C6ABEC65479E8AA3347DD68E86" ma:contentTypeVersion="0" ma:contentTypeDescription="Create a new document." ma:contentTypeScope="" ma:versionID="a2d51b441e9a126f29512c348ec8f8ed">
  <xsd:schema xmlns:xsd="http://www.w3.org/2001/XMLSchema" xmlns:xs="http://www.w3.org/2001/XMLSchema" xmlns:p="http://schemas.microsoft.com/office/2006/metadata/properties" xmlns:ns2="ba5c537b-76b1-4cd5-9d4c-86b4b8c0019a" targetNamespace="http://schemas.microsoft.com/office/2006/metadata/properties" ma:root="true" ma:fieldsID="039c945749aff10dd2fa070e50eba845" ns2:_="">
    <xsd:import namespace="ba5c537b-76b1-4cd5-9d4c-86b4b8c0019a"/>
    <xsd:element name="properties">
      <xsd:complexType>
        <xsd:sequence>
          <xsd:element name="documentManagement">
            <xsd:complexType>
              <xsd:all>
                <xsd:element ref="ns2:_dlc_DocId" minOccurs="0"/>
                <xsd:element ref="ns2:_dlc_DocIdUrl" minOccurs="0"/>
                <xsd:element ref="ns2: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a5c537b-76b1-4cd5-9d4c-86b4b8c0019a"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mso-contentType ?>
<spe:Receivers xmlns:spe="http://schemas.microsoft.com/sharepoint/events"/>
</file>

<file path=customXml/itemProps1.xml><?xml version="1.0" encoding="utf-8"?>
<ds:datastoreItem xmlns:ds="http://schemas.openxmlformats.org/officeDocument/2006/customXml" ds:itemID="{7A2734BC-A3C4-46C6-8948-71C8C5B1A97B}">
  <ds:schemaRefs>
    <ds:schemaRef ds:uri="http://schemas.microsoft.com/office/2006/documentManagement/types"/>
    <ds:schemaRef ds:uri="http://purl.org/dc/elements/1.1/"/>
    <ds:schemaRef ds:uri="http://purl.org/dc/terms/"/>
    <ds:schemaRef ds:uri="http://purl.org/dc/dcmitype/"/>
    <ds:schemaRef ds:uri="http://www.w3.org/XML/1998/namespace"/>
    <ds:schemaRef ds:uri="http://schemas.microsoft.com/office/2006/metadata/properties"/>
    <ds:schemaRef ds:uri="ba5c537b-76b1-4cd5-9d4c-86b4b8c0019a"/>
    <ds:schemaRef ds:uri="http://schemas.openxmlformats.org/package/2006/metadata/core-properties"/>
    <ds:schemaRef ds:uri="http://schemas.microsoft.com/office/infopath/2007/PartnerControls"/>
  </ds:schemaRefs>
</ds:datastoreItem>
</file>

<file path=customXml/itemProps2.xml><?xml version="1.0" encoding="utf-8"?>
<ds:datastoreItem xmlns:ds="http://schemas.openxmlformats.org/officeDocument/2006/customXml" ds:itemID="{6A36295A-B945-4C82-8C6B-F853A8DC4A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a5c537b-76b1-4cd5-9d4c-86b4b8c0019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963D8ED-181A-432D-AE19-FA0D5420CDE2}">
  <ds:schemaRefs>
    <ds:schemaRef ds:uri="http://schemas.microsoft.com/sharepoint/v3/contenttype/forms"/>
  </ds:schemaRefs>
</ds:datastoreItem>
</file>

<file path=customXml/itemProps4.xml><?xml version="1.0" encoding="utf-8"?>
<ds:datastoreItem xmlns:ds="http://schemas.openxmlformats.org/officeDocument/2006/customXml" ds:itemID="{D8A9D14F-C51F-40D1-964D-79174CFB373E}">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emplate/>
  <TotalTime>6817</TotalTime>
  <Words>6902</Words>
  <Application>Microsoft Office PowerPoint</Application>
  <PresentationFormat>On-screen Show (4:3)</PresentationFormat>
  <Paragraphs>978</Paragraphs>
  <Slides>46</Slides>
  <Notes>10</Notes>
  <HiddenSlides>0</HiddenSlides>
  <MMClips>0</MMClips>
  <ScaleCrop>false</ScaleCrop>
  <HeadingPairs>
    <vt:vector size="4" baseType="variant">
      <vt:variant>
        <vt:lpstr>Theme</vt:lpstr>
      </vt:variant>
      <vt:variant>
        <vt:i4>1</vt:i4>
      </vt:variant>
      <vt:variant>
        <vt:lpstr>Slide Titles</vt:lpstr>
      </vt:variant>
      <vt:variant>
        <vt:i4>46</vt:i4>
      </vt:variant>
    </vt:vector>
  </HeadingPairs>
  <TitlesOfParts>
    <vt:vector size="47" baseType="lpstr">
      <vt:lpstr>2012 Template</vt:lpstr>
      <vt:lpstr>Children’s Leader Development Plan</vt:lpstr>
      <vt:lpstr>Previous Leadership Development Model</vt:lpstr>
      <vt:lpstr>2013 Leader Development Plan</vt:lpstr>
      <vt:lpstr>2013 Leader Development Plan Timeline</vt:lpstr>
      <vt:lpstr>Children’s Competencies lead the way</vt:lpstr>
      <vt:lpstr>Leadership Essentials</vt:lpstr>
      <vt:lpstr>Leader Essentials (New): Required Operational Training</vt:lpstr>
      <vt:lpstr>Leadership Now</vt:lpstr>
      <vt:lpstr>Leader Series (New)</vt:lpstr>
      <vt:lpstr>Leader Series: Afterburner – Flawless Execution</vt:lpstr>
      <vt:lpstr>Take Out Training (Continuing)</vt:lpstr>
      <vt:lpstr>All Manager Meeting (New)</vt:lpstr>
      <vt:lpstr>All Manager Meeting: Be Clear and Compelling</vt:lpstr>
      <vt:lpstr>Management Essentials Program (MEP)</vt:lpstr>
      <vt:lpstr>Physician Management Essentials Program (PMEP)</vt:lpstr>
      <vt:lpstr>Leadership Next</vt:lpstr>
      <vt:lpstr>Talent Sessions</vt:lpstr>
      <vt:lpstr>Talent Sessions: Critical to Top Talent Selection</vt:lpstr>
      <vt:lpstr>Children’s Talent Profile</vt:lpstr>
      <vt:lpstr>Leader Next</vt:lpstr>
      <vt:lpstr>Previous CFL Executive Experience</vt:lpstr>
      <vt:lpstr>Key criteria used to design new program</vt:lpstr>
      <vt:lpstr>Leader Next: Directors and Above (New)</vt:lpstr>
      <vt:lpstr>Program At a Glance</vt:lpstr>
      <vt:lpstr>Individual Assessment Process</vt:lpstr>
      <vt:lpstr>Workshop 1: Know the Business</vt:lpstr>
      <vt:lpstr>Workshop 2: Lead Your Business</vt:lpstr>
      <vt:lpstr>Workshop 3: Lead Your Team</vt:lpstr>
      <vt:lpstr>Time Commitment Required for Program</vt:lpstr>
      <vt:lpstr>Generation Next</vt:lpstr>
      <vt:lpstr>Generation Next: Top Talent Managers</vt:lpstr>
      <vt:lpstr>Chiefs Workshop</vt:lpstr>
      <vt:lpstr>Chiefs Workshop</vt:lpstr>
      <vt:lpstr>Appendix</vt:lpstr>
      <vt:lpstr>Leader Next</vt:lpstr>
      <vt:lpstr>Brad Killaly, PhD: Organization and Management</vt:lpstr>
      <vt:lpstr>Kathy Pearson, MD: Healthcare Management</vt:lpstr>
      <vt:lpstr>Robert Kazanjian: Organization and Management</vt:lpstr>
      <vt:lpstr>Steve Walton, PhD: Operations Management</vt:lpstr>
      <vt:lpstr>Michael Sacks: Organization and Management</vt:lpstr>
      <vt:lpstr>Joey Asher, Speechworks, Inc</vt:lpstr>
      <vt:lpstr>Rick Gilkey, PhD: Organization &amp; Management</vt:lpstr>
      <vt:lpstr>Leader Series </vt:lpstr>
      <vt:lpstr>Leader Series Speaker: Afterburner</vt:lpstr>
      <vt:lpstr>All Manager Meeting </vt:lpstr>
      <vt:lpstr>All Manager Meeting Speaker</vt:lpstr>
    </vt:vector>
  </TitlesOfParts>
  <Company>Children's Healthcare of Atlanta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Children’s Healthcare of Atlanta</dc:title>
  <dc:creator>Chris Thornton</dc:creator>
  <cp:lastModifiedBy>126445</cp:lastModifiedBy>
  <cp:revision>572</cp:revision>
  <cp:lastPrinted>2012-03-27T20:50:30Z</cp:lastPrinted>
  <dcterms:created xsi:type="dcterms:W3CDTF">2012-03-06T21:24:02Z</dcterms:created>
  <dcterms:modified xsi:type="dcterms:W3CDTF">2013-04-08T15:31:42Z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0x0101001B0FB2C6ABEC65479E8AA3347DD68E86</vt:lpwstr>
  </property>
</Properties>
</file>