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2" r:id="rId26"/>
    <p:sldId id="281" r:id="rId27"/>
    <p:sldId id="283" r:id="rId28"/>
    <p:sldId id="288" r:id="rId29"/>
    <p:sldId id="289" r:id="rId30"/>
    <p:sldId id="296" r:id="rId31"/>
    <p:sldId id="297" r:id="rId32"/>
    <p:sldId id="298" r:id="rId33"/>
    <p:sldId id="299" r:id="rId34"/>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ＭＳ Ｐゴシック" charset="-128"/>
        <a:cs typeface="+mn-cs"/>
      </a:defRPr>
    </a:lvl1pPr>
    <a:lvl2pPr marL="457200" algn="l" rtl="0" fontAlgn="base">
      <a:spcBef>
        <a:spcPct val="0"/>
      </a:spcBef>
      <a:spcAft>
        <a:spcPct val="0"/>
      </a:spcAft>
      <a:defRPr kern="1200">
        <a:solidFill>
          <a:schemeClr val="tx1"/>
        </a:solidFill>
        <a:latin typeface="Arial" charset="0"/>
        <a:ea typeface="ＭＳ Ｐゴシック" charset="-128"/>
        <a:cs typeface="+mn-cs"/>
      </a:defRPr>
    </a:lvl2pPr>
    <a:lvl3pPr marL="914400" algn="l" rtl="0" fontAlgn="base">
      <a:spcBef>
        <a:spcPct val="0"/>
      </a:spcBef>
      <a:spcAft>
        <a:spcPct val="0"/>
      </a:spcAft>
      <a:defRPr kern="1200">
        <a:solidFill>
          <a:schemeClr val="tx1"/>
        </a:solidFill>
        <a:latin typeface="Arial" charset="0"/>
        <a:ea typeface="ＭＳ Ｐゴシック" charset="-128"/>
        <a:cs typeface="+mn-cs"/>
      </a:defRPr>
    </a:lvl3pPr>
    <a:lvl4pPr marL="1371600" algn="l" rtl="0" fontAlgn="base">
      <a:spcBef>
        <a:spcPct val="0"/>
      </a:spcBef>
      <a:spcAft>
        <a:spcPct val="0"/>
      </a:spcAft>
      <a:defRPr kern="1200">
        <a:solidFill>
          <a:schemeClr val="tx1"/>
        </a:solidFill>
        <a:latin typeface="Arial" charset="0"/>
        <a:ea typeface="ＭＳ Ｐゴシック" charset="-128"/>
        <a:cs typeface="+mn-cs"/>
      </a:defRPr>
    </a:lvl4pPr>
    <a:lvl5pPr marL="1828800" algn="l" rtl="0" fontAlgn="base">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000" autoAdjust="0"/>
  </p:normalViewPr>
  <p:slideViewPr>
    <p:cSldViewPr>
      <p:cViewPr varScale="1">
        <p:scale>
          <a:sx n="62" d="100"/>
          <a:sy n="62" d="100"/>
        </p:scale>
        <p:origin x="-1290"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ea typeface="+mn-ea"/>
              </a:defRPr>
            </a:lvl1pPr>
          </a:lstStyle>
          <a:p>
            <a:pPr>
              <a:defRPr/>
            </a:pPr>
            <a:fld id="{56E7968D-224E-45F8-BD5E-2EDCE19E2619}" type="datetimeFigureOut">
              <a:rPr lang="en-US"/>
              <a:pPr>
                <a:defRPr/>
              </a:pPr>
              <a:t>06/10/2013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smtClean="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ea typeface="+mn-ea"/>
              </a:defRPr>
            </a:lvl1pPr>
          </a:lstStyle>
          <a:p>
            <a:pPr>
              <a:defRPr/>
            </a:pPr>
            <a:fld id="{00FA1D06-8BE7-4B4C-8279-C3DC7B0CC7F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22915" name="Rectangle 3"/>
          <p:cNvSpPr>
            <a:spLocks noGrp="1" noChangeArrowheads="1"/>
          </p:cNvSpPr>
          <p:nvPr>
            <p:ph type="body" idx="1"/>
          </p:nvPr>
        </p:nvSpPr>
        <p:spPr>
          <a:xfrm>
            <a:off x="934720" y="4415790"/>
            <a:ext cx="5140960" cy="4183380"/>
          </a:xfrm>
          <a:ln/>
        </p:spPr>
        <p:txBody>
          <a:bodyPr>
            <a:normAutofit lnSpcReduction="10000"/>
          </a:bodyPr>
          <a:lstStyle/>
          <a:p>
            <a:pPr eaLnBrk="1" fontAlgn="auto" hangingPunct="1">
              <a:spcBef>
                <a:spcPts val="0"/>
              </a:spcBef>
              <a:spcAft>
                <a:spcPts val="0"/>
              </a:spcAft>
              <a:defRPr/>
            </a:pPr>
            <a:r>
              <a:rPr lang="en-US" b="1" dirty="0" smtClean="0"/>
              <a:t>Timing:  2 hours and 45 min  - 3 hours.  This includes one 15 minute break.</a:t>
            </a:r>
          </a:p>
          <a:p>
            <a:pPr eaLnBrk="1" fontAlgn="auto" hangingPunct="1">
              <a:spcBef>
                <a:spcPts val="0"/>
              </a:spcBef>
              <a:spcAft>
                <a:spcPts val="0"/>
              </a:spcAft>
              <a:defRPr/>
            </a:pPr>
            <a:endParaRPr lang="en-US" b="1" dirty="0" smtClean="0"/>
          </a:p>
          <a:p>
            <a:pPr eaLnBrk="1" fontAlgn="auto" hangingPunct="1">
              <a:spcBef>
                <a:spcPts val="0"/>
              </a:spcBef>
              <a:spcAft>
                <a:spcPts val="0"/>
              </a:spcAft>
              <a:defRPr/>
            </a:pPr>
            <a:r>
              <a:rPr lang="en-US" b="1" dirty="0" smtClean="0"/>
              <a:t>Materials:</a:t>
            </a:r>
          </a:p>
          <a:p>
            <a:pPr eaLnBrk="1" fontAlgn="auto" hangingPunct="1">
              <a:spcBef>
                <a:spcPts val="0"/>
              </a:spcBef>
              <a:spcAft>
                <a:spcPts val="0"/>
              </a:spcAft>
              <a:defRPr/>
            </a:pPr>
            <a:r>
              <a:rPr lang="en-US" b="1" i="1" dirty="0" smtClean="0"/>
              <a:t>Seating </a:t>
            </a:r>
            <a:r>
              <a:rPr lang="en-US" b="1" i="1" dirty="0" err="1" smtClean="0"/>
              <a:t>placecards</a:t>
            </a:r>
            <a:r>
              <a:rPr lang="en-US" b="1" i="1" dirty="0" smtClean="0"/>
              <a:t> – Merry asked to do this.  KT provided match list</a:t>
            </a:r>
          </a:p>
          <a:p>
            <a:pPr eaLnBrk="1" fontAlgn="auto" hangingPunct="1">
              <a:spcBef>
                <a:spcPts val="0"/>
              </a:spcBef>
              <a:spcAft>
                <a:spcPts val="0"/>
              </a:spcAft>
              <a:defRPr/>
            </a:pPr>
            <a:r>
              <a:rPr lang="en-US" b="1" i="1" dirty="0" smtClean="0"/>
              <a:t>Handout – Grow Model</a:t>
            </a:r>
          </a:p>
          <a:p>
            <a:pPr eaLnBrk="1" fontAlgn="auto" hangingPunct="1">
              <a:spcBef>
                <a:spcPts val="0"/>
              </a:spcBef>
              <a:spcAft>
                <a:spcPts val="0"/>
              </a:spcAft>
              <a:defRPr/>
            </a:pPr>
            <a:r>
              <a:rPr lang="en-US" b="1" i="1" dirty="0" smtClean="0"/>
              <a:t>Mirror/Listening for concerns handouts - Shirley</a:t>
            </a:r>
          </a:p>
          <a:p>
            <a:pPr eaLnBrk="1" fontAlgn="auto" hangingPunct="1">
              <a:spcBef>
                <a:spcPts val="0"/>
              </a:spcBef>
              <a:spcAft>
                <a:spcPts val="0"/>
              </a:spcAft>
              <a:defRPr/>
            </a:pPr>
            <a:r>
              <a:rPr lang="en-US" dirty="0" smtClean="0"/>
              <a:t>Prize for icebreaker</a:t>
            </a:r>
          </a:p>
          <a:p>
            <a:pPr eaLnBrk="1" fontAlgn="auto" hangingPunct="1">
              <a:spcBef>
                <a:spcPts val="0"/>
              </a:spcBef>
              <a:spcAft>
                <a:spcPts val="0"/>
              </a:spcAft>
              <a:defRPr/>
            </a:pPr>
            <a:r>
              <a:rPr lang="en-US" dirty="0" smtClean="0"/>
              <a:t>Mentee’s checklist questionnaire they completed (in case it’s needed)</a:t>
            </a:r>
          </a:p>
          <a:p>
            <a:pPr eaLnBrk="1" fontAlgn="auto" hangingPunct="1">
              <a:spcBef>
                <a:spcPts val="0"/>
              </a:spcBef>
              <a:spcAft>
                <a:spcPts val="0"/>
              </a:spcAft>
              <a:defRPr/>
            </a:pPr>
            <a:r>
              <a:rPr lang="en-US" dirty="0" smtClean="0"/>
              <a:t>3 director-level activities handout 32</a:t>
            </a:r>
          </a:p>
          <a:p>
            <a:pPr eaLnBrk="1" fontAlgn="auto" hangingPunct="1">
              <a:spcBef>
                <a:spcPts val="0"/>
              </a:spcBef>
              <a:spcAft>
                <a:spcPts val="0"/>
              </a:spcAft>
              <a:defRPr/>
            </a:pPr>
            <a:r>
              <a:rPr lang="en-US" dirty="0" smtClean="0"/>
              <a:t>Contract to sign 20, then make copies of signed copy</a:t>
            </a:r>
          </a:p>
          <a:p>
            <a:pPr eaLnBrk="1" fontAlgn="auto" hangingPunct="1">
              <a:spcBef>
                <a:spcPts val="0"/>
              </a:spcBef>
              <a:spcAft>
                <a:spcPts val="0"/>
              </a:spcAft>
              <a:defRPr/>
            </a:pPr>
            <a:r>
              <a:rPr lang="en-US" dirty="0" smtClean="0"/>
              <a:t>Meeting guidelines job aid 50 total</a:t>
            </a:r>
          </a:p>
          <a:p>
            <a:pPr eaLnBrk="1" fontAlgn="auto" hangingPunct="1">
              <a:spcBef>
                <a:spcPts val="0"/>
              </a:spcBef>
              <a:spcAft>
                <a:spcPts val="0"/>
              </a:spcAft>
              <a:defRPr/>
            </a:pPr>
            <a:r>
              <a:rPr lang="en-US" dirty="0" smtClean="0"/>
              <a:t>Engagement handout activity 32</a:t>
            </a:r>
          </a:p>
          <a:p>
            <a:pPr eaLnBrk="1" fontAlgn="auto" hangingPunct="1">
              <a:spcBef>
                <a:spcPts val="0"/>
              </a:spcBef>
              <a:spcAft>
                <a:spcPts val="0"/>
              </a:spcAft>
              <a:defRPr/>
            </a:pPr>
            <a:r>
              <a:rPr lang="en-US" b="1" i="1" dirty="0" smtClean="0"/>
              <a:t>Handout presentation slides – Shirley will create after adding slides</a:t>
            </a:r>
          </a:p>
          <a:p>
            <a:pPr eaLnBrk="1" fontAlgn="auto" hangingPunct="1">
              <a:spcBef>
                <a:spcPts val="0"/>
              </a:spcBef>
              <a:spcAft>
                <a:spcPts val="0"/>
              </a:spcAft>
              <a:defRPr/>
            </a:pPr>
            <a:r>
              <a:rPr lang="en-US" b="1" i="1" dirty="0" smtClean="0"/>
              <a:t>Paper and pens if needed</a:t>
            </a:r>
          </a:p>
          <a:p>
            <a:pPr eaLnBrk="1" fontAlgn="auto" hangingPunct="1">
              <a:spcBef>
                <a:spcPts val="0"/>
              </a:spcBef>
              <a:spcAft>
                <a:spcPts val="0"/>
              </a:spcAft>
              <a:defRPr/>
            </a:pPr>
            <a:r>
              <a:rPr lang="en-US" dirty="0" smtClean="0"/>
              <a:t>FYI</a:t>
            </a:r>
          </a:p>
          <a:p>
            <a:pPr eaLnBrk="1" fontAlgn="auto" hangingPunct="1">
              <a:spcBef>
                <a:spcPts val="0"/>
              </a:spcBef>
              <a:spcAft>
                <a:spcPts val="0"/>
              </a:spcAft>
              <a:defRPr/>
            </a:pPr>
            <a:r>
              <a:rPr lang="en-US" dirty="0" smtClean="0"/>
              <a:t>Successful manager’s handbook</a:t>
            </a:r>
          </a:p>
          <a:p>
            <a:pPr eaLnBrk="1" fontAlgn="auto" hangingPunct="1">
              <a:spcBef>
                <a:spcPts val="0"/>
              </a:spcBef>
              <a:spcAft>
                <a:spcPts val="0"/>
              </a:spcAft>
              <a:defRPr/>
            </a:pPr>
            <a:r>
              <a:rPr lang="en-US" b="1" i="1" dirty="0" smtClean="0"/>
              <a:t>Post-its (in case needed)</a:t>
            </a:r>
          </a:p>
          <a:p>
            <a:pPr eaLnBrk="1" fontAlgn="auto" hangingPunct="1">
              <a:spcBef>
                <a:spcPts val="0"/>
              </a:spcBef>
              <a:spcAft>
                <a:spcPts val="0"/>
              </a:spcAft>
              <a:defRPr/>
            </a:pPr>
            <a:r>
              <a:rPr lang="en-US" b="1" i="1" dirty="0" smtClean="0"/>
              <a:t>Markers</a:t>
            </a:r>
          </a:p>
          <a:p>
            <a:pPr eaLnBrk="1" fontAlgn="auto" hangingPunct="1">
              <a:spcBef>
                <a:spcPts val="0"/>
              </a:spcBef>
              <a:spcAft>
                <a:spcPts val="0"/>
              </a:spcAft>
              <a:defRPr/>
            </a:pPr>
            <a:r>
              <a:rPr lang="en-US" b="1" i="1" dirty="0" smtClean="0"/>
              <a:t>Flip chart paper</a:t>
            </a:r>
          </a:p>
          <a:p>
            <a:pPr eaLnBrk="1" fontAlgn="auto" hangingPunct="1">
              <a:spcBef>
                <a:spcPts val="0"/>
              </a:spcBef>
              <a:spcAft>
                <a:spcPts val="0"/>
              </a:spcAft>
              <a:defRPr/>
            </a:pPr>
            <a:r>
              <a:rPr lang="en-US" b="1" i="1" dirty="0" smtClean="0"/>
              <a:t>Felt-tip pens (in case needed)</a:t>
            </a:r>
          </a:p>
          <a:p>
            <a:pPr eaLnBrk="1" fontAlgn="auto" hangingPunct="1">
              <a:spcBef>
                <a:spcPts val="0"/>
              </a:spcBef>
              <a:spcAft>
                <a:spcPts val="0"/>
              </a:spcAft>
              <a:defRPr/>
            </a:pPr>
            <a:endParaRPr lang="en-US" dirty="0" smtClean="0"/>
          </a:p>
          <a:p>
            <a:pPr eaLnBrk="1" fontAlgn="auto" hangingPunct="1">
              <a:spcBef>
                <a:spcPts val="0"/>
              </a:spcBef>
              <a:spcAft>
                <a:spcPts val="0"/>
              </a:spcAft>
              <a:defRPr/>
            </a:pPr>
            <a:r>
              <a:rPr lang="en-US" dirty="0" smtClean="0"/>
              <a:t>Good morning and thanks for making time to time to be here.  Let me tell you why this is time well spent…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9395"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The objectives are…</a:t>
            </a:r>
          </a:p>
          <a:p>
            <a:pPr eaLnBrk="1" hangingPunct="1">
              <a:spcBef>
                <a:spcPct val="0"/>
              </a:spcBef>
            </a:pPr>
            <a:endParaRPr lang="en-US" smtClean="0"/>
          </a:p>
          <a:p>
            <a:pPr eaLnBrk="1" hangingPunct="1">
              <a:spcBef>
                <a:spcPct val="0"/>
              </a:spcBef>
            </a:pPr>
            <a:r>
              <a:rPr lang="en-US" smtClean="0"/>
              <a:t>Let’s briefly talk about program purpose…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27011" name="Rectangle 3"/>
          <p:cNvSpPr>
            <a:spLocks noGrp="1" noChangeArrowheads="1"/>
          </p:cNvSpPr>
          <p:nvPr>
            <p:ph type="body" idx="1"/>
          </p:nvPr>
        </p:nvSpPr>
        <p:spPr>
          <a:xfrm>
            <a:off x="934720" y="4415790"/>
            <a:ext cx="5140960" cy="4183380"/>
          </a:xfrm>
          <a:ln/>
        </p:spPr>
        <p:txBody>
          <a:bodyPr>
            <a:normAutofit/>
          </a:bodyPr>
          <a:lstStyle/>
          <a:p>
            <a:pPr eaLnBrk="1" fontAlgn="auto" hangingPunct="1">
              <a:spcBef>
                <a:spcPts val="0"/>
              </a:spcBef>
              <a:spcAft>
                <a:spcPts val="0"/>
              </a:spcAft>
              <a:defRPr/>
            </a:pPr>
            <a:r>
              <a:rPr lang="en-US" dirty="0" smtClean="0"/>
              <a:t>You have seen this visual and know that it’s much easier to accomplish something new like climb a mountain for the first time if you learn about that climb from someone who has actually done it.  Your mentor obviously in a director or higher role and can help you develop so you are closer to being considered for a larger role. </a:t>
            </a:r>
          </a:p>
          <a:p>
            <a:pPr eaLnBrk="1" fontAlgn="auto" hangingPunct="1">
              <a:spcBef>
                <a:spcPts val="0"/>
              </a:spcBef>
              <a:spcAft>
                <a:spcPts val="0"/>
              </a:spcAft>
              <a:defRPr/>
            </a:pPr>
            <a:endParaRPr lang="en-US" dirty="0" smtClean="0"/>
          </a:p>
          <a:p>
            <a:pPr eaLnBrk="1" fontAlgn="auto" hangingPunct="1">
              <a:spcBef>
                <a:spcPts val="0"/>
              </a:spcBef>
              <a:spcAft>
                <a:spcPts val="0"/>
              </a:spcAft>
              <a:defRPr/>
            </a:pPr>
            <a:r>
              <a:rPr lang="en-US" dirty="0" smtClean="0"/>
              <a:t>Since you have seen this before, I would mentors to work with their mentees and guess at how a mentor can help you develop.  Brainstorm for 1 minute and let’s see who guesses the most correctly.</a:t>
            </a:r>
          </a:p>
          <a:p>
            <a:pPr eaLnBrk="1" fontAlgn="auto" hangingPunct="1">
              <a:spcBef>
                <a:spcPts val="0"/>
              </a:spcBef>
              <a:spcAft>
                <a:spcPts val="0"/>
              </a:spcAft>
              <a:defRPr/>
            </a:pPr>
            <a:endParaRPr lang="en-US" b="1" dirty="0" smtClean="0"/>
          </a:p>
          <a:p>
            <a:pPr eaLnBrk="1" fontAlgn="auto" hangingPunct="1">
              <a:spcBef>
                <a:spcPts val="0"/>
              </a:spcBef>
              <a:spcAft>
                <a:spcPts val="0"/>
              </a:spcAft>
              <a:defRPr/>
            </a:pPr>
            <a:r>
              <a:rPr lang="en-US" dirty="0" smtClean="0"/>
              <a:t>Pairs brainstorm</a:t>
            </a:r>
          </a:p>
          <a:p>
            <a:pPr eaLnBrk="1" fontAlgn="auto" hangingPunct="1">
              <a:spcBef>
                <a:spcPts val="0"/>
              </a:spcBef>
              <a:spcAft>
                <a:spcPts val="0"/>
              </a:spcAft>
              <a:defRPr/>
            </a:pPr>
            <a:endParaRPr lang="en-US" dirty="0" smtClean="0"/>
          </a:p>
          <a:p>
            <a:pPr eaLnBrk="1" fontAlgn="auto" hangingPunct="1">
              <a:spcBef>
                <a:spcPts val="0"/>
              </a:spcBef>
              <a:spcAft>
                <a:spcPts val="0"/>
              </a:spcAft>
              <a:defRPr/>
            </a:pPr>
            <a:r>
              <a:rPr lang="en-US" dirty="0" smtClean="0"/>
              <a:t>Debrief:  Here are the answers...Broaden or learn a director-level activity, learn a skill outside your existing function…</a:t>
            </a:r>
          </a:p>
          <a:p>
            <a:pPr eaLnBrk="1" fontAlgn="auto" hangingPunct="1">
              <a:spcBef>
                <a:spcPts val="0"/>
              </a:spcBef>
              <a:spcAft>
                <a:spcPts val="0"/>
              </a:spcAft>
              <a:defRPr/>
            </a:pPr>
            <a:endParaRPr lang="en-US" b="1" dirty="0" smtClean="0"/>
          </a:p>
          <a:p>
            <a:pPr eaLnBrk="1" fontAlgn="auto" hangingPunct="1">
              <a:spcBef>
                <a:spcPts val="0"/>
              </a:spcBef>
              <a:spcAft>
                <a:spcPts val="0"/>
              </a:spcAft>
              <a:defRPr/>
            </a:pPr>
            <a:r>
              <a:rPr lang="en-US" dirty="0" smtClean="0"/>
              <a:t>Ask who got the most? </a:t>
            </a:r>
          </a:p>
          <a:p>
            <a:pPr eaLnBrk="1" fontAlgn="auto" hangingPunct="1">
              <a:spcBef>
                <a:spcPts val="0"/>
              </a:spcBef>
              <a:spcAft>
                <a:spcPts val="0"/>
              </a:spcAft>
              <a:defRPr/>
            </a:pPr>
            <a:endParaRPr lang="en-US" dirty="0" smtClean="0"/>
          </a:p>
          <a:p>
            <a:pPr eaLnBrk="1" fontAlgn="auto" hangingPunct="1">
              <a:spcBef>
                <a:spcPts val="0"/>
              </a:spcBef>
              <a:spcAft>
                <a:spcPts val="0"/>
              </a:spcAft>
              <a:defRPr/>
            </a:pPr>
            <a:r>
              <a:rPr lang="en-US" dirty="0" smtClean="0"/>
              <a:t>(Award a prize)</a:t>
            </a:r>
            <a:endParaRPr lang="en-US" b="1" dirty="0" smtClean="0"/>
          </a:p>
          <a:p>
            <a:pPr eaLnBrk="1" fontAlgn="auto" hangingPunct="1">
              <a:spcBef>
                <a:spcPts val="0"/>
              </a:spcBef>
              <a:spcAft>
                <a:spcPts val="0"/>
              </a:spcAft>
              <a:defRPr/>
            </a:pPr>
            <a:endParaRPr lang="en-US" b="1" dirty="0" smtClean="0"/>
          </a:p>
          <a:p>
            <a:pPr eaLnBrk="1" fontAlgn="auto" hangingPunct="1">
              <a:spcBef>
                <a:spcPts val="0"/>
              </a:spcBef>
              <a:spcAft>
                <a:spcPts val="0"/>
              </a:spcAft>
              <a:defRPr/>
            </a:pPr>
            <a:r>
              <a:rPr lang="en-US" dirty="0" smtClean="0"/>
              <a:t>To make the mentor role even clearer, let’s talk about some role differences… </a:t>
            </a:r>
          </a:p>
          <a:p>
            <a:pPr marL="457174" lvl="1" eaLnBrk="1" fontAlgn="auto" hangingPunct="1">
              <a:spcBef>
                <a:spcPts val="0"/>
              </a:spcBef>
              <a:spcAft>
                <a:spcPts val="0"/>
              </a:spcAft>
              <a:defRPr/>
            </a:pPr>
            <a:endParaRPr lang="en-US" dirty="0" smtClean="0"/>
          </a:p>
          <a:p>
            <a:pPr eaLnBrk="1" fontAlgn="auto" hangingPunct="1">
              <a:spcBef>
                <a:spcPts val="0"/>
              </a:spcBef>
              <a:spcAft>
                <a:spcPts val="0"/>
              </a:spcAft>
              <a:defRPr/>
            </a:pPr>
            <a:r>
              <a:rPr lang="en-US" dirty="0" smtClean="0"/>
              <a:t>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1443"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To avoid confusion between the role of mentor, boss and coach I want to go over some difference</a:t>
            </a:r>
          </a:p>
          <a:p>
            <a:pPr eaLnBrk="1" hangingPunct="1">
              <a:spcBef>
                <a:spcPct val="0"/>
              </a:spcBef>
            </a:pPr>
            <a:r>
              <a:rPr lang="en-US" smtClean="0"/>
              <a:t>Review differences</a:t>
            </a:r>
          </a:p>
          <a:p>
            <a:pPr eaLnBrk="1" hangingPunct="1">
              <a:spcBef>
                <a:spcPct val="0"/>
              </a:spcBef>
            </a:pPr>
            <a:r>
              <a:rPr lang="en-US" smtClean="0"/>
              <a:t>A coach is an expert in the coaching process to help someone develop but they do not offer all that a mentor can.</a:t>
            </a:r>
          </a:p>
          <a:p>
            <a:pPr eaLnBrk="1" hangingPunct="1">
              <a:spcBef>
                <a:spcPct val="0"/>
              </a:spcBef>
            </a:pPr>
            <a:endParaRPr lang="en-US" smtClean="0"/>
          </a:p>
          <a:p>
            <a:pPr eaLnBrk="1" hangingPunct="1">
              <a:spcBef>
                <a:spcPct val="0"/>
              </a:spcBef>
            </a:pPr>
            <a:r>
              <a:rPr lang="en-US" smtClean="0"/>
              <a:t>If the mentor role is so similar to the manager role, why wouldn’t the manager/boss do what the mentor is going to do?...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2467"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It takes more than One Person to Build a Leader – If and when a position comes available</a:t>
            </a:r>
          </a:p>
          <a:p>
            <a:pPr eaLnBrk="1" hangingPunct="1">
              <a:spcBef>
                <a:spcPct val="0"/>
              </a:spcBef>
            </a:pPr>
            <a:endParaRPr lang="en-US" smtClean="0"/>
          </a:p>
          <a:p>
            <a:pPr eaLnBrk="1" hangingPunct="1">
              <a:spcBef>
                <a:spcPct val="0"/>
              </a:spcBef>
            </a:pPr>
            <a:r>
              <a:rPr lang="en-US" smtClean="0"/>
              <a:t>It’s also a confidential place to talk about development concerns</a:t>
            </a:r>
          </a:p>
          <a:p>
            <a:pPr eaLnBrk="1" hangingPunct="1">
              <a:spcBef>
                <a:spcPct val="0"/>
              </a:spcBef>
            </a:pPr>
            <a:endParaRPr lang="en-US" smtClean="0"/>
          </a:p>
          <a:p>
            <a:pPr eaLnBrk="1" hangingPunct="1">
              <a:spcBef>
                <a:spcPct val="0"/>
              </a:spcBef>
            </a:pPr>
            <a:r>
              <a:rPr lang="en-US" smtClean="0"/>
              <a:t>Let’s get started building the relationship and trust…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3491"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Trust and relationship is the first thing that needs to get built in your partnership.  That is why this morning will be mixed with trust and relationship activities.  When you see this graphic, that means we will be working to expand the trust and relationship. </a:t>
            </a:r>
          </a:p>
          <a:p>
            <a:pPr eaLnBrk="1" hangingPunct="1">
              <a:spcBef>
                <a:spcPct val="0"/>
              </a:spcBef>
            </a:pPr>
            <a:endParaRPr lang="en-US" smtClean="0"/>
          </a:p>
          <a:p>
            <a:pPr eaLnBrk="1" hangingPunct="1">
              <a:spcBef>
                <a:spcPct val="0"/>
              </a:spcBef>
            </a:pPr>
            <a:r>
              <a:rPr lang="en-US" smtClean="0"/>
              <a:t>When we oriented the mentors we talked about the importance of trust and relationship and many of those who had a mentor saw this as critical to success.</a:t>
            </a:r>
          </a:p>
          <a:p>
            <a:pPr eaLnBrk="1" hangingPunct="1">
              <a:spcBef>
                <a:spcPct val="0"/>
              </a:spcBef>
            </a:pPr>
            <a:endParaRPr lang="en-US" smtClean="0"/>
          </a:p>
          <a:p>
            <a:pPr eaLnBrk="1" hangingPunct="1">
              <a:spcBef>
                <a:spcPct val="0"/>
              </a:spcBef>
            </a:pPr>
            <a:r>
              <a:rPr lang="en-US" smtClean="0"/>
              <a:t>Let’s get started now…</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4515"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Review activity instructions.  “Mentors, you may want to take notes in case you want to reference them later.”</a:t>
            </a:r>
          </a:p>
          <a:p>
            <a:pPr eaLnBrk="1" hangingPunct="1">
              <a:spcBef>
                <a:spcPct val="0"/>
              </a:spcBef>
            </a:pPr>
            <a:endParaRPr lang="en-US" smtClean="0"/>
          </a:p>
          <a:p>
            <a:pPr eaLnBrk="1" hangingPunct="1">
              <a:spcBef>
                <a:spcPct val="0"/>
              </a:spcBef>
            </a:pPr>
            <a:r>
              <a:rPr lang="en-US" smtClean="0"/>
              <a:t>Conduct activity – 12 min</a:t>
            </a:r>
          </a:p>
          <a:p>
            <a:pPr eaLnBrk="1" hangingPunct="1">
              <a:spcBef>
                <a:spcPct val="0"/>
              </a:spcBef>
            </a:pPr>
            <a:endParaRPr lang="en-US" smtClean="0"/>
          </a:p>
          <a:p>
            <a:pPr eaLnBrk="1" hangingPunct="1">
              <a:spcBef>
                <a:spcPct val="0"/>
              </a:spcBef>
            </a:pPr>
            <a:r>
              <a:rPr lang="en-US" smtClean="0"/>
              <a:t>Debrief: Mentees, what did you hear from mentors about why they are participating?</a:t>
            </a:r>
          </a:p>
          <a:p>
            <a:pPr eaLnBrk="1" hangingPunct="1">
              <a:spcBef>
                <a:spcPct val="0"/>
              </a:spcBef>
            </a:pPr>
            <a:endParaRPr lang="en-US" smtClean="0"/>
          </a:p>
          <a:p>
            <a:pPr eaLnBrk="1" hangingPunct="1">
              <a:spcBef>
                <a:spcPct val="0"/>
              </a:spcBef>
            </a:pPr>
            <a:r>
              <a:rPr lang="en-US" smtClean="0"/>
              <a:t>Mentees, one thing you can do to keep mentors engaged in mentoring is to give your mentor positive feedback as they help you and by trying some ideas they share.</a:t>
            </a:r>
          </a:p>
          <a:p>
            <a:pPr eaLnBrk="1" hangingPunct="1">
              <a:spcBef>
                <a:spcPct val="0"/>
              </a:spcBef>
            </a:pPr>
            <a:endParaRPr lang="en-US" smtClean="0"/>
          </a:p>
          <a:p>
            <a:pPr eaLnBrk="1" hangingPunct="1">
              <a:spcBef>
                <a:spcPct val="0"/>
              </a:spcBef>
            </a:pPr>
            <a:r>
              <a:rPr lang="en-US" smtClean="0"/>
              <a:t>We will come back to your existing work challenges in just a minute.  For now I want to give you a quick reminder of  what will be expected of each of you…</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5539"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Who can remember some of the mentee expectations?</a:t>
            </a:r>
          </a:p>
          <a:p>
            <a:pPr eaLnBrk="1" hangingPunct="1">
              <a:spcBef>
                <a:spcPct val="0"/>
              </a:spcBef>
            </a:pPr>
            <a:endParaRPr lang="en-US" smtClean="0"/>
          </a:p>
          <a:p>
            <a:pPr eaLnBrk="1" hangingPunct="1">
              <a:spcBef>
                <a:spcPct val="0"/>
              </a:spcBef>
            </a:pPr>
            <a:r>
              <a:rPr lang="en-US" smtClean="0"/>
              <a:t>Review expectations</a:t>
            </a:r>
          </a:p>
          <a:p>
            <a:pPr eaLnBrk="1" hangingPunct="1">
              <a:spcBef>
                <a:spcPct val="0"/>
              </a:spcBef>
            </a:pPr>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6563"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What do you remember about the expectations of mentors?</a:t>
            </a:r>
          </a:p>
          <a:p>
            <a:pPr eaLnBrk="1" hangingPunct="1">
              <a:spcBef>
                <a:spcPct val="0"/>
              </a:spcBef>
            </a:pPr>
            <a:endParaRPr lang="en-US" smtClean="0"/>
          </a:p>
          <a:p>
            <a:pPr eaLnBrk="1" hangingPunct="1">
              <a:spcBef>
                <a:spcPct val="0"/>
              </a:spcBef>
            </a:pPr>
            <a:r>
              <a:rPr lang="en-US" smtClean="0"/>
              <a:t>Review expectations</a:t>
            </a:r>
          </a:p>
          <a:p>
            <a:pPr eaLnBrk="1" hangingPunct="1">
              <a:spcBef>
                <a:spcPct val="0"/>
              </a:spcBef>
            </a:pPr>
            <a:r>
              <a:rPr lang="en-US" smtClean="0"/>
              <a:t>Coaching is a core skill mentors will use to help mentees develop.  Coaching and being coached may not be new to you personally but it is new to the relationships.</a:t>
            </a:r>
          </a:p>
          <a:p>
            <a:pPr eaLnBrk="1" hangingPunct="1">
              <a:spcBef>
                <a:spcPct val="0"/>
              </a:spcBef>
            </a:pPr>
            <a:endParaRPr lang="en-US" smtClean="0"/>
          </a:p>
          <a:p>
            <a:pPr eaLnBrk="1" hangingPunct="1">
              <a:spcBef>
                <a:spcPct val="0"/>
              </a:spcBef>
            </a:pPr>
            <a:r>
              <a:rPr lang="en-US" smtClean="0"/>
              <a:t>Our next activity will familiarize each pair with coaching so you use it in the future, it will help mentors understand your existing role, and expand the trust and relationship…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7587"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Review instructions</a:t>
            </a:r>
          </a:p>
          <a:p>
            <a:pPr eaLnBrk="1" hangingPunct="1">
              <a:spcBef>
                <a:spcPct val="0"/>
              </a:spcBef>
            </a:pPr>
            <a:r>
              <a:rPr lang="en-US" smtClean="0"/>
              <a:t>Handout job aid for mentors</a:t>
            </a:r>
          </a:p>
          <a:p>
            <a:pPr eaLnBrk="1" hangingPunct="1">
              <a:spcBef>
                <a:spcPct val="0"/>
              </a:spcBef>
            </a:pPr>
            <a:r>
              <a:rPr lang="en-US" smtClean="0"/>
              <a:t>Conduct Activity Part 1, then Part 2 - 10 min</a:t>
            </a:r>
          </a:p>
          <a:p>
            <a:pPr eaLnBrk="1" hangingPunct="1">
              <a:spcBef>
                <a:spcPct val="0"/>
              </a:spcBef>
            </a:pPr>
            <a:endParaRPr lang="en-US" smtClean="0"/>
          </a:p>
          <a:p>
            <a:pPr eaLnBrk="1" hangingPunct="1">
              <a:spcBef>
                <a:spcPct val="0"/>
              </a:spcBef>
            </a:pPr>
            <a:r>
              <a:rPr lang="en-US" smtClean="0"/>
              <a:t>Debrief</a:t>
            </a:r>
          </a:p>
          <a:p>
            <a:pPr eaLnBrk="1" hangingPunct="1">
              <a:spcBef>
                <a:spcPct val="0"/>
              </a:spcBef>
              <a:buFontTx/>
              <a:buChar char="•"/>
            </a:pPr>
            <a:r>
              <a:rPr lang="en-US" smtClean="0"/>
              <a:t>Mentees, what was that like for you?  Did you feel heard?  What did they do that said they were listening?  </a:t>
            </a:r>
          </a:p>
          <a:p>
            <a:pPr eaLnBrk="1" hangingPunct="1">
              <a:spcBef>
                <a:spcPct val="0"/>
              </a:spcBef>
              <a:buFontTx/>
              <a:buChar char="•"/>
            </a:pPr>
            <a:r>
              <a:rPr lang="en-US" smtClean="0"/>
              <a:t>Mentors did you want to give the mentee the answer?  </a:t>
            </a:r>
          </a:p>
          <a:p>
            <a:pPr eaLnBrk="1" hangingPunct="1">
              <a:spcBef>
                <a:spcPct val="0"/>
              </a:spcBef>
              <a:buFontTx/>
              <a:buChar char="•"/>
            </a:pPr>
            <a:r>
              <a:rPr lang="en-US" smtClean="0"/>
              <a:t>How is it beneficial to use this approach sometimes instead of the mentor giving the answer?</a:t>
            </a:r>
          </a:p>
          <a:p>
            <a:pPr eaLnBrk="1" hangingPunct="1">
              <a:spcBef>
                <a:spcPct val="0"/>
              </a:spcBef>
              <a:buFontTx/>
              <a:buChar char="•"/>
            </a:pPr>
            <a:r>
              <a:rPr lang="en-US" smtClean="0"/>
              <a:t>Hopefully you learned something about the mentee </a:t>
            </a:r>
          </a:p>
          <a:p>
            <a:pPr eaLnBrk="1" hangingPunct="1">
              <a:spcBef>
                <a:spcPct val="0"/>
              </a:spcBef>
              <a:buFontTx/>
              <a:buChar char="•"/>
            </a:pPr>
            <a:endParaRPr lang="en-US" smtClean="0"/>
          </a:p>
          <a:p>
            <a:pPr eaLnBrk="1" hangingPunct="1">
              <a:spcBef>
                <a:spcPct val="0"/>
              </a:spcBef>
              <a:buFontTx/>
              <a:buChar char="•"/>
            </a:pPr>
            <a:r>
              <a:rPr lang="en-US" smtClean="0"/>
              <a:t>Whether you are coaching or talking, we want you to have a safe, confidential place to be open about your development.  That is why we want to be clear about what confidentiality means.  We also want this to be a productive experience focused on your development and less on the problems of others.</a:t>
            </a:r>
          </a:p>
          <a:p>
            <a:pPr eaLnBrk="1" hangingPunct="1">
              <a:spcBef>
                <a:spcPct val="0"/>
              </a:spcBef>
              <a:buFontTx/>
              <a:buChar char="•"/>
            </a:pPr>
            <a:r>
              <a:rPr lang="en-US" smtClean="0"/>
              <a:t>Let me explain more about confidentiality…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8611"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Example of out of bounds and in-bounds “Performance problems”:</a:t>
            </a:r>
          </a:p>
          <a:p>
            <a:pPr eaLnBrk="1" hangingPunct="1">
              <a:spcBef>
                <a:spcPct val="0"/>
              </a:spcBef>
            </a:pPr>
            <a:endParaRPr lang="en-US" smtClean="0"/>
          </a:p>
          <a:p>
            <a:pPr eaLnBrk="1" hangingPunct="1">
              <a:spcBef>
                <a:spcPct val="0"/>
              </a:spcBef>
              <a:buFontTx/>
              <a:buChar char="•"/>
            </a:pPr>
            <a:r>
              <a:rPr lang="en-US" u="sng" smtClean="0"/>
              <a:t>Out of bounds</a:t>
            </a:r>
            <a:r>
              <a:rPr lang="en-US" smtClean="0"/>
              <a:t>: Share a major mistake boss made or unmet goals or team gossip about boss v. </a:t>
            </a:r>
            <a:r>
              <a:rPr lang="en-US" u="sng" smtClean="0"/>
              <a:t>IN bounds</a:t>
            </a:r>
            <a:r>
              <a:rPr lang="en-US" smtClean="0"/>
              <a:t>: ask how to influence the boss to support an initiative or how to give boss feedback about a behavior that is impacting your effectiveness. </a:t>
            </a:r>
          </a:p>
          <a:p>
            <a:pPr eaLnBrk="1" hangingPunct="1">
              <a:spcBef>
                <a:spcPct val="0"/>
              </a:spcBef>
              <a:buFontTx/>
              <a:buChar char="•"/>
            </a:pPr>
            <a:r>
              <a:rPr lang="en-US" smtClean="0"/>
              <a:t>Ask yourself if you are speaking respectfully about the boss (tone of voice, judgment or labels v. observable facts)</a:t>
            </a:r>
          </a:p>
          <a:p>
            <a:pPr eaLnBrk="1" hangingPunct="1">
              <a:spcBef>
                <a:spcPct val="0"/>
              </a:spcBef>
              <a:buFontTx/>
              <a:buChar char="•"/>
            </a:pPr>
            <a:r>
              <a:rPr lang="en-US" u="sng" smtClean="0"/>
              <a:t>Out of bounds:</a:t>
            </a:r>
            <a:r>
              <a:rPr lang="en-US" smtClean="0"/>
              <a:t> Explaining that a direct report or peer received a verbal warning about X  v. </a:t>
            </a:r>
            <a:r>
              <a:rPr lang="en-US" u="sng" smtClean="0"/>
              <a:t>IN bounds:</a:t>
            </a:r>
            <a:r>
              <a:rPr lang="en-US" smtClean="0"/>
              <a:t> how to build the capability of the team or get a peer to change their perception of me</a:t>
            </a:r>
          </a:p>
          <a:p>
            <a:pPr eaLnBrk="1" hangingPunct="1">
              <a:spcBef>
                <a:spcPct val="0"/>
              </a:spcBef>
              <a:buFontTx/>
              <a:buChar char="•"/>
            </a:pPr>
            <a:endParaRPr lang="en-US" smtClean="0"/>
          </a:p>
          <a:p>
            <a:pPr eaLnBrk="1" hangingPunct="1">
              <a:spcBef>
                <a:spcPct val="0"/>
              </a:spcBef>
              <a:buFontTx/>
              <a:buChar char="•"/>
            </a:pPr>
            <a:r>
              <a:rPr lang="en-US" smtClean="0"/>
              <a:t>Confidentiality applies to the mentee as well…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9635"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0659"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Confidentiality is part of our joint contract I would like you to sign so we are all clear the expectations</a:t>
            </a:r>
          </a:p>
          <a:p>
            <a:pPr eaLnBrk="1" hangingPunct="1">
              <a:spcBef>
                <a:spcPct val="0"/>
              </a:spcBef>
            </a:pPr>
            <a:endParaRPr lang="en-US" smtClean="0"/>
          </a:p>
          <a:p>
            <a:pPr eaLnBrk="1" hangingPunct="1">
              <a:spcBef>
                <a:spcPct val="0"/>
              </a:spcBef>
            </a:pPr>
            <a:r>
              <a:rPr lang="en-US" smtClean="0"/>
              <a:t>Handout contract </a:t>
            </a:r>
          </a:p>
          <a:p>
            <a:pPr eaLnBrk="1" hangingPunct="1">
              <a:spcBef>
                <a:spcPct val="0"/>
              </a:spcBef>
            </a:pPr>
            <a:r>
              <a:rPr lang="en-US" smtClean="0"/>
              <a:t>We will talk more about “Director-level” activities later today.  A quick example is mentors exposing to mentees to a multi-department budget if that fits their development area.</a:t>
            </a:r>
          </a:p>
          <a:p>
            <a:pPr eaLnBrk="1" hangingPunct="1">
              <a:spcBef>
                <a:spcPct val="0"/>
              </a:spcBef>
            </a:pPr>
            <a:r>
              <a:rPr lang="en-US" smtClean="0"/>
              <a:t>Both mentor and mentee, please read and sign.  We will provide you with a copy.</a:t>
            </a:r>
          </a:p>
          <a:p>
            <a:pPr eaLnBrk="1" hangingPunct="1">
              <a:spcBef>
                <a:spcPct val="0"/>
              </a:spcBef>
            </a:pPr>
            <a:endParaRPr lang="en-US" smtClean="0"/>
          </a:p>
          <a:p>
            <a:pPr eaLnBrk="1" hangingPunct="1">
              <a:spcBef>
                <a:spcPct val="0"/>
              </a:spcBef>
            </a:pPr>
            <a:r>
              <a:rPr lang="en-US" smtClean="0"/>
              <a:t>Collect contract</a:t>
            </a:r>
          </a:p>
          <a:p>
            <a:pPr eaLnBrk="1" hangingPunct="1">
              <a:spcBef>
                <a:spcPct val="0"/>
              </a:spcBef>
            </a:pPr>
            <a:endParaRPr lang="en-US" smtClean="0"/>
          </a:p>
          <a:p>
            <a:pPr eaLnBrk="1" hangingPunct="1">
              <a:spcBef>
                <a:spcPct val="0"/>
              </a:spcBef>
            </a:pPr>
            <a:r>
              <a:rPr lang="en-US" smtClean="0"/>
              <a:t>Let’s go back to building trust and the relationship…</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683"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The ability to connect and converse is easier if you know something about each other outside work so for your next activity, please identify three interests that you have in common.</a:t>
            </a:r>
          </a:p>
          <a:p>
            <a:pPr eaLnBrk="1" hangingPunct="1">
              <a:spcBef>
                <a:spcPct val="0"/>
              </a:spcBef>
            </a:pPr>
            <a:endParaRPr lang="en-US" smtClean="0"/>
          </a:p>
          <a:p>
            <a:pPr eaLnBrk="1" hangingPunct="1">
              <a:spcBef>
                <a:spcPct val="0"/>
              </a:spcBef>
            </a:pPr>
            <a:r>
              <a:rPr lang="en-US" smtClean="0"/>
              <a:t>Activity – 10 min</a:t>
            </a:r>
          </a:p>
          <a:p>
            <a:pPr eaLnBrk="1" hangingPunct="1">
              <a:spcBef>
                <a:spcPct val="0"/>
              </a:spcBef>
            </a:pPr>
            <a:endParaRPr lang="en-US" smtClean="0"/>
          </a:p>
          <a:p>
            <a:pPr eaLnBrk="1" hangingPunct="1">
              <a:spcBef>
                <a:spcPct val="0"/>
              </a:spcBef>
            </a:pPr>
            <a:r>
              <a:rPr lang="en-US" smtClean="0"/>
              <a:t>We want you to know each other, but we also want you to be able to meet each other’s work needs so you stay engaged in the relationship…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2707"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Handout 50 item engagement form</a:t>
            </a:r>
          </a:p>
          <a:p>
            <a:pPr eaLnBrk="1" hangingPunct="1">
              <a:spcBef>
                <a:spcPct val="0"/>
              </a:spcBef>
            </a:pPr>
            <a:r>
              <a:rPr lang="en-US" smtClean="0"/>
              <a:t>This activity requires each person to…(read instructions) </a:t>
            </a:r>
          </a:p>
          <a:p>
            <a:pPr eaLnBrk="1" hangingPunct="1">
              <a:spcBef>
                <a:spcPct val="0"/>
              </a:spcBef>
            </a:pPr>
            <a:r>
              <a:rPr lang="en-US" smtClean="0"/>
              <a:t>If someone select an “Immediate Supervisor” work need, that is a need that your partner may still be able to meet even if they are not your supervisor.  For example, if someone selects “My immediate supervisor gives great feedback”  you could give great feedback.</a:t>
            </a:r>
          </a:p>
          <a:p>
            <a:pPr eaLnBrk="1" hangingPunct="1">
              <a:spcBef>
                <a:spcPct val="0"/>
              </a:spcBef>
            </a:pPr>
            <a:r>
              <a:rPr lang="en-US" smtClean="0"/>
              <a:t>Activity – 10 min</a:t>
            </a:r>
          </a:p>
          <a:p>
            <a:pPr eaLnBrk="1" hangingPunct="1">
              <a:spcBef>
                <a:spcPct val="0"/>
              </a:spcBef>
            </a:pPr>
            <a:endParaRPr lang="en-US" smtClean="0"/>
          </a:p>
          <a:p>
            <a:pPr eaLnBrk="1" hangingPunct="1">
              <a:spcBef>
                <a:spcPct val="0"/>
              </a:spcBef>
            </a:pPr>
            <a:r>
              <a:rPr lang="en-US" smtClean="0"/>
              <a:t>Anyone have the same work needs?  We are all unique but sometimes there is some overlap.  I hope you will create a file for your relationship and refer to this before each meetings so you can remember what each needs to stay engaged.</a:t>
            </a:r>
          </a:p>
          <a:p>
            <a:pPr eaLnBrk="1" hangingPunct="1">
              <a:spcBef>
                <a:spcPct val="0"/>
              </a:spcBef>
            </a:pPr>
            <a:endParaRPr lang="en-US" smtClean="0"/>
          </a:p>
          <a:p>
            <a:pPr eaLnBrk="1" hangingPunct="1">
              <a:spcBef>
                <a:spcPct val="0"/>
              </a:spcBef>
            </a:pPr>
            <a:r>
              <a:rPr lang="en-US" smtClean="0"/>
              <a:t>Let’s take a </a:t>
            </a:r>
            <a:r>
              <a:rPr lang="en-US" u="sng" smtClean="0"/>
              <a:t>break</a:t>
            </a:r>
            <a:r>
              <a:rPr lang="en-US" smtClean="0"/>
              <a:t> and when you get back we will focus on what the mentee wants to develop while working with their mentor..</a:t>
            </a:r>
          </a:p>
          <a:p>
            <a:pPr eaLnBrk="1" hangingPunct="1">
              <a:spcBef>
                <a:spcPct val="0"/>
              </a:spcBef>
            </a:pPr>
            <a:endParaRPr lang="en-US" smtClean="0"/>
          </a:p>
          <a:p>
            <a:pPr eaLnBrk="1" hangingPunct="1">
              <a:spcBef>
                <a:spcPct val="0"/>
              </a:spcBef>
            </a:pPr>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3731"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endParaRPr lang="en-US" smtClean="0"/>
          </a:p>
          <a:p>
            <a:pPr eaLnBrk="1" hangingPunct="1">
              <a:spcBef>
                <a:spcPct val="0"/>
              </a:spcBef>
            </a:pPr>
            <a:endParaRPr lang="en-US" smtClean="0"/>
          </a:p>
          <a:p>
            <a:pPr eaLnBrk="1" hangingPunct="1">
              <a:spcBef>
                <a:spcPct val="0"/>
              </a:spcBef>
            </a:pPr>
            <a:r>
              <a:rPr lang="en-US" smtClean="0"/>
              <a:t>Now that you understand more about the program, expectations, and built some trust and relationship, let’s focus on your work together…</a:t>
            </a:r>
          </a:p>
          <a:p>
            <a:pPr eaLnBrk="1" hangingPunct="1">
              <a:spcBef>
                <a:spcPct val="0"/>
              </a:spcBef>
            </a:pPr>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4755"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5779"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buFontTx/>
              <a:buChar char="•"/>
            </a:pPr>
            <a:r>
              <a:rPr lang="en-US" smtClean="0"/>
              <a:t>You will have time in future meetings to refine the focus areas but let’s get clear about the major areas of focus</a:t>
            </a:r>
          </a:p>
          <a:p>
            <a:pPr eaLnBrk="1" hangingPunct="1">
              <a:spcBef>
                <a:spcPct val="0"/>
              </a:spcBef>
              <a:buFontTx/>
              <a:buChar char="•"/>
            </a:pPr>
            <a:r>
              <a:rPr lang="en-US" smtClean="0"/>
              <a:t>Other focuses will evolve real-time, but these core 1-2 development areas will remain</a:t>
            </a:r>
          </a:p>
          <a:p>
            <a:pPr eaLnBrk="1" hangingPunct="1">
              <a:spcBef>
                <a:spcPct val="0"/>
              </a:spcBef>
              <a:buFontTx/>
              <a:buChar char="•"/>
            </a:pPr>
            <a:r>
              <a:rPr lang="en-US" smtClean="0"/>
              <a:t>Activity – read instructions -  10 min</a:t>
            </a:r>
          </a:p>
          <a:p>
            <a:pPr eaLnBrk="1" hangingPunct="1">
              <a:spcBef>
                <a:spcPct val="0"/>
              </a:spcBef>
            </a:pPr>
            <a:endParaRPr lang="en-US" smtClean="0"/>
          </a:p>
          <a:p>
            <a:pPr eaLnBrk="1" hangingPunct="1">
              <a:spcBef>
                <a:spcPct val="0"/>
              </a:spcBef>
            </a:pPr>
            <a:r>
              <a:rPr lang="en-US" smtClean="0"/>
              <a:t>Now let’s focus on how mentees will be exposed or will apply these new skills…</a:t>
            </a:r>
          </a:p>
          <a:p>
            <a:pPr eaLnBrk="1" hangingPunct="1">
              <a:spcBef>
                <a:spcPct val="0"/>
              </a:spcBef>
            </a:pPr>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6803"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The purpose of exposing mentees to director-level activities is…(read)</a:t>
            </a:r>
          </a:p>
          <a:p>
            <a:pPr eaLnBrk="1" hangingPunct="1">
              <a:spcBef>
                <a:spcPct val="0"/>
              </a:spcBef>
            </a:pPr>
            <a:r>
              <a:rPr lang="en-US" smtClean="0"/>
              <a:t>Development area and appropriate director-level activities will vary by person’s development interests.  </a:t>
            </a:r>
          </a:p>
          <a:p>
            <a:pPr eaLnBrk="1" hangingPunct="1">
              <a:spcBef>
                <a:spcPct val="0"/>
              </a:spcBef>
            </a:pPr>
            <a:r>
              <a:rPr lang="en-US" smtClean="0"/>
              <a:t>These are some examples that directors shared with us during the MAE research (read examples)</a:t>
            </a:r>
          </a:p>
          <a:p>
            <a:pPr eaLnBrk="1" hangingPunct="1">
              <a:spcBef>
                <a:spcPct val="0"/>
              </a:spcBef>
            </a:pPr>
            <a:endParaRPr lang="en-US" smtClean="0"/>
          </a:p>
          <a:p>
            <a:pPr eaLnBrk="1" hangingPunct="1">
              <a:spcBef>
                <a:spcPct val="0"/>
              </a:spcBef>
            </a:pPr>
            <a:r>
              <a:rPr lang="en-US" smtClean="0"/>
              <a:t>More specific examples of </a:t>
            </a:r>
            <a:r>
              <a:rPr lang="en-US" u="sng" smtClean="0"/>
              <a:t>application</a:t>
            </a:r>
            <a:r>
              <a:rPr lang="en-US" smtClean="0"/>
              <a:t> include:</a:t>
            </a:r>
          </a:p>
          <a:p>
            <a:pPr eaLnBrk="1" hangingPunct="1">
              <a:spcBef>
                <a:spcPct val="0"/>
              </a:spcBef>
              <a:buFontTx/>
              <a:buChar char="•"/>
            </a:pPr>
            <a:r>
              <a:rPr lang="en-US" smtClean="0"/>
              <a:t>Budget – help w/ part of the budget and help explain it to finance</a:t>
            </a:r>
          </a:p>
          <a:p>
            <a:pPr eaLnBrk="1" hangingPunct="1">
              <a:spcBef>
                <a:spcPct val="0"/>
              </a:spcBef>
              <a:buFontTx/>
              <a:buChar char="•"/>
            </a:pPr>
            <a:r>
              <a:rPr lang="en-US" smtClean="0"/>
              <a:t>Sr. leader presentation – action learning project or arrange for presentation to mentor’s senior leader</a:t>
            </a:r>
          </a:p>
          <a:p>
            <a:pPr eaLnBrk="1" hangingPunct="1">
              <a:spcBef>
                <a:spcPct val="0"/>
              </a:spcBef>
              <a:buFontTx/>
              <a:buChar char="•"/>
            </a:pPr>
            <a:r>
              <a:rPr lang="en-US" smtClean="0"/>
              <a:t>Rounds - join you doing rounding and ask some of the questions w/ you.  Or try rounding in mentee’s department</a:t>
            </a:r>
          </a:p>
          <a:p>
            <a:pPr eaLnBrk="1" hangingPunct="1">
              <a:spcBef>
                <a:spcPct val="0"/>
              </a:spcBef>
              <a:buFontTx/>
              <a:buChar char="•"/>
            </a:pPr>
            <a:r>
              <a:rPr lang="en-US" smtClean="0"/>
              <a:t>Leading projects w/ system impact – action learning</a:t>
            </a:r>
          </a:p>
          <a:p>
            <a:pPr eaLnBrk="1" hangingPunct="1">
              <a:spcBef>
                <a:spcPct val="0"/>
              </a:spcBef>
              <a:buFontTx/>
              <a:buChar char="•"/>
            </a:pPr>
            <a:endParaRPr lang="en-US" smtClean="0"/>
          </a:p>
          <a:p>
            <a:pPr eaLnBrk="1" hangingPunct="1">
              <a:spcBef>
                <a:spcPct val="0"/>
              </a:spcBef>
            </a:pPr>
            <a:r>
              <a:rPr lang="en-US" smtClean="0"/>
              <a:t>We will ask you which three you accomplished during Learning Services check-in by Knox</a:t>
            </a:r>
          </a:p>
          <a:p>
            <a:pPr eaLnBrk="1" hangingPunct="1">
              <a:spcBef>
                <a:spcPct val="0"/>
              </a:spcBef>
            </a:pPr>
            <a:endParaRPr lang="en-US" smtClean="0"/>
          </a:p>
          <a:p>
            <a:pPr eaLnBrk="1" hangingPunct="1">
              <a:spcBef>
                <a:spcPct val="0"/>
              </a:spcBef>
            </a:pPr>
            <a:r>
              <a:rPr lang="en-US" smtClean="0"/>
              <a:t>Take some time to identify some possible director-level activities that apply to the development areas you discussed…</a:t>
            </a:r>
          </a:p>
          <a:p>
            <a:pPr eaLnBrk="1" hangingPunct="1">
              <a:spcBef>
                <a:spcPct val="0"/>
              </a:spcBef>
              <a:buFontTx/>
              <a:buChar char="•"/>
            </a:pPr>
            <a:endParaRPr lang="en-US" smtClean="0"/>
          </a:p>
          <a:p>
            <a:pPr eaLnBrk="1" hangingPunct="1">
              <a:spcBef>
                <a:spcPct val="0"/>
              </a:spcBef>
            </a:pPr>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7827"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Handout form</a:t>
            </a:r>
          </a:p>
          <a:p>
            <a:pPr eaLnBrk="1" hangingPunct="1">
              <a:spcBef>
                <a:spcPct val="0"/>
              </a:spcBef>
            </a:pPr>
            <a:r>
              <a:rPr lang="en-US" smtClean="0"/>
              <a:t>Please complete this thinking of your 1 or 2 development areas.  We will be walking around to help you if needed. 10 min</a:t>
            </a:r>
          </a:p>
          <a:p>
            <a:pPr eaLnBrk="1" hangingPunct="1">
              <a:spcBef>
                <a:spcPct val="0"/>
              </a:spcBef>
            </a:pPr>
            <a:endParaRPr lang="en-US" smtClean="0"/>
          </a:p>
          <a:p>
            <a:pPr eaLnBrk="1" hangingPunct="1">
              <a:spcBef>
                <a:spcPct val="0"/>
              </a:spcBef>
            </a:pPr>
            <a:r>
              <a:rPr lang="en-US" smtClean="0"/>
              <a:t>You know what you are working on, now let’s talk about how you will work together…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8851"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We all want meeting to be productive but the risk is that time can be wasted, the relationship and trust does not get built and the progress from the last discussion is lost.  That is why we would like you to use this agenda when conducting your meetings.  It will also make it easier for the mentee to facilitate the meeting.</a:t>
            </a:r>
          </a:p>
          <a:p>
            <a:pPr eaLnBrk="1" hangingPunct="1">
              <a:spcBef>
                <a:spcPct val="0"/>
              </a:spcBef>
            </a:pPr>
            <a:endParaRPr lang="en-US" smtClean="0"/>
          </a:p>
          <a:p>
            <a:pPr eaLnBrk="1" hangingPunct="1">
              <a:spcBef>
                <a:spcPct val="0"/>
              </a:spcBef>
            </a:pPr>
            <a:r>
              <a:rPr lang="en-US" smtClean="0"/>
              <a:t>Review structure as a group</a:t>
            </a:r>
          </a:p>
          <a:p>
            <a:pPr eaLnBrk="1" hangingPunct="1">
              <a:spcBef>
                <a:spcPct val="0"/>
              </a:spcBef>
            </a:pPr>
            <a:endParaRPr lang="en-US" smtClean="0"/>
          </a:p>
          <a:p>
            <a:pPr eaLnBrk="1" hangingPunct="1">
              <a:spcBef>
                <a:spcPct val="0"/>
              </a:spcBef>
            </a:pPr>
            <a:r>
              <a:rPr lang="en-US" smtClean="0"/>
              <a:t>If you are wondering how to spend time getting to know each other, it could be as simple as talking about the weekend, doing an activity outside work or doing some of these activities…</a:t>
            </a:r>
          </a:p>
          <a:p>
            <a:pPr eaLnBrk="1" hangingPunct="1">
              <a:spcBef>
                <a:spcPct val="0"/>
              </a:spcBef>
            </a:pPr>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0899"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dirty="0" smtClean="0"/>
              <a:t>Please work together to answer these questions (read slide). </a:t>
            </a:r>
          </a:p>
          <a:p>
            <a:pPr eaLnBrk="1" hangingPunct="1">
              <a:spcBef>
                <a:spcPct val="0"/>
              </a:spcBef>
            </a:pPr>
            <a:endParaRPr lang="en-US" dirty="0" smtClean="0"/>
          </a:p>
          <a:p>
            <a:pPr eaLnBrk="1" hangingPunct="1">
              <a:spcBef>
                <a:spcPct val="0"/>
              </a:spcBef>
            </a:pPr>
            <a:r>
              <a:rPr lang="en-US" dirty="0" smtClean="0"/>
              <a:t>Activity – 10 min</a:t>
            </a:r>
          </a:p>
          <a:p>
            <a:pPr eaLnBrk="1" hangingPunct="1">
              <a:spcBef>
                <a:spcPct val="0"/>
              </a:spcBef>
              <a:buFontTx/>
              <a:buChar char="•"/>
            </a:pPr>
            <a:endParaRPr lang="en-US" dirty="0" smtClean="0"/>
          </a:p>
          <a:p>
            <a:pPr eaLnBrk="1" hangingPunct="1">
              <a:spcBef>
                <a:spcPct val="0"/>
              </a:spcBef>
              <a:buFontTx/>
              <a:buChar char="•"/>
            </a:pPr>
            <a:r>
              <a:rPr lang="en-US" dirty="0" smtClean="0"/>
              <a:t>One of the reason we define a minimum number of meetings and encourage frequent communications be it through phone, email, or in person is that it correlates with mentor and mentee satisfaction…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9875"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dirty="0" smtClean="0"/>
              <a:t>This is an activity that the directors were briefly exposed to during CFL executive experience and one we have done in Learning Services before and it’s as simple as it sounds.  The idea is to show some vulnerability when answering these questions to build vulnerability based trust.  It makes the other person seem more approachable and less likely to avoid feedback or play politics to look good.  </a:t>
            </a:r>
          </a:p>
          <a:p>
            <a:pPr eaLnBrk="1" hangingPunct="1">
              <a:spcBef>
                <a:spcPct val="0"/>
              </a:spcBef>
            </a:pPr>
            <a:endParaRPr lang="en-US" dirty="0" smtClean="0"/>
          </a:p>
          <a:p>
            <a:pPr eaLnBrk="1" hangingPunct="1">
              <a:spcBef>
                <a:spcPct val="0"/>
              </a:spcBef>
            </a:pPr>
            <a:r>
              <a:rPr lang="en-US" dirty="0" smtClean="0"/>
              <a:t>We are not going to do this here, but you could try it at your next meeting.  I would ask the mentor to go first and set the tone for the conversation.</a:t>
            </a:r>
          </a:p>
          <a:p>
            <a:pPr eaLnBrk="1" hangingPunct="1">
              <a:spcBef>
                <a:spcPct val="0"/>
              </a:spcBef>
            </a:pPr>
            <a:endParaRPr lang="en-US" dirty="0" smtClean="0"/>
          </a:p>
          <a:p>
            <a:pPr eaLnBrk="1" hangingPunct="1">
              <a:spcBef>
                <a:spcPct val="0"/>
              </a:spcBef>
            </a:pPr>
            <a:r>
              <a:rPr lang="en-US" dirty="0" smtClean="0"/>
              <a:t>Let’s spend some time in pairs talking about meeting logistics…</a:t>
            </a:r>
          </a:p>
          <a:p>
            <a:pPr eaLnBrk="1" hangingPunct="1">
              <a:spcBef>
                <a:spcPct val="0"/>
              </a:spcBef>
            </a:pPr>
            <a:endParaRPr lang="en-US"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1923"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2947"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Let’s finish talking about how you will work together.  A few more tips to share are to take notes and obviously maintain confidences and speak with honesty.    </a:t>
            </a:r>
          </a:p>
          <a:p>
            <a:pPr eaLnBrk="1" hangingPunct="1">
              <a:spcBef>
                <a:spcPct val="0"/>
              </a:spcBef>
            </a:pPr>
            <a:endParaRPr lang="en-US" smtClean="0"/>
          </a:p>
          <a:p>
            <a:pPr eaLnBrk="1" hangingPunct="1">
              <a:spcBef>
                <a:spcPct val="0"/>
              </a:spcBef>
            </a:pPr>
            <a:r>
              <a:rPr lang="en-US" smtClean="0"/>
              <a:t>I want to give you some time to speak with honesty, but first let’s practice pinpointing…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3971"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lnSpc>
                <a:spcPct val="80000"/>
              </a:lnSpc>
              <a:spcBef>
                <a:spcPct val="0"/>
              </a:spcBef>
            </a:pPr>
            <a:r>
              <a:rPr lang="en-US" sz="1000" u="sng" dirty="0" smtClean="0"/>
              <a:t>Group discussion</a:t>
            </a:r>
            <a:r>
              <a:rPr lang="en-US" sz="1000" dirty="0" smtClean="0"/>
              <a:t> – collect examples of “Positive” from Mentees only</a:t>
            </a:r>
          </a:p>
          <a:p>
            <a:pPr eaLnBrk="1" hangingPunct="1">
              <a:lnSpc>
                <a:spcPct val="80000"/>
              </a:lnSpc>
              <a:spcBef>
                <a:spcPct val="0"/>
              </a:spcBef>
            </a:pPr>
            <a:endParaRPr lang="en-US" sz="1000" dirty="0" smtClean="0"/>
          </a:p>
          <a:p>
            <a:pPr eaLnBrk="1" hangingPunct="1">
              <a:lnSpc>
                <a:spcPct val="80000"/>
              </a:lnSpc>
              <a:spcBef>
                <a:spcPct val="0"/>
              </a:spcBef>
            </a:pPr>
            <a:r>
              <a:rPr lang="en-US" sz="1000" dirty="0" smtClean="0"/>
              <a:t>Debrief:</a:t>
            </a:r>
          </a:p>
          <a:p>
            <a:pPr eaLnBrk="1" hangingPunct="1">
              <a:lnSpc>
                <a:spcPct val="80000"/>
              </a:lnSpc>
              <a:spcBef>
                <a:spcPct val="0"/>
              </a:spcBef>
            </a:pPr>
            <a:r>
              <a:rPr lang="en-US" sz="1000" dirty="0" smtClean="0"/>
              <a:t>Remember that pinpointing is a great way to speak honestly and factually and is easier for your mentor or mentee to hear than using labels or generalities.  Pinpointing is describing a behavior so that it is measurable, verifiable, observable.  “Smiles, asks questions of the other person, gives compliments” are all examples of “Positive.”  You can measure when it is done or not done.  Let’s go through the examples you gave me and determine if each is a label or a pinpointed behavior.</a:t>
            </a:r>
          </a:p>
          <a:p>
            <a:pPr eaLnBrk="1" hangingPunct="1">
              <a:lnSpc>
                <a:spcPct val="80000"/>
              </a:lnSpc>
              <a:spcBef>
                <a:spcPct val="0"/>
              </a:spcBef>
            </a:pPr>
            <a:endParaRPr lang="en-US" sz="1000" dirty="0" smtClean="0"/>
          </a:p>
          <a:p>
            <a:pPr eaLnBrk="1" hangingPunct="1">
              <a:lnSpc>
                <a:spcPct val="80000"/>
              </a:lnSpc>
              <a:spcBef>
                <a:spcPct val="0"/>
              </a:spcBef>
            </a:pPr>
            <a:r>
              <a:rPr lang="en-US" sz="1000" u="sng" dirty="0" smtClean="0"/>
              <a:t>Pair activity</a:t>
            </a:r>
            <a:r>
              <a:rPr lang="en-US" sz="1000" dirty="0" smtClean="0"/>
              <a:t> – now it’s your turn to identify specific behaviors you expect of each other in your meetings. </a:t>
            </a:r>
          </a:p>
          <a:p>
            <a:pPr eaLnBrk="1" hangingPunct="1">
              <a:lnSpc>
                <a:spcPct val="80000"/>
              </a:lnSpc>
              <a:spcBef>
                <a:spcPct val="0"/>
              </a:spcBef>
            </a:pPr>
            <a:endParaRPr lang="en-US" sz="1000" dirty="0" smtClean="0"/>
          </a:p>
          <a:p>
            <a:pPr eaLnBrk="1" hangingPunct="1">
              <a:lnSpc>
                <a:spcPct val="80000"/>
              </a:lnSpc>
              <a:spcBef>
                <a:spcPct val="0"/>
              </a:spcBef>
            </a:pPr>
            <a:r>
              <a:rPr lang="en-US" sz="1000" dirty="0" smtClean="0"/>
              <a:t>If you are still unsure about “</a:t>
            </a:r>
            <a:r>
              <a:rPr lang="en-US" sz="1000" u="sng" dirty="0" smtClean="0"/>
              <a:t>Behaviors you expect</a:t>
            </a:r>
            <a:r>
              <a:rPr lang="en-US" sz="1000" dirty="0" smtClean="0"/>
              <a:t>, let me give you some examples”:</a:t>
            </a:r>
          </a:p>
          <a:p>
            <a:pPr eaLnBrk="1" hangingPunct="1">
              <a:lnSpc>
                <a:spcPct val="80000"/>
              </a:lnSpc>
              <a:spcBef>
                <a:spcPct val="0"/>
              </a:spcBef>
              <a:buFontTx/>
              <a:buChar char="•"/>
            </a:pPr>
            <a:r>
              <a:rPr lang="en-US" sz="1000" dirty="0" smtClean="0"/>
              <a:t>Cancel more than 48 hours in advance</a:t>
            </a:r>
          </a:p>
          <a:p>
            <a:pPr eaLnBrk="1" hangingPunct="1">
              <a:lnSpc>
                <a:spcPct val="80000"/>
              </a:lnSpc>
              <a:spcBef>
                <a:spcPct val="0"/>
              </a:spcBef>
              <a:buFontTx/>
              <a:buChar char="•"/>
            </a:pPr>
            <a:r>
              <a:rPr lang="en-US" sz="1000" dirty="0" smtClean="0"/>
              <a:t>Reschedule within 1 week of  canceling a meeting</a:t>
            </a:r>
          </a:p>
          <a:p>
            <a:pPr eaLnBrk="1" hangingPunct="1">
              <a:lnSpc>
                <a:spcPct val="80000"/>
              </a:lnSpc>
              <a:spcBef>
                <a:spcPct val="0"/>
              </a:spcBef>
              <a:buFontTx/>
              <a:buChar char="•"/>
            </a:pPr>
            <a:r>
              <a:rPr lang="en-US" sz="1000" dirty="0" smtClean="0"/>
              <a:t>Bring notes from last meeting</a:t>
            </a:r>
          </a:p>
          <a:p>
            <a:pPr eaLnBrk="1" hangingPunct="1">
              <a:lnSpc>
                <a:spcPct val="80000"/>
              </a:lnSpc>
              <a:spcBef>
                <a:spcPct val="0"/>
              </a:spcBef>
              <a:buFontTx/>
              <a:buChar char="•"/>
            </a:pPr>
            <a:r>
              <a:rPr lang="en-US" sz="1000" dirty="0" smtClean="0"/>
              <a:t>Follow meetings structure</a:t>
            </a:r>
          </a:p>
          <a:p>
            <a:pPr eaLnBrk="1" hangingPunct="1">
              <a:lnSpc>
                <a:spcPct val="80000"/>
              </a:lnSpc>
              <a:spcBef>
                <a:spcPct val="0"/>
              </a:spcBef>
              <a:buFontTx/>
              <a:buChar char="•"/>
            </a:pPr>
            <a:r>
              <a:rPr lang="en-US" sz="1000" dirty="0" smtClean="0"/>
              <a:t>Capture commitments</a:t>
            </a:r>
          </a:p>
          <a:p>
            <a:pPr eaLnBrk="1" hangingPunct="1">
              <a:lnSpc>
                <a:spcPct val="80000"/>
              </a:lnSpc>
              <a:spcBef>
                <a:spcPct val="0"/>
              </a:spcBef>
            </a:pPr>
            <a:endParaRPr lang="en-US" sz="1000" dirty="0" smtClean="0"/>
          </a:p>
          <a:p>
            <a:pPr eaLnBrk="1" hangingPunct="1">
              <a:lnSpc>
                <a:spcPct val="80000"/>
              </a:lnSpc>
              <a:spcBef>
                <a:spcPct val="0"/>
              </a:spcBef>
            </a:pPr>
            <a:r>
              <a:rPr lang="en-US" sz="1000" dirty="0" smtClean="0"/>
              <a:t>Speaking honestly builds trust and practices pinpointing behaviors - a skill you will use throughout your relationship</a:t>
            </a:r>
          </a:p>
          <a:p>
            <a:pPr eaLnBrk="1" hangingPunct="1">
              <a:lnSpc>
                <a:spcPct val="80000"/>
              </a:lnSpc>
              <a:spcBef>
                <a:spcPct val="0"/>
              </a:spcBef>
            </a:pPr>
            <a:endParaRPr lang="en-US" sz="1000" dirty="0" smtClean="0"/>
          </a:p>
          <a:p>
            <a:pPr eaLnBrk="1" hangingPunct="1">
              <a:lnSpc>
                <a:spcPct val="80000"/>
              </a:lnSpc>
              <a:spcBef>
                <a:spcPct val="0"/>
              </a:spcBef>
            </a:pPr>
            <a:r>
              <a:rPr lang="en-US" sz="1000" dirty="0" smtClean="0"/>
              <a:t>Let’s spend a little more time focusing on another skill you will use regularly during mentoring…</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9091"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Let’s keep the momentum going by getting your next meeting or multiple meetings on the books.  Hopefully everyone brought their calendar…</a:t>
            </a:r>
          </a:p>
          <a:p>
            <a:pPr eaLnBrk="1" hangingPunct="1">
              <a:spcBef>
                <a:spcPct val="0"/>
              </a:spcBef>
            </a:pPr>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0115"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Handout copy of Meeting guideline form </a:t>
            </a:r>
          </a:p>
          <a:p>
            <a:pPr eaLnBrk="1" hangingPunct="1">
              <a:spcBef>
                <a:spcPct val="0"/>
              </a:spcBef>
            </a:pPr>
            <a:endParaRPr lang="en-US" smtClean="0"/>
          </a:p>
          <a:p>
            <a:pPr eaLnBrk="1" hangingPunct="1">
              <a:spcBef>
                <a:spcPct val="0"/>
              </a:spcBef>
            </a:pPr>
            <a:r>
              <a:rPr lang="en-US" smtClean="0"/>
              <a:t>Please…(read activity instructions)</a:t>
            </a:r>
          </a:p>
          <a:p>
            <a:pPr eaLnBrk="1" hangingPunct="1">
              <a:spcBef>
                <a:spcPct val="0"/>
              </a:spcBef>
            </a:pPr>
            <a:endParaRPr lang="en-US" smtClean="0"/>
          </a:p>
          <a:p>
            <a:pPr eaLnBrk="1" hangingPunct="1">
              <a:spcBef>
                <a:spcPct val="0"/>
              </a:spcBef>
            </a:pPr>
            <a:r>
              <a:rPr lang="en-US" smtClean="0"/>
              <a:t>Activity – 10 min</a:t>
            </a:r>
          </a:p>
          <a:p>
            <a:pPr eaLnBrk="1" hangingPunct="1">
              <a:spcBef>
                <a:spcPct val="0"/>
              </a:spcBef>
            </a:pPr>
            <a:endParaRPr lang="en-US" smtClean="0"/>
          </a:p>
          <a:p>
            <a:pPr eaLnBrk="1" hangingPunct="1">
              <a:spcBef>
                <a:spcPct val="0"/>
              </a:spcBef>
            </a:pPr>
            <a:r>
              <a:rPr lang="en-US" smtClean="0"/>
              <a:t>Your next steps are to…</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1139"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Your next steps are…</a:t>
            </a:r>
          </a:p>
          <a:p>
            <a:pPr eaLnBrk="1" hangingPunct="1">
              <a:spcBef>
                <a:spcPct val="0"/>
              </a:spcBef>
            </a:pPr>
            <a:endParaRPr lang="en-US" smtClean="0"/>
          </a:p>
          <a:p>
            <a:pPr eaLnBrk="1" hangingPunct="1">
              <a:spcBef>
                <a:spcPct val="0"/>
              </a:spcBef>
            </a:pPr>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2163" name="Rectangle 3"/>
          <p:cNvSpPr>
            <a:spLocks noGrp="1" noChangeArrowheads="1"/>
          </p:cNvSpPr>
          <p:nvPr>
            <p:ph type="body" idx="1"/>
          </p:nvPr>
        </p:nvSpPr>
        <p:spPr bwMode="auto">
          <a:xfrm>
            <a:off x="934720" y="4415790"/>
            <a:ext cx="5140960" cy="4183380"/>
          </a:xfrm>
          <a:noFill/>
        </p:spPr>
        <p:txBody>
          <a:bodyPr wrap="square" numCol="1" anchor="t" anchorCtr="0" compatLnSpc="1">
            <a:prstTxWarp prst="textNoShape">
              <a:avLst/>
            </a:prstTxWarp>
          </a:bodyPr>
          <a:lstStyle/>
          <a:p>
            <a:pPr eaLnBrk="1" hangingPunct="1">
              <a:spcBef>
                <a:spcPct val="0"/>
              </a:spcBef>
            </a:pPr>
            <a:r>
              <a:rPr lang="en-US" smtClean="0"/>
              <a:t>Thanks for the time you will invest in mentoring.  We believe it will provide mentors with the chance to help someone develop and mentees with guidance that is best provided by someone who has proven they can succeed at the director level</a:t>
            </a:r>
          </a:p>
          <a:p>
            <a:pPr eaLnBrk="1" hangingPunct="1">
              <a:spcBef>
                <a:spcPct val="0"/>
              </a:spcBef>
            </a:pPr>
            <a:endParaRPr lang="en-US" smtClean="0"/>
          </a:p>
          <a:p>
            <a:pPr eaLnBrk="1" hangingPunct="1">
              <a:spcBef>
                <a:spcPct val="0"/>
              </a:spcBef>
            </a:pPr>
            <a:r>
              <a:rPr lang="en-US" smtClean="0"/>
              <a:t>If you can stay, we would like to treat you to lunch which will be served in…</a:t>
            </a:r>
          </a:p>
          <a:p>
            <a:pPr eaLnBrk="1" hangingPunct="1">
              <a:spcBef>
                <a:spcPct val="0"/>
              </a:spcBef>
            </a:pPr>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 name="Rectangle 8"/>
          <p:cNvSpPr>
            <a:spLocks noChangeArrowheads="1"/>
          </p:cNvSpPr>
          <p:nvPr userDrawn="1"/>
        </p:nvSpPr>
        <p:spPr bwMode="auto">
          <a:xfrm>
            <a:off x="0" y="6351588"/>
            <a:ext cx="9144000" cy="506412"/>
          </a:xfrm>
          <a:prstGeom prst="rect">
            <a:avLst/>
          </a:prstGeom>
          <a:solidFill>
            <a:schemeClr val="accent1"/>
          </a:solidFill>
          <a:ln w="9525">
            <a:noFill/>
            <a:miter lim="800000"/>
            <a:headEnd/>
            <a:tailEnd/>
          </a:ln>
          <a:effectLst/>
        </p:spPr>
        <p:txBody>
          <a:bodyPr wrap="none" anchor="ctr"/>
          <a:lstStyle/>
          <a:p>
            <a:pPr algn="ctr" eaLnBrk="0" hangingPunct="0">
              <a:defRPr/>
            </a:pPr>
            <a:endParaRPr lang="en-US" sz="3600">
              <a:solidFill>
                <a:srgbClr val="000000"/>
              </a:solidFill>
              <a:ea typeface="+mn-ea"/>
            </a:endParaRPr>
          </a:p>
        </p:txBody>
      </p:sp>
      <p:pic>
        <p:nvPicPr>
          <p:cNvPr id="4" name="Picture 15" descr="CFL_ppt_p1"/>
          <p:cNvPicPr>
            <a:picLocks noChangeAspect="1" noChangeArrowheads="1"/>
          </p:cNvPicPr>
          <p:nvPr userDrawn="1"/>
        </p:nvPicPr>
        <p:blipFill>
          <a:blip r:embed="rId2" cstate="print"/>
          <a:srcRect/>
          <a:stretch>
            <a:fillRect/>
          </a:stretch>
        </p:blipFill>
        <p:spPr bwMode="auto">
          <a:xfrm>
            <a:off x="-1588" y="0"/>
            <a:ext cx="9145588" cy="2073275"/>
          </a:xfrm>
          <a:prstGeom prst="rect">
            <a:avLst/>
          </a:prstGeom>
          <a:noFill/>
          <a:ln w="9525">
            <a:noFill/>
            <a:miter lim="800000"/>
            <a:headEnd/>
            <a:tailEnd/>
          </a:ln>
        </p:spPr>
      </p:pic>
      <p:sp>
        <p:nvSpPr>
          <p:cNvPr id="3074" name="Rectangle 2"/>
          <p:cNvSpPr>
            <a:spLocks noGrp="1" noChangeArrowheads="1"/>
          </p:cNvSpPr>
          <p:nvPr>
            <p:ph type="ctrTitle"/>
          </p:nvPr>
        </p:nvSpPr>
        <p:spPr>
          <a:xfrm>
            <a:off x="685800" y="2814638"/>
            <a:ext cx="7772400" cy="1471612"/>
          </a:xfrm>
        </p:spPr>
        <p:txBody>
          <a:bodyPr/>
          <a:lstStyle>
            <a:lvl1pPr algn="ctr">
              <a:defRPr/>
            </a:lvl1pPr>
          </a:lstStyle>
          <a:p>
            <a:r>
              <a:rPr lang="en-US"/>
              <a:t>Click to edit Master title style</a:t>
            </a:r>
          </a:p>
        </p:txBody>
      </p:sp>
      <p:sp>
        <p:nvSpPr>
          <p:cNvPr id="5" name="Rectangle 16"/>
          <p:cNvSpPr>
            <a:spLocks noGrp="1" noChangeArrowheads="1"/>
          </p:cNvSpPr>
          <p:nvPr>
            <p:ph type="ftr" sz="quarter" idx="10"/>
          </p:nvPr>
        </p:nvSpPr>
        <p:spPr>
          <a:xfrm>
            <a:off x="381000" y="6400800"/>
            <a:ext cx="3886200" cy="457200"/>
          </a:xfrm>
        </p:spPr>
        <p:txBody>
          <a:bodyPr/>
          <a:lstStyle>
            <a:lvl1pPr eaLnBrk="1" fontAlgn="auto" hangingPunct="1">
              <a:spcAft>
                <a:spcPts val="0"/>
              </a:spcAft>
              <a:defRPr b="0"/>
            </a:lvl1pPr>
          </a:lstStyle>
          <a:p>
            <a:pPr>
              <a:defRPr/>
            </a:pPr>
            <a:r>
              <a:rPr lang="en-US"/>
              <a:t>Children’s Center for Leadership</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8"/>
          <p:cNvSpPr>
            <a:spLocks noGrp="1" noChangeArrowheads="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8"/>
          <p:cNvSpPr>
            <a:spLocks noGrp="1" noChangeArrowheads="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05000"/>
            <a:ext cx="4038600" cy="4221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05000"/>
            <a:ext cx="4038600" cy="4221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8"/>
          <p:cNvSpPr>
            <a:spLocks noGrp="1" noChangeArrowheads="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8"/>
          <p:cNvSpPr>
            <a:spLocks noGrp="1" noChangeArrowheads="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8"/>
          <p:cNvSpPr>
            <a:spLocks noGrp="1" noChangeArrowheads="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8"/>
          <p:cNvSpPr>
            <a:spLocks noGrp="1" noChangeArrowheads="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8"/>
          <p:cNvSpPr>
            <a:spLocks noGrp="1" noChangeArrowheads="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8"/>
          <p:cNvSpPr>
            <a:spLocks noGrp="1" noChangeArrowheads="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8"/>
          <p:cNvSpPr>
            <a:spLocks noGrp="1" noChangeArrowheads="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839788"/>
            <a:ext cx="2057400" cy="52863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5613" y="839788"/>
            <a:ext cx="6021387" cy="5286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8"/>
          <p:cNvSpPr>
            <a:spLocks noGrp="1" noChangeArrowheads="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pic>
        <p:nvPicPr>
          <p:cNvPr id="4" name="Picture 17" descr="CFL_ppt_p2"/>
          <p:cNvPicPr>
            <a:picLocks noChangeAspect="1" noChangeArrowheads="1"/>
          </p:cNvPicPr>
          <p:nvPr userDrawn="1"/>
        </p:nvPicPr>
        <p:blipFill>
          <a:blip r:embed="rId2" cstate="print"/>
          <a:srcRect/>
          <a:stretch>
            <a:fillRect/>
          </a:stretch>
        </p:blipFill>
        <p:spPr bwMode="auto">
          <a:xfrm>
            <a:off x="0" y="0"/>
            <a:ext cx="9145588" cy="1036638"/>
          </a:xfrm>
          <a:prstGeom prst="rect">
            <a:avLst/>
          </a:prstGeom>
          <a:noFill/>
          <a:ln w="9525">
            <a:noFill/>
            <a:miter lim="800000"/>
            <a:headEnd/>
            <a:tailEnd/>
          </a:ln>
        </p:spPr>
      </p:pic>
      <p:sp>
        <p:nvSpPr>
          <p:cNvPr id="5" name="Rectangle 7"/>
          <p:cNvSpPr>
            <a:spLocks noChangeArrowheads="1"/>
          </p:cNvSpPr>
          <p:nvPr userDrawn="1"/>
        </p:nvSpPr>
        <p:spPr bwMode="auto">
          <a:xfrm>
            <a:off x="0" y="6400800"/>
            <a:ext cx="9144000" cy="506413"/>
          </a:xfrm>
          <a:prstGeom prst="rect">
            <a:avLst/>
          </a:prstGeom>
          <a:solidFill>
            <a:schemeClr val="accent1"/>
          </a:solidFill>
          <a:ln w="9525">
            <a:noFill/>
            <a:miter lim="800000"/>
            <a:headEnd/>
            <a:tailEnd/>
          </a:ln>
          <a:effectLst/>
        </p:spPr>
        <p:txBody>
          <a:bodyPr wrap="none" anchor="ctr"/>
          <a:lstStyle/>
          <a:p>
            <a:pPr algn="ctr" eaLnBrk="0" hangingPunct="0">
              <a:defRPr/>
            </a:pPr>
            <a:endParaRPr lang="en-US" sz="3600">
              <a:solidFill>
                <a:srgbClr val="000000"/>
              </a:solidFill>
              <a:ea typeface="+mn-ea"/>
            </a:endParaRPr>
          </a:p>
        </p:txBody>
      </p:sp>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6" name="Footer Placeholder 4"/>
          <p:cNvSpPr>
            <a:spLocks noGrp="1"/>
          </p:cNvSpPr>
          <p:nvPr>
            <p:ph type="ftr" sz="quarter" idx="10"/>
          </p:nvPr>
        </p:nvSpPr>
        <p:spPr>
          <a:xfrm>
            <a:off x="342900" y="6400800"/>
            <a:ext cx="3886200" cy="457200"/>
          </a:xfrm>
        </p:spPr>
        <p:txBody>
          <a:bodyPr/>
          <a:lstStyle>
            <a:lvl1pPr eaLnBrk="1" fontAlgn="auto" hangingPunct="1">
              <a:spcAft>
                <a:spcPts val="0"/>
              </a:spcAft>
              <a:defRPr b="0"/>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Footer Placeholder 3"/>
          <p:cNvSpPr>
            <a:spLocks noGrp="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5613" y="839788"/>
            <a:ext cx="4881562" cy="9144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905000"/>
            <a:ext cx="8229600" cy="4221163"/>
          </a:xfrm>
        </p:spPr>
        <p:txBody>
          <a:bodyPr/>
          <a:lstStyle/>
          <a:p>
            <a:pPr lvl="0"/>
            <a:endParaRPr lang="en-US" noProof="0"/>
          </a:p>
        </p:txBody>
      </p:sp>
      <p:sp>
        <p:nvSpPr>
          <p:cNvPr id="4" name="Footer Placeholder 3"/>
          <p:cNvSpPr>
            <a:spLocks noGrp="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5613" y="839788"/>
            <a:ext cx="4881562" cy="9144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905000"/>
            <a:ext cx="4038600" cy="2033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05000"/>
            <a:ext cx="4038600" cy="2033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457200" y="4090988"/>
            <a:ext cx="8229600" cy="2035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5613" y="839788"/>
            <a:ext cx="4881562" cy="914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905000"/>
            <a:ext cx="4038600" cy="4221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05000"/>
            <a:ext cx="4038600" cy="4221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5613" y="839788"/>
            <a:ext cx="4881562" cy="914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905000"/>
            <a:ext cx="4038600" cy="4221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05000"/>
            <a:ext cx="4038600" cy="2033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90988"/>
            <a:ext cx="4038600" cy="2035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0"/>
          </p:nvPr>
        </p:nvSpPr>
        <p:spPr/>
        <p:txBody>
          <a:bodyPr/>
          <a:lstStyle>
            <a:lvl1pPr eaLnBrk="1" fontAlgn="auto" hangingPunct="1">
              <a:spcAft>
                <a:spcPts val="0"/>
              </a:spcAft>
              <a:defRPr b="0"/>
            </a:lvl1pPr>
          </a:lstStyle>
          <a:p>
            <a:pPr>
              <a:defRPr/>
            </a:pPr>
            <a:r>
              <a:rPr lang="en-US"/>
              <a:t>Children’s Center for Leadership                                                               	</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7" descr="CFL_ppt_p2"/>
          <p:cNvPicPr>
            <a:picLocks noChangeAspect="1" noChangeArrowheads="1"/>
          </p:cNvPicPr>
          <p:nvPr userDrawn="1"/>
        </p:nvPicPr>
        <p:blipFill>
          <a:blip r:embed="rId19" cstate="print"/>
          <a:srcRect/>
          <a:stretch>
            <a:fillRect/>
          </a:stretch>
        </p:blipFill>
        <p:spPr bwMode="auto">
          <a:xfrm>
            <a:off x="0" y="0"/>
            <a:ext cx="9145588" cy="1036638"/>
          </a:xfrm>
          <a:prstGeom prst="rect">
            <a:avLst/>
          </a:prstGeom>
          <a:noFill/>
          <a:ln w="9525">
            <a:noFill/>
            <a:miter lim="800000"/>
            <a:headEnd/>
            <a:tailEnd/>
          </a:ln>
        </p:spPr>
      </p:pic>
      <p:sp>
        <p:nvSpPr>
          <p:cNvPr id="1031" name="Rectangle 7"/>
          <p:cNvSpPr>
            <a:spLocks noChangeArrowheads="1"/>
          </p:cNvSpPr>
          <p:nvPr userDrawn="1"/>
        </p:nvSpPr>
        <p:spPr bwMode="auto">
          <a:xfrm>
            <a:off x="0" y="6400800"/>
            <a:ext cx="9144000" cy="506413"/>
          </a:xfrm>
          <a:prstGeom prst="rect">
            <a:avLst/>
          </a:prstGeom>
          <a:solidFill>
            <a:schemeClr val="accent1"/>
          </a:solidFill>
          <a:ln w="9525">
            <a:noFill/>
            <a:miter lim="800000"/>
            <a:headEnd/>
            <a:tailEnd/>
          </a:ln>
          <a:effectLst/>
        </p:spPr>
        <p:txBody>
          <a:bodyPr wrap="none" anchor="ctr"/>
          <a:lstStyle/>
          <a:p>
            <a:pPr algn="ctr" eaLnBrk="0" hangingPunct="0">
              <a:defRPr/>
            </a:pPr>
            <a:endParaRPr lang="en-US" sz="3600">
              <a:solidFill>
                <a:srgbClr val="000000"/>
              </a:solidFill>
              <a:ea typeface="+mn-ea"/>
            </a:endParaRPr>
          </a:p>
        </p:txBody>
      </p:sp>
      <p:sp>
        <p:nvSpPr>
          <p:cNvPr id="1028" name="Rectangle 2"/>
          <p:cNvSpPr>
            <a:spLocks noGrp="1" noChangeArrowheads="1"/>
          </p:cNvSpPr>
          <p:nvPr>
            <p:ph type="title"/>
          </p:nvPr>
        </p:nvSpPr>
        <p:spPr bwMode="auto">
          <a:xfrm>
            <a:off x="455613" y="839788"/>
            <a:ext cx="4881562"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9" name="Rectangle 9"/>
          <p:cNvSpPr>
            <a:spLocks noGrp="1" noChangeArrowheads="1"/>
          </p:cNvSpPr>
          <p:nvPr>
            <p:ph type="body" idx="1"/>
          </p:nvPr>
        </p:nvSpPr>
        <p:spPr bwMode="auto">
          <a:xfrm>
            <a:off x="457200" y="1905000"/>
            <a:ext cx="8229600" cy="4221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2" name="Rectangle 18"/>
          <p:cNvSpPr>
            <a:spLocks noGrp="1" noChangeArrowheads="1"/>
          </p:cNvSpPr>
          <p:nvPr>
            <p:ph type="ftr" sz="quarter" idx="3"/>
          </p:nvPr>
        </p:nvSpPr>
        <p:spPr bwMode="auto">
          <a:xfrm>
            <a:off x="381000" y="6415088"/>
            <a:ext cx="72263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spcBef>
                <a:spcPct val="0"/>
              </a:spcBef>
              <a:defRPr sz="1400" b="1">
                <a:solidFill>
                  <a:srgbClr val="FFFFFF"/>
                </a:solidFill>
                <a:latin typeface="Verdana" pitchFamily="34" charset="0"/>
                <a:ea typeface="+mn-ea"/>
              </a:defRPr>
            </a:lvl1pPr>
          </a:lstStyle>
          <a:p>
            <a:pPr>
              <a:defRPr/>
            </a:pPr>
            <a:r>
              <a:rPr lang="en-US"/>
              <a:t>Children’s Center for Leadership                                                               	</a:t>
            </a:r>
          </a:p>
        </p:txBody>
      </p:sp>
      <p:sp>
        <p:nvSpPr>
          <p:cNvPr id="2" name="Text Box 7"/>
          <p:cNvSpPr txBox="1">
            <a:spLocks noChangeArrowheads="1"/>
          </p:cNvSpPr>
          <p:nvPr userDrawn="1"/>
        </p:nvSpPr>
        <p:spPr bwMode="auto">
          <a:xfrm>
            <a:off x="8432800" y="6491288"/>
            <a:ext cx="711200" cy="366712"/>
          </a:xfrm>
          <a:prstGeom prst="rect">
            <a:avLst/>
          </a:prstGeom>
          <a:noFill/>
          <a:ln w="9525">
            <a:noFill/>
            <a:miter lim="800000"/>
            <a:headEnd/>
            <a:tailEnd/>
          </a:ln>
          <a:effectLst/>
        </p:spPr>
        <p:txBody>
          <a:bodyPr>
            <a:spAutoFit/>
          </a:bodyPr>
          <a:lstStyle/>
          <a:p>
            <a:pPr algn="ctr" eaLnBrk="0" hangingPunct="0">
              <a:spcBef>
                <a:spcPct val="50000"/>
              </a:spcBef>
              <a:defRPr/>
            </a:pPr>
            <a:fld id="{7AEED8A9-4C7D-45D2-B1F9-0BDBD2E8AC5A}" type="slidenum">
              <a:rPr lang="en-US" b="1">
                <a:solidFill>
                  <a:srgbClr val="FFFFFF"/>
                </a:solidFill>
                <a:ea typeface="+mn-ea"/>
              </a:rPr>
              <a:pPr algn="ctr" eaLnBrk="0" hangingPunct="0">
                <a:spcBef>
                  <a:spcPct val="50000"/>
                </a:spcBef>
                <a:defRPr/>
              </a:pPr>
              <a:t>‹#›</a:t>
            </a:fld>
            <a:endParaRPr lang="en-US" b="1">
              <a:solidFill>
                <a:srgbClr val="FFFFFF"/>
              </a:solidFill>
              <a:ea typeface="+mn-ea"/>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hf sldNum="0" hdr="0" dt="0"/>
  <p:txStyles>
    <p:titleStyle>
      <a:lvl1pPr algn="l" rtl="0" eaLnBrk="0" fontAlgn="base" hangingPunct="0">
        <a:spcBef>
          <a:spcPct val="0"/>
        </a:spcBef>
        <a:spcAft>
          <a:spcPct val="0"/>
        </a:spcAft>
        <a:defRPr sz="3200" b="1">
          <a:solidFill>
            <a:schemeClr val="tx2"/>
          </a:solidFill>
          <a:latin typeface="+mj-lt"/>
          <a:ea typeface="ＭＳ Ｐゴシック" charset="-128"/>
          <a:cs typeface="+mj-cs"/>
        </a:defRPr>
      </a:lvl1pPr>
      <a:lvl2pPr algn="l" rtl="0" eaLnBrk="0" fontAlgn="base" hangingPunct="0">
        <a:spcBef>
          <a:spcPct val="0"/>
        </a:spcBef>
        <a:spcAft>
          <a:spcPct val="0"/>
        </a:spcAft>
        <a:defRPr sz="3200" b="1">
          <a:solidFill>
            <a:schemeClr val="tx2"/>
          </a:solidFill>
          <a:latin typeface="Verdana" pitchFamily="34" charset="0"/>
          <a:ea typeface="ＭＳ Ｐゴシック" charset="-128"/>
        </a:defRPr>
      </a:lvl2pPr>
      <a:lvl3pPr algn="l" rtl="0" eaLnBrk="0" fontAlgn="base" hangingPunct="0">
        <a:spcBef>
          <a:spcPct val="0"/>
        </a:spcBef>
        <a:spcAft>
          <a:spcPct val="0"/>
        </a:spcAft>
        <a:defRPr sz="3200" b="1">
          <a:solidFill>
            <a:schemeClr val="tx2"/>
          </a:solidFill>
          <a:latin typeface="Verdana" pitchFamily="34" charset="0"/>
          <a:ea typeface="ＭＳ Ｐゴシック" charset="-128"/>
        </a:defRPr>
      </a:lvl3pPr>
      <a:lvl4pPr algn="l" rtl="0" eaLnBrk="0" fontAlgn="base" hangingPunct="0">
        <a:spcBef>
          <a:spcPct val="0"/>
        </a:spcBef>
        <a:spcAft>
          <a:spcPct val="0"/>
        </a:spcAft>
        <a:defRPr sz="3200" b="1">
          <a:solidFill>
            <a:schemeClr val="tx2"/>
          </a:solidFill>
          <a:latin typeface="Verdana" pitchFamily="34" charset="0"/>
          <a:ea typeface="ＭＳ Ｐゴシック" charset="-128"/>
        </a:defRPr>
      </a:lvl4pPr>
      <a:lvl5pPr algn="l" rtl="0" eaLnBrk="0" fontAlgn="base" hangingPunct="0">
        <a:spcBef>
          <a:spcPct val="0"/>
        </a:spcBef>
        <a:spcAft>
          <a:spcPct val="0"/>
        </a:spcAft>
        <a:defRPr sz="3200" b="1">
          <a:solidFill>
            <a:schemeClr val="tx2"/>
          </a:solidFill>
          <a:latin typeface="Verdana" pitchFamily="34" charset="0"/>
          <a:ea typeface="ＭＳ Ｐゴシック" charset="-128"/>
        </a:defRPr>
      </a:lvl5pPr>
      <a:lvl6pPr marL="457200" algn="l" rtl="0" fontAlgn="base">
        <a:spcBef>
          <a:spcPct val="0"/>
        </a:spcBef>
        <a:spcAft>
          <a:spcPct val="0"/>
        </a:spcAft>
        <a:defRPr sz="3200" b="1">
          <a:solidFill>
            <a:schemeClr val="tx2"/>
          </a:solidFill>
          <a:latin typeface="Verdana" pitchFamily="34" charset="0"/>
          <a:ea typeface="ＭＳ Ｐゴシック" charset="-128"/>
        </a:defRPr>
      </a:lvl6pPr>
      <a:lvl7pPr marL="914400" algn="l" rtl="0" fontAlgn="base">
        <a:spcBef>
          <a:spcPct val="0"/>
        </a:spcBef>
        <a:spcAft>
          <a:spcPct val="0"/>
        </a:spcAft>
        <a:defRPr sz="3200" b="1">
          <a:solidFill>
            <a:schemeClr val="tx2"/>
          </a:solidFill>
          <a:latin typeface="Verdana" pitchFamily="34" charset="0"/>
          <a:ea typeface="ＭＳ Ｐゴシック" charset="-128"/>
        </a:defRPr>
      </a:lvl7pPr>
      <a:lvl8pPr marL="1371600" algn="l" rtl="0" fontAlgn="base">
        <a:spcBef>
          <a:spcPct val="0"/>
        </a:spcBef>
        <a:spcAft>
          <a:spcPct val="0"/>
        </a:spcAft>
        <a:defRPr sz="3200" b="1">
          <a:solidFill>
            <a:schemeClr val="tx2"/>
          </a:solidFill>
          <a:latin typeface="Verdana" pitchFamily="34" charset="0"/>
          <a:ea typeface="ＭＳ Ｐゴシック" charset="-128"/>
        </a:defRPr>
      </a:lvl8pPr>
      <a:lvl9pPr marL="1828800" algn="l" rtl="0" fontAlgn="base">
        <a:spcBef>
          <a:spcPct val="0"/>
        </a:spcBef>
        <a:spcAft>
          <a:spcPct val="0"/>
        </a:spcAft>
        <a:defRPr sz="3200" b="1">
          <a:solidFill>
            <a:schemeClr val="tx2"/>
          </a:solidFill>
          <a:latin typeface="Verdana" pitchFamily="34" charset="0"/>
          <a:ea typeface="ＭＳ Ｐゴシック" charset="-128"/>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ＭＳ Ｐゴシック" charset="-128"/>
          <a:cs typeface="+mn-cs"/>
        </a:defRPr>
      </a:lvl1pPr>
      <a:lvl2pPr marL="742950" indent="-285750" algn="l" rtl="0" eaLnBrk="0" fontAlgn="base" hangingPunct="0">
        <a:spcBef>
          <a:spcPct val="20000"/>
        </a:spcBef>
        <a:spcAft>
          <a:spcPct val="0"/>
        </a:spcAft>
        <a:buChar char="–"/>
        <a:defRPr sz="20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Font typeface="Times" pitchFamily="18"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1600">
          <a:solidFill>
            <a:schemeClr val="tx1"/>
          </a:solidFill>
          <a:latin typeface="+mn-lt"/>
          <a:ea typeface="ＭＳ Ｐゴシック" charset="-128"/>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a:xfrm>
            <a:off x="76200" y="2433638"/>
            <a:ext cx="8915400" cy="1833562"/>
          </a:xfrm>
        </p:spPr>
        <p:txBody>
          <a:bodyPr/>
          <a:lstStyle/>
          <a:p>
            <a:pPr algn="ctr"/>
            <a:r>
              <a:rPr lang="en-US" dirty="0" smtClean="0"/>
              <a:t>Mentoring Kick-off</a:t>
            </a:r>
          </a:p>
        </p:txBody>
      </p:sp>
      <p:sp>
        <p:nvSpPr>
          <p:cNvPr id="19459" name="Rectangle 3"/>
          <p:cNvSpPr>
            <a:spLocks noGrp="1" noChangeArrowheads="1"/>
          </p:cNvSpPr>
          <p:nvPr>
            <p:ph type="subTitle" idx="1"/>
          </p:nvPr>
        </p:nvSpPr>
        <p:spPr/>
        <p:txBody>
          <a:bodyPr/>
          <a:lstStyle/>
          <a:p>
            <a:r>
              <a:rPr lang="en-US" dirty="0" smtClean="0"/>
              <a:t>May, 2012</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20483" name="Rectangle 2"/>
          <p:cNvSpPr>
            <a:spLocks noGrp="1" noChangeArrowheads="1"/>
          </p:cNvSpPr>
          <p:nvPr>
            <p:ph type="title"/>
          </p:nvPr>
        </p:nvSpPr>
        <p:spPr>
          <a:xfrm>
            <a:off x="455613" y="839788"/>
            <a:ext cx="6783387" cy="914400"/>
          </a:xfrm>
        </p:spPr>
        <p:txBody>
          <a:bodyPr/>
          <a:lstStyle/>
          <a:p>
            <a:r>
              <a:rPr lang="en-US" smtClean="0"/>
              <a:t>Today:</a:t>
            </a:r>
          </a:p>
        </p:txBody>
      </p:sp>
      <p:sp>
        <p:nvSpPr>
          <p:cNvPr id="20484" name="Rectangle 3"/>
          <p:cNvSpPr>
            <a:spLocks noGrp="1" noChangeArrowheads="1"/>
          </p:cNvSpPr>
          <p:nvPr>
            <p:ph type="body" idx="1"/>
          </p:nvPr>
        </p:nvSpPr>
        <p:spPr/>
        <p:txBody>
          <a:bodyPr/>
          <a:lstStyle/>
          <a:p>
            <a:r>
              <a:rPr lang="en-US" smtClean="0"/>
              <a:t>Remind you of the mentoring purpose and expectations</a:t>
            </a:r>
          </a:p>
          <a:p>
            <a:r>
              <a:rPr lang="en-US" smtClean="0"/>
              <a:t>Start building the relationship and trust</a:t>
            </a:r>
          </a:p>
          <a:p>
            <a:r>
              <a:rPr lang="en-US" smtClean="0"/>
              <a:t>Apply mentoring skills</a:t>
            </a:r>
          </a:p>
          <a:p>
            <a:r>
              <a:rPr lang="en-US" smtClean="0"/>
              <a:t>Help mentors and mentees determine the focus of their work and how they want to work together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21507" name="Rectangle 2"/>
          <p:cNvSpPr>
            <a:spLocks noGrp="1" noChangeArrowheads="1"/>
          </p:cNvSpPr>
          <p:nvPr>
            <p:ph type="title"/>
          </p:nvPr>
        </p:nvSpPr>
        <p:spPr/>
        <p:txBody>
          <a:bodyPr/>
          <a:lstStyle/>
          <a:p>
            <a:r>
              <a:rPr lang="en-US" smtClean="0"/>
              <a:t>Mentoring</a:t>
            </a:r>
          </a:p>
        </p:txBody>
      </p:sp>
      <p:sp>
        <p:nvSpPr>
          <p:cNvPr id="21508" name="Text Box 3"/>
          <p:cNvSpPr txBox="1">
            <a:spLocks noChangeArrowheads="1"/>
          </p:cNvSpPr>
          <p:nvPr/>
        </p:nvSpPr>
        <p:spPr bwMode="auto">
          <a:xfrm>
            <a:off x="762000" y="4419600"/>
            <a:ext cx="6858000" cy="457200"/>
          </a:xfrm>
          <a:prstGeom prst="rect">
            <a:avLst/>
          </a:prstGeom>
          <a:noFill/>
          <a:ln w="9525">
            <a:noFill/>
            <a:miter lim="800000"/>
            <a:headEnd/>
            <a:tailEnd/>
          </a:ln>
        </p:spPr>
        <p:txBody>
          <a:bodyPr>
            <a:spAutoFit/>
          </a:bodyPr>
          <a:lstStyle/>
          <a:p>
            <a:pPr eaLnBrk="0" hangingPunct="0">
              <a:spcBef>
                <a:spcPct val="50000"/>
              </a:spcBef>
            </a:pPr>
            <a:endParaRPr lang="en-US" sz="2400">
              <a:solidFill>
                <a:srgbClr val="000000"/>
              </a:solidFill>
            </a:endParaRPr>
          </a:p>
        </p:txBody>
      </p:sp>
      <p:sp>
        <p:nvSpPr>
          <p:cNvPr id="21509" name="Text Box 4"/>
          <p:cNvSpPr txBox="1">
            <a:spLocks noChangeArrowheads="1"/>
          </p:cNvSpPr>
          <p:nvPr/>
        </p:nvSpPr>
        <p:spPr bwMode="auto">
          <a:xfrm>
            <a:off x="228600" y="1692275"/>
            <a:ext cx="4114800" cy="822325"/>
          </a:xfrm>
          <a:prstGeom prst="rect">
            <a:avLst/>
          </a:prstGeom>
          <a:noFill/>
          <a:ln w="9525">
            <a:noFill/>
            <a:miter lim="800000"/>
            <a:headEnd/>
            <a:tailEnd/>
          </a:ln>
        </p:spPr>
        <p:txBody>
          <a:bodyPr>
            <a:spAutoFit/>
          </a:bodyPr>
          <a:lstStyle/>
          <a:p>
            <a:pPr algn="ctr" eaLnBrk="0" hangingPunct="0">
              <a:spcBef>
                <a:spcPct val="50000"/>
              </a:spcBef>
            </a:pPr>
            <a:r>
              <a:rPr lang="en-US" sz="2400">
                <a:solidFill>
                  <a:srgbClr val="000000"/>
                </a:solidFill>
              </a:rPr>
              <a:t>Helping Mentees Prepare for their Next Role</a:t>
            </a:r>
          </a:p>
        </p:txBody>
      </p:sp>
      <p:sp>
        <p:nvSpPr>
          <p:cNvPr id="21510" name="Freeform 5"/>
          <p:cNvSpPr>
            <a:spLocks/>
          </p:cNvSpPr>
          <p:nvPr/>
        </p:nvSpPr>
        <p:spPr bwMode="auto">
          <a:xfrm>
            <a:off x="76200" y="1803400"/>
            <a:ext cx="9067800" cy="4368800"/>
          </a:xfrm>
          <a:custGeom>
            <a:avLst/>
            <a:gdLst>
              <a:gd name="T0" fmla="*/ 0 w 5712"/>
              <a:gd name="T1" fmla="*/ 2147483647 h 2752"/>
              <a:gd name="T2" fmla="*/ 1209674983 w 5712"/>
              <a:gd name="T3" fmla="*/ 2147483647 h 2752"/>
              <a:gd name="T4" fmla="*/ 2147483647 w 5712"/>
              <a:gd name="T5" fmla="*/ 2147483647 h 2752"/>
              <a:gd name="T6" fmla="*/ 2147483647 w 5712"/>
              <a:gd name="T7" fmla="*/ 2147483647 h 2752"/>
              <a:gd name="T8" fmla="*/ 2147483647 w 5712"/>
              <a:gd name="T9" fmla="*/ 2147483647 h 2752"/>
              <a:gd name="T10" fmla="*/ 2147483647 w 5712"/>
              <a:gd name="T11" fmla="*/ 1129029996 h 2752"/>
              <a:gd name="T12" fmla="*/ 2147483647 w 5712"/>
              <a:gd name="T13" fmla="*/ 161289992 h 2752"/>
              <a:gd name="T14" fmla="*/ 2147483647 w 5712"/>
              <a:gd name="T15" fmla="*/ 161289992 h 2752"/>
              <a:gd name="T16" fmla="*/ 2147483647 w 5712"/>
              <a:gd name="T17" fmla="*/ 403224956 h 2752"/>
              <a:gd name="T18" fmla="*/ 2147483647 w 5712"/>
              <a:gd name="T19" fmla="*/ 403224956 h 2752"/>
              <a:gd name="T20" fmla="*/ 2147483647 w 5712"/>
              <a:gd name="T21" fmla="*/ 1975802593 h 2752"/>
              <a:gd name="T22" fmla="*/ 2147483647 w 5712"/>
              <a:gd name="T23" fmla="*/ 2147483647 h 2752"/>
              <a:gd name="T24" fmla="*/ 2147483647 w 5712"/>
              <a:gd name="T25" fmla="*/ 2147483647 h 27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712"/>
              <a:gd name="T40" fmla="*/ 0 h 2752"/>
              <a:gd name="T41" fmla="*/ 5712 w 5712"/>
              <a:gd name="T42" fmla="*/ 2752 h 27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712" h="2752">
                <a:moveTo>
                  <a:pt x="0" y="2752"/>
                </a:moveTo>
                <a:cubicBezTo>
                  <a:pt x="164" y="2692"/>
                  <a:pt x="328" y="2632"/>
                  <a:pt x="480" y="2512"/>
                </a:cubicBezTo>
                <a:cubicBezTo>
                  <a:pt x="632" y="2392"/>
                  <a:pt x="728" y="2200"/>
                  <a:pt x="912" y="2032"/>
                </a:cubicBezTo>
                <a:cubicBezTo>
                  <a:pt x="1096" y="1864"/>
                  <a:pt x="1384" y="1640"/>
                  <a:pt x="1584" y="1504"/>
                </a:cubicBezTo>
                <a:cubicBezTo>
                  <a:pt x="1784" y="1368"/>
                  <a:pt x="1928" y="1392"/>
                  <a:pt x="2112" y="1216"/>
                </a:cubicBezTo>
                <a:cubicBezTo>
                  <a:pt x="2296" y="1040"/>
                  <a:pt x="2552" y="640"/>
                  <a:pt x="2688" y="448"/>
                </a:cubicBezTo>
                <a:cubicBezTo>
                  <a:pt x="2824" y="256"/>
                  <a:pt x="2816" y="128"/>
                  <a:pt x="2928" y="64"/>
                </a:cubicBezTo>
                <a:cubicBezTo>
                  <a:pt x="3040" y="0"/>
                  <a:pt x="3256" y="48"/>
                  <a:pt x="3360" y="64"/>
                </a:cubicBezTo>
                <a:cubicBezTo>
                  <a:pt x="3464" y="80"/>
                  <a:pt x="3456" y="144"/>
                  <a:pt x="3552" y="160"/>
                </a:cubicBezTo>
                <a:cubicBezTo>
                  <a:pt x="3648" y="176"/>
                  <a:pt x="3776" y="56"/>
                  <a:pt x="3936" y="160"/>
                </a:cubicBezTo>
                <a:cubicBezTo>
                  <a:pt x="4096" y="264"/>
                  <a:pt x="4304" y="584"/>
                  <a:pt x="4512" y="784"/>
                </a:cubicBezTo>
                <a:cubicBezTo>
                  <a:pt x="4720" y="984"/>
                  <a:pt x="4984" y="1128"/>
                  <a:pt x="5184" y="1360"/>
                </a:cubicBezTo>
                <a:cubicBezTo>
                  <a:pt x="5384" y="1592"/>
                  <a:pt x="5548" y="1884"/>
                  <a:pt x="5712" y="2176"/>
                </a:cubicBezTo>
              </a:path>
            </a:pathLst>
          </a:custGeom>
          <a:noFill/>
          <a:ln w="38100">
            <a:solidFill>
              <a:schemeClr val="accent1"/>
            </a:solidFill>
            <a:round/>
            <a:headEnd/>
            <a:tailEnd/>
          </a:ln>
        </p:spPr>
        <p:txBody>
          <a:bodyPr/>
          <a:lstStyle/>
          <a:p>
            <a:endParaRPr lang="en-US"/>
          </a:p>
        </p:txBody>
      </p:sp>
      <p:sp>
        <p:nvSpPr>
          <p:cNvPr id="425990" name="Text Box 6"/>
          <p:cNvSpPr txBox="1">
            <a:spLocks noChangeArrowheads="1"/>
          </p:cNvSpPr>
          <p:nvPr/>
        </p:nvSpPr>
        <p:spPr bwMode="auto">
          <a:xfrm>
            <a:off x="1371600" y="5638800"/>
            <a:ext cx="6019800" cy="396875"/>
          </a:xfrm>
          <a:prstGeom prst="rect">
            <a:avLst/>
          </a:prstGeom>
          <a:noFill/>
          <a:ln w="9525">
            <a:noFill/>
            <a:miter lim="800000"/>
            <a:headEnd/>
            <a:tailEnd/>
          </a:ln>
        </p:spPr>
        <p:txBody>
          <a:bodyPr>
            <a:spAutoFit/>
          </a:bodyPr>
          <a:lstStyle/>
          <a:p>
            <a:pPr eaLnBrk="0" hangingPunct="0">
              <a:spcBef>
                <a:spcPct val="50000"/>
              </a:spcBef>
            </a:pPr>
            <a:r>
              <a:rPr lang="en-US" sz="2000" b="1">
                <a:solidFill>
                  <a:srgbClr val="000000"/>
                </a:solidFill>
              </a:rPr>
              <a:t>Broaden or learn a director-level activity</a:t>
            </a:r>
          </a:p>
        </p:txBody>
      </p:sp>
      <p:sp>
        <p:nvSpPr>
          <p:cNvPr id="425991" name="Text Box 7"/>
          <p:cNvSpPr txBox="1">
            <a:spLocks noChangeArrowheads="1"/>
          </p:cNvSpPr>
          <p:nvPr/>
        </p:nvSpPr>
        <p:spPr bwMode="auto">
          <a:xfrm>
            <a:off x="2971800" y="4038600"/>
            <a:ext cx="4572000" cy="336550"/>
          </a:xfrm>
          <a:prstGeom prst="rect">
            <a:avLst/>
          </a:prstGeom>
          <a:noFill/>
          <a:ln w="9525">
            <a:noFill/>
            <a:miter lim="800000"/>
            <a:headEnd/>
            <a:tailEnd/>
          </a:ln>
        </p:spPr>
        <p:txBody>
          <a:bodyPr>
            <a:spAutoFit/>
          </a:bodyPr>
          <a:lstStyle/>
          <a:p>
            <a:pPr lvl="1">
              <a:lnSpc>
                <a:spcPct val="80000"/>
              </a:lnSpc>
              <a:spcBef>
                <a:spcPct val="20000"/>
              </a:spcBef>
            </a:pPr>
            <a:r>
              <a:rPr lang="en-US" sz="2000" b="1">
                <a:solidFill>
                  <a:srgbClr val="000000"/>
                </a:solidFill>
              </a:rPr>
              <a:t>Navigate the culture</a:t>
            </a:r>
          </a:p>
        </p:txBody>
      </p:sp>
      <p:sp>
        <p:nvSpPr>
          <p:cNvPr id="425992" name="Text Box 8"/>
          <p:cNvSpPr txBox="1">
            <a:spLocks noChangeArrowheads="1"/>
          </p:cNvSpPr>
          <p:nvPr/>
        </p:nvSpPr>
        <p:spPr bwMode="auto">
          <a:xfrm>
            <a:off x="2286000" y="4572000"/>
            <a:ext cx="7239000" cy="336550"/>
          </a:xfrm>
          <a:prstGeom prst="rect">
            <a:avLst/>
          </a:prstGeom>
          <a:noFill/>
          <a:ln w="9525">
            <a:noFill/>
            <a:miter lim="800000"/>
            <a:headEnd/>
            <a:tailEnd/>
          </a:ln>
        </p:spPr>
        <p:txBody>
          <a:bodyPr>
            <a:spAutoFit/>
          </a:bodyPr>
          <a:lstStyle/>
          <a:p>
            <a:pPr lvl="1">
              <a:lnSpc>
                <a:spcPct val="80000"/>
              </a:lnSpc>
              <a:spcBef>
                <a:spcPct val="20000"/>
              </a:spcBef>
            </a:pPr>
            <a:r>
              <a:rPr lang="en-US" sz="2000" b="1">
                <a:solidFill>
                  <a:srgbClr val="000000"/>
                </a:solidFill>
              </a:rPr>
              <a:t>Direction for a current business challenge</a:t>
            </a:r>
          </a:p>
        </p:txBody>
      </p:sp>
      <p:sp>
        <p:nvSpPr>
          <p:cNvPr id="425993" name="Text Box 9"/>
          <p:cNvSpPr txBox="1">
            <a:spLocks noChangeArrowheads="1"/>
          </p:cNvSpPr>
          <p:nvPr/>
        </p:nvSpPr>
        <p:spPr bwMode="auto">
          <a:xfrm>
            <a:off x="4267200" y="2514600"/>
            <a:ext cx="3124200" cy="336550"/>
          </a:xfrm>
          <a:prstGeom prst="rect">
            <a:avLst/>
          </a:prstGeom>
          <a:noFill/>
          <a:ln w="9525">
            <a:noFill/>
            <a:miter lim="800000"/>
            <a:headEnd/>
            <a:tailEnd/>
          </a:ln>
        </p:spPr>
        <p:txBody>
          <a:bodyPr>
            <a:spAutoFit/>
          </a:bodyPr>
          <a:lstStyle/>
          <a:p>
            <a:pPr lvl="1">
              <a:lnSpc>
                <a:spcPct val="80000"/>
              </a:lnSpc>
              <a:spcBef>
                <a:spcPct val="20000"/>
              </a:spcBef>
            </a:pPr>
            <a:r>
              <a:rPr lang="en-US" sz="2000" b="1">
                <a:solidFill>
                  <a:srgbClr val="000000"/>
                </a:solidFill>
              </a:rPr>
              <a:t>Career direction</a:t>
            </a:r>
          </a:p>
        </p:txBody>
      </p:sp>
      <p:sp>
        <p:nvSpPr>
          <p:cNvPr id="425994" name="Text Box 10"/>
          <p:cNvSpPr txBox="1">
            <a:spLocks noChangeArrowheads="1"/>
          </p:cNvSpPr>
          <p:nvPr/>
        </p:nvSpPr>
        <p:spPr bwMode="auto">
          <a:xfrm>
            <a:off x="3429000" y="3505200"/>
            <a:ext cx="5486400" cy="336550"/>
          </a:xfrm>
          <a:prstGeom prst="rect">
            <a:avLst/>
          </a:prstGeom>
          <a:noFill/>
          <a:ln w="9525">
            <a:noFill/>
            <a:miter lim="800000"/>
            <a:headEnd/>
            <a:tailEnd/>
          </a:ln>
        </p:spPr>
        <p:txBody>
          <a:bodyPr>
            <a:spAutoFit/>
          </a:bodyPr>
          <a:lstStyle/>
          <a:p>
            <a:pPr lvl="1">
              <a:lnSpc>
                <a:spcPct val="80000"/>
              </a:lnSpc>
              <a:spcBef>
                <a:spcPct val="20000"/>
              </a:spcBef>
            </a:pPr>
            <a:r>
              <a:rPr lang="en-US" sz="2000" b="1">
                <a:solidFill>
                  <a:srgbClr val="000000"/>
                </a:solidFill>
              </a:rPr>
              <a:t>Relationship with stakeholders</a:t>
            </a:r>
          </a:p>
        </p:txBody>
      </p:sp>
      <p:sp>
        <p:nvSpPr>
          <p:cNvPr id="21516" name="Freeform 11"/>
          <p:cNvSpPr>
            <a:spLocks/>
          </p:cNvSpPr>
          <p:nvPr/>
        </p:nvSpPr>
        <p:spPr bwMode="auto">
          <a:xfrm>
            <a:off x="609600" y="2057400"/>
            <a:ext cx="5029200" cy="4267200"/>
          </a:xfrm>
          <a:custGeom>
            <a:avLst/>
            <a:gdLst>
              <a:gd name="T0" fmla="*/ 0 w 3088"/>
              <a:gd name="T1" fmla="*/ 2147483647 h 2688"/>
              <a:gd name="T2" fmla="*/ 1400480702 w 3088"/>
              <a:gd name="T3" fmla="*/ 2147483647 h 2688"/>
              <a:gd name="T4" fmla="*/ 2147483647 w 3088"/>
              <a:gd name="T5" fmla="*/ 2147483647 h 2688"/>
              <a:gd name="T6" fmla="*/ 2147483647 w 3088"/>
              <a:gd name="T7" fmla="*/ 2147483647 h 2688"/>
              <a:gd name="T8" fmla="*/ 2147483647 w 3088"/>
              <a:gd name="T9" fmla="*/ 2147483647 h 2688"/>
              <a:gd name="T10" fmla="*/ 2147483647 w 3088"/>
              <a:gd name="T11" fmla="*/ 1088707501 h 2688"/>
              <a:gd name="T12" fmla="*/ 2147483647 w 3088"/>
              <a:gd name="T13" fmla="*/ 241935011 h 2688"/>
              <a:gd name="T14" fmla="*/ 2147483647 w 3088"/>
              <a:gd name="T15" fmla="*/ 0 h 2688"/>
              <a:gd name="T16" fmla="*/ 0 60000 65536"/>
              <a:gd name="T17" fmla="*/ 0 60000 65536"/>
              <a:gd name="T18" fmla="*/ 0 60000 65536"/>
              <a:gd name="T19" fmla="*/ 0 60000 65536"/>
              <a:gd name="T20" fmla="*/ 0 60000 65536"/>
              <a:gd name="T21" fmla="*/ 0 60000 65536"/>
              <a:gd name="T22" fmla="*/ 0 60000 65536"/>
              <a:gd name="T23" fmla="*/ 0 60000 65536"/>
              <a:gd name="T24" fmla="*/ 0 w 3088"/>
              <a:gd name="T25" fmla="*/ 0 h 2688"/>
              <a:gd name="T26" fmla="*/ 3088 w 3088"/>
              <a:gd name="T27" fmla="*/ 2688 h 26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88" h="2688">
                <a:moveTo>
                  <a:pt x="0" y="2688"/>
                </a:moveTo>
                <a:cubicBezTo>
                  <a:pt x="172" y="2500"/>
                  <a:pt x="344" y="2312"/>
                  <a:pt x="528" y="2160"/>
                </a:cubicBezTo>
                <a:cubicBezTo>
                  <a:pt x="712" y="2008"/>
                  <a:pt x="960" y="1896"/>
                  <a:pt x="1104" y="1776"/>
                </a:cubicBezTo>
                <a:cubicBezTo>
                  <a:pt x="1248" y="1656"/>
                  <a:pt x="1248" y="1592"/>
                  <a:pt x="1392" y="1440"/>
                </a:cubicBezTo>
                <a:cubicBezTo>
                  <a:pt x="1536" y="1288"/>
                  <a:pt x="1808" y="1032"/>
                  <a:pt x="1968" y="864"/>
                </a:cubicBezTo>
                <a:cubicBezTo>
                  <a:pt x="2128" y="696"/>
                  <a:pt x="2184" y="560"/>
                  <a:pt x="2352" y="432"/>
                </a:cubicBezTo>
                <a:cubicBezTo>
                  <a:pt x="2520" y="304"/>
                  <a:pt x="2864" y="168"/>
                  <a:pt x="2976" y="96"/>
                </a:cubicBezTo>
                <a:cubicBezTo>
                  <a:pt x="3088" y="24"/>
                  <a:pt x="3016" y="16"/>
                  <a:pt x="3024" y="0"/>
                </a:cubicBezTo>
              </a:path>
            </a:pathLst>
          </a:custGeom>
          <a:noFill/>
          <a:ln w="25400">
            <a:solidFill>
              <a:srgbClr val="FF0000"/>
            </a:solidFill>
            <a:prstDash val="dash"/>
            <a:round/>
            <a:headEnd/>
            <a:tailEnd/>
          </a:ln>
        </p:spPr>
        <p:txBody>
          <a:bodyPr/>
          <a:lstStyle/>
          <a:p>
            <a:endParaRPr lang="en-US"/>
          </a:p>
        </p:txBody>
      </p:sp>
      <p:sp>
        <p:nvSpPr>
          <p:cNvPr id="21517" name="Text Box 12"/>
          <p:cNvSpPr txBox="1">
            <a:spLocks noChangeArrowheads="1"/>
          </p:cNvSpPr>
          <p:nvPr/>
        </p:nvSpPr>
        <p:spPr bwMode="auto">
          <a:xfrm>
            <a:off x="5334000" y="1600200"/>
            <a:ext cx="381000" cy="457200"/>
          </a:xfrm>
          <a:prstGeom prst="rect">
            <a:avLst/>
          </a:prstGeom>
          <a:noFill/>
          <a:ln w="9525">
            <a:noFill/>
            <a:miter lim="800000"/>
            <a:headEnd/>
            <a:tailEnd/>
          </a:ln>
        </p:spPr>
        <p:txBody>
          <a:bodyPr>
            <a:spAutoFit/>
          </a:bodyPr>
          <a:lstStyle/>
          <a:p>
            <a:pPr eaLnBrk="0" hangingPunct="0">
              <a:spcBef>
                <a:spcPct val="50000"/>
              </a:spcBef>
            </a:pPr>
            <a:r>
              <a:rPr lang="en-US" sz="2400">
                <a:solidFill>
                  <a:srgbClr val="FF0000"/>
                </a:solidFill>
              </a:rPr>
              <a:t>X</a:t>
            </a:r>
          </a:p>
        </p:txBody>
      </p:sp>
      <p:sp>
        <p:nvSpPr>
          <p:cNvPr id="425997" name="Text Box 13"/>
          <p:cNvSpPr txBox="1">
            <a:spLocks noChangeArrowheads="1"/>
          </p:cNvSpPr>
          <p:nvPr/>
        </p:nvSpPr>
        <p:spPr bwMode="auto">
          <a:xfrm>
            <a:off x="4267200" y="2955925"/>
            <a:ext cx="3276600" cy="396875"/>
          </a:xfrm>
          <a:prstGeom prst="rect">
            <a:avLst/>
          </a:prstGeom>
          <a:noFill/>
          <a:ln w="9525">
            <a:noFill/>
            <a:miter lim="800000"/>
            <a:headEnd/>
            <a:tailEnd/>
          </a:ln>
        </p:spPr>
        <p:txBody>
          <a:bodyPr>
            <a:spAutoFit/>
          </a:bodyPr>
          <a:lstStyle/>
          <a:p>
            <a:pPr eaLnBrk="0" hangingPunct="0">
              <a:spcBef>
                <a:spcPct val="50000"/>
              </a:spcBef>
            </a:pPr>
            <a:r>
              <a:rPr lang="en-US" sz="2000" b="1">
                <a:solidFill>
                  <a:srgbClr val="000000"/>
                </a:solidFill>
              </a:rPr>
              <a:t>Change a behavior</a:t>
            </a:r>
          </a:p>
        </p:txBody>
      </p:sp>
      <p:sp>
        <p:nvSpPr>
          <p:cNvPr id="425998" name="Text Box 14"/>
          <p:cNvSpPr txBox="1">
            <a:spLocks noChangeArrowheads="1"/>
          </p:cNvSpPr>
          <p:nvPr/>
        </p:nvSpPr>
        <p:spPr bwMode="auto">
          <a:xfrm>
            <a:off x="2133600" y="5105400"/>
            <a:ext cx="5867400" cy="396875"/>
          </a:xfrm>
          <a:prstGeom prst="rect">
            <a:avLst/>
          </a:prstGeom>
          <a:noFill/>
          <a:ln w="9525">
            <a:noFill/>
            <a:miter lim="800000"/>
            <a:headEnd/>
            <a:tailEnd/>
          </a:ln>
        </p:spPr>
        <p:txBody>
          <a:bodyPr>
            <a:spAutoFit/>
          </a:bodyPr>
          <a:lstStyle/>
          <a:p>
            <a:pPr eaLnBrk="0" hangingPunct="0">
              <a:spcBef>
                <a:spcPct val="50000"/>
              </a:spcBef>
            </a:pPr>
            <a:r>
              <a:rPr lang="en-US" sz="2000" b="1">
                <a:solidFill>
                  <a:srgbClr val="000000"/>
                </a:solidFill>
              </a:rPr>
              <a:t>Learn a skill outside your existing 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9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59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599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599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59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599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59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90" grpId="0"/>
      <p:bldP spid="425992" grpId="0"/>
      <p:bldP spid="425993" grpId="0"/>
      <p:bldP spid="425994" grpId="0"/>
      <p:bldP spid="425997" grpId="0"/>
      <p:bldP spid="42599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p:txBody>
          <a:bodyPr/>
          <a:lstStyle/>
          <a:p>
            <a:pPr fontAlgn="base">
              <a:spcAft>
                <a:spcPct val="0"/>
              </a:spcAft>
              <a:defRPr/>
            </a:pPr>
            <a:r>
              <a:rPr lang="en-US" smtClean="0"/>
              <a:t>Children’s Center for Leadership                                                               	</a:t>
            </a:r>
          </a:p>
        </p:txBody>
      </p:sp>
      <p:sp>
        <p:nvSpPr>
          <p:cNvPr id="22531" name="Rectangle 2"/>
          <p:cNvSpPr>
            <a:spLocks noGrp="1" noChangeArrowheads="1"/>
          </p:cNvSpPr>
          <p:nvPr>
            <p:ph type="title"/>
          </p:nvPr>
        </p:nvSpPr>
        <p:spPr>
          <a:xfrm>
            <a:off x="455613" y="839788"/>
            <a:ext cx="6249987" cy="914400"/>
          </a:xfrm>
        </p:spPr>
        <p:txBody>
          <a:bodyPr/>
          <a:lstStyle/>
          <a:p>
            <a:r>
              <a:rPr lang="en-US" smtClean="0"/>
              <a:t>Why Mentors Matter</a:t>
            </a:r>
          </a:p>
        </p:txBody>
      </p:sp>
      <p:sp>
        <p:nvSpPr>
          <p:cNvPr id="428035" name="Rectangle 3"/>
          <p:cNvSpPr>
            <a:spLocks noChangeArrowheads="1"/>
          </p:cNvSpPr>
          <p:nvPr/>
        </p:nvSpPr>
        <p:spPr bwMode="auto">
          <a:xfrm>
            <a:off x="7583488" y="5465763"/>
            <a:ext cx="1103312" cy="660400"/>
          </a:xfrm>
          <a:prstGeom prst="rect">
            <a:avLst/>
          </a:prstGeom>
          <a:noFill/>
          <a:ln w="9525">
            <a:noFill/>
            <a:miter lim="800000"/>
            <a:headEnd/>
            <a:tailEnd/>
          </a:ln>
        </p:spPr>
        <p:txBody>
          <a:bodyPr/>
          <a:lstStyle/>
          <a:p>
            <a:pPr eaLnBrk="0" hangingPunct="0">
              <a:spcBef>
                <a:spcPct val="20000"/>
              </a:spcBef>
            </a:pPr>
            <a:endParaRPr lang="en-US">
              <a:solidFill>
                <a:srgbClr val="000000"/>
              </a:solidFill>
              <a:latin typeface="Verdana" pitchFamily="34" charset="0"/>
            </a:endParaRPr>
          </a:p>
        </p:txBody>
      </p:sp>
      <p:sp>
        <p:nvSpPr>
          <p:cNvPr id="428036" name="Rectangle 4"/>
          <p:cNvSpPr>
            <a:spLocks noChangeArrowheads="1"/>
          </p:cNvSpPr>
          <p:nvPr/>
        </p:nvSpPr>
        <p:spPr bwMode="auto">
          <a:xfrm>
            <a:off x="6411913" y="5465763"/>
            <a:ext cx="1171575" cy="660400"/>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37" name="Rectangle 5"/>
          <p:cNvSpPr>
            <a:spLocks noChangeArrowheads="1"/>
          </p:cNvSpPr>
          <p:nvPr/>
        </p:nvSpPr>
        <p:spPr bwMode="auto">
          <a:xfrm>
            <a:off x="5241925" y="5465763"/>
            <a:ext cx="1169988" cy="660400"/>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38" name="Rectangle 6"/>
          <p:cNvSpPr>
            <a:spLocks noChangeArrowheads="1"/>
          </p:cNvSpPr>
          <p:nvPr/>
        </p:nvSpPr>
        <p:spPr bwMode="auto">
          <a:xfrm>
            <a:off x="457200" y="5465763"/>
            <a:ext cx="4784725" cy="660400"/>
          </a:xfrm>
          <a:prstGeom prst="rect">
            <a:avLst/>
          </a:prstGeom>
          <a:noFill/>
          <a:ln w="9525">
            <a:noFill/>
            <a:miter lim="800000"/>
            <a:headEnd/>
            <a:tailEnd/>
          </a:ln>
        </p:spPr>
        <p:txBody>
          <a:bodyPr/>
          <a:lstStyle/>
          <a:p>
            <a:pPr marL="342900" indent="-342900" eaLnBrk="0" hangingPunct="0"/>
            <a:r>
              <a:rPr lang="en-US">
                <a:solidFill>
                  <a:srgbClr val="000000"/>
                </a:solidFill>
                <a:latin typeface="Verdana" pitchFamily="34" charset="0"/>
                <a:cs typeface="Times New Roman" pitchFamily="18" charset="0"/>
              </a:rPr>
              <a:t>Organizational knowledge to navigate</a:t>
            </a:r>
            <a:endParaRPr lang="en-US">
              <a:solidFill>
                <a:srgbClr val="000000"/>
              </a:solidFill>
              <a:latin typeface="Verdana" pitchFamily="34" charset="0"/>
            </a:endParaRPr>
          </a:p>
        </p:txBody>
      </p:sp>
      <p:sp>
        <p:nvSpPr>
          <p:cNvPr id="428039" name="Rectangle 7"/>
          <p:cNvSpPr>
            <a:spLocks noChangeArrowheads="1"/>
          </p:cNvSpPr>
          <p:nvPr/>
        </p:nvSpPr>
        <p:spPr bwMode="auto">
          <a:xfrm>
            <a:off x="7583488" y="4805363"/>
            <a:ext cx="1103312" cy="660400"/>
          </a:xfrm>
          <a:prstGeom prst="rect">
            <a:avLst/>
          </a:prstGeom>
          <a:noFill/>
          <a:ln w="9525">
            <a:noFill/>
            <a:miter lim="800000"/>
            <a:headEnd/>
            <a:tailEnd/>
          </a:ln>
        </p:spPr>
        <p:txBody>
          <a:bodyPr/>
          <a:lstStyle/>
          <a:p>
            <a:pPr eaLnBrk="0" hangingPunct="0">
              <a:spcBef>
                <a:spcPct val="20000"/>
              </a:spcBef>
            </a:pPr>
            <a:endParaRPr lang="en-US">
              <a:solidFill>
                <a:srgbClr val="000000"/>
              </a:solidFill>
              <a:latin typeface="Verdana" pitchFamily="34" charset="0"/>
            </a:endParaRPr>
          </a:p>
        </p:txBody>
      </p:sp>
      <p:sp>
        <p:nvSpPr>
          <p:cNvPr id="428040" name="Rectangle 8"/>
          <p:cNvSpPr>
            <a:spLocks noChangeArrowheads="1"/>
          </p:cNvSpPr>
          <p:nvPr/>
        </p:nvSpPr>
        <p:spPr bwMode="auto">
          <a:xfrm>
            <a:off x="6411913" y="4805363"/>
            <a:ext cx="1171575" cy="660400"/>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41" name="Rectangle 9"/>
          <p:cNvSpPr>
            <a:spLocks noChangeArrowheads="1"/>
          </p:cNvSpPr>
          <p:nvPr/>
        </p:nvSpPr>
        <p:spPr bwMode="auto">
          <a:xfrm>
            <a:off x="5241925" y="4805363"/>
            <a:ext cx="1169988" cy="660400"/>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42" name="Rectangle 10"/>
          <p:cNvSpPr>
            <a:spLocks noChangeArrowheads="1"/>
          </p:cNvSpPr>
          <p:nvPr/>
        </p:nvSpPr>
        <p:spPr bwMode="auto">
          <a:xfrm>
            <a:off x="457200" y="4805363"/>
            <a:ext cx="4784725" cy="660400"/>
          </a:xfrm>
          <a:prstGeom prst="rect">
            <a:avLst/>
          </a:prstGeom>
          <a:noFill/>
          <a:ln w="9525">
            <a:noFill/>
            <a:miter lim="800000"/>
            <a:headEnd/>
            <a:tailEnd/>
          </a:ln>
        </p:spPr>
        <p:txBody>
          <a:bodyPr/>
          <a:lstStyle/>
          <a:p>
            <a:pPr marL="342900" indent="-342900" eaLnBrk="0" hangingPunct="0"/>
            <a:r>
              <a:rPr lang="en-US">
                <a:solidFill>
                  <a:srgbClr val="000000"/>
                </a:solidFill>
                <a:latin typeface="Verdana" pitchFamily="34" charset="0"/>
                <a:cs typeface="Times New Roman" pitchFamily="18" charset="0"/>
              </a:rPr>
              <a:t>Exposure to director-level activities</a:t>
            </a:r>
            <a:endParaRPr lang="en-US">
              <a:solidFill>
                <a:srgbClr val="000000"/>
              </a:solidFill>
              <a:latin typeface="Verdana" pitchFamily="34" charset="0"/>
            </a:endParaRPr>
          </a:p>
        </p:txBody>
      </p:sp>
      <p:sp>
        <p:nvSpPr>
          <p:cNvPr id="428043" name="Rectangle 11"/>
          <p:cNvSpPr>
            <a:spLocks noChangeArrowheads="1"/>
          </p:cNvSpPr>
          <p:nvPr/>
        </p:nvSpPr>
        <p:spPr bwMode="auto">
          <a:xfrm>
            <a:off x="7583488" y="4144963"/>
            <a:ext cx="1103312" cy="660400"/>
          </a:xfrm>
          <a:prstGeom prst="rect">
            <a:avLst/>
          </a:prstGeom>
          <a:noFill/>
          <a:ln w="9525">
            <a:noFill/>
            <a:miter lim="800000"/>
            <a:headEnd/>
            <a:tailEnd/>
          </a:ln>
        </p:spPr>
        <p:txBody>
          <a:bodyPr/>
          <a:lstStyle/>
          <a:p>
            <a:pPr eaLnBrk="0" hangingPunct="0">
              <a:spcBef>
                <a:spcPct val="20000"/>
              </a:spcBef>
            </a:pPr>
            <a:endParaRPr lang="en-US">
              <a:solidFill>
                <a:srgbClr val="000000"/>
              </a:solidFill>
              <a:latin typeface="Verdana" pitchFamily="34" charset="0"/>
            </a:endParaRPr>
          </a:p>
        </p:txBody>
      </p:sp>
      <p:sp>
        <p:nvSpPr>
          <p:cNvPr id="428044" name="Rectangle 12"/>
          <p:cNvSpPr>
            <a:spLocks noChangeArrowheads="1"/>
          </p:cNvSpPr>
          <p:nvPr/>
        </p:nvSpPr>
        <p:spPr bwMode="auto">
          <a:xfrm>
            <a:off x="6411913" y="4144963"/>
            <a:ext cx="1171575" cy="660400"/>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45" name="Rectangle 13"/>
          <p:cNvSpPr>
            <a:spLocks noChangeArrowheads="1"/>
          </p:cNvSpPr>
          <p:nvPr/>
        </p:nvSpPr>
        <p:spPr bwMode="auto">
          <a:xfrm>
            <a:off x="5241925" y="4144963"/>
            <a:ext cx="1169988" cy="660400"/>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46" name="Rectangle 14"/>
          <p:cNvSpPr>
            <a:spLocks noChangeArrowheads="1"/>
          </p:cNvSpPr>
          <p:nvPr/>
        </p:nvSpPr>
        <p:spPr bwMode="auto">
          <a:xfrm>
            <a:off x="457200" y="4144963"/>
            <a:ext cx="4784725" cy="660400"/>
          </a:xfrm>
          <a:prstGeom prst="rect">
            <a:avLst/>
          </a:prstGeom>
          <a:noFill/>
          <a:ln w="9525">
            <a:noFill/>
            <a:miter lim="800000"/>
            <a:headEnd/>
            <a:tailEnd/>
          </a:ln>
        </p:spPr>
        <p:txBody>
          <a:bodyPr/>
          <a:lstStyle/>
          <a:p>
            <a:pPr marL="342900" indent="-342900" eaLnBrk="0" hangingPunct="0"/>
            <a:r>
              <a:rPr lang="en-US">
                <a:solidFill>
                  <a:srgbClr val="000000"/>
                </a:solidFill>
                <a:latin typeface="Verdana" pitchFamily="34" charset="0"/>
                <a:cs typeface="Times New Roman" pitchFamily="18" charset="0"/>
              </a:rPr>
              <a:t>Role models behaviors</a:t>
            </a:r>
            <a:endParaRPr lang="en-US">
              <a:solidFill>
                <a:srgbClr val="000000"/>
              </a:solidFill>
              <a:latin typeface="Verdana" pitchFamily="34" charset="0"/>
            </a:endParaRPr>
          </a:p>
        </p:txBody>
      </p:sp>
      <p:sp>
        <p:nvSpPr>
          <p:cNvPr id="428047" name="Rectangle 15"/>
          <p:cNvSpPr>
            <a:spLocks noChangeArrowheads="1"/>
          </p:cNvSpPr>
          <p:nvPr/>
        </p:nvSpPr>
        <p:spPr bwMode="auto">
          <a:xfrm>
            <a:off x="7583488" y="3684588"/>
            <a:ext cx="1103312" cy="460375"/>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48" name="Rectangle 16"/>
          <p:cNvSpPr>
            <a:spLocks noChangeArrowheads="1"/>
          </p:cNvSpPr>
          <p:nvPr/>
        </p:nvSpPr>
        <p:spPr bwMode="auto">
          <a:xfrm>
            <a:off x="6411913" y="3684588"/>
            <a:ext cx="1171575" cy="460375"/>
          </a:xfrm>
          <a:prstGeom prst="rect">
            <a:avLst/>
          </a:prstGeom>
          <a:noFill/>
          <a:ln w="9525">
            <a:noFill/>
            <a:miter lim="800000"/>
            <a:headEnd/>
            <a:tailEnd/>
          </a:ln>
        </p:spPr>
        <p:txBody>
          <a:bodyPr/>
          <a:lstStyle/>
          <a:p>
            <a:pPr marL="342900" indent="-342900" algn="ctr" eaLnBrk="0" hangingPunct="0"/>
            <a:endParaRPr lang="en-US">
              <a:solidFill>
                <a:srgbClr val="000000"/>
              </a:solidFill>
              <a:latin typeface="Verdana" pitchFamily="34" charset="0"/>
            </a:endParaRPr>
          </a:p>
        </p:txBody>
      </p:sp>
      <p:sp>
        <p:nvSpPr>
          <p:cNvPr id="428049" name="Rectangle 17"/>
          <p:cNvSpPr>
            <a:spLocks noChangeArrowheads="1"/>
          </p:cNvSpPr>
          <p:nvPr/>
        </p:nvSpPr>
        <p:spPr bwMode="auto">
          <a:xfrm>
            <a:off x="5241925" y="3684588"/>
            <a:ext cx="1169988" cy="460375"/>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50" name="Rectangle 18"/>
          <p:cNvSpPr>
            <a:spLocks noChangeArrowheads="1"/>
          </p:cNvSpPr>
          <p:nvPr/>
        </p:nvSpPr>
        <p:spPr bwMode="auto">
          <a:xfrm>
            <a:off x="457200" y="3684588"/>
            <a:ext cx="4784725" cy="460375"/>
          </a:xfrm>
          <a:prstGeom prst="rect">
            <a:avLst/>
          </a:prstGeom>
          <a:noFill/>
          <a:ln w="9525">
            <a:noFill/>
            <a:miter lim="800000"/>
            <a:headEnd/>
            <a:tailEnd/>
          </a:ln>
        </p:spPr>
        <p:txBody>
          <a:bodyPr/>
          <a:lstStyle/>
          <a:p>
            <a:pPr marL="342900" indent="-342900" eaLnBrk="0" hangingPunct="0"/>
            <a:r>
              <a:rPr lang="en-US">
                <a:solidFill>
                  <a:srgbClr val="000000"/>
                </a:solidFill>
                <a:latin typeface="Verdana" pitchFamily="34" charset="0"/>
                <a:cs typeface="Times New Roman" pitchFamily="18" charset="0"/>
              </a:rPr>
              <a:t>Confidential development conversations</a:t>
            </a:r>
            <a:endParaRPr lang="en-US">
              <a:solidFill>
                <a:srgbClr val="000000"/>
              </a:solidFill>
              <a:latin typeface="Verdana" pitchFamily="34" charset="0"/>
            </a:endParaRPr>
          </a:p>
          <a:p>
            <a:pPr marL="342900" indent="-342900" eaLnBrk="0" hangingPunct="0"/>
            <a:endParaRPr lang="en-US">
              <a:solidFill>
                <a:srgbClr val="000000"/>
              </a:solidFill>
              <a:latin typeface="Verdana" pitchFamily="34" charset="0"/>
            </a:endParaRPr>
          </a:p>
        </p:txBody>
      </p:sp>
      <p:sp>
        <p:nvSpPr>
          <p:cNvPr id="428051" name="Rectangle 19"/>
          <p:cNvSpPr>
            <a:spLocks noChangeArrowheads="1"/>
          </p:cNvSpPr>
          <p:nvPr/>
        </p:nvSpPr>
        <p:spPr bwMode="auto">
          <a:xfrm>
            <a:off x="7583488" y="3024188"/>
            <a:ext cx="1103312" cy="660400"/>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52" name="Rectangle 20"/>
          <p:cNvSpPr>
            <a:spLocks noChangeArrowheads="1"/>
          </p:cNvSpPr>
          <p:nvPr/>
        </p:nvSpPr>
        <p:spPr bwMode="auto">
          <a:xfrm>
            <a:off x="6411913" y="3024188"/>
            <a:ext cx="1171575" cy="660400"/>
          </a:xfrm>
          <a:prstGeom prst="rect">
            <a:avLst/>
          </a:prstGeom>
          <a:noFill/>
          <a:ln w="9525">
            <a:noFill/>
            <a:miter lim="800000"/>
            <a:headEnd/>
            <a:tailEnd/>
          </a:ln>
        </p:spPr>
        <p:txBody>
          <a:bodyPr/>
          <a:lstStyle/>
          <a:p>
            <a:pPr algn="ctr" eaLnBrk="0" hangingPunct="0">
              <a:spcBef>
                <a:spcPct val="20000"/>
              </a:spcBef>
            </a:pPr>
            <a:r>
              <a:rPr lang="en-US">
                <a:solidFill>
                  <a:srgbClr val="000000"/>
                </a:solidFill>
                <a:latin typeface="Verdana" pitchFamily="34" charset="0"/>
              </a:rPr>
              <a:t>x</a:t>
            </a:r>
          </a:p>
        </p:txBody>
      </p:sp>
      <p:sp>
        <p:nvSpPr>
          <p:cNvPr id="428053" name="Rectangle 21"/>
          <p:cNvSpPr>
            <a:spLocks noChangeArrowheads="1"/>
          </p:cNvSpPr>
          <p:nvPr/>
        </p:nvSpPr>
        <p:spPr bwMode="auto">
          <a:xfrm>
            <a:off x="5241925" y="3024188"/>
            <a:ext cx="1169988" cy="660400"/>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54" name="Rectangle 22"/>
          <p:cNvSpPr>
            <a:spLocks noChangeArrowheads="1"/>
          </p:cNvSpPr>
          <p:nvPr/>
        </p:nvSpPr>
        <p:spPr bwMode="auto">
          <a:xfrm>
            <a:off x="457200" y="3024188"/>
            <a:ext cx="4784725" cy="660400"/>
          </a:xfrm>
          <a:prstGeom prst="rect">
            <a:avLst/>
          </a:prstGeom>
          <a:noFill/>
          <a:ln w="9525">
            <a:noFill/>
            <a:miter lim="800000"/>
            <a:headEnd/>
            <a:tailEnd/>
          </a:ln>
        </p:spPr>
        <p:txBody>
          <a:bodyPr/>
          <a:lstStyle/>
          <a:p>
            <a:pPr marL="342900" indent="-342900" eaLnBrk="0" hangingPunct="0"/>
            <a:r>
              <a:rPr lang="en-US">
                <a:solidFill>
                  <a:srgbClr val="000000"/>
                </a:solidFill>
                <a:latin typeface="Verdana" pitchFamily="34" charset="0"/>
                <a:cs typeface="Times New Roman" pitchFamily="18" charset="0"/>
              </a:rPr>
              <a:t>Help mentee avoid mistakes</a:t>
            </a:r>
          </a:p>
        </p:txBody>
      </p:sp>
      <p:sp>
        <p:nvSpPr>
          <p:cNvPr id="428055" name="Rectangle 23"/>
          <p:cNvSpPr>
            <a:spLocks noChangeArrowheads="1"/>
          </p:cNvSpPr>
          <p:nvPr/>
        </p:nvSpPr>
        <p:spPr bwMode="auto">
          <a:xfrm>
            <a:off x="7583488" y="2565400"/>
            <a:ext cx="1103312" cy="458788"/>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56" name="Rectangle 24"/>
          <p:cNvSpPr>
            <a:spLocks noChangeArrowheads="1"/>
          </p:cNvSpPr>
          <p:nvPr/>
        </p:nvSpPr>
        <p:spPr bwMode="auto">
          <a:xfrm>
            <a:off x="6411913" y="2565400"/>
            <a:ext cx="1171575" cy="458788"/>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57" name="Rectangle 25"/>
          <p:cNvSpPr>
            <a:spLocks noChangeArrowheads="1"/>
          </p:cNvSpPr>
          <p:nvPr/>
        </p:nvSpPr>
        <p:spPr bwMode="auto">
          <a:xfrm>
            <a:off x="5241925" y="2565400"/>
            <a:ext cx="1169988" cy="458788"/>
          </a:xfrm>
          <a:prstGeom prst="rect">
            <a:avLst/>
          </a:prstGeom>
          <a:noFill/>
          <a:ln w="9525">
            <a:noFill/>
            <a:miter lim="800000"/>
            <a:headEnd/>
            <a:tailEnd/>
          </a:ln>
        </p:spPr>
        <p:txBody>
          <a:bodyPr/>
          <a:lstStyle/>
          <a:p>
            <a:pPr marL="342900" indent="-342900" algn="ctr" eaLnBrk="0" hangingPunct="0"/>
            <a:r>
              <a:rPr lang="en-US">
                <a:solidFill>
                  <a:srgbClr val="000000"/>
                </a:solidFill>
                <a:latin typeface="Verdana" pitchFamily="34" charset="0"/>
                <a:cs typeface="Times New Roman" pitchFamily="18" charset="0"/>
              </a:rPr>
              <a:t>x</a:t>
            </a:r>
            <a:endParaRPr lang="en-US">
              <a:solidFill>
                <a:srgbClr val="000000"/>
              </a:solidFill>
              <a:latin typeface="Verdana" pitchFamily="34" charset="0"/>
            </a:endParaRPr>
          </a:p>
        </p:txBody>
      </p:sp>
      <p:sp>
        <p:nvSpPr>
          <p:cNvPr id="428058" name="Rectangle 26"/>
          <p:cNvSpPr>
            <a:spLocks noChangeArrowheads="1"/>
          </p:cNvSpPr>
          <p:nvPr/>
        </p:nvSpPr>
        <p:spPr bwMode="auto">
          <a:xfrm>
            <a:off x="457200" y="2565400"/>
            <a:ext cx="4784725" cy="458788"/>
          </a:xfrm>
          <a:prstGeom prst="rect">
            <a:avLst/>
          </a:prstGeom>
          <a:noFill/>
          <a:ln w="9525">
            <a:noFill/>
            <a:miter lim="800000"/>
            <a:headEnd/>
            <a:tailEnd/>
          </a:ln>
        </p:spPr>
        <p:txBody>
          <a:bodyPr/>
          <a:lstStyle/>
          <a:p>
            <a:pPr marL="342900" indent="-342900" eaLnBrk="0" hangingPunct="0"/>
            <a:r>
              <a:rPr lang="en-US">
                <a:solidFill>
                  <a:srgbClr val="000000"/>
                </a:solidFill>
                <a:latin typeface="Verdana" pitchFamily="34" charset="0"/>
                <a:cs typeface="Times New Roman" pitchFamily="18" charset="0"/>
              </a:rPr>
              <a:t>Accelerate mentee’s development</a:t>
            </a:r>
            <a:endParaRPr lang="en-US">
              <a:solidFill>
                <a:srgbClr val="000000"/>
              </a:solidFill>
              <a:latin typeface="Verdana" pitchFamily="34" charset="0"/>
            </a:endParaRPr>
          </a:p>
        </p:txBody>
      </p:sp>
      <p:sp>
        <p:nvSpPr>
          <p:cNvPr id="22556" name="Rectangle 27"/>
          <p:cNvSpPr>
            <a:spLocks noChangeArrowheads="1"/>
          </p:cNvSpPr>
          <p:nvPr/>
        </p:nvSpPr>
        <p:spPr bwMode="auto">
          <a:xfrm>
            <a:off x="7583488" y="1905000"/>
            <a:ext cx="1103312" cy="660400"/>
          </a:xfrm>
          <a:prstGeom prst="rect">
            <a:avLst/>
          </a:prstGeom>
          <a:solidFill>
            <a:schemeClr val="hlink"/>
          </a:solidFill>
          <a:ln w="9525">
            <a:noFill/>
            <a:miter lim="800000"/>
            <a:headEnd/>
            <a:tailEnd/>
          </a:ln>
        </p:spPr>
        <p:txBody>
          <a:bodyPr/>
          <a:lstStyle/>
          <a:p>
            <a:pPr marL="342900" indent="-342900" eaLnBrk="0" hangingPunct="0"/>
            <a:r>
              <a:rPr lang="en-US">
                <a:solidFill>
                  <a:srgbClr val="FFFFFF"/>
                </a:solidFill>
                <a:latin typeface="Verdana" pitchFamily="34" charset="0"/>
                <a:cs typeface="Times New Roman" pitchFamily="18" charset="0"/>
              </a:rPr>
              <a:t>Coach</a:t>
            </a:r>
            <a:endParaRPr lang="en-US">
              <a:solidFill>
                <a:srgbClr val="FFFFFF"/>
              </a:solidFill>
              <a:latin typeface="Verdana" pitchFamily="34" charset="0"/>
            </a:endParaRPr>
          </a:p>
        </p:txBody>
      </p:sp>
      <p:sp>
        <p:nvSpPr>
          <p:cNvPr id="22557" name="Rectangle 28"/>
          <p:cNvSpPr>
            <a:spLocks noChangeArrowheads="1"/>
          </p:cNvSpPr>
          <p:nvPr/>
        </p:nvSpPr>
        <p:spPr bwMode="auto">
          <a:xfrm>
            <a:off x="6411913" y="1905000"/>
            <a:ext cx="1171575" cy="660400"/>
          </a:xfrm>
          <a:prstGeom prst="rect">
            <a:avLst/>
          </a:prstGeom>
          <a:solidFill>
            <a:schemeClr val="hlink"/>
          </a:solidFill>
          <a:ln w="9525">
            <a:noFill/>
            <a:miter lim="800000"/>
            <a:headEnd/>
            <a:tailEnd/>
          </a:ln>
        </p:spPr>
        <p:txBody>
          <a:bodyPr/>
          <a:lstStyle/>
          <a:p>
            <a:pPr marL="342900" indent="-342900" eaLnBrk="0" hangingPunct="0"/>
            <a:r>
              <a:rPr lang="en-US">
                <a:solidFill>
                  <a:srgbClr val="FFFFFF"/>
                </a:solidFill>
                <a:latin typeface="Verdana" pitchFamily="34" charset="0"/>
                <a:cs typeface="Times New Roman" pitchFamily="18" charset="0"/>
              </a:rPr>
              <a:t>Manager</a:t>
            </a:r>
            <a:endParaRPr lang="en-US">
              <a:solidFill>
                <a:srgbClr val="FFFFFF"/>
              </a:solidFill>
              <a:latin typeface="Verdana" pitchFamily="34" charset="0"/>
            </a:endParaRPr>
          </a:p>
        </p:txBody>
      </p:sp>
      <p:sp>
        <p:nvSpPr>
          <p:cNvPr id="22558" name="Rectangle 29"/>
          <p:cNvSpPr>
            <a:spLocks noChangeArrowheads="1"/>
          </p:cNvSpPr>
          <p:nvPr/>
        </p:nvSpPr>
        <p:spPr bwMode="auto">
          <a:xfrm>
            <a:off x="5241925" y="1905000"/>
            <a:ext cx="1169988" cy="660400"/>
          </a:xfrm>
          <a:prstGeom prst="rect">
            <a:avLst/>
          </a:prstGeom>
          <a:solidFill>
            <a:schemeClr val="hlink"/>
          </a:solidFill>
          <a:ln w="9525">
            <a:noFill/>
            <a:miter lim="800000"/>
            <a:headEnd/>
            <a:tailEnd/>
          </a:ln>
        </p:spPr>
        <p:txBody>
          <a:bodyPr/>
          <a:lstStyle/>
          <a:p>
            <a:pPr marL="342900" indent="-342900" eaLnBrk="0" hangingPunct="0"/>
            <a:r>
              <a:rPr lang="en-US">
                <a:solidFill>
                  <a:srgbClr val="FFFFFF"/>
                </a:solidFill>
                <a:latin typeface="Verdana" pitchFamily="34" charset="0"/>
                <a:cs typeface="Times New Roman" pitchFamily="18" charset="0"/>
              </a:rPr>
              <a:t>Mentor</a:t>
            </a:r>
            <a:endParaRPr lang="en-US">
              <a:solidFill>
                <a:srgbClr val="FFFFFF"/>
              </a:solidFill>
              <a:latin typeface="Verdana" pitchFamily="34" charset="0"/>
            </a:endParaRPr>
          </a:p>
        </p:txBody>
      </p:sp>
      <p:sp>
        <p:nvSpPr>
          <p:cNvPr id="22559" name="Rectangle 30"/>
          <p:cNvSpPr>
            <a:spLocks noChangeArrowheads="1"/>
          </p:cNvSpPr>
          <p:nvPr/>
        </p:nvSpPr>
        <p:spPr bwMode="auto">
          <a:xfrm>
            <a:off x="457200" y="1905000"/>
            <a:ext cx="4784725" cy="660400"/>
          </a:xfrm>
          <a:prstGeom prst="rect">
            <a:avLst/>
          </a:prstGeom>
          <a:solidFill>
            <a:schemeClr val="hlink"/>
          </a:solidFill>
          <a:ln w="9525">
            <a:noFill/>
            <a:miter lim="800000"/>
            <a:headEnd/>
            <a:tailEnd/>
          </a:ln>
        </p:spPr>
        <p:txBody>
          <a:bodyPr/>
          <a:lstStyle/>
          <a:p>
            <a:pPr eaLnBrk="0" hangingPunct="0">
              <a:spcBef>
                <a:spcPct val="20000"/>
              </a:spcBef>
            </a:pPr>
            <a:endParaRPr lang="en-US">
              <a:solidFill>
                <a:srgbClr val="000000"/>
              </a:solidFill>
              <a:latin typeface="Verdana" pitchFamily="34" charset="0"/>
            </a:endParaRPr>
          </a:p>
        </p:txBody>
      </p:sp>
      <p:sp>
        <p:nvSpPr>
          <p:cNvPr id="22560" name="Line 31"/>
          <p:cNvSpPr>
            <a:spLocks noChangeShapeType="1"/>
          </p:cNvSpPr>
          <p:nvPr/>
        </p:nvSpPr>
        <p:spPr bwMode="auto">
          <a:xfrm>
            <a:off x="457200" y="1905000"/>
            <a:ext cx="8229600" cy="0"/>
          </a:xfrm>
          <a:prstGeom prst="line">
            <a:avLst/>
          </a:prstGeom>
          <a:noFill/>
          <a:ln w="12700" cap="rnd">
            <a:solidFill>
              <a:srgbClr val="000000"/>
            </a:solidFill>
            <a:round/>
            <a:headEnd/>
            <a:tailEnd/>
          </a:ln>
        </p:spPr>
        <p:txBody>
          <a:bodyPr/>
          <a:lstStyle/>
          <a:p>
            <a:endParaRPr lang="en-US"/>
          </a:p>
        </p:txBody>
      </p:sp>
      <p:sp>
        <p:nvSpPr>
          <p:cNvPr id="22561" name="Line 32"/>
          <p:cNvSpPr>
            <a:spLocks noChangeShapeType="1"/>
          </p:cNvSpPr>
          <p:nvPr/>
        </p:nvSpPr>
        <p:spPr bwMode="auto">
          <a:xfrm>
            <a:off x="457200" y="6126163"/>
            <a:ext cx="8229600" cy="0"/>
          </a:xfrm>
          <a:prstGeom prst="line">
            <a:avLst/>
          </a:prstGeom>
          <a:noFill/>
          <a:ln w="12700" cap="rnd">
            <a:solidFill>
              <a:srgbClr val="000000"/>
            </a:solidFill>
            <a:round/>
            <a:headEnd/>
            <a:tailEnd/>
          </a:ln>
        </p:spPr>
        <p:txBody>
          <a:bodyPr/>
          <a:lstStyle/>
          <a:p>
            <a:endParaRPr lang="en-US"/>
          </a:p>
        </p:txBody>
      </p:sp>
      <p:sp>
        <p:nvSpPr>
          <p:cNvPr id="22562" name="Line 33"/>
          <p:cNvSpPr>
            <a:spLocks noChangeShapeType="1"/>
          </p:cNvSpPr>
          <p:nvPr/>
        </p:nvSpPr>
        <p:spPr bwMode="auto">
          <a:xfrm>
            <a:off x="457200" y="1905000"/>
            <a:ext cx="0" cy="4221163"/>
          </a:xfrm>
          <a:prstGeom prst="line">
            <a:avLst/>
          </a:prstGeom>
          <a:noFill/>
          <a:ln w="12700" cap="rnd">
            <a:solidFill>
              <a:srgbClr val="000000"/>
            </a:solidFill>
            <a:round/>
            <a:headEnd/>
            <a:tailEnd/>
          </a:ln>
        </p:spPr>
        <p:txBody>
          <a:bodyPr/>
          <a:lstStyle/>
          <a:p>
            <a:endParaRPr lang="en-US"/>
          </a:p>
        </p:txBody>
      </p:sp>
      <p:sp>
        <p:nvSpPr>
          <p:cNvPr id="22563" name="Line 34"/>
          <p:cNvSpPr>
            <a:spLocks noChangeShapeType="1"/>
          </p:cNvSpPr>
          <p:nvPr/>
        </p:nvSpPr>
        <p:spPr bwMode="auto">
          <a:xfrm>
            <a:off x="8686800" y="1905000"/>
            <a:ext cx="0" cy="4221163"/>
          </a:xfrm>
          <a:prstGeom prst="line">
            <a:avLst/>
          </a:prstGeom>
          <a:noFill/>
          <a:ln w="12700" cap="rnd">
            <a:solidFill>
              <a:srgbClr val="000000"/>
            </a:solidFill>
            <a:round/>
            <a:headEnd/>
            <a:tailEnd/>
          </a:ln>
        </p:spPr>
        <p:txBody>
          <a:bodyPr/>
          <a:lstStyle/>
          <a:p>
            <a:endParaRPr lang="en-US"/>
          </a:p>
        </p:txBody>
      </p:sp>
      <p:sp>
        <p:nvSpPr>
          <p:cNvPr id="22564" name="Line 35"/>
          <p:cNvSpPr>
            <a:spLocks noChangeShapeType="1"/>
          </p:cNvSpPr>
          <p:nvPr/>
        </p:nvSpPr>
        <p:spPr bwMode="auto">
          <a:xfrm>
            <a:off x="457200" y="2565400"/>
            <a:ext cx="8229600" cy="0"/>
          </a:xfrm>
          <a:prstGeom prst="line">
            <a:avLst/>
          </a:prstGeom>
          <a:noFill/>
          <a:ln w="12700" cap="rnd">
            <a:solidFill>
              <a:srgbClr val="000000"/>
            </a:solidFill>
            <a:round/>
            <a:headEnd/>
            <a:tailEnd/>
          </a:ln>
        </p:spPr>
        <p:txBody>
          <a:bodyPr/>
          <a:lstStyle/>
          <a:p>
            <a:endParaRPr lang="en-US"/>
          </a:p>
        </p:txBody>
      </p:sp>
      <p:sp>
        <p:nvSpPr>
          <p:cNvPr id="22565" name="Line 36"/>
          <p:cNvSpPr>
            <a:spLocks noChangeShapeType="1"/>
          </p:cNvSpPr>
          <p:nvPr/>
        </p:nvSpPr>
        <p:spPr bwMode="auto">
          <a:xfrm>
            <a:off x="5241925" y="1905000"/>
            <a:ext cx="0" cy="4221163"/>
          </a:xfrm>
          <a:prstGeom prst="line">
            <a:avLst/>
          </a:prstGeom>
          <a:noFill/>
          <a:ln w="12700" cap="rnd">
            <a:solidFill>
              <a:srgbClr val="000000"/>
            </a:solidFill>
            <a:round/>
            <a:headEnd/>
            <a:tailEnd/>
          </a:ln>
        </p:spPr>
        <p:txBody>
          <a:bodyPr/>
          <a:lstStyle/>
          <a:p>
            <a:endParaRPr lang="en-US"/>
          </a:p>
        </p:txBody>
      </p:sp>
      <p:sp>
        <p:nvSpPr>
          <p:cNvPr id="22566" name="Line 37"/>
          <p:cNvSpPr>
            <a:spLocks noChangeShapeType="1"/>
          </p:cNvSpPr>
          <p:nvPr/>
        </p:nvSpPr>
        <p:spPr bwMode="auto">
          <a:xfrm>
            <a:off x="6411913" y="1905000"/>
            <a:ext cx="0" cy="4221163"/>
          </a:xfrm>
          <a:prstGeom prst="line">
            <a:avLst/>
          </a:prstGeom>
          <a:noFill/>
          <a:ln w="12700" cap="rnd">
            <a:solidFill>
              <a:srgbClr val="000000"/>
            </a:solidFill>
            <a:round/>
            <a:headEnd/>
            <a:tailEnd/>
          </a:ln>
        </p:spPr>
        <p:txBody>
          <a:bodyPr/>
          <a:lstStyle/>
          <a:p>
            <a:endParaRPr lang="en-US"/>
          </a:p>
        </p:txBody>
      </p:sp>
      <p:sp>
        <p:nvSpPr>
          <p:cNvPr id="22567" name="Line 38"/>
          <p:cNvSpPr>
            <a:spLocks noChangeShapeType="1"/>
          </p:cNvSpPr>
          <p:nvPr/>
        </p:nvSpPr>
        <p:spPr bwMode="auto">
          <a:xfrm>
            <a:off x="7583488" y="1905000"/>
            <a:ext cx="0" cy="4221163"/>
          </a:xfrm>
          <a:prstGeom prst="line">
            <a:avLst/>
          </a:prstGeom>
          <a:noFill/>
          <a:ln w="12700" cap="rnd">
            <a:solidFill>
              <a:srgbClr val="000000"/>
            </a:solidFill>
            <a:round/>
            <a:headEnd/>
            <a:tailEnd/>
          </a:ln>
        </p:spPr>
        <p:txBody>
          <a:bodyPr/>
          <a:lstStyle/>
          <a:p>
            <a:endParaRPr lang="en-US"/>
          </a:p>
        </p:txBody>
      </p:sp>
      <p:sp>
        <p:nvSpPr>
          <p:cNvPr id="22568" name="Line 39"/>
          <p:cNvSpPr>
            <a:spLocks noChangeShapeType="1"/>
          </p:cNvSpPr>
          <p:nvPr/>
        </p:nvSpPr>
        <p:spPr bwMode="auto">
          <a:xfrm>
            <a:off x="457200" y="3024188"/>
            <a:ext cx="8229600" cy="0"/>
          </a:xfrm>
          <a:prstGeom prst="line">
            <a:avLst/>
          </a:prstGeom>
          <a:noFill/>
          <a:ln w="12700" cap="rnd">
            <a:solidFill>
              <a:srgbClr val="000000"/>
            </a:solidFill>
            <a:round/>
            <a:headEnd/>
            <a:tailEnd/>
          </a:ln>
        </p:spPr>
        <p:txBody>
          <a:bodyPr/>
          <a:lstStyle/>
          <a:p>
            <a:endParaRPr lang="en-US"/>
          </a:p>
        </p:txBody>
      </p:sp>
      <p:sp>
        <p:nvSpPr>
          <p:cNvPr id="22569" name="Line 40"/>
          <p:cNvSpPr>
            <a:spLocks noChangeShapeType="1"/>
          </p:cNvSpPr>
          <p:nvPr/>
        </p:nvSpPr>
        <p:spPr bwMode="auto">
          <a:xfrm>
            <a:off x="457200" y="3733800"/>
            <a:ext cx="8229600" cy="0"/>
          </a:xfrm>
          <a:prstGeom prst="line">
            <a:avLst/>
          </a:prstGeom>
          <a:noFill/>
          <a:ln w="12700" cap="rnd">
            <a:solidFill>
              <a:srgbClr val="000000"/>
            </a:solidFill>
            <a:round/>
            <a:headEnd/>
            <a:tailEnd/>
          </a:ln>
        </p:spPr>
        <p:txBody>
          <a:bodyPr/>
          <a:lstStyle/>
          <a:p>
            <a:endParaRPr lang="en-US"/>
          </a:p>
        </p:txBody>
      </p:sp>
      <p:sp>
        <p:nvSpPr>
          <p:cNvPr id="22570" name="Line 41"/>
          <p:cNvSpPr>
            <a:spLocks noChangeShapeType="1"/>
          </p:cNvSpPr>
          <p:nvPr/>
        </p:nvSpPr>
        <p:spPr bwMode="auto">
          <a:xfrm>
            <a:off x="457200" y="4144963"/>
            <a:ext cx="8229600" cy="0"/>
          </a:xfrm>
          <a:prstGeom prst="line">
            <a:avLst/>
          </a:prstGeom>
          <a:noFill/>
          <a:ln w="12700" cap="rnd">
            <a:solidFill>
              <a:srgbClr val="000000"/>
            </a:solidFill>
            <a:round/>
            <a:headEnd/>
            <a:tailEnd/>
          </a:ln>
        </p:spPr>
        <p:txBody>
          <a:bodyPr/>
          <a:lstStyle/>
          <a:p>
            <a:endParaRPr lang="en-US"/>
          </a:p>
        </p:txBody>
      </p:sp>
      <p:sp>
        <p:nvSpPr>
          <p:cNvPr id="22571" name="Line 42"/>
          <p:cNvSpPr>
            <a:spLocks noChangeShapeType="1"/>
          </p:cNvSpPr>
          <p:nvPr/>
        </p:nvSpPr>
        <p:spPr bwMode="auto">
          <a:xfrm>
            <a:off x="457200" y="4805363"/>
            <a:ext cx="8229600" cy="0"/>
          </a:xfrm>
          <a:prstGeom prst="line">
            <a:avLst/>
          </a:prstGeom>
          <a:noFill/>
          <a:ln w="12700" cap="rnd">
            <a:solidFill>
              <a:srgbClr val="000000"/>
            </a:solidFill>
            <a:round/>
            <a:headEnd/>
            <a:tailEnd/>
          </a:ln>
        </p:spPr>
        <p:txBody>
          <a:bodyPr/>
          <a:lstStyle/>
          <a:p>
            <a:endParaRPr lang="en-US"/>
          </a:p>
        </p:txBody>
      </p:sp>
      <p:sp>
        <p:nvSpPr>
          <p:cNvPr id="22572" name="Line 43"/>
          <p:cNvSpPr>
            <a:spLocks noChangeShapeType="1"/>
          </p:cNvSpPr>
          <p:nvPr/>
        </p:nvSpPr>
        <p:spPr bwMode="auto">
          <a:xfrm>
            <a:off x="457200" y="5465763"/>
            <a:ext cx="8229600" cy="0"/>
          </a:xfrm>
          <a:prstGeom prst="line">
            <a:avLst/>
          </a:prstGeom>
          <a:noFill/>
          <a:ln w="12700" cap="rnd">
            <a:solidFill>
              <a:srgbClr val="000000"/>
            </a:solidFill>
            <a:round/>
            <a:headEn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80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80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80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80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280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80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805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80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80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8049"/>
                                        </p:tgtEl>
                                        <p:attrNameLst>
                                          <p:attrName>style.visibility</p:attrName>
                                        </p:attrNameLst>
                                      </p:cBhvr>
                                      <p:to>
                                        <p:strVal val="visible"/>
                                      </p:to>
                                    </p:set>
                                  </p:childTnLst>
                                </p:cTn>
                              </p:par>
                              <p:par>
                                <p:cTn id="29" presetID="1" presetClass="entr" presetSubtype="0" fill="hold" grpId="0" nodeType="withEffect" nodePh="1">
                                  <p:stCondLst>
                                    <p:cond delay="0"/>
                                  </p:stCondLst>
                                  <p:endCondLst>
                                    <p:cond evt="begin" delay="0">
                                      <p:tn val="29"/>
                                    </p:cond>
                                  </p:endCondLst>
                                  <p:childTnLst>
                                    <p:set>
                                      <p:cBhvr>
                                        <p:cTn id="30" dur="1" fill="hold">
                                          <p:stCondLst>
                                            <p:cond delay="0"/>
                                          </p:stCondLst>
                                        </p:cTn>
                                        <p:tgtEl>
                                          <p:spTgt spid="42804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804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804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2804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8044"/>
                                        </p:tgtEl>
                                        <p:attrNameLst>
                                          <p:attrName>style.visibility</p:attrName>
                                        </p:attrNameLst>
                                      </p:cBhvr>
                                      <p:to>
                                        <p:strVal val="visible"/>
                                      </p:to>
                                    </p:set>
                                  </p:childTnLst>
                                </p:cTn>
                              </p:par>
                              <p:par>
                                <p:cTn id="41" presetID="1" presetClass="entr" presetSubtype="0" fill="hold" grpId="0" nodeType="withEffect" nodePh="1">
                                  <p:stCondLst>
                                    <p:cond delay="0"/>
                                  </p:stCondLst>
                                  <p:endCondLst>
                                    <p:cond evt="begin" delay="0">
                                      <p:tn val="41"/>
                                    </p:cond>
                                  </p:endCondLst>
                                  <p:childTnLst>
                                    <p:set>
                                      <p:cBhvr>
                                        <p:cTn id="42" dur="1" fill="hold">
                                          <p:stCondLst>
                                            <p:cond delay="0"/>
                                          </p:stCondLst>
                                        </p:cTn>
                                        <p:tgtEl>
                                          <p:spTgt spid="4280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280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2804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28040"/>
                                        </p:tgtEl>
                                        <p:attrNameLst>
                                          <p:attrName>style.visibility</p:attrName>
                                        </p:attrNameLst>
                                      </p:cBhvr>
                                      <p:to>
                                        <p:strVal val="visible"/>
                                      </p:to>
                                    </p:set>
                                  </p:childTnLst>
                                </p:cTn>
                              </p:par>
                              <p:par>
                                <p:cTn id="51" presetID="1" presetClass="entr" presetSubtype="0" fill="hold" grpId="0" nodeType="withEffect" nodePh="1">
                                  <p:stCondLst>
                                    <p:cond delay="0"/>
                                  </p:stCondLst>
                                  <p:endCondLst>
                                    <p:cond evt="begin" delay="0">
                                      <p:tn val="51"/>
                                    </p:cond>
                                  </p:endCondLst>
                                  <p:childTnLst>
                                    <p:set>
                                      <p:cBhvr>
                                        <p:cTn id="52" dur="1" fill="hold">
                                          <p:stCondLst>
                                            <p:cond delay="0"/>
                                          </p:stCondLst>
                                        </p:cTn>
                                        <p:tgtEl>
                                          <p:spTgt spid="4280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2803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2803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28036"/>
                                        </p:tgtEl>
                                        <p:attrNameLst>
                                          <p:attrName>style.visibility</p:attrName>
                                        </p:attrNameLst>
                                      </p:cBhvr>
                                      <p:to>
                                        <p:strVal val="visible"/>
                                      </p:to>
                                    </p:set>
                                  </p:childTnLst>
                                </p:cTn>
                              </p:par>
                              <p:par>
                                <p:cTn id="61" presetID="1" presetClass="entr" presetSubtype="0" fill="hold" grpId="0" nodeType="withEffect" nodePh="1">
                                  <p:stCondLst>
                                    <p:cond delay="0"/>
                                  </p:stCondLst>
                                  <p:endCondLst>
                                    <p:cond evt="begin" delay="0">
                                      <p:tn val="61"/>
                                    </p:cond>
                                  </p:endCondLst>
                                  <p:childTnLst>
                                    <p:set>
                                      <p:cBhvr>
                                        <p:cTn id="62" dur="1" fill="hold">
                                          <p:stCondLst>
                                            <p:cond delay="0"/>
                                          </p:stCondLst>
                                        </p:cTn>
                                        <p:tgtEl>
                                          <p:spTgt spid="428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5" grpId="0"/>
      <p:bldP spid="428036" grpId="0"/>
      <p:bldP spid="428037" grpId="0"/>
      <p:bldP spid="428038" grpId="0"/>
      <p:bldP spid="428039" grpId="0"/>
      <p:bldP spid="428040" grpId="0"/>
      <p:bldP spid="428041" grpId="0"/>
      <p:bldP spid="428042" grpId="0"/>
      <p:bldP spid="428043" grpId="0"/>
      <p:bldP spid="428044" grpId="0"/>
      <p:bldP spid="428045" grpId="0"/>
      <p:bldP spid="428046" grpId="0"/>
      <p:bldP spid="428047" grpId="0"/>
      <p:bldP spid="428048" grpId="0"/>
      <p:bldP spid="428049" grpId="0"/>
      <p:bldP spid="428050" grpId="0"/>
      <p:bldP spid="428051" grpId="0"/>
      <p:bldP spid="428052" grpId="0"/>
      <p:bldP spid="428053" grpId="0"/>
      <p:bldP spid="428054" grpId="0"/>
      <p:bldP spid="428055" grpId="0"/>
      <p:bldP spid="428056" grpId="0"/>
      <p:bldP spid="428057" grpId="0"/>
      <p:bldP spid="42805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23555" name="Rectangle 2"/>
          <p:cNvSpPr>
            <a:spLocks noGrp="1" noChangeArrowheads="1"/>
          </p:cNvSpPr>
          <p:nvPr>
            <p:ph type="title"/>
          </p:nvPr>
        </p:nvSpPr>
        <p:spPr>
          <a:xfrm>
            <a:off x="455613" y="1066800"/>
            <a:ext cx="8307387" cy="914400"/>
          </a:xfrm>
        </p:spPr>
        <p:txBody>
          <a:bodyPr/>
          <a:lstStyle/>
          <a:p>
            <a:r>
              <a:rPr lang="en-US" sz="2800" smtClean="0"/>
              <a:t>It takes more than One Person to Build a Leader</a:t>
            </a:r>
          </a:p>
        </p:txBody>
      </p:sp>
      <p:sp>
        <p:nvSpPr>
          <p:cNvPr id="430083" name="Rectangle 3"/>
          <p:cNvSpPr>
            <a:spLocks noGrp="1" noChangeArrowheads="1"/>
          </p:cNvSpPr>
          <p:nvPr>
            <p:ph type="body" idx="1"/>
          </p:nvPr>
        </p:nvSpPr>
        <p:spPr>
          <a:xfrm>
            <a:off x="457200" y="2027238"/>
            <a:ext cx="8229600" cy="4221162"/>
          </a:xfrm>
        </p:spPr>
        <p:txBody>
          <a:bodyPr/>
          <a:lstStyle/>
          <a:p>
            <a:r>
              <a:rPr lang="en-US" smtClean="0"/>
              <a:t>See another role model</a:t>
            </a:r>
            <a:endParaRPr lang="en-US" b="1" smtClean="0"/>
          </a:p>
          <a:p>
            <a:r>
              <a:rPr lang="en-US" smtClean="0"/>
              <a:t>Different perspectives</a:t>
            </a:r>
            <a:endParaRPr lang="en-US" b="1" smtClean="0"/>
          </a:p>
          <a:p>
            <a:r>
              <a:rPr lang="en-US" smtClean="0"/>
              <a:t>Exposure to others areas</a:t>
            </a:r>
            <a:endParaRPr lang="en-US" b="1" smtClean="0"/>
          </a:p>
          <a:p>
            <a:r>
              <a:rPr lang="en-US" smtClean="0"/>
              <a:t>You are strong in the area mentee wants to grow </a:t>
            </a:r>
          </a:p>
          <a:p>
            <a:r>
              <a:rPr lang="en-US" smtClean="0"/>
              <a:t>Expands relationships and lowers department boundaries within Children’s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30083">
                                            <p:txEl>
                                              <p:pRg st="0" end="0"/>
                                            </p:txEl>
                                          </p:spTgt>
                                        </p:tgtEl>
                                        <p:attrNameLst>
                                          <p:attrName>style.visibility</p:attrName>
                                        </p:attrNameLst>
                                      </p:cBhvr>
                                      <p:to>
                                        <p:strVal val="visible"/>
                                      </p:to>
                                    </p:set>
                                    <p:animEffect transition="in" filter="strips(downLeft)">
                                      <p:cBhvr>
                                        <p:cTn id="7" dur="500"/>
                                        <p:tgtEl>
                                          <p:spTgt spid="4300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430083">
                                            <p:txEl>
                                              <p:pRg st="1" end="1"/>
                                            </p:txEl>
                                          </p:spTgt>
                                        </p:tgtEl>
                                        <p:attrNameLst>
                                          <p:attrName>style.visibility</p:attrName>
                                        </p:attrNameLst>
                                      </p:cBhvr>
                                      <p:to>
                                        <p:strVal val="visible"/>
                                      </p:to>
                                    </p:set>
                                    <p:animEffect transition="in" filter="strips(downLeft)">
                                      <p:cBhvr>
                                        <p:cTn id="12" dur="500"/>
                                        <p:tgtEl>
                                          <p:spTgt spid="4300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430083">
                                            <p:txEl>
                                              <p:pRg st="2" end="2"/>
                                            </p:txEl>
                                          </p:spTgt>
                                        </p:tgtEl>
                                        <p:attrNameLst>
                                          <p:attrName>style.visibility</p:attrName>
                                        </p:attrNameLst>
                                      </p:cBhvr>
                                      <p:to>
                                        <p:strVal val="visible"/>
                                      </p:to>
                                    </p:set>
                                    <p:animEffect transition="in" filter="strips(downLeft)">
                                      <p:cBhvr>
                                        <p:cTn id="17" dur="500"/>
                                        <p:tgtEl>
                                          <p:spTgt spid="4300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430083">
                                            <p:txEl>
                                              <p:pRg st="3" end="3"/>
                                            </p:txEl>
                                          </p:spTgt>
                                        </p:tgtEl>
                                        <p:attrNameLst>
                                          <p:attrName>style.visibility</p:attrName>
                                        </p:attrNameLst>
                                      </p:cBhvr>
                                      <p:to>
                                        <p:strVal val="visible"/>
                                      </p:to>
                                    </p:set>
                                    <p:animEffect transition="in" filter="strips(downLeft)">
                                      <p:cBhvr>
                                        <p:cTn id="22" dur="500"/>
                                        <p:tgtEl>
                                          <p:spTgt spid="43008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430083">
                                            <p:txEl>
                                              <p:pRg st="4" end="4"/>
                                            </p:txEl>
                                          </p:spTgt>
                                        </p:tgtEl>
                                        <p:attrNameLst>
                                          <p:attrName>style.visibility</p:attrName>
                                        </p:attrNameLst>
                                      </p:cBhvr>
                                      <p:to>
                                        <p:strVal val="visible"/>
                                      </p:to>
                                    </p:set>
                                    <p:animEffect transition="in" filter="strips(downLeft)">
                                      <p:cBhvr>
                                        <p:cTn id="27" dur="500"/>
                                        <p:tgtEl>
                                          <p:spTgt spid="4300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432130" name="Oval 2"/>
          <p:cNvSpPr>
            <a:spLocks noChangeArrowheads="1"/>
          </p:cNvSpPr>
          <p:nvPr/>
        </p:nvSpPr>
        <p:spPr bwMode="auto">
          <a:xfrm>
            <a:off x="1752600" y="3276600"/>
            <a:ext cx="5410200" cy="2133600"/>
          </a:xfrm>
          <a:prstGeom prst="ellipse">
            <a:avLst/>
          </a:prstGeom>
          <a:solidFill>
            <a:srgbClr val="FFCC00"/>
          </a:solidFill>
          <a:ln w="25400">
            <a:solidFill>
              <a:schemeClr val="tx1"/>
            </a:solidFill>
            <a:prstDash val="sysDot"/>
            <a:round/>
            <a:headEnd/>
            <a:tailEnd/>
          </a:ln>
        </p:spPr>
        <p:txBody>
          <a:bodyPr wrap="none" anchor="ctr"/>
          <a:lstStyle/>
          <a:p>
            <a:pPr algn="ctr" eaLnBrk="0" hangingPunct="0"/>
            <a:endParaRPr lang="en-US" sz="2400">
              <a:solidFill>
                <a:srgbClr val="000000"/>
              </a:solidFill>
            </a:endParaRPr>
          </a:p>
          <a:p>
            <a:pPr algn="ctr" eaLnBrk="0" hangingPunct="0"/>
            <a:endParaRPr lang="en-US" sz="2400">
              <a:solidFill>
                <a:srgbClr val="000000"/>
              </a:solidFill>
            </a:endParaRPr>
          </a:p>
        </p:txBody>
      </p:sp>
      <p:sp>
        <p:nvSpPr>
          <p:cNvPr id="24580" name="Rectangle 3"/>
          <p:cNvSpPr>
            <a:spLocks noGrp="1" noChangeArrowheads="1"/>
          </p:cNvSpPr>
          <p:nvPr>
            <p:ph type="title"/>
          </p:nvPr>
        </p:nvSpPr>
        <p:spPr>
          <a:xfrm>
            <a:off x="455613" y="914400"/>
            <a:ext cx="8688387" cy="914400"/>
          </a:xfrm>
        </p:spPr>
        <p:txBody>
          <a:bodyPr/>
          <a:lstStyle/>
          <a:p>
            <a:r>
              <a:rPr lang="en-US" smtClean="0"/>
              <a:t>Building the Relationship and Trust </a:t>
            </a:r>
          </a:p>
        </p:txBody>
      </p:sp>
      <p:sp>
        <p:nvSpPr>
          <p:cNvPr id="24581" name="Oval 4"/>
          <p:cNvSpPr>
            <a:spLocks noChangeArrowheads="1"/>
          </p:cNvSpPr>
          <p:nvPr/>
        </p:nvSpPr>
        <p:spPr bwMode="auto">
          <a:xfrm>
            <a:off x="3200400" y="3505200"/>
            <a:ext cx="2514600" cy="1600200"/>
          </a:xfrm>
          <a:prstGeom prst="ellipse">
            <a:avLst/>
          </a:prstGeom>
          <a:solidFill>
            <a:schemeClr val="hlink"/>
          </a:solidFill>
          <a:ln w="9525">
            <a:solidFill>
              <a:schemeClr val="tx1"/>
            </a:solidFill>
            <a:round/>
            <a:headEnd/>
            <a:tailEnd/>
          </a:ln>
        </p:spPr>
        <p:txBody>
          <a:bodyPr wrap="none" anchor="ctr"/>
          <a:lstStyle/>
          <a:p>
            <a:pPr algn="ctr" eaLnBrk="0" hangingPunct="0"/>
            <a:r>
              <a:rPr lang="en-US" sz="2400">
                <a:solidFill>
                  <a:srgbClr val="000000"/>
                </a:solidFill>
              </a:rPr>
              <a:t>Capacity for Trust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2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25603" name="Rectangle 2"/>
          <p:cNvSpPr>
            <a:spLocks noGrp="1" noChangeArrowheads="1"/>
          </p:cNvSpPr>
          <p:nvPr>
            <p:ph type="title"/>
          </p:nvPr>
        </p:nvSpPr>
        <p:spPr/>
        <p:txBody>
          <a:bodyPr/>
          <a:lstStyle/>
          <a:p>
            <a:r>
              <a:rPr lang="en-US" smtClean="0"/>
              <a:t>Activity</a:t>
            </a:r>
          </a:p>
        </p:txBody>
      </p:sp>
      <p:sp>
        <p:nvSpPr>
          <p:cNvPr id="25604" name="Rectangle 3"/>
          <p:cNvSpPr>
            <a:spLocks noGrp="1" noChangeArrowheads="1"/>
          </p:cNvSpPr>
          <p:nvPr>
            <p:ph type="body" idx="1"/>
          </p:nvPr>
        </p:nvSpPr>
        <p:spPr/>
        <p:txBody>
          <a:bodyPr/>
          <a:lstStyle/>
          <a:p>
            <a:pPr marL="457200" indent="-457200">
              <a:buFontTx/>
              <a:buAutoNum type="arabicPeriod"/>
            </a:pPr>
            <a:r>
              <a:rPr lang="en-US" u="sng" smtClean="0"/>
              <a:t>Mentors</a:t>
            </a:r>
            <a:r>
              <a:rPr lang="en-US" smtClean="0"/>
              <a:t> share why they agreed to participate in the program and why mentoring is important</a:t>
            </a:r>
          </a:p>
          <a:p>
            <a:pPr marL="457200" indent="-457200">
              <a:buFontTx/>
              <a:buAutoNum type="arabicPeriod"/>
            </a:pPr>
            <a:endParaRPr lang="en-US" u="sng" smtClean="0"/>
          </a:p>
          <a:p>
            <a:pPr marL="457200" indent="-457200">
              <a:buFontTx/>
              <a:buAutoNum type="arabicPeriod"/>
            </a:pPr>
            <a:r>
              <a:rPr lang="en-US" u="sng" smtClean="0"/>
              <a:t>Each</a:t>
            </a:r>
            <a:r>
              <a:rPr lang="en-US" smtClean="0"/>
              <a:t> describe your existing work, what you love about it and challenges anyone would face</a:t>
            </a:r>
          </a:p>
        </p:txBody>
      </p:sp>
      <p:grpSp>
        <p:nvGrpSpPr>
          <p:cNvPr id="25605" name="Group 4"/>
          <p:cNvGrpSpPr>
            <a:grpSpLocks/>
          </p:cNvGrpSpPr>
          <p:nvPr/>
        </p:nvGrpSpPr>
        <p:grpSpPr bwMode="auto">
          <a:xfrm>
            <a:off x="6705600" y="5029200"/>
            <a:ext cx="2133600" cy="1066800"/>
            <a:chOff x="1104" y="2064"/>
            <a:chExt cx="3408" cy="1344"/>
          </a:xfrm>
        </p:grpSpPr>
        <p:sp>
          <p:nvSpPr>
            <p:cNvPr id="25606" name="Oval 5"/>
            <p:cNvSpPr>
              <a:spLocks noChangeArrowheads="1"/>
            </p:cNvSpPr>
            <p:nvPr/>
          </p:nvSpPr>
          <p:spPr bwMode="auto">
            <a:xfrm>
              <a:off x="1104" y="2064"/>
              <a:ext cx="3408" cy="1344"/>
            </a:xfrm>
            <a:prstGeom prst="ellipse">
              <a:avLst/>
            </a:prstGeom>
            <a:solidFill>
              <a:srgbClr val="FFCC00"/>
            </a:solidFill>
            <a:ln w="25400">
              <a:solidFill>
                <a:schemeClr val="tx1"/>
              </a:solidFill>
              <a:prstDash val="sysDot"/>
              <a:round/>
              <a:headEnd/>
              <a:tailEnd/>
            </a:ln>
          </p:spPr>
          <p:txBody>
            <a:bodyPr wrap="none" anchor="ctr"/>
            <a:lstStyle/>
            <a:p>
              <a:pPr algn="ctr" eaLnBrk="0" hangingPunct="0"/>
              <a:endParaRPr lang="en-US" sz="2400">
                <a:solidFill>
                  <a:srgbClr val="000000"/>
                </a:solidFill>
              </a:endParaRPr>
            </a:p>
            <a:p>
              <a:pPr algn="ctr" eaLnBrk="0" hangingPunct="0"/>
              <a:endParaRPr lang="en-US" sz="2400">
                <a:solidFill>
                  <a:srgbClr val="000000"/>
                </a:solidFill>
              </a:endParaRPr>
            </a:p>
          </p:txBody>
        </p:sp>
        <p:sp>
          <p:nvSpPr>
            <p:cNvPr id="25607" name="Oval 6"/>
            <p:cNvSpPr>
              <a:spLocks noChangeArrowheads="1"/>
            </p:cNvSpPr>
            <p:nvPr/>
          </p:nvSpPr>
          <p:spPr bwMode="auto">
            <a:xfrm>
              <a:off x="2016" y="2208"/>
              <a:ext cx="1584" cy="1008"/>
            </a:xfrm>
            <a:prstGeom prst="ellipse">
              <a:avLst/>
            </a:prstGeom>
            <a:solidFill>
              <a:schemeClr val="hlink"/>
            </a:solidFill>
            <a:ln w="9525">
              <a:solidFill>
                <a:schemeClr val="tx1"/>
              </a:solidFill>
              <a:round/>
              <a:headEnd/>
              <a:tailEnd/>
            </a:ln>
          </p:spPr>
          <p:txBody>
            <a:bodyPr wrap="none" anchor="ctr"/>
            <a:lstStyle/>
            <a:p>
              <a:pPr algn="ctr" eaLnBrk="0" hangingPunct="0"/>
              <a:r>
                <a:rPr lang="en-US" sz="800">
                  <a:solidFill>
                    <a:srgbClr val="000000"/>
                  </a:solidFill>
                </a:rPr>
                <a:t>Capacity for Trust</a:t>
              </a: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26627" name="Rectangle 2"/>
          <p:cNvSpPr>
            <a:spLocks noGrp="1" noChangeArrowheads="1"/>
          </p:cNvSpPr>
          <p:nvPr>
            <p:ph type="title" idx="4294967295"/>
          </p:nvPr>
        </p:nvSpPr>
        <p:spPr>
          <a:xfrm>
            <a:off x="1676400" y="2819400"/>
            <a:ext cx="6176963" cy="914400"/>
          </a:xfrm>
        </p:spPr>
        <p:txBody>
          <a:bodyPr/>
          <a:lstStyle/>
          <a:p>
            <a:pPr algn="ctr"/>
            <a:r>
              <a:rPr lang="en-US" smtClean="0"/>
              <a:t>Expectations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27651" name="Rectangle 2"/>
          <p:cNvSpPr>
            <a:spLocks noGrp="1" noChangeArrowheads="1"/>
          </p:cNvSpPr>
          <p:nvPr>
            <p:ph type="title"/>
          </p:nvPr>
        </p:nvSpPr>
        <p:spPr>
          <a:xfrm>
            <a:off x="455613" y="839788"/>
            <a:ext cx="5868987" cy="914400"/>
          </a:xfrm>
        </p:spPr>
        <p:txBody>
          <a:bodyPr/>
          <a:lstStyle/>
          <a:p>
            <a:r>
              <a:rPr lang="en-US" smtClean="0"/>
              <a:t>Expectations of Mentee</a:t>
            </a:r>
          </a:p>
        </p:txBody>
      </p:sp>
      <p:sp>
        <p:nvSpPr>
          <p:cNvPr id="437251" name="Rectangle 3"/>
          <p:cNvSpPr>
            <a:spLocks noGrp="1" noChangeArrowheads="1"/>
          </p:cNvSpPr>
          <p:nvPr>
            <p:ph type="body" idx="1"/>
          </p:nvPr>
        </p:nvSpPr>
        <p:spPr/>
        <p:txBody>
          <a:bodyPr/>
          <a:lstStyle/>
          <a:p>
            <a:r>
              <a:rPr lang="en-US" smtClean="0"/>
              <a:t>Mentee initiates meetings, manages partnership, develops agenda, owns their development</a:t>
            </a:r>
          </a:p>
          <a:p>
            <a:r>
              <a:rPr lang="en-US" smtClean="0"/>
              <a:t>Discuss development openly and be receptive to learning</a:t>
            </a:r>
          </a:p>
          <a:p>
            <a:r>
              <a:rPr lang="en-US" smtClean="0"/>
              <a:t>Demonstrate vulnerability and take risks</a:t>
            </a:r>
          </a:p>
          <a:p>
            <a:r>
              <a:rPr lang="en-US" smtClean="0"/>
              <a:t>Be realistic about expectation of mentor</a:t>
            </a:r>
          </a:p>
          <a:p>
            <a:r>
              <a:rPr lang="en-US" smtClean="0"/>
              <a:t>Offer positive feedback &amp; offer suggestions to mentor</a:t>
            </a:r>
          </a:p>
          <a:p>
            <a:r>
              <a:rPr lang="en-US" smtClean="0"/>
              <a:t>Provide personal information as comfortable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7251">
                                            <p:txEl>
                                              <p:pRg st="0" end="0"/>
                                            </p:txEl>
                                          </p:spTgt>
                                        </p:tgtEl>
                                        <p:attrNameLst>
                                          <p:attrName>style.visibility</p:attrName>
                                        </p:attrNameLst>
                                      </p:cBhvr>
                                      <p:to>
                                        <p:strVal val="visible"/>
                                      </p:to>
                                    </p:set>
                                    <p:animEffect transition="in" filter="dissolve">
                                      <p:cBhvr>
                                        <p:cTn id="7" dur="500"/>
                                        <p:tgtEl>
                                          <p:spTgt spid="4372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37251">
                                            <p:txEl>
                                              <p:pRg st="1" end="1"/>
                                            </p:txEl>
                                          </p:spTgt>
                                        </p:tgtEl>
                                        <p:attrNameLst>
                                          <p:attrName>style.visibility</p:attrName>
                                        </p:attrNameLst>
                                      </p:cBhvr>
                                      <p:to>
                                        <p:strVal val="visible"/>
                                      </p:to>
                                    </p:set>
                                    <p:animEffect transition="in" filter="dissolve">
                                      <p:cBhvr>
                                        <p:cTn id="12" dur="500"/>
                                        <p:tgtEl>
                                          <p:spTgt spid="4372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37251">
                                            <p:txEl>
                                              <p:pRg st="2" end="2"/>
                                            </p:txEl>
                                          </p:spTgt>
                                        </p:tgtEl>
                                        <p:attrNameLst>
                                          <p:attrName>style.visibility</p:attrName>
                                        </p:attrNameLst>
                                      </p:cBhvr>
                                      <p:to>
                                        <p:strVal val="visible"/>
                                      </p:to>
                                    </p:set>
                                    <p:animEffect transition="in" filter="dissolve">
                                      <p:cBhvr>
                                        <p:cTn id="17" dur="500"/>
                                        <p:tgtEl>
                                          <p:spTgt spid="4372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37251">
                                            <p:txEl>
                                              <p:pRg st="3" end="3"/>
                                            </p:txEl>
                                          </p:spTgt>
                                        </p:tgtEl>
                                        <p:attrNameLst>
                                          <p:attrName>style.visibility</p:attrName>
                                        </p:attrNameLst>
                                      </p:cBhvr>
                                      <p:to>
                                        <p:strVal val="visible"/>
                                      </p:to>
                                    </p:set>
                                    <p:animEffect transition="in" filter="dissolve">
                                      <p:cBhvr>
                                        <p:cTn id="22" dur="500"/>
                                        <p:tgtEl>
                                          <p:spTgt spid="4372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37251">
                                            <p:txEl>
                                              <p:pRg st="4" end="4"/>
                                            </p:txEl>
                                          </p:spTgt>
                                        </p:tgtEl>
                                        <p:attrNameLst>
                                          <p:attrName>style.visibility</p:attrName>
                                        </p:attrNameLst>
                                      </p:cBhvr>
                                      <p:to>
                                        <p:strVal val="visible"/>
                                      </p:to>
                                    </p:set>
                                    <p:animEffect transition="in" filter="dissolve">
                                      <p:cBhvr>
                                        <p:cTn id="27" dur="500"/>
                                        <p:tgtEl>
                                          <p:spTgt spid="43725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37251">
                                            <p:txEl>
                                              <p:pRg st="5" end="5"/>
                                            </p:txEl>
                                          </p:spTgt>
                                        </p:tgtEl>
                                        <p:attrNameLst>
                                          <p:attrName>style.visibility</p:attrName>
                                        </p:attrNameLst>
                                      </p:cBhvr>
                                      <p:to>
                                        <p:strVal val="visible"/>
                                      </p:to>
                                    </p:set>
                                    <p:animEffect transition="in" filter="dissolve">
                                      <p:cBhvr>
                                        <p:cTn id="32" dur="500"/>
                                        <p:tgtEl>
                                          <p:spTgt spid="4372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28675" name="Rectangle 2"/>
          <p:cNvSpPr>
            <a:spLocks noGrp="1" noChangeArrowheads="1"/>
          </p:cNvSpPr>
          <p:nvPr>
            <p:ph type="title"/>
          </p:nvPr>
        </p:nvSpPr>
        <p:spPr>
          <a:xfrm>
            <a:off x="455613" y="839788"/>
            <a:ext cx="5716587" cy="914400"/>
          </a:xfrm>
        </p:spPr>
        <p:txBody>
          <a:bodyPr/>
          <a:lstStyle/>
          <a:p>
            <a:r>
              <a:rPr lang="en-US" smtClean="0"/>
              <a:t>Expectations of Mentors</a:t>
            </a:r>
          </a:p>
        </p:txBody>
      </p:sp>
      <p:sp>
        <p:nvSpPr>
          <p:cNvPr id="439299" name="Rectangle 3"/>
          <p:cNvSpPr>
            <a:spLocks noGrp="1" noChangeArrowheads="1"/>
          </p:cNvSpPr>
          <p:nvPr>
            <p:ph type="body" idx="1"/>
          </p:nvPr>
        </p:nvSpPr>
        <p:spPr/>
        <p:txBody>
          <a:bodyPr/>
          <a:lstStyle/>
          <a:p>
            <a:r>
              <a:rPr lang="en-US" smtClean="0"/>
              <a:t>Expose mentee to director-level activities</a:t>
            </a:r>
          </a:p>
          <a:p>
            <a:r>
              <a:rPr lang="en-US" smtClean="0"/>
              <a:t>Share real-life stories – challenges and successes</a:t>
            </a:r>
          </a:p>
          <a:p>
            <a:r>
              <a:rPr lang="en-US" smtClean="0"/>
              <a:t>Ask mentee about learning and application</a:t>
            </a:r>
          </a:p>
          <a:p>
            <a:r>
              <a:rPr lang="en-US" smtClean="0"/>
              <a:t>Allow Mentee to initiate &amp; manage the partnership</a:t>
            </a:r>
          </a:p>
          <a:p>
            <a:r>
              <a:rPr lang="en-US" smtClean="0"/>
              <a:t>Use follow up calls or notes to mentee if you have not heard from them in two weeks</a:t>
            </a:r>
          </a:p>
          <a:p>
            <a:r>
              <a:rPr lang="en-US" smtClean="0"/>
              <a:t>Coach - help Mentee solve their own problems. Connect Mentee to others who have the answers.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39299">
                                            <p:txEl>
                                              <p:pRg st="0" end="0"/>
                                            </p:txEl>
                                          </p:spTgt>
                                        </p:tgtEl>
                                        <p:attrNameLst>
                                          <p:attrName>style.visibility</p:attrName>
                                        </p:attrNameLst>
                                      </p:cBhvr>
                                      <p:to>
                                        <p:strVal val="visible"/>
                                      </p:to>
                                    </p:set>
                                    <p:animEffect transition="in" filter="box(in)">
                                      <p:cBhvr>
                                        <p:cTn id="7" dur="500"/>
                                        <p:tgtEl>
                                          <p:spTgt spid="4392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39299">
                                            <p:txEl>
                                              <p:pRg st="1" end="1"/>
                                            </p:txEl>
                                          </p:spTgt>
                                        </p:tgtEl>
                                        <p:attrNameLst>
                                          <p:attrName>style.visibility</p:attrName>
                                        </p:attrNameLst>
                                      </p:cBhvr>
                                      <p:to>
                                        <p:strVal val="visible"/>
                                      </p:to>
                                    </p:set>
                                    <p:animEffect transition="in" filter="box(in)">
                                      <p:cBhvr>
                                        <p:cTn id="12" dur="500"/>
                                        <p:tgtEl>
                                          <p:spTgt spid="4392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39299">
                                            <p:txEl>
                                              <p:pRg st="2" end="2"/>
                                            </p:txEl>
                                          </p:spTgt>
                                        </p:tgtEl>
                                        <p:attrNameLst>
                                          <p:attrName>style.visibility</p:attrName>
                                        </p:attrNameLst>
                                      </p:cBhvr>
                                      <p:to>
                                        <p:strVal val="visible"/>
                                      </p:to>
                                    </p:set>
                                    <p:animEffect transition="in" filter="box(in)">
                                      <p:cBhvr>
                                        <p:cTn id="17" dur="500"/>
                                        <p:tgtEl>
                                          <p:spTgt spid="4392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39299">
                                            <p:txEl>
                                              <p:pRg st="3" end="3"/>
                                            </p:txEl>
                                          </p:spTgt>
                                        </p:tgtEl>
                                        <p:attrNameLst>
                                          <p:attrName>style.visibility</p:attrName>
                                        </p:attrNameLst>
                                      </p:cBhvr>
                                      <p:to>
                                        <p:strVal val="visible"/>
                                      </p:to>
                                    </p:set>
                                    <p:animEffect transition="in" filter="box(in)">
                                      <p:cBhvr>
                                        <p:cTn id="22" dur="500"/>
                                        <p:tgtEl>
                                          <p:spTgt spid="4392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439299">
                                            <p:txEl>
                                              <p:pRg st="4" end="4"/>
                                            </p:txEl>
                                          </p:spTgt>
                                        </p:tgtEl>
                                        <p:attrNameLst>
                                          <p:attrName>style.visibility</p:attrName>
                                        </p:attrNameLst>
                                      </p:cBhvr>
                                      <p:to>
                                        <p:strVal val="visible"/>
                                      </p:to>
                                    </p:set>
                                    <p:animEffect transition="in" filter="box(in)">
                                      <p:cBhvr>
                                        <p:cTn id="27" dur="500"/>
                                        <p:tgtEl>
                                          <p:spTgt spid="4392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439299">
                                            <p:txEl>
                                              <p:pRg st="5" end="5"/>
                                            </p:txEl>
                                          </p:spTgt>
                                        </p:tgtEl>
                                        <p:attrNameLst>
                                          <p:attrName>style.visibility</p:attrName>
                                        </p:attrNameLst>
                                      </p:cBhvr>
                                      <p:to>
                                        <p:strVal val="visible"/>
                                      </p:to>
                                    </p:set>
                                    <p:animEffect transition="in" filter="box(in)">
                                      <p:cBhvr>
                                        <p:cTn id="32" dur="500"/>
                                        <p:tgtEl>
                                          <p:spTgt spid="4392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29699" name="Rectangle 2"/>
          <p:cNvSpPr>
            <a:spLocks noGrp="1" noChangeArrowheads="1"/>
          </p:cNvSpPr>
          <p:nvPr>
            <p:ph type="title"/>
          </p:nvPr>
        </p:nvSpPr>
        <p:spPr>
          <a:xfrm>
            <a:off x="455613" y="839788"/>
            <a:ext cx="5640387" cy="914400"/>
          </a:xfrm>
        </p:spPr>
        <p:txBody>
          <a:bodyPr/>
          <a:lstStyle/>
          <a:p>
            <a:r>
              <a:rPr lang="en-US" smtClean="0"/>
              <a:t>Coaching Application</a:t>
            </a:r>
          </a:p>
        </p:txBody>
      </p:sp>
      <p:sp>
        <p:nvSpPr>
          <p:cNvPr id="29700" name="Rectangle 3"/>
          <p:cNvSpPr>
            <a:spLocks noGrp="1" noChangeArrowheads="1"/>
          </p:cNvSpPr>
          <p:nvPr>
            <p:ph type="body" idx="1"/>
          </p:nvPr>
        </p:nvSpPr>
        <p:spPr/>
        <p:txBody>
          <a:bodyPr/>
          <a:lstStyle/>
          <a:p>
            <a:r>
              <a:rPr lang="en-US" u="sng" smtClean="0"/>
              <a:t>Mentees</a:t>
            </a:r>
            <a:r>
              <a:rPr lang="en-US" smtClean="0"/>
              <a:t> select a challenge you face in your current role that could benefit from some coaching</a:t>
            </a:r>
          </a:p>
          <a:p>
            <a:r>
              <a:rPr lang="en-US" u="sng" smtClean="0"/>
              <a:t>Mentors</a:t>
            </a:r>
            <a:r>
              <a:rPr lang="en-US" smtClean="0"/>
              <a:t> will practice coaching</a:t>
            </a:r>
          </a:p>
          <a:p>
            <a:pPr lvl="1"/>
            <a:r>
              <a:rPr lang="en-US" smtClean="0"/>
              <a:t>Use job aid</a:t>
            </a:r>
          </a:p>
          <a:p>
            <a:pPr>
              <a:buFontTx/>
              <a:buNone/>
            </a:pPr>
            <a:endParaRPr lang="en-US" smtClean="0"/>
          </a:p>
        </p:txBody>
      </p:sp>
      <p:grpSp>
        <p:nvGrpSpPr>
          <p:cNvPr id="29701" name="Group 4"/>
          <p:cNvGrpSpPr>
            <a:grpSpLocks/>
          </p:cNvGrpSpPr>
          <p:nvPr/>
        </p:nvGrpSpPr>
        <p:grpSpPr bwMode="auto">
          <a:xfrm>
            <a:off x="6705600" y="5029200"/>
            <a:ext cx="2133600" cy="1066800"/>
            <a:chOff x="1104" y="2064"/>
            <a:chExt cx="3408" cy="1344"/>
          </a:xfrm>
        </p:grpSpPr>
        <p:sp>
          <p:nvSpPr>
            <p:cNvPr id="29702" name="Oval 5"/>
            <p:cNvSpPr>
              <a:spLocks noChangeArrowheads="1"/>
            </p:cNvSpPr>
            <p:nvPr/>
          </p:nvSpPr>
          <p:spPr bwMode="auto">
            <a:xfrm>
              <a:off x="1104" y="2064"/>
              <a:ext cx="3408" cy="1344"/>
            </a:xfrm>
            <a:prstGeom prst="ellipse">
              <a:avLst/>
            </a:prstGeom>
            <a:solidFill>
              <a:srgbClr val="FFCC00"/>
            </a:solidFill>
            <a:ln w="25400">
              <a:solidFill>
                <a:schemeClr val="tx1"/>
              </a:solidFill>
              <a:prstDash val="sysDot"/>
              <a:round/>
              <a:headEnd/>
              <a:tailEnd/>
            </a:ln>
          </p:spPr>
          <p:txBody>
            <a:bodyPr wrap="none" anchor="ctr"/>
            <a:lstStyle/>
            <a:p>
              <a:pPr algn="ctr" eaLnBrk="0" hangingPunct="0"/>
              <a:endParaRPr lang="en-US" sz="2400">
                <a:solidFill>
                  <a:srgbClr val="000000"/>
                </a:solidFill>
              </a:endParaRPr>
            </a:p>
            <a:p>
              <a:pPr algn="ctr" eaLnBrk="0" hangingPunct="0"/>
              <a:endParaRPr lang="en-US" sz="2400">
                <a:solidFill>
                  <a:srgbClr val="000000"/>
                </a:solidFill>
              </a:endParaRPr>
            </a:p>
          </p:txBody>
        </p:sp>
        <p:sp>
          <p:nvSpPr>
            <p:cNvPr id="29703" name="Oval 6"/>
            <p:cNvSpPr>
              <a:spLocks noChangeArrowheads="1"/>
            </p:cNvSpPr>
            <p:nvPr/>
          </p:nvSpPr>
          <p:spPr bwMode="auto">
            <a:xfrm>
              <a:off x="2016" y="2208"/>
              <a:ext cx="1584" cy="1008"/>
            </a:xfrm>
            <a:prstGeom prst="ellipse">
              <a:avLst/>
            </a:prstGeom>
            <a:solidFill>
              <a:schemeClr val="hlink"/>
            </a:solidFill>
            <a:ln w="9525">
              <a:solidFill>
                <a:schemeClr val="tx1"/>
              </a:solidFill>
              <a:round/>
              <a:headEnd/>
              <a:tailEnd/>
            </a:ln>
          </p:spPr>
          <p:txBody>
            <a:bodyPr wrap="none" anchor="ctr"/>
            <a:lstStyle/>
            <a:p>
              <a:pPr algn="ctr" eaLnBrk="0" hangingPunct="0"/>
              <a:r>
                <a:rPr lang="en-US" sz="800">
                  <a:solidFill>
                    <a:srgbClr val="000000"/>
                  </a:solidFill>
                </a:rPr>
                <a:t>Capacity for Trust</a:t>
              </a: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p:cNvSpPr>
            <a:spLocks noGrp="1"/>
          </p:cNvSpPr>
          <p:nvPr>
            <p:ph type="ftr" sz="quarter" idx="10"/>
          </p:nvPr>
        </p:nvSpPr>
        <p:spPr/>
        <p:txBody>
          <a:bodyPr/>
          <a:lstStyle/>
          <a:p>
            <a:pPr fontAlgn="base">
              <a:spcAft>
                <a:spcPct val="0"/>
              </a:spcAft>
              <a:defRPr/>
            </a:pPr>
            <a:r>
              <a:rPr lang="en-US" smtClean="0"/>
              <a:t>Children’s Center for Leadership                                                               	</a:t>
            </a:r>
          </a:p>
        </p:txBody>
      </p:sp>
      <p:sp>
        <p:nvSpPr>
          <p:cNvPr id="30723" name="Rectangle 2"/>
          <p:cNvSpPr>
            <a:spLocks noGrp="1" noChangeArrowheads="1"/>
          </p:cNvSpPr>
          <p:nvPr>
            <p:ph type="title"/>
          </p:nvPr>
        </p:nvSpPr>
        <p:spPr/>
        <p:txBody>
          <a:bodyPr/>
          <a:lstStyle/>
          <a:p>
            <a:r>
              <a:rPr lang="en-US" smtClean="0"/>
              <a:t>Confidentiality</a:t>
            </a:r>
          </a:p>
        </p:txBody>
      </p:sp>
      <p:sp>
        <p:nvSpPr>
          <p:cNvPr id="443395" name="Rectangle 3"/>
          <p:cNvSpPr>
            <a:spLocks noGrp="1" noChangeArrowheads="1"/>
          </p:cNvSpPr>
          <p:nvPr>
            <p:ph type="body" sz="half" idx="1"/>
          </p:nvPr>
        </p:nvSpPr>
        <p:spPr/>
        <p:txBody>
          <a:bodyPr/>
          <a:lstStyle/>
          <a:p>
            <a:pPr>
              <a:buFontTx/>
              <a:buNone/>
            </a:pPr>
            <a:r>
              <a:rPr lang="en-US" sz="2000" b="1" smtClean="0"/>
              <a:t>Mentor</a:t>
            </a:r>
            <a:endParaRPr lang="en-US" sz="2000" smtClean="0"/>
          </a:p>
          <a:p>
            <a:r>
              <a:rPr lang="en-US" sz="2000" smtClean="0"/>
              <a:t>Do not discuss performance problems </a:t>
            </a:r>
          </a:p>
          <a:p>
            <a:pPr lvl="1"/>
            <a:r>
              <a:rPr lang="en-US" sz="1800" smtClean="0"/>
              <a:t>Mentee’s leader</a:t>
            </a:r>
          </a:p>
          <a:p>
            <a:pPr lvl="1"/>
            <a:r>
              <a:rPr lang="en-US" sz="1800" smtClean="0"/>
              <a:t>Peers</a:t>
            </a:r>
          </a:p>
          <a:p>
            <a:pPr lvl="1"/>
            <a:r>
              <a:rPr lang="en-US" sz="1800" smtClean="0"/>
              <a:t>Direct reports</a:t>
            </a:r>
          </a:p>
          <a:p>
            <a:r>
              <a:rPr lang="en-US" sz="2000" smtClean="0"/>
              <a:t>Do not resolve or influence performance problems</a:t>
            </a:r>
          </a:p>
          <a:p>
            <a:r>
              <a:rPr lang="en-US" sz="2000" smtClean="0"/>
              <a:t>Do not compromise the credibility of the mentee – be discreet</a:t>
            </a:r>
          </a:p>
        </p:txBody>
      </p:sp>
      <p:pic>
        <p:nvPicPr>
          <p:cNvPr id="30725" name="Picture 4" descr="MPj01756220000[1]"/>
          <p:cNvPicPr>
            <a:picLocks noGrp="1" noChangeAspect="1" noChangeArrowheads="1"/>
          </p:cNvPicPr>
          <p:nvPr>
            <p:ph sz="half" idx="2"/>
          </p:nvPr>
        </p:nvPicPr>
        <p:blipFill>
          <a:blip r:embed="rId3" cstate="print"/>
          <a:srcRect/>
          <a:stretch>
            <a:fillRect/>
          </a:stretch>
        </p:blipFill>
        <p:spPr>
          <a:xfrm>
            <a:off x="4838700" y="2438400"/>
            <a:ext cx="3657600" cy="241935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339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339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339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339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339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43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4"/>
          <p:cNvSpPr>
            <a:spLocks noGrp="1"/>
          </p:cNvSpPr>
          <p:nvPr>
            <p:ph type="ftr" sz="quarter" idx="10"/>
          </p:nvPr>
        </p:nvSpPr>
        <p:spPr/>
        <p:txBody>
          <a:bodyPr/>
          <a:lstStyle/>
          <a:p>
            <a:pPr fontAlgn="base">
              <a:spcAft>
                <a:spcPct val="0"/>
              </a:spcAft>
              <a:defRPr/>
            </a:pPr>
            <a:r>
              <a:rPr lang="en-US" smtClean="0"/>
              <a:t>Children’s Center for Leadership                                                               	</a:t>
            </a:r>
          </a:p>
        </p:txBody>
      </p:sp>
      <p:sp>
        <p:nvSpPr>
          <p:cNvPr id="31747" name="Rectangle 2"/>
          <p:cNvSpPr>
            <a:spLocks noGrp="1" noChangeArrowheads="1"/>
          </p:cNvSpPr>
          <p:nvPr>
            <p:ph type="title"/>
          </p:nvPr>
        </p:nvSpPr>
        <p:spPr/>
        <p:txBody>
          <a:bodyPr/>
          <a:lstStyle/>
          <a:p>
            <a:r>
              <a:rPr lang="en-US" smtClean="0"/>
              <a:t>Confidentiality</a:t>
            </a:r>
          </a:p>
        </p:txBody>
      </p:sp>
      <p:sp>
        <p:nvSpPr>
          <p:cNvPr id="445443" name="Rectangle 3"/>
          <p:cNvSpPr>
            <a:spLocks noGrp="1" noChangeArrowheads="1"/>
          </p:cNvSpPr>
          <p:nvPr>
            <p:ph type="body" sz="half" idx="1"/>
          </p:nvPr>
        </p:nvSpPr>
        <p:spPr/>
        <p:txBody>
          <a:bodyPr/>
          <a:lstStyle/>
          <a:p>
            <a:pPr>
              <a:buFontTx/>
              <a:buNone/>
            </a:pPr>
            <a:r>
              <a:rPr lang="en-US" sz="2000" b="1" smtClean="0"/>
              <a:t>Mentee</a:t>
            </a:r>
            <a:endParaRPr lang="en-US" sz="2000" smtClean="0"/>
          </a:p>
          <a:p>
            <a:r>
              <a:rPr lang="en-US" sz="2000" smtClean="0"/>
              <a:t>Do not share mentor’s comments with others</a:t>
            </a:r>
            <a:endParaRPr lang="en-US" sz="2000" b="1" smtClean="0"/>
          </a:p>
          <a:p>
            <a:r>
              <a:rPr lang="en-US" sz="2000" smtClean="0"/>
              <a:t>Do not share information received while attending a mentor’s meetings</a:t>
            </a:r>
            <a:endParaRPr lang="en-US" sz="2000" b="1" smtClean="0"/>
          </a:p>
          <a:p>
            <a:r>
              <a:rPr lang="en-US" sz="2000" smtClean="0"/>
              <a:t>Do not compromise the credibility of the mentor – be discreet</a:t>
            </a:r>
          </a:p>
          <a:p>
            <a:endParaRPr lang="en-US" sz="2000" smtClean="0"/>
          </a:p>
        </p:txBody>
      </p:sp>
      <p:pic>
        <p:nvPicPr>
          <p:cNvPr id="31749" name="Picture 4" descr="MPj01756220000[1]"/>
          <p:cNvPicPr>
            <a:picLocks noGrp="1" noChangeAspect="1" noChangeArrowheads="1"/>
          </p:cNvPicPr>
          <p:nvPr>
            <p:ph sz="half" idx="2"/>
          </p:nvPr>
        </p:nvPicPr>
        <p:blipFill>
          <a:blip r:embed="rId3" cstate="print"/>
          <a:srcRect/>
          <a:stretch>
            <a:fillRect/>
          </a:stretch>
        </p:blipFill>
        <p:spPr>
          <a:xfrm>
            <a:off x="4838700" y="2457450"/>
            <a:ext cx="3657600" cy="241935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544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54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54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32771" name="Rectangle 2"/>
          <p:cNvSpPr>
            <a:spLocks noGrp="1" noChangeArrowheads="1"/>
          </p:cNvSpPr>
          <p:nvPr>
            <p:ph type="title"/>
          </p:nvPr>
        </p:nvSpPr>
        <p:spPr/>
        <p:txBody>
          <a:bodyPr/>
          <a:lstStyle/>
          <a:p>
            <a:r>
              <a:rPr lang="en-US" smtClean="0"/>
              <a:t>Joint Contract</a:t>
            </a:r>
          </a:p>
        </p:txBody>
      </p:sp>
      <p:sp>
        <p:nvSpPr>
          <p:cNvPr id="447491" name="Rectangle 3"/>
          <p:cNvSpPr>
            <a:spLocks noGrp="1" noChangeArrowheads="1"/>
          </p:cNvSpPr>
          <p:nvPr>
            <p:ph type="body" idx="1"/>
          </p:nvPr>
        </p:nvSpPr>
        <p:spPr/>
        <p:txBody>
          <a:bodyPr/>
          <a:lstStyle/>
          <a:p>
            <a:r>
              <a:rPr lang="en-US" dirty="0" smtClean="0"/>
              <a:t>Maintain confidences as defined above</a:t>
            </a:r>
          </a:p>
          <a:p>
            <a:r>
              <a:rPr lang="en-US" dirty="0" smtClean="0"/>
              <a:t>No-fault “Out”</a:t>
            </a:r>
            <a:endParaRPr lang="en-US" b="1" dirty="0" smtClean="0"/>
          </a:p>
          <a:p>
            <a:r>
              <a:rPr lang="en-US" dirty="0" smtClean="0"/>
              <a:t>6 month, 3 hrs/month minimum, 1-2 face-to-face/month </a:t>
            </a:r>
          </a:p>
          <a:p>
            <a:r>
              <a:rPr lang="en-US" dirty="0" smtClean="0"/>
              <a:t>1 – 2 development goals w/in 1 month</a:t>
            </a:r>
            <a:endParaRPr lang="en-US" i="1" dirty="0" smtClean="0"/>
          </a:p>
          <a:p>
            <a:r>
              <a:rPr lang="en-US" dirty="0" smtClean="0"/>
              <a:t>Mentee initiates meetings, location, date, agenda</a:t>
            </a:r>
            <a:endParaRPr lang="en-US" b="1" dirty="0" smtClean="0"/>
          </a:p>
          <a:p>
            <a:r>
              <a:rPr lang="en-US" dirty="0" smtClean="0"/>
              <a:t>If you cancel the meeting, you reschedule it</a:t>
            </a:r>
            <a:endParaRPr lang="en-US" b="1" dirty="0" smtClean="0"/>
          </a:p>
          <a:p>
            <a:r>
              <a:rPr lang="en-US" dirty="0" smtClean="0"/>
              <a:t>Three director-level activities completed before graduation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749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47491">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6" presetClass="entr" presetSubtype="26" fill="hold" nodeType="clickEffect">
                                  <p:stCondLst>
                                    <p:cond delay="0"/>
                                  </p:stCondLst>
                                  <p:childTnLst>
                                    <p:set>
                                      <p:cBhvr>
                                        <p:cTn id="10" dur="1" fill="hold">
                                          <p:stCondLst>
                                            <p:cond delay="0"/>
                                          </p:stCondLst>
                                        </p:cTn>
                                        <p:tgtEl>
                                          <p:spTgt spid="447491">
                                            <p:txEl>
                                              <p:pRg st="1" end="1"/>
                                            </p:txEl>
                                          </p:spTgt>
                                        </p:tgtEl>
                                        <p:attrNameLst>
                                          <p:attrName>style.visibility</p:attrName>
                                        </p:attrNameLst>
                                      </p:cBhvr>
                                      <p:to>
                                        <p:strVal val="visible"/>
                                      </p:to>
                                    </p:set>
                                    <p:animEffect transition="in" filter="barn(inHorizontal)">
                                      <p:cBhvr>
                                        <p:cTn id="11" dur="500"/>
                                        <p:tgtEl>
                                          <p:spTgt spid="447491">
                                            <p:txEl>
                                              <p:pRg st="1" end="1"/>
                                            </p:txEl>
                                          </p:spTgt>
                                        </p:tgtEl>
                                      </p:cBhvr>
                                    </p:animEffect>
                                  </p:childTnLst>
                                  <p:subTnLst>
                                    <p:animClr clrSpc="rgb" dir="cw">
                                      <p:cBhvr override="childStyle">
                                        <p:cTn dur="1" fill="hold" display="0" masterRel="nextClick" afterEffect="1"/>
                                        <p:tgtEl>
                                          <p:spTgt spid="447491">
                                            <p:txEl>
                                              <p:pRg st="1" end="1"/>
                                            </p:txEl>
                                          </p:spTgt>
                                        </p:tgtEl>
                                        <p:attrNameLst>
                                          <p:attrName>ppt_c</p:attrName>
                                        </p:attrNameLst>
                                      </p:cBhvr>
                                      <p:to>
                                        <a:schemeClr val="bg2"/>
                                      </p:to>
                                    </p:animClr>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4749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47491">
                                            <p:txEl>
                                              <p:pRg st="2" end="2"/>
                                            </p:txEl>
                                          </p:spTgt>
                                        </p:tgtEl>
                                        <p:attrNameLst>
                                          <p:attrName>ppt_c</p:attrName>
                                        </p:attrNameLst>
                                      </p:cBhvr>
                                      <p:to>
                                        <a:schemeClr val="bg2"/>
                                      </p:to>
                                    </p:animClr>
                                  </p:sub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47491">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47491">
                                            <p:txEl>
                                              <p:pRg st="3" end="3"/>
                                            </p:txEl>
                                          </p:spTgt>
                                        </p:tgtEl>
                                        <p:attrNameLst>
                                          <p:attrName>ppt_c</p:attrName>
                                        </p:attrNameLst>
                                      </p:cBhvr>
                                      <p:to>
                                        <a:schemeClr val="bg2"/>
                                      </p:to>
                                    </p:animClr>
                                  </p:sub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47491">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47491">
                                            <p:txEl>
                                              <p:pRg st="4" end="4"/>
                                            </p:txEl>
                                          </p:spTgt>
                                        </p:tgtEl>
                                        <p:attrNameLst>
                                          <p:attrName>ppt_c</p:attrName>
                                        </p:attrNameLst>
                                      </p:cBhvr>
                                      <p:to>
                                        <a:schemeClr val="bg2"/>
                                      </p:to>
                                    </p:animClr>
                                  </p:sub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447491">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47491">
                                            <p:txEl>
                                              <p:pRg st="5" end="5"/>
                                            </p:txEl>
                                          </p:spTgt>
                                        </p:tgtEl>
                                        <p:attrNameLst>
                                          <p:attrName>ppt_c</p:attrName>
                                        </p:attrNameLst>
                                      </p:cBhvr>
                                      <p:to>
                                        <a:schemeClr val="bg2"/>
                                      </p:to>
                                    </p:animClr>
                                  </p:sub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47491">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447491">
                                            <p:txEl>
                                              <p:pRg st="6" end="6"/>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33795" name="Oval 2"/>
          <p:cNvSpPr>
            <a:spLocks noChangeArrowheads="1"/>
          </p:cNvSpPr>
          <p:nvPr/>
        </p:nvSpPr>
        <p:spPr bwMode="auto">
          <a:xfrm>
            <a:off x="1752600" y="3276600"/>
            <a:ext cx="5410200" cy="2133600"/>
          </a:xfrm>
          <a:prstGeom prst="ellipse">
            <a:avLst/>
          </a:prstGeom>
          <a:solidFill>
            <a:srgbClr val="FFCC00"/>
          </a:solidFill>
          <a:ln w="25400">
            <a:solidFill>
              <a:schemeClr val="tx1"/>
            </a:solidFill>
            <a:prstDash val="sysDot"/>
            <a:round/>
            <a:headEnd/>
            <a:tailEnd/>
          </a:ln>
        </p:spPr>
        <p:txBody>
          <a:bodyPr wrap="none" anchor="ctr"/>
          <a:lstStyle/>
          <a:p>
            <a:pPr algn="ctr" eaLnBrk="0" hangingPunct="0"/>
            <a:endParaRPr lang="en-US" sz="2400">
              <a:solidFill>
                <a:srgbClr val="000000"/>
              </a:solidFill>
            </a:endParaRPr>
          </a:p>
          <a:p>
            <a:pPr algn="ctr" eaLnBrk="0" hangingPunct="0"/>
            <a:endParaRPr lang="en-US" sz="2400">
              <a:solidFill>
                <a:srgbClr val="000000"/>
              </a:solidFill>
            </a:endParaRPr>
          </a:p>
        </p:txBody>
      </p:sp>
      <p:sp>
        <p:nvSpPr>
          <p:cNvPr id="33796" name="Rectangle 3"/>
          <p:cNvSpPr>
            <a:spLocks noGrp="1" noChangeArrowheads="1"/>
          </p:cNvSpPr>
          <p:nvPr>
            <p:ph type="title"/>
          </p:nvPr>
        </p:nvSpPr>
        <p:spPr>
          <a:xfrm>
            <a:off x="0" y="1066800"/>
            <a:ext cx="9144000" cy="914400"/>
          </a:xfrm>
        </p:spPr>
        <p:txBody>
          <a:bodyPr/>
          <a:lstStyle/>
          <a:p>
            <a:r>
              <a:rPr lang="en-US" smtClean="0"/>
              <a:t>Back to Building </a:t>
            </a:r>
            <a:br>
              <a:rPr lang="en-US" smtClean="0"/>
            </a:br>
            <a:r>
              <a:rPr lang="en-US" smtClean="0"/>
              <a:t>Relationship and Trust</a:t>
            </a:r>
            <a:r>
              <a:rPr lang="en-US" sz="2800" smtClean="0"/>
              <a:t> </a:t>
            </a:r>
          </a:p>
        </p:txBody>
      </p:sp>
      <p:sp>
        <p:nvSpPr>
          <p:cNvPr id="33797" name="Oval 4"/>
          <p:cNvSpPr>
            <a:spLocks noChangeArrowheads="1"/>
          </p:cNvSpPr>
          <p:nvPr/>
        </p:nvSpPr>
        <p:spPr bwMode="auto">
          <a:xfrm>
            <a:off x="3200400" y="3505200"/>
            <a:ext cx="2514600" cy="1600200"/>
          </a:xfrm>
          <a:prstGeom prst="ellipse">
            <a:avLst/>
          </a:prstGeom>
          <a:solidFill>
            <a:schemeClr val="hlink"/>
          </a:solidFill>
          <a:ln w="9525">
            <a:solidFill>
              <a:schemeClr val="tx1"/>
            </a:solidFill>
            <a:round/>
            <a:headEnd/>
            <a:tailEnd/>
          </a:ln>
        </p:spPr>
        <p:txBody>
          <a:bodyPr wrap="none" anchor="ctr"/>
          <a:lstStyle/>
          <a:p>
            <a:pPr algn="ctr" eaLnBrk="0" hangingPunct="0"/>
            <a:r>
              <a:rPr lang="en-US" sz="2400">
                <a:solidFill>
                  <a:srgbClr val="000000"/>
                </a:solidFill>
              </a:rPr>
              <a:t>Capacity for Trust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34819" name="Rectangle 2"/>
          <p:cNvSpPr>
            <a:spLocks noGrp="1" noChangeArrowheads="1"/>
          </p:cNvSpPr>
          <p:nvPr>
            <p:ph type="title"/>
          </p:nvPr>
        </p:nvSpPr>
        <p:spPr/>
        <p:txBody>
          <a:bodyPr/>
          <a:lstStyle/>
          <a:p>
            <a:r>
              <a:rPr lang="en-US" smtClean="0"/>
              <a:t>Common Interests</a:t>
            </a:r>
          </a:p>
        </p:txBody>
      </p:sp>
      <p:sp>
        <p:nvSpPr>
          <p:cNvPr id="34820" name="Rectangle 3"/>
          <p:cNvSpPr>
            <a:spLocks noGrp="1" noChangeArrowheads="1"/>
          </p:cNvSpPr>
          <p:nvPr>
            <p:ph type="body" idx="1"/>
          </p:nvPr>
        </p:nvSpPr>
        <p:spPr/>
        <p:txBody>
          <a:bodyPr/>
          <a:lstStyle/>
          <a:p>
            <a:pPr>
              <a:buFontTx/>
              <a:buNone/>
            </a:pPr>
            <a:r>
              <a:rPr lang="en-US" smtClean="0"/>
              <a:t>Identify at least three interests you have in common </a:t>
            </a:r>
            <a:r>
              <a:rPr lang="en-US" u="sng" smtClean="0"/>
              <a:t>outside</a:t>
            </a:r>
            <a:r>
              <a:rPr lang="en-US" smtClean="0"/>
              <a:t> of work</a:t>
            </a:r>
          </a:p>
        </p:txBody>
      </p:sp>
      <p:sp>
        <p:nvSpPr>
          <p:cNvPr id="34821" name="Oval 4"/>
          <p:cNvSpPr>
            <a:spLocks noChangeArrowheads="1"/>
          </p:cNvSpPr>
          <p:nvPr/>
        </p:nvSpPr>
        <p:spPr bwMode="auto">
          <a:xfrm>
            <a:off x="1828800" y="3048000"/>
            <a:ext cx="3429000" cy="2286000"/>
          </a:xfrm>
          <a:prstGeom prst="ellipse">
            <a:avLst/>
          </a:prstGeom>
          <a:noFill/>
          <a:ln w="25400">
            <a:solidFill>
              <a:schemeClr val="hlink"/>
            </a:solidFill>
            <a:round/>
            <a:headEnd/>
            <a:tailEnd/>
          </a:ln>
        </p:spPr>
        <p:txBody>
          <a:bodyPr wrap="none" anchor="ctr"/>
          <a:lstStyle/>
          <a:p>
            <a:pPr eaLnBrk="0" hangingPunct="0">
              <a:spcBef>
                <a:spcPct val="30000"/>
              </a:spcBef>
            </a:pPr>
            <a:endParaRPr lang="en-US" sz="1200" b="1">
              <a:solidFill>
                <a:srgbClr val="000000"/>
              </a:solidFill>
            </a:endParaRPr>
          </a:p>
        </p:txBody>
      </p:sp>
      <p:sp>
        <p:nvSpPr>
          <p:cNvPr id="34822" name="Oval 5"/>
          <p:cNvSpPr>
            <a:spLocks noChangeArrowheads="1"/>
          </p:cNvSpPr>
          <p:nvPr/>
        </p:nvSpPr>
        <p:spPr bwMode="auto">
          <a:xfrm>
            <a:off x="3657600" y="3048000"/>
            <a:ext cx="3429000" cy="2286000"/>
          </a:xfrm>
          <a:prstGeom prst="ellipse">
            <a:avLst/>
          </a:prstGeom>
          <a:noFill/>
          <a:ln w="25400">
            <a:solidFill>
              <a:schemeClr val="accent1"/>
            </a:solidFill>
            <a:round/>
            <a:headEnd/>
            <a:tailEnd/>
          </a:ln>
        </p:spPr>
        <p:txBody>
          <a:bodyPr wrap="none" anchor="ctr"/>
          <a:lstStyle/>
          <a:p>
            <a:pPr eaLnBrk="0" hangingPunct="0">
              <a:spcBef>
                <a:spcPct val="30000"/>
              </a:spcBef>
            </a:pPr>
            <a:endParaRPr lang="en-US" sz="1200" b="1">
              <a:solidFill>
                <a:srgbClr val="000000"/>
              </a:solidFill>
            </a:endParaRPr>
          </a:p>
        </p:txBody>
      </p:sp>
      <p:sp>
        <p:nvSpPr>
          <p:cNvPr id="450566" name="Text Box 6"/>
          <p:cNvSpPr txBox="1">
            <a:spLocks noChangeArrowheads="1"/>
          </p:cNvSpPr>
          <p:nvPr/>
        </p:nvSpPr>
        <p:spPr bwMode="auto">
          <a:xfrm>
            <a:off x="3759200" y="3621088"/>
            <a:ext cx="1455738" cy="822325"/>
          </a:xfrm>
          <a:prstGeom prst="rect">
            <a:avLst/>
          </a:prstGeom>
          <a:noFill/>
          <a:ln w="9525">
            <a:noFill/>
            <a:miter lim="800000"/>
            <a:headEnd/>
            <a:tailEnd/>
          </a:ln>
        </p:spPr>
        <p:txBody>
          <a:bodyPr wrap="none">
            <a:spAutoFit/>
          </a:bodyPr>
          <a:lstStyle/>
          <a:p>
            <a:pPr algn="ctr" eaLnBrk="0" hangingPunct="0"/>
            <a:r>
              <a:rPr lang="en-US" sz="2400" b="1">
                <a:solidFill>
                  <a:srgbClr val="000000"/>
                </a:solidFill>
              </a:rPr>
              <a:t>Three </a:t>
            </a:r>
          </a:p>
          <a:p>
            <a:pPr algn="ctr" eaLnBrk="0" hangingPunct="0"/>
            <a:r>
              <a:rPr lang="en-US" sz="2400" b="1">
                <a:solidFill>
                  <a:srgbClr val="000000"/>
                </a:solidFill>
              </a:rPr>
              <a:t>Interests</a:t>
            </a:r>
          </a:p>
        </p:txBody>
      </p:sp>
      <p:grpSp>
        <p:nvGrpSpPr>
          <p:cNvPr id="34824" name="Group 7"/>
          <p:cNvGrpSpPr>
            <a:grpSpLocks/>
          </p:cNvGrpSpPr>
          <p:nvPr/>
        </p:nvGrpSpPr>
        <p:grpSpPr bwMode="auto">
          <a:xfrm>
            <a:off x="6705600" y="5029200"/>
            <a:ext cx="2133600" cy="1066800"/>
            <a:chOff x="1104" y="2064"/>
            <a:chExt cx="3408" cy="1344"/>
          </a:xfrm>
        </p:grpSpPr>
        <p:sp>
          <p:nvSpPr>
            <p:cNvPr id="34827" name="Oval 8"/>
            <p:cNvSpPr>
              <a:spLocks noChangeArrowheads="1"/>
            </p:cNvSpPr>
            <p:nvPr/>
          </p:nvSpPr>
          <p:spPr bwMode="auto">
            <a:xfrm>
              <a:off x="1104" y="2064"/>
              <a:ext cx="3408" cy="1344"/>
            </a:xfrm>
            <a:prstGeom prst="ellipse">
              <a:avLst/>
            </a:prstGeom>
            <a:solidFill>
              <a:srgbClr val="FFCC00"/>
            </a:solidFill>
            <a:ln w="25400">
              <a:solidFill>
                <a:schemeClr val="tx1"/>
              </a:solidFill>
              <a:prstDash val="sysDot"/>
              <a:round/>
              <a:headEnd/>
              <a:tailEnd/>
            </a:ln>
          </p:spPr>
          <p:txBody>
            <a:bodyPr wrap="none" anchor="ctr"/>
            <a:lstStyle/>
            <a:p>
              <a:pPr algn="ctr" eaLnBrk="0" hangingPunct="0"/>
              <a:endParaRPr lang="en-US" sz="2400">
                <a:solidFill>
                  <a:srgbClr val="000000"/>
                </a:solidFill>
              </a:endParaRPr>
            </a:p>
            <a:p>
              <a:pPr algn="ctr" eaLnBrk="0" hangingPunct="0"/>
              <a:endParaRPr lang="en-US" sz="2400">
                <a:solidFill>
                  <a:srgbClr val="000000"/>
                </a:solidFill>
              </a:endParaRPr>
            </a:p>
          </p:txBody>
        </p:sp>
        <p:sp>
          <p:nvSpPr>
            <p:cNvPr id="34828" name="Oval 9"/>
            <p:cNvSpPr>
              <a:spLocks noChangeArrowheads="1"/>
            </p:cNvSpPr>
            <p:nvPr/>
          </p:nvSpPr>
          <p:spPr bwMode="auto">
            <a:xfrm>
              <a:off x="2016" y="2208"/>
              <a:ext cx="1584" cy="1008"/>
            </a:xfrm>
            <a:prstGeom prst="ellipse">
              <a:avLst/>
            </a:prstGeom>
            <a:solidFill>
              <a:schemeClr val="hlink"/>
            </a:solidFill>
            <a:ln w="9525">
              <a:solidFill>
                <a:schemeClr val="tx1"/>
              </a:solidFill>
              <a:round/>
              <a:headEnd/>
              <a:tailEnd/>
            </a:ln>
          </p:spPr>
          <p:txBody>
            <a:bodyPr wrap="none" anchor="ctr"/>
            <a:lstStyle/>
            <a:p>
              <a:pPr algn="ctr" eaLnBrk="0" hangingPunct="0"/>
              <a:r>
                <a:rPr lang="en-US" sz="800">
                  <a:solidFill>
                    <a:srgbClr val="000000"/>
                  </a:solidFill>
                </a:rPr>
                <a:t>Capacity for Trust</a:t>
              </a:r>
            </a:p>
          </p:txBody>
        </p:sp>
      </p:grpSp>
      <p:sp>
        <p:nvSpPr>
          <p:cNvPr id="34825" name="Text Box 10"/>
          <p:cNvSpPr txBox="1">
            <a:spLocks noChangeArrowheads="1"/>
          </p:cNvSpPr>
          <p:nvPr/>
        </p:nvSpPr>
        <p:spPr bwMode="auto">
          <a:xfrm>
            <a:off x="2209800" y="3886200"/>
            <a:ext cx="1295400" cy="457200"/>
          </a:xfrm>
          <a:prstGeom prst="rect">
            <a:avLst/>
          </a:prstGeom>
          <a:noFill/>
          <a:ln w="9525">
            <a:noFill/>
            <a:miter lim="800000"/>
            <a:headEnd/>
            <a:tailEnd/>
          </a:ln>
        </p:spPr>
        <p:txBody>
          <a:bodyPr>
            <a:spAutoFit/>
          </a:bodyPr>
          <a:lstStyle/>
          <a:p>
            <a:pPr eaLnBrk="0" hangingPunct="0">
              <a:spcBef>
                <a:spcPct val="50000"/>
              </a:spcBef>
            </a:pPr>
            <a:r>
              <a:rPr lang="en-US" sz="2400">
                <a:solidFill>
                  <a:srgbClr val="F57300"/>
                </a:solidFill>
              </a:rPr>
              <a:t>Mentee</a:t>
            </a:r>
          </a:p>
        </p:txBody>
      </p:sp>
      <p:sp>
        <p:nvSpPr>
          <p:cNvPr id="34826" name="Text Box 11"/>
          <p:cNvSpPr txBox="1">
            <a:spLocks noChangeArrowheads="1"/>
          </p:cNvSpPr>
          <p:nvPr/>
        </p:nvSpPr>
        <p:spPr bwMode="auto">
          <a:xfrm>
            <a:off x="5410200" y="3886200"/>
            <a:ext cx="1295400" cy="457200"/>
          </a:xfrm>
          <a:prstGeom prst="rect">
            <a:avLst/>
          </a:prstGeom>
          <a:noFill/>
          <a:ln w="9525">
            <a:noFill/>
            <a:miter lim="800000"/>
            <a:headEnd/>
            <a:tailEnd/>
          </a:ln>
        </p:spPr>
        <p:txBody>
          <a:bodyPr>
            <a:spAutoFit/>
          </a:bodyPr>
          <a:lstStyle/>
          <a:p>
            <a:pPr eaLnBrk="0" hangingPunct="0">
              <a:spcBef>
                <a:spcPct val="50000"/>
              </a:spcBef>
            </a:pPr>
            <a:r>
              <a:rPr lang="en-US" sz="2400">
                <a:solidFill>
                  <a:srgbClr val="0A4E31"/>
                </a:solidFill>
              </a:rPr>
              <a:t>Mentor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566"/>
                                        </p:tgtEl>
                                        <p:attrNameLst>
                                          <p:attrName>style.visibility</p:attrName>
                                        </p:attrNameLst>
                                      </p:cBhvr>
                                      <p:to>
                                        <p:strVal val="visible"/>
                                      </p:to>
                                    </p:set>
                                    <p:anim calcmode="lin" valueType="num">
                                      <p:cBhvr additive="base">
                                        <p:cTn id="7" dur="500" fill="hold"/>
                                        <p:tgtEl>
                                          <p:spTgt spid="450566"/>
                                        </p:tgtEl>
                                        <p:attrNameLst>
                                          <p:attrName>ppt_x</p:attrName>
                                        </p:attrNameLst>
                                      </p:cBhvr>
                                      <p:tavLst>
                                        <p:tav tm="0">
                                          <p:val>
                                            <p:strVal val="#ppt_x"/>
                                          </p:val>
                                        </p:tav>
                                        <p:tav tm="100000">
                                          <p:val>
                                            <p:strVal val="#ppt_x"/>
                                          </p:val>
                                        </p:tav>
                                      </p:tavLst>
                                    </p:anim>
                                    <p:anim calcmode="lin" valueType="num">
                                      <p:cBhvr additive="base">
                                        <p:cTn id="8" dur="500" fill="hold"/>
                                        <p:tgtEl>
                                          <p:spTgt spid="4505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6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35843" name="Rectangle 2"/>
          <p:cNvSpPr>
            <a:spLocks noGrp="1" noChangeArrowheads="1"/>
          </p:cNvSpPr>
          <p:nvPr>
            <p:ph type="title"/>
          </p:nvPr>
        </p:nvSpPr>
        <p:spPr>
          <a:xfrm>
            <a:off x="455613" y="839788"/>
            <a:ext cx="5335587" cy="914400"/>
          </a:xfrm>
        </p:spPr>
        <p:txBody>
          <a:bodyPr/>
          <a:lstStyle/>
          <a:p>
            <a:r>
              <a:rPr lang="en-US" smtClean="0"/>
              <a:t>Engagement Needs</a:t>
            </a:r>
          </a:p>
        </p:txBody>
      </p:sp>
      <p:sp>
        <p:nvSpPr>
          <p:cNvPr id="35844" name="Rectangle 3"/>
          <p:cNvSpPr>
            <a:spLocks noGrp="1" noChangeArrowheads="1"/>
          </p:cNvSpPr>
          <p:nvPr>
            <p:ph type="body" idx="1"/>
          </p:nvPr>
        </p:nvSpPr>
        <p:spPr>
          <a:xfrm>
            <a:off x="457200" y="1752600"/>
            <a:ext cx="8229600" cy="4221163"/>
          </a:xfrm>
        </p:spPr>
        <p:txBody>
          <a:bodyPr/>
          <a:lstStyle/>
          <a:p>
            <a:pPr marL="457200" indent="-457200">
              <a:buFontTx/>
              <a:buAutoNum type="arabicPeriod"/>
            </a:pPr>
            <a:r>
              <a:rPr lang="en-US" smtClean="0"/>
              <a:t>Each select your top 3 – 5 work needs that are most critical to keeping you engaged in your work</a:t>
            </a:r>
          </a:p>
          <a:p>
            <a:pPr marL="457200" indent="-457200">
              <a:buFontTx/>
              <a:buAutoNum type="arabicPeriod"/>
            </a:pPr>
            <a:r>
              <a:rPr lang="en-US" smtClean="0"/>
              <a:t>Give the sheet with your needs to your partner to keep and reference</a:t>
            </a:r>
          </a:p>
          <a:p>
            <a:pPr marL="457200" indent="-457200">
              <a:buFontTx/>
              <a:buAutoNum type="arabicPeriod"/>
            </a:pPr>
            <a:r>
              <a:rPr lang="en-US" smtClean="0"/>
              <a:t>Focus</a:t>
            </a:r>
          </a:p>
          <a:p>
            <a:pPr marL="838200" lvl="1" indent="-381000"/>
            <a:r>
              <a:rPr lang="en-US" smtClean="0"/>
              <a:t>Mentor shares which mentee work needs they can meet</a:t>
            </a:r>
          </a:p>
          <a:p>
            <a:pPr marL="838200" lvl="1" indent="-381000"/>
            <a:r>
              <a:rPr lang="en-US" smtClean="0"/>
              <a:t>Mentee shares which mentor work needs they can meet </a:t>
            </a:r>
          </a:p>
        </p:txBody>
      </p:sp>
      <p:grpSp>
        <p:nvGrpSpPr>
          <p:cNvPr id="35845" name="Group 4"/>
          <p:cNvGrpSpPr>
            <a:grpSpLocks/>
          </p:cNvGrpSpPr>
          <p:nvPr/>
        </p:nvGrpSpPr>
        <p:grpSpPr bwMode="auto">
          <a:xfrm>
            <a:off x="6705600" y="5029200"/>
            <a:ext cx="2133600" cy="1066800"/>
            <a:chOff x="1104" y="2064"/>
            <a:chExt cx="3408" cy="1344"/>
          </a:xfrm>
        </p:grpSpPr>
        <p:sp>
          <p:nvSpPr>
            <p:cNvPr id="35846" name="Oval 5"/>
            <p:cNvSpPr>
              <a:spLocks noChangeArrowheads="1"/>
            </p:cNvSpPr>
            <p:nvPr/>
          </p:nvSpPr>
          <p:spPr bwMode="auto">
            <a:xfrm>
              <a:off x="1104" y="2064"/>
              <a:ext cx="3408" cy="1344"/>
            </a:xfrm>
            <a:prstGeom prst="ellipse">
              <a:avLst/>
            </a:prstGeom>
            <a:solidFill>
              <a:srgbClr val="FFCC00"/>
            </a:solidFill>
            <a:ln w="25400">
              <a:solidFill>
                <a:schemeClr val="tx1"/>
              </a:solidFill>
              <a:prstDash val="sysDot"/>
              <a:round/>
              <a:headEnd/>
              <a:tailEnd/>
            </a:ln>
          </p:spPr>
          <p:txBody>
            <a:bodyPr wrap="none" anchor="ctr"/>
            <a:lstStyle/>
            <a:p>
              <a:pPr algn="ctr" eaLnBrk="0" hangingPunct="0"/>
              <a:endParaRPr lang="en-US" sz="2400">
                <a:solidFill>
                  <a:srgbClr val="000000"/>
                </a:solidFill>
              </a:endParaRPr>
            </a:p>
            <a:p>
              <a:pPr algn="ctr" eaLnBrk="0" hangingPunct="0"/>
              <a:endParaRPr lang="en-US" sz="2400">
                <a:solidFill>
                  <a:srgbClr val="000000"/>
                </a:solidFill>
              </a:endParaRPr>
            </a:p>
          </p:txBody>
        </p:sp>
        <p:sp>
          <p:nvSpPr>
            <p:cNvPr id="35847" name="Oval 6"/>
            <p:cNvSpPr>
              <a:spLocks noChangeArrowheads="1"/>
            </p:cNvSpPr>
            <p:nvPr/>
          </p:nvSpPr>
          <p:spPr bwMode="auto">
            <a:xfrm>
              <a:off x="2016" y="2208"/>
              <a:ext cx="1584" cy="1008"/>
            </a:xfrm>
            <a:prstGeom prst="ellipse">
              <a:avLst/>
            </a:prstGeom>
            <a:solidFill>
              <a:schemeClr val="hlink"/>
            </a:solidFill>
            <a:ln w="9525">
              <a:solidFill>
                <a:schemeClr val="tx1"/>
              </a:solidFill>
              <a:round/>
              <a:headEnd/>
              <a:tailEnd/>
            </a:ln>
          </p:spPr>
          <p:txBody>
            <a:bodyPr wrap="none" anchor="ctr"/>
            <a:lstStyle/>
            <a:p>
              <a:pPr algn="ctr" eaLnBrk="0" hangingPunct="0"/>
              <a:r>
                <a:rPr lang="en-US" sz="800">
                  <a:solidFill>
                    <a:srgbClr val="000000"/>
                  </a:solidFill>
                </a:rPr>
                <a:t>Capacity for Trust</a:t>
              </a: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36867" name="Rectangle 2"/>
          <p:cNvSpPr>
            <a:spLocks noGrp="1" noChangeArrowheads="1"/>
          </p:cNvSpPr>
          <p:nvPr>
            <p:ph type="title" idx="4294967295"/>
          </p:nvPr>
        </p:nvSpPr>
        <p:spPr>
          <a:xfrm>
            <a:off x="1981200" y="2743200"/>
            <a:ext cx="4881563" cy="914400"/>
          </a:xfrm>
        </p:spPr>
        <p:txBody>
          <a:bodyPr/>
          <a:lstStyle/>
          <a:p>
            <a:pPr algn="ctr"/>
            <a:r>
              <a:rPr lang="en-US" sz="4000" smtClean="0">
                <a:solidFill>
                  <a:schemeClr val="hlink"/>
                </a:solidFill>
              </a:rPr>
              <a:t>Break</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37891" name="Rectangle 2"/>
          <p:cNvSpPr>
            <a:spLocks noGrp="1" noChangeArrowheads="1"/>
          </p:cNvSpPr>
          <p:nvPr>
            <p:ph type="title" idx="4294967295"/>
          </p:nvPr>
        </p:nvSpPr>
        <p:spPr>
          <a:xfrm>
            <a:off x="762000" y="2819400"/>
            <a:ext cx="7700963" cy="914400"/>
          </a:xfrm>
        </p:spPr>
        <p:txBody>
          <a:bodyPr/>
          <a:lstStyle/>
          <a:p>
            <a:pPr algn="ctr"/>
            <a:r>
              <a:rPr lang="en-US" smtClean="0"/>
              <a:t>Determine the Focus of Your Work</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38915" name="Rectangle 2"/>
          <p:cNvSpPr>
            <a:spLocks noGrp="1" noChangeArrowheads="1"/>
          </p:cNvSpPr>
          <p:nvPr>
            <p:ph type="title"/>
          </p:nvPr>
        </p:nvSpPr>
        <p:spPr/>
        <p:txBody>
          <a:bodyPr/>
          <a:lstStyle/>
          <a:p>
            <a:r>
              <a:rPr lang="en-US" smtClean="0"/>
              <a:t>Development Focus</a:t>
            </a:r>
          </a:p>
        </p:txBody>
      </p:sp>
      <p:sp>
        <p:nvSpPr>
          <p:cNvPr id="38916" name="Rectangle 3"/>
          <p:cNvSpPr>
            <a:spLocks noGrp="1" noChangeArrowheads="1"/>
          </p:cNvSpPr>
          <p:nvPr>
            <p:ph type="body" idx="1"/>
          </p:nvPr>
        </p:nvSpPr>
        <p:spPr/>
        <p:txBody>
          <a:bodyPr/>
          <a:lstStyle/>
          <a:p>
            <a:r>
              <a:rPr lang="en-US" smtClean="0"/>
              <a:t>Mentee shares 1 – 2 areas they would like to develop with help from their mentor</a:t>
            </a:r>
          </a:p>
          <a:p>
            <a:endParaRPr lang="en-US" smtClean="0"/>
          </a:p>
          <a:p>
            <a:r>
              <a:rPr lang="en-US" smtClean="0"/>
              <a:t>Mentors use open-ended questions to explore and collect rich information</a:t>
            </a:r>
          </a:p>
          <a:p>
            <a:pPr lvl="1"/>
            <a:r>
              <a:rPr lang="en-US" smtClean="0"/>
              <a:t>What, Who, When, Where, Why…</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5"/>
          <p:cNvSpPr>
            <a:spLocks noGrp="1"/>
          </p:cNvSpPr>
          <p:nvPr>
            <p:ph type="ftr" sz="quarter" idx="10"/>
          </p:nvPr>
        </p:nvSpPr>
        <p:spPr/>
        <p:txBody>
          <a:bodyPr/>
          <a:lstStyle/>
          <a:p>
            <a:pPr fontAlgn="base">
              <a:spcAft>
                <a:spcPct val="0"/>
              </a:spcAft>
              <a:defRPr/>
            </a:pPr>
            <a:r>
              <a:rPr lang="en-US" smtClean="0"/>
              <a:t>Children’s Center for Leadership                                                               	</a:t>
            </a:r>
          </a:p>
        </p:txBody>
      </p:sp>
      <p:sp>
        <p:nvSpPr>
          <p:cNvPr id="39939" name="Rectangle 2"/>
          <p:cNvSpPr>
            <a:spLocks noGrp="1" noChangeArrowheads="1"/>
          </p:cNvSpPr>
          <p:nvPr>
            <p:ph type="title"/>
          </p:nvPr>
        </p:nvSpPr>
        <p:spPr>
          <a:xfrm>
            <a:off x="455613" y="914400"/>
            <a:ext cx="8231187" cy="914400"/>
          </a:xfrm>
        </p:spPr>
        <p:txBody>
          <a:bodyPr/>
          <a:lstStyle/>
          <a:p>
            <a:r>
              <a:rPr lang="en-US" sz="2800" smtClean="0"/>
              <a:t>Exposure to 3 Director-level Activities </a:t>
            </a:r>
          </a:p>
        </p:txBody>
      </p:sp>
      <p:sp>
        <p:nvSpPr>
          <p:cNvPr id="39940" name="Rectangle 3"/>
          <p:cNvSpPr>
            <a:spLocks noGrp="1" noChangeArrowheads="1"/>
          </p:cNvSpPr>
          <p:nvPr>
            <p:ph type="body" sz="half" idx="1"/>
          </p:nvPr>
        </p:nvSpPr>
        <p:spPr>
          <a:xfrm>
            <a:off x="457200" y="1676400"/>
            <a:ext cx="8077200" cy="4221163"/>
          </a:xfrm>
        </p:spPr>
        <p:txBody>
          <a:bodyPr/>
          <a:lstStyle/>
          <a:p>
            <a:pPr>
              <a:buFontTx/>
              <a:buNone/>
            </a:pPr>
            <a:r>
              <a:rPr lang="en-US" sz="2000" b="1" smtClean="0"/>
              <a:t>Purpose</a:t>
            </a:r>
            <a:r>
              <a:rPr lang="en-US" sz="2000" smtClean="0"/>
              <a:t>: </a:t>
            </a:r>
          </a:p>
          <a:p>
            <a:pPr lvl="1"/>
            <a:r>
              <a:rPr lang="en-US" sz="1800" smtClean="0"/>
              <a:t>Make something foreign and abstract more tangible</a:t>
            </a:r>
          </a:p>
          <a:p>
            <a:pPr lvl="1"/>
            <a:r>
              <a:rPr lang="en-US" sz="1800" smtClean="0"/>
              <a:t>Accelerate the learning and increase confidence </a:t>
            </a:r>
            <a:endParaRPr lang="en-US" sz="1800" b="1" smtClean="0"/>
          </a:p>
          <a:p>
            <a:pPr>
              <a:buFontTx/>
              <a:buNone/>
            </a:pPr>
            <a:endParaRPr lang="en-US" sz="2000" b="1" smtClean="0"/>
          </a:p>
          <a:p>
            <a:pPr>
              <a:buFontTx/>
              <a:buNone/>
            </a:pPr>
            <a:endParaRPr lang="en-US" sz="2000" smtClean="0"/>
          </a:p>
        </p:txBody>
      </p:sp>
      <p:graphicFrame>
        <p:nvGraphicFramePr>
          <p:cNvPr id="460804" name="Group 4"/>
          <p:cNvGraphicFramePr>
            <a:graphicFrameLocks noGrp="1"/>
          </p:cNvGraphicFramePr>
          <p:nvPr>
            <p:ph sz="quarter" idx="3"/>
          </p:nvPr>
        </p:nvGraphicFramePr>
        <p:xfrm>
          <a:off x="609600" y="2819400"/>
          <a:ext cx="8229600" cy="3004820"/>
        </p:xfrm>
        <a:graphic>
          <a:graphicData uri="http://schemas.openxmlformats.org/drawingml/2006/table">
            <a:tbl>
              <a:tblPr/>
              <a:tblGrid>
                <a:gridCol w="5334000"/>
                <a:gridCol w="1371600"/>
                <a:gridCol w="1524000"/>
              </a:tblGrid>
              <a:tr h="2905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chemeClr val="tx1"/>
                          </a:solidFill>
                          <a:effectLst/>
                          <a:latin typeface="Verdana" pitchFamily="34" charset="0"/>
                          <a:ea typeface="ＭＳ Ｐゴシック" charset="-128"/>
                        </a:rPr>
                        <a:t>Examples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latin typeface="Verdana" pitchFamily="34" charset="0"/>
                          <a:ea typeface="ＭＳ Ｐゴシック" charset="-128"/>
                        </a:rPr>
                        <a:t>Exposure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latin typeface="Verdana" pitchFamily="34" charset="0"/>
                          <a:ea typeface="ＭＳ Ｐゴシック" charset="-128"/>
                        </a:rPr>
                        <a:t>Application OTJ</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905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Budget meetings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05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Verdana" pitchFamily="34" charset="0"/>
                          <a:ea typeface="ＭＳ Ｐゴシック" charset="-128"/>
                        </a:rPr>
                        <a:t>HEICS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DADA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DADA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DADAD"/>
                    </a:solidFill>
                  </a:tcPr>
                </a:tc>
              </a:tr>
              <a:tr h="2921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Senior leader presentation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05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Verdana" pitchFamily="34" charset="0"/>
                          <a:ea typeface="ＭＳ Ｐゴシック" charset="-128"/>
                        </a:rPr>
                        <a:t>Leading key committees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DADA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DADA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DADAD"/>
                    </a:solidFill>
                  </a:tcPr>
                </a:tc>
              </a:tr>
              <a:tr h="2905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Verdana" pitchFamily="34" charset="0"/>
                          <a:ea typeface="ＭＳ Ｐゴシック" charset="-128"/>
                        </a:rPr>
                        <a:t>JCAHO preparation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Rounds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DADA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DADA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DADAD"/>
                    </a:solidFill>
                  </a:tcPr>
                </a:tc>
              </a:tr>
              <a:tr h="3810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Leading projects w/ system impact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ea typeface="ＭＳ Ｐゴシック" charset="-128"/>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Verdana" pitchFamily="34" charset="0"/>
                          <a:ea typeface="ＭＳ Ｐゴシック" charset="-128"/>
                        </a:rPr>
                        <a: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5"/>
          <p:cNvSpPr>
            <a:spLocks noGrp="1"/>
          </p:cNvSpPr>
          <p:nvPr>
            <p:ph type="ftr" sz="quarter" idx="10"/>
          </p:nvPr>
        </p:nvSpPr>
        <p:spPr/>
        <p:txBody>
          <a:bodyPr/>
          <a:lstStyle/>
          <a:p>
            <a:pPr fontAlgn="base">
              <a:spcAft>
                <a:spcPct val="0"/>
              </a:spcAft>
              <a:defRPr/>
            </a:pPr>
            <a:r>
              <a:rPr lang="en-US" smtClean="0"/>
              <a:t>Children’s Center for Leadership                                                               	</a:t>
            </a:r>
          </a:p>
        </p:txBody>
      </p:sp>
      <p:sp>
        <p:nvSpPr>
          <p:cNvPr id="40963" name="Rectangle 2"/>
          <p:cNvSpPr>
            <a:spLocks noGrp="1" noChangeArrowheads="1"/>
          </p:cNvSpPr>
          <p:nvPr>
            <p:ph type="title"/>
          </p:nvPr>
        </p:nvSpPr>
        <p:spPr>
          <a:xfrm>
            <a:off x="455613" y="914400"/>
            <a:ext cx="8231187" cy="914400"/>
          </a:xfrm>
        </p:spPr>
        <p:txBody>
          <a:bodyPr/>
          <a:lstStyle/>
          <a:p>
            <a:r>
              <a:rPr lang="en-US" sz="2800" smtClean="0"/>
              <a:t>Exposure to 3 Director-level Activities </a:t>
            </a:r>
          </a:p>
        </p:txBody>
      </p:sp>
      <p:sp>
        <p:nvSpPr>
          <p:cNvPr id="40964" name="Rectangle 3"/>
          <p:cNvSpPr>
            <a:spLocks noGrp="1" noChangeArrowheads="1"/>
          </p:cNvSpPr>
          <p:nvPr>
            <p:ph type="body" sz="half" idx="1"/>
          </p:nvPr>
        </p:nvSpPr>
        <p:spPr>
          <a:xfrm>
            <a:off x="457200" y="1447800"/>
            <a:ext cx="8077200" cy="4221163"/>
          </a:xfrm>
        </p:spPr>
        <p:txBody>
          <a:bodyPr/>
          <a:lstStyle/>
          <a:p>
            <a:pPr>
              <a:buFontTx/>
              <a:buNone/>
            </a:pPr>
            <a:endParaRPr lang="en-US" sz="2000" smtClean="0"/>
          </a:p>
          <a:p>
            <a:pPr>
              <a:buFontTx/>
              <a:buNone/>
            </a:pPr>
            <a:r>
              <a:rPr lang="en-US" sz="2000" smtClean="0"/>
              <a:t>Start to identify three potential director-level activities and check boxes:</a:t>
            </a:r>
          </a:p>
          <a:p>
            <a:pPr>
              <a:buFontTx/>
              <a:buNone/>
            </a:pPr>
            <a:endParaRPr lang="en-US" sz="2000" smtClean="0"/>
          </a:p>
        </p:txBody>
      </p:sp>
      <p:graphicFrame>
        <p:nvGraphicFramePr>
          <p:cNvPr id="462852" name="Group 4"/>
          <p:cNvGraphicFramePr>
            <a:graphicFrameLocks noGrp="1"/>
          </p:cNvGraphicFramePr>
          <p:nvPr>
            <p:ph sz="quarter" idx="3"/>
          </p:nvPr>
        </p:nvGraphicFramePr>
        <p:xfrm>
          <a:off x="533400" y="2667000"/>
          <a:ext cx="8229600" cy="3352802"/>
        </p:xfrm>
        <a:graphic>
          <a:graphicData uri="http://schemas.openxmlformats.org/drawingml/2006/table">
            <a:tbl>
              <a:tblPr/>
              <a:tblGrid>
                <a:gridCol w="5334000"/>
                <a:gridCol w="1371600"/>
                <a:gridCol w="1524000"/>
              </a:tblGrid>
              <a:tr h="8620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Verdana" pitchFamily="34" charset="0"/>
                          <a:ea typeface="ＭＳ Ｐゴシック" charset="-128"/>
                        </a:rPr>
                        <a:t>My Director-level Activities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latin typeface="Verdana" pitchFamily="34" charset="0"/>
                          <a:ea typeface="ＭＳ Ｐゴシック" charset="-128"/>
                        </a:rPr>
                        <a:t>Exposure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latin typeface="Verdana" pitchFamily="34" charset="0"/>
                          <a:ea typeface="ＭＳ Ｐゴシック" charset="-128"/>
                        </a:rPr>
                        <a:t>Application OTJ</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968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00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84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84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8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41987" name="Rectangle 2"/>
          <p:cNvSpPr>
            <a:spLocks noGrp="1" noChangeArrowheads="1"/>
          </p:cNvSpPr>
          <p:nvPr>
            <p:ph type="title" idx="4294967295"/>
          </p:nvPr>
        </p:nvSpPr>
        <p:spPr>
          <a:xfrm>
            <a:off x="833438" y="2819400"/>
            <a:ext cx="7319962" cy="914400"/>
          </a:xfrm>
        </p:spPr>
        <p:txBody>
          <a:bodyPr/>
          <a:lstStyle/>
          <a:p>
            <a:pPr algn="ctr"/>
            <a:r>
              <a:rPr lang="en-US" smtClean="0"/>
              <a:t>How You will Work Together</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43011" name="Rectangle 2"/>
          <p:cNvSpPr>
            <a:spLocks noGrp="1" noChangeArrowheads="1"/>
          </p:cNvSpPr>
          <p:nvPr>
            <p:ph type="title"/>
          </p:nvPr>
        </p:nvSpPr>
        <p:spPr>
          <a:xfrm>
            <a:off x="455613" y="839788"/>
            <a:ext cx="8459787" cy="914400"/>
          </a:xfrm>
        </p:spPr>
        <p:txBody>
          <a:bodyPr/>
          <a:lstStyle/>
          <a:p>
            <a:r>
              <a:rPr lang="en-US" smtClean="0"/>
              <a:t>Meeting Guideline</a:t>
            </a:r>
          </a:p>
        </p:txBody>
      </p:sp>
      <p:sp>
        <p:nvSpPr>
          <p:cNvPr id="465923" name="Rectangle 3"/>
          <p:cNvSpPr>
            <a:spLocks noGrp="1" noChangeArrowheads="1"/>
          </p:cNvSpPr>
          <p:nvPr>
            <p:ph type="body" idx="1"/>
          </p:nvPr>
        </p:nvSpPr>
        <p:spPr>
          <a:xfrm>
            <a:off x="457200" y="1905000"/>
            <a:ext cx="8686800" cy="4221163"/>
          </a:xfrm>
        </p:spPr>
        <p:txBody>
          <a:bodyPr/>
          <a:lstStyle/>
          <a:p>
            <a:pPr marL="457200" indent="-457200">
              <a:buFontTx/>
              <a:buNone/>
            </a:pPr>
            <a:r>
              <a:rPr lang="en-US" b="1" smtClean="0"/>
              <a:t>Mentee leads - Mentor reinforces</a:t>
            </a:r>
          </a:p>
          <a:p>
            <a:pPr marL="457200" indent="-457200">
              <a:buFontTx/>
              <a:buAutoNum type="arabicPeriod"/>
            </a:pPr>
            <a:r>
              <a:rPr lang="en-US" smtClean="0"/>
              <a:t>Check-in - What has happened since last meeting, progress on commitments, time to build relationship</a:t>
            </a:r>
          </a:p>
          <a:p>
            <a:pPr marL="457200" indent="-457200">
              <a:buFontTx/>
              <a:buAutoNum type="arabicPeriod"/>
            </a:pPr>
            <a:r>
              <a:rPr lang="en-US" smtClean="0"/>
              <a:t>Focus for Today</a:t>
            </a:r>
          </a:p>
          <a:p>
            <a:pPr marL="457200" indent="-457200">
              <a:buFontTx/>
              <a:buAutoNum type="arabicPeriod"/>
            </a:pPr>
            <a:r>
              <a:rPr lang="en-US" smtClean="0"/>
              <a:t>Mentoring</a:t>
            </a:r>
          </a:p>
          <a:p>
            <a:pPr marL="457200" indent="-457200">
              <a:buFontTx/>
              <a:buAutoNum type="arabicPeriod"/>
            </a:pPr>
            <a:r>
              <a:rPr lang="en-US" smtClean="0"/>
              <a:t>Close - Actions before next meeting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5923">
                                            <p:txEl>
                                              <p:pRg st="1" end="1"/>
                                            </p:txEl>
                                          </p:spTgt>
                                        </p:tgtEl>
                                        <p:attrNameLst>
                                          <p:attrName>style.visibility</p:attrName>
                                        </p:attrNameLst>
                                      </p:cBhvr>
                                      <p:to>
                                        <p:strVal val="visible"/>
                                      </p:to>
                                    </p:set>
                                    <p:anim calcmode="lin" valueType="num">
                                      <p:cBhvr additive="base">
                                        <p:cTn id="7" dur="500" fill="hold"/>
                                        <p:tgtEl>
                                          <p:spTgt spid="4659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5923">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465923">
                                            <p:txEl>
                                              <p:pRg st="1" end="1"/>
                                            </p:txEl>
                                          </p:spTgt>
                                        </p:tgtEl>
                                        <p:attrNameLst>
                                          <p:attrName>ppt_c</p:attrName>
                                        </p:attrNameLst>
                                      </p:cBhvr>
                                      <p:to>
                                        <a:schemeClr val="bg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5923">
                                            <p:txEl>
                                              <p:pRg st="2" end="2"/>
                                            </p:txEl>
                                          </p:spTgt>
                                        </p:tgtEl>
                                        <p:attrNameLst>
                                          <p:attrName>style.visibility</p:attrName>
                                        </p:attrNameLst>
                                      </p:cBhvr>
                                      <p:to>
                                        <p:strVal val="visible"/>
                                      </p:to>
                                    </p:set>
                                    <p:anim calcmode="lin" valueType="num">
                                      <p:cBhvr additive="base">
                                        <p:cTn id="13" dur="500" fill="hold"/>
                                        <p:tgtEl>
                                          <p:spTgt spid="46592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5923">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465923">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65923">
                                            <p:txEl>
                                              <p:pRg st="3" end="3"/>
                                            </p:txEl>
                                          </p:spTgt>
                                        </p:tgtEl>
                                        <p:attrNameLst>
                                          <p:attrName>style.visibility</p:attrName>
                                        </p:attrNameLst>
                                      </p:cBhvr>
                                      <p:to>
                                        <p:strVal val="visible"/>
                                      </p:to>
                                    </p:set>
                                    <p:anim calcmode="lin" valueType="num">
                                      <p:cBhvr additive="base">
                                        <p:cTn id="19" dur="500" fill="hold"/>
                                        <p:tgtEl>
                                          <p:spTgt spid="46592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5923">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465923">
                                            <p:txEl>
                                              <p:pRg st="3" end="3"/>
                                            </p:txEl>
                                          </p:spTgt>
                                        </p:tgtEl>
                                        <p:attrNameLst>
                                          <p:attrName>ppt_c</p:attrName>
                                        </p:attrNameLst>
                                      </p:cBhvr>
                                      <p:to>
                                        <a:schemeClr val="bg2"/>
                                      </p:to>
                                    </p:animClr>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65923">
                                            <p:txEl>
                                              <p:pRg st="4" end="4"/>
                                            </p:txEl>
                                          </p:spTgt>
                                        </p:tgtEl>
                                        <p:attrNameLst>
                                          <p:attrName>style.visibility</p:attrName>
                                        </p:attrNameLst>
                                      </p:cBhvr>
                                      <p:to>
                                        <p:strVal val="visible"/>
                                      </p:to>
                                    </p:set>
                                    <p:anim calcmode="lin" valueType="num">
                                      <p:cBhvr additive="base">
                                        <p:cTn id="25" dur="500" fill="hold"/>
                                        <p:tgtEl>
                                          <p:spTgt spid="46592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592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45059" name="Rectangle 2"/>
          <p:cNvSpPr>
            <a:spLocks noGrp="1" noChangeArrowheads="1"/>
          </p:cNvSpPr>
          <p:nvPr>
            <p:ph type="title"/>
          </p:nvPr>
        </p:nvSpPr>
        <p:spPr/>
        <p:txBody>
          <a:bodyPr/>
          <a:lstStyle/>
          <a:p>
            <a:r>
              <a:rPr lang="en-US" smtClean="0"/>
              <a:t>Meeting Logistics</a:t>
            </a:r>
          </a:p>
        </p:txBody>
      </p:sp>
      <p:sp>
        <p:nvSpPr>
          <p:cNvPr id="45060" name="Rectangle 3"/>
          <p:cNvSpPr>
            <a:spLocks noGrp="1" noChangeArrowheads="1"/>
          </p:cNvSpPr>
          <p:nvPr>
            <p:ph type="body" idx="1"/>
          </p:nvPr>
        </p:nvSpPr>
        <p:spPr/>
        <p:txBody>
          <a:bodyPr/>
          <a:lstStyle/>
          <a:p>
            <a:r>
              <a:rPr lang="en-US" smtClean="0"/>
              <a:t>Share contact information</a:t>
            </a:r>
          </a:p>
          <a:p>
            <a:r>
              <a:rPr lang="en-US" smtClean="0"/>
              <a:t>Best locations for meetings?</a:t>
            </a:r>
          </a:p>
          <a:p>
            <a:r>
              <a:rPr lang="en-US" smtClean="0"/>
              <a:t>How you prefer to stay in touch between meetings?</a:t>
            </a:r>
          </a:p>
          <a:p>
            <a:r>
              <a:rPr lang="en-US" smtClean="0"/>
              <a:t>Are email and voicemail confidential?</a:t>
            </a:r>
          </a:p>
          <a:p>
            <a:r>
              <a:rPr lang="en-US" smtClean="0"/>
              <a:t>Meeting frequency? (Minimum of 1-2/month)</a:t>
            </a:r>
          </a:p>
          <a:p>
            <a:endParaRPr lang="en-US"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44035" name="Rectangle 2"/>
          <p:cNvSpPr>
            <a:spLocks noGrp="1" noChangeArrowheads="1"/>
          </p:cNvSpPr>
          <p:nvPr>
            <p:ph type="title"/>
          </p:nvPr>
        </p:nvSpPr>
        <p:spPr>
          <a:xfrm>
            <a:off x="455613" y="1143000"/>
            <a:ext cx="8154987" cy="914400"/>
          </a:xfrm>
        </p:spPr>
        <p:txBody>
          <a:bodyPr/>
          <a:lstStyle/>
          <a:p>
            <a:r>
              <a:rPr lang="en-US" smtClean="0"/>
              <a:t>Personal Histories Exercise</a:t>
            </a:r>
            <a:r>
              <a:rPr lang="en-US" sz="4000" b="0" smtClean="0"/>
              <a:t/>
            </a:r>
            <a:br>
              <a:rPr lang="en-US" sz="4000" b="0" smtClean="0"/>
            </a:br>
            <a:endParaRPr lang="en-US" sz="4000" b="0" smtClean="0"/>
          </a:p>
        </p:txBody>
      </p:sp>
      <p:sp>
        <p:nvSpPr>
          <p:cNvPr id="44036" name="Text Box 3"/>
          <p:cNvSpPr>
            <a:spLocks noGrp="1" noChangeArrowheads="1"/>
          </p:cNvSpPr>
          <p:nvPr>
            <p:ph type="body" idx="1"/>
          </p:nvPr>
        </p:nvSpPr>
        <p:spPr>
          <a:xfrm>
            <a:off x="381000" y="1874838"/>
            <a:ext cx="8229600" cy="4221162"/>
          </a:xfrm>
          <a:noFill/>
        </p:spPr>
        <p:txBody>
          <a:bodyPr/>
          <a:lstStyle/>
          <a:p>
            <a:pPr marL="457200" indent="-457200">
              <a:buFontTx/>
              <a:buNone/>
            </a:pPr>
            <a:r>
              <a:rPr lang="en-US" b="1" smtClean="0"/>
              <a:t>Personal Histories</a:t>
            </a:r>
            <a:r>
              <a:rPr lang="en-US" smtClean="0"/>
              <a:t> is a low risk exercise to establish vulnerability-based trust</a:t>
            </a:r>
          </a:p>
          <a:p>
            <a:pPr marL="457200" indent="-457200"/>
            <a:endParaRPr lang="en-US" smtClean="0"/>
          </a:p>
          <a:p>
            <a:pPr marL="457200" indent="-457200">
              <a:buFontTx/>
              <a:buNone/>
            </a:pPr>
            <a:r>
              <a:rPr lang="en-US" smtClean="0"/>
              <a:t>Each person shares three things.  Mentor goes first: </a:t>
            </a:r>
          </a:p>
          <a:p>
            <a:pPr marL="914400" lvl="1" indent="-457200">
              <a:buFontTx/>
              <a:buAutoNum type="arabicPeriod"/>
            </a:pPr>
            <a:r>
              <a:rPr lang="en-US" smtClean="0"/>
              <a:t>Where did you grow up, attend school, etc.?</a:t>
            </a:r>
          </a:p>
          <a:p>
            <a:pPr marL="914400" lvl="1" indent="-457200">
              <a:buFontTx/>
              <a:buAutoNum type="arabicPeriod"/>
            </a:pPr>
            <a:r>
              <a:rPr lang="en-US" smtClean="0"/>
              <a:t>Share a bit about your family (e.g., children, pets, etc.)</a:t>
            </a:r>
          </a:p>
          <a:p>
            <a:pPr marL="914400" lvl="1" indent="-457200">
              <a:buFontTx/>
              <a:buAutoNum type="arabicPeriod"/>
            </a:pPr>
            <a:r>
              <a:rPr lang="en-US" smtClean="0"/>
              <a:t>What was your most difficult or important challenge personally? Professionally?</a:t>
            </a:r>
          </a:p>
        </p:txBody>
      </p:sp>
      <p:sp>
        <p:nvSpPr>
          <p:cNvPr id="44037" name="Text Box 4"/>
          <p:cNvSpPr txBox="1">
            <a:spLocks noChangeArrowheads="1"/>
          </p:cNvSpPr>
          <p:nvPr/>
        </p:nvSpPr>
        <p:spPr bwMode="auto">
          <a:xfrm>
            <a:off x="1793875" y="5791200"/>
            <a:ext cx="4530725" cy="274638"/>
          </a:xfrm>
          <a:prstGeom prst="rect">
            <a:avLst/>
          </a:prstGeom>
          <a:noFill/>
          <a:ln w="9525">
            <a:noFill/>
            <a:miter lim="800000"/>
            <a:headEnd/>
            <a:tailEnd/>
          </a:ln>
        </p:spPr>
        <p:txBody>
          <a:bodyPr wrap="none">
            <a:spAutoFit/>
          </a:bodyPr>
          <a:lstStyle/>
          <a:p>
            <a:pPr algn="ctr" eaLnBrk="0" hangingPunct="0"/>
            <a:r>
              <a:rPr lang="en-US" sz="1200">
                <a:solidFill>
                  <a:srgbClr val="000000"/>
                </a:solidFill>
              </a:rPr>
              <a:t>Adapted from Patrick Lencioni, The Five Dysfunctions of a Team</a:t>
            </a:r>
          </a:p>
        </p:txBody>
      </p:sp>
      <p:grpSp>
        <p:nvGrpSpPr>
          <p:cNvPr id="44038" name="Group 5"/>
          <p:cNvGrpSpPr>
            <a:grpSpLocks/>
          </p:cNvGrpSpPr>
          <p:nvPr/>
        </p:nvGrpSpPr>
        <p:grpSpPr bwMode="auto">
          <a:xfrm>
            <a:off x="6705600" y="5029200"/>
            <a:ext cx="2133600" cy="1066800"/>
            <a:chOff x="1104" y="2064"/>
            <a:chExt cx="3408" cy="1344"/>
          </a:xfrm>
        </p:grpSpPr>
        <p:sp>
          <p:nvSpPr>
            <p:cNvPr id="44039" name="Oval 6"/>
            <p:cNvSpPr>
              <a:spLocks noChangeArrowheads="1"/>
            </p:cNvSpPr>
            <p:nvPr/>
          </p:nvSpPr>
          <p:spPr bwMode="auto">
            <a:xfrm>
              <a:off x="1104" y="2064"/>
              <a:ext cx="3408" cy="1344"/>
            </a:xfrm>
            <a:prstGeom prst="ellipse">
              <a:avLst/>
            </a:prstGeom>
            <a:solidFill>
              <a:srgbClr val="FFCC00"/>
            </a:solidFill>
            <a:ln w="25400">
              <a:solidFill>
                <a:schemeClr val="tx1"/>
              </a:solidFill>
              <a:prstDash val="sysDot"/>
              <a:round/>
              <a:headEnd/>
              <a:tailEnd/>
            </a:ln>
          </p:spPr>
          <p:txBody>
            <a:bodyPr wrap="none" anchor="ctr"/>
            <a:lstStyle/>
            <a:p>
              <a:pPr algn="ctr" eaLnBrk="0" hangingPunct="0"/>
              <a:endParaRPr lang="en-US" sz="2400">
                <a:solidFill>
                  <a:srgbClr val="000000"/>
                </a:solidFill>
              </a:endParaRPr>
            </a:p>
            <a:p>
              <a:pPr algn="ctr" eaLnBrk="0" hangingPunct="0"/>
              <a:endParaRPr lang="en-US" sz="2400">
                <a:solidFill>
                  <a:srgbClr val="000000"/>
                </a:solidFill>
              </a:endParaRPr>
            </a:p>
          </p:txBody>
        </p:sp>
        <p:sp>
          <p:nvSpPr>
            <p:cNvPr id="44040" name="Oval 7"/>
            <p:cNvSpPr>
              <a:spLocks noChangeArrowheads="1"/>
            </p:cNvSpPr>
            <p:nvPr/>
          </p:nvSpPr>
          <p:spPr bwMode="auto">
            <a:xfrm>
              <a:off x="2016" y="2208"/>
              <a:ext cx="1584" cy="1008"/>
            </a:xfrm>
            <a:prstGeom prst="ellipse">
              <a:avLst/>
            </a:prstGeom>
            <a:solidFill>
              <a:schemeClr val="hlink"/>
            </a:solidFill>
            <a:ln w="9525">
              <a:solidFill>
                <a:schemeClr val="tx1"/>
              </a:solidFill>
              <a:round/>
              <a:headEnd/>
              <a:tailEnd/>
            </a:ln>
          </p:spPr>
          <p:txBody>
            <a:bodyPr wrap="none" anchor="ctr"/>
            <a:lstStyle/>
            <a:p>
              <a:pPr algn="ctr" eaLnBrk="0" hangingPunct="0"/>
              <a:r>
                <a:rPr lang="en-US" sz="800">
                  <a:solidFill>
                    <a:srgbClr val="000000"/>
                  </a:solidFill>
                </a:rPr>
                <a:t>Capacity for Trust</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46083" name="Rectangle 2"/>
          <p:cNvSpPr>
            <a:spLocks noGrp="1" noChangeArrowheads="1"/>
          </p:cNvSpPr>
          <p:nvPr>
            <p:ph type="title"/>
          </p:nvPr>
        </p:nvSpPr>
        <p:spPr>
          <a:xfrm>
            <a:off x="455613" y="990600"/>
            <a:ext cx="7164387" cy="914400"/>
          </a:xfrm>
        </p:spPr>
        <p:txBody>
          <a:bodyPr/>
          <a:lstStyle/>
          <a:p>
            <a:r>
              <a:rPr lang="en-US" smtClean="0"/>
              <a:t>Relationship and Trust</a:t>
            </a:r>
            <a:r>
              <a:rPr lang="en-US" sz="2800" smtClean="0"/>
              <a:t/>
            </a:r>
            <a:br>
              <a:rPr lang="en-US" sz="2800" smtClean="0"/>
            </a:br>
            <a:endParaRPr lang="en-US" sz="2800" smtClean="0"/>
          </a:p>
        </p:txBody>
      </p:sp>
      <p:sp>
        <p:nvSpPr>
          <p:cNvPr id="46084" name="Text Box 3"/>
          <p:cNvSpPr txBox="1">
            <a:spLocks noChangeArrowheads="1"/>
          </p:cNvSpPr>
          <p:nvPr/>
        </p:nvSpPr>
        <p:spPr bwMode="auto">
          <a:xfrm>
            <a:off x="5029200" y="2187575"/>
            <a:ext cx="3505200" cy="2308225"/>
          </a:xfrm>
          <a:prstGeom prst="rect">
            <a:avLst/>
          </a:prstGeom>
          <a:noFill/>
          <a:ln w="9525">
            <a:noFill/>
            <a:miter lim="800000"/>
            <a:headEnd/>
            <a:tailEnd/>
          </a:ln>
        </p:spPr>
        <p:txBody>
          <a:bodyPr>
            <a:spAutoFit/>
          </a:bodyPr>
          <a:lstStyle/>
          <a:p>
            <a:pPr algn="ctr" eaLnBrk="0" hangingPunct="0">
              <a:spcBef>
                <a:spcPct val="50000"/>
              </a:spcBef>
            </a:pPr>
            <a:r>
              <a:rPr lang="en-US" sz="2400" i="1">
                <a:solidFill>
                  <a:srgbClr val="000000"/>
                </a:solidFill>
              </a:rPr>
              <a:t>Frequency of communication drives Mentor/Mentee productivity and satisfaction with the relationship</a:t>
            </a:r>
          </a:p>
        </p:txBody>
      </p:sp>
      <p:grpSp>
        <p:nvGrpSpPr>
          <p:cNvPr id="46085" name="Group 4"/>
          <p:cNvGrpSpPr>
            <a:grpSpLocks/>
          </p:cNvGrpSpPr>
          <p:nvPr/>
        </p:nvGrpSpPr>
        <p:grpSpPr bwMode="auto">
          <a:xfrm>
            <a:off x="822325" y="1676400"/>
            <a:ext cx="3856038" cy="3902075"/>
            <a:chOff x="518" y="1296"/>
            <a:chExt cx="2429" cy="2458"/>
          </a:xfrm>
        </p:grpSpPr>
        <p:sp>
          <p:nvSpPr>
            <p:cNvPr id="46089" name="Line 5"/>
            <p:cNvSpPr>
              <a:spLocks noChangeShapeType="1"/>
            </p:cNvSpPr>
            <p:nvPr/>
          </p:nvSpPr>
          <p:spPr bwMode="auto">
            <a:xfrm>
              <a:off x="864" y="1584"/>
              <a:ext cx="1" cy="1632"/>
            </a:xfrm>
            <a:prstGeom prst="line">
              <a:avLst/>
            </a:prstGeom>
            <a:noFill/>
            <a:ln w="63500">
              <a:solidFill>
                <a:schemeClr val="hlink"/>
              </a:solidFill>
              <a:round/>
              <a:headEnd/>
              <a:tailEnd/>
            </a:ln>
          </p:spPr>
          <p:txBody>
            <a:bodyPr/>
            <a:lstStyle/>
            <a:p>
              <a:endParaRPr lang="en-US"/>
            </a:p>
          </p:txBody>
        </p:sp>
        <p:sp>
          <p:nvSpPr>
            <p:cNvPr id="46090" name="Line 6"/>
            <p:cNvSpPr>
              <a:spLocks noChangeShapeType="1"/>
            </p:cNvSpPr>
            <p:nvPr/>
          </p:nvSpPr>
          <p:spPr bwMode="auto">
            <a:xfrm flipH="1">
              <a:off x="864" y="3216"/>
              <a:ext cx="1728" cy="1"/>
            </a:xfrm>
            <a:prstGeom prst="line">
              <a:avLst/>
            </a:prstGeom>
            <a:noFill/>
            <a:ln w="63500">
              <a:solidFill>
                <a:schemeClr val="hlink"/>
              </a:solidFill>
              <a:round/>
              <a:headEnd/>
              <a:tailEnd/>
            </a:ln>
          </p:spPr>
          <p:txBody>
            <a:bodyPr/>
            <a:lstStyle/>
            <a:p>
              <a:endParaRPr lang="en-US"/>
            </a:p>
          </p:txBody>
        </p:sp>
        <p:sp>
          <p:nvSpPr>
            <p:cNvPr id="46091" name="AutoShape 7"/>
            <p:cNvSpPr>
              <a:spLocks noChangeArrowheads="1"/>
            </p:cNvSpPr>
            <p:nvPr/>
          </p:nvSpPr>
          <p:spPr bwMode="auto">
            <a:xfrm rot="-1997651">
              <a:off x="835" y="2417"/>
              <a:ext cx="2112" cy="192"/>
            </a:xfrm>
            <a:custGeom>
              <a:avLst/>
              <a:gdLst>
                <a:gd name="T0" fmla="*/ 15 w 21600"/>
                <a:gd name="T1" fmla="*/ 0 h 21600"/>
                <a:gd name="T2" fmla="*/ 0 w 21600"/>
                <a:gd name="T3" fmla="*/ 0 h 21600"/>
                <a:gd name="T4" fmla="*/ 15 w 21600"/>
                <a:gd name="T5" fmla="*/ 0 h 21600"/>
                <a:gd name="T6" fmla="*/ 20 w 21600"/>
                <a:gd name="T7" fmla="*/ 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46092" name="Text Box 8"/>
            <p:cNvSpPr txBox="1">
              <a:spLocks noChangeArrowheads="1"/>
            </p:cNvSpPr>
            <p:nvPr/>
          </p:nvSpPr>
          <p:spPr bwMode="auto">
            <a:xfrm rot="-5400000">
              <a:off x="-461" y="2275"/>
              <a:ext cx="2208" cy="250"/>
            </a:xfrm>
            <a:prstGeom prst="rect">
              <a:avLst/>
            </a:prstGeom>
            <a:noFill/>
            <a:ln w="9525">
              <a:noFill/>
              <a:miter lim="800000"/>
              <a:headEnd/>
              <a:tailEnd/>
            </a:ln>
          </p:spPr>
          <p:txBody>
            <a:bodyPr>
              <a:spAutoFit/>
            </a:bodyPr>
            <a:lstStyle/>
            <a:p>
              <a:pPr algn="ctr" eaLnBrk="0" hangingPunct="0">
                <a:spcBef>
                  <a:spcPct val="50000"/>
                </a:spcBef>
              </a:pPr>
              <a:r>
                <a:rPr lang="en-US" sz="2000">
                  <a:solidFill>
                    <a:srgbClr val="002392"/>
                  </a:solidFill>
                </a:rPr>
                <a:t>Productivity &amp; Happiness</a:t>
              </a:r>
            </a:p>
          </p:txBody>
        </p:sp>
        <p:sp>
          <p:nvSpPr>
            <p:cNvPr id="46093" name="Text Box 9"/>
            <p:cNvSpPr txBox="1">
              <a:spLocks noChangeArrowheads="1"/>
            </p:cNvSpPr>
            <p:nvPr/>
          </p:nvSpPr>
          <p:spPr bwMode="auto">
            <a:xfrm>
              <a:off x="1008" y="3312"/>
              <a:ext cx="1632" cy="442"/>
            </a:xfrm>
            <a:prstGeom prst="rect">
              <a:avLst/>
            </a:prstGeom>
            <a:noFill/>
            <a:ln w="9525">
              <a:noFill/>
              <a:miter lim="800000"/>
              <a:headEnd/>
              <a:tailEnd/>
            </a:ln>
          </p:spPr>
          <p:txBody>
            <a:bodyPr>
              <a:spAutoFit/>
            </a:bodyPr>
            <a:lstStyle/>
            <a:p>
              <a:pPr algn="ctr" eaLnBrk="0" hangingPunct="0">
                <a:spcBef>
                  <a:spcPct val="50000"/>
                </a:spcBef>
              </a:pPr>
              <a:r>
                <a:rPr lang="en-US" sz="2000">
                  <a:solidFill>
                    <a:srgbClr val="002392"/>
                  </a:solidFill>
                </a:rPr>
                <a:t>Frequency of Communication</a:t>
              </a:r>
            </a:p>
          </p:txBody>
        </p:sp>
      </p:grpSp>
      <p:grpSp>
        <p:nvGrpSpPr>
          <p:cNvPr id="46086" name="Group 10"/>
          <p:cNvGrpSpPr>
            <a:grpSpLocks/>
          </p:cNvGrpSpPr>
          <p:nvPr/>
        </p:nvGrpSpPr>
        <p:grpSpPr bwMode="auto">
          <a:xfrm>
            <a:off x="6705600" y="5029200"/>
            <a:ext cx="2133600" cy="1066800"/>
            <a:chOff x="1104" y="2064"/>
            <a:chExt cx="3408" cy="1344"/>
          </a:xfrm>
        </p:grpSpPr>
        <p:sp>
          <p:nvSpPr>
            <p:cNvPr id="46087" name="Oval 11"/>
            <p:cNvSpPr>
              <a:spLocks noChangeArrowheads="1"/>
            </p:cNvSpPr>
            <p:nvPr/>
          </p:nvSpPr>
          <p:spPr bwMode="auto">
            <a:xfrm>
              <a:off x="1104" y="2064"/>
              <a:ext cx="3408" cy="1344"/>
            </a:xfrm>
            <a:prstGeom prst="ellipse">
              <a:avLst/>
            </a:prstGeom>
            <a:solidFill>
              <a:srgbClr val="FFCC00"/>
            </a:solidFill>
            <a:ln w="25400">
              <a:solidFill>
                <a:schemeClr val="tx1"/>
              </a:solidFill>
              <a:prstDash val="sysDot"/>
              <a:round/>
              <a:headEnd/>
              <a:tailEnd/>
            </a:ln>
          </p:spPr>
          <p:txBody>
            <a:bodyPr wrap="none" anchor="ctr"/>
            <a:lstStyle/>
            <a:p>
              <a:pPr algn="ctr" eaLnBrk="0" hangingPunct="0"/>
              <a:endParaRPr lang="en-US" sz="2400">
                <a:solidFill>
                  <a:srgbClr val="000000"/>
                </a:solidFill>
              </a:endParaRPr>
            </a:p>
            <a:p>
              <a:pPr algn="ctr" eaLnBrk="0" hangingPunct="0"/>
              <a:endParaRPr lang="en-US" sz="2400">
                <a:solidFill>
                  <a:srgbClr val="000000"/>
                </a:solidFill>
              </a:endParaRPr>
            </a:p>
          </p:txBody>
        </p:sp>
        <p:sp>
          <p:nvSpPr>
            <p:cNvPr id="46088" name="Oval 12"/>
            <p:cNvSpPr>
              <a:spLocks noChangeArrowheads="1"/>
            </p:cNvSpPr>
            <p:nvPr/>
          </p:nvSpPr>
          <p:spPr bwMode="auto">
            <a:xfrm>
              <a:off x="2016" y="2208"/>
              <a:ext cx="1584" cy="1008"/>
            </a:xfrm>
            <a:prstGeom prst="ellipse">
              <a:avLst/>
            </a:prstGeom>
            <a:solidFill>
              <a:schemeClr val="hlink"/>
            </a:solidFill>
            <a:ln w="9525">
              <a:solidFill>
                <a:schemeClr val="tx1"/>
              </a:solidFill>
              <a:round/>
              <a:headEnd/>
              <a:tailEnd/>
            </a:ln>
          </p:spPr>
          <p:txBody>
            <a:bodyPr wrap="none" anchor="ctr"/>
            <a:lstStyle/>
            <a:p>
              <a:pPr algn="ctr" eaLnBrk="0" hangingPunct="0"/>
              <a:r>
                <a:rPr lang="en-US" sz="800">
                  <a:solidFill>
                    <a:srgbClr val="000000"/>
                  </a:solidFill>
                </a:rPr>
                <a:t>Capacity for Trust</a:t>
              </a:r>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47107" name="Rectangle 2"/>
          <p:cNvSpPr>
            <a:spLocks noGrp="1" noChangeArrowheads="1"/>
          </p:cNvSpPr>
          <p:nvPr>
            <p:ph type="title"/>
          </p:nvPr>
        </p:nvSpPr>
        <p:spPr>
          <a:xfrm>
            <a:off x="455613" y="914400"/>
            <a:ext cx="8688387" cy="914400"/>
          </a:xfrm>
        </p:spPr>
        <p:txBody>
          <a:bodyPr/>
          <a:lstStyle/>
          <a:p>
            <a:r>
              <a:rPr lang="en-US" smtClean="0"/>
              <a:t>Building the Relationship and Trust </a:t>
            </a:r>
          </a:p>
        </p:txBody>
      </p:sp>
      <p:sp>
        <p:nvSpPr>
          <p:cNvPr id="482307" name="Rectangle 3"/>
          <p:cNvSpPr>
            <a:spLocks noGrp="1" noChangeArrowheads="1"/>
          </p:cNvSpPr>
          <p:nvPr>
            <p:ph type="body" idx="1"/>
          </p:nvPr>
        </p:nvSpPr>
        <p:spPr/>
        <p:txBody>
          <a:bodyPr/>
          <a:lstStyle/>
          <a:p>
            <a:r>
              <a:rPr lang="en-US" smtClean="0"/>
              <a:t>Take notes and review them before the meeting</a:t>
            </a:r>
            <a:endParaRPr lang="en-US" b="1" smtClean="0"/>
          </a:p>
          <a:p>
            <a:r>
              <a:rPr lang="en-US" smtClean="0"/>
              <a:t>Maintain confidences</a:t>
            </a:r>
            <a:endParaRPr lang="en-US" b="1" smtClean="0"/>
          </a:p>
          <a:p>
            <a:r>
              <a:rPr lang="en-US" smtClean="0"/>
              <a:t>Speak honestly – avoid sugarcoating</a:t>
            </a:r>
          </a:p>
        </p:txBody>
      </p:sp>
      <p:grpSp>
        <p:nvGrpSpPr>
          <p:cNvPr id="47109" name="Group 4"/>
          <p:cNvGrpSpPr>
            <a:grpSpLocks/>
          </p:cNvGrpSpPr>
          <p:nvPr/>
        </p:nvGrpSpPr>
        <p:grpSpPr bwMode="auto">
          <a:xfrm>
            <a:off x="6705600" y="5029200"/>
            <a:ext cx="2133600" cy="1066800"/>
            <a:chOff x="1104" y="2064"/>
            <a:chExt cx="3408" cy="1344"/>
          </a:xfrm>
        </p:grpSpPr>
        <p:sp>
          <p:nvSpPr>
            <p:cNvPr id="47110" name="Oval 5"/>
            <p:cNvSpPr>
              <a:spLocks noChangeArrowheads="1"/>
            </p:cNvSpPr>
            <p:nvPr/>
          </p:nvSpPr>
          <p:spPr bwMode="auto">
            <a:xfrm>
              <a:off x="1104" y="2064"/>
              <a:ext cx="3408" cy="1344"/>
            </a:xfrm>
            <a:prstGeom prst="ellipse">
              <a:avLst/>
            </a:prstGeom>
            <a:solidFill>
              <a:srgbClr val="FFCC00"/>
            </a:solidFill>
            <a:ln w="25400">
              <a:solidFill>
                <a:schemeClr val="tx1"/>
              </a:solidFill>
              <a:prstDash val="sysDot"/>
              <a:round/>
              <a:headEnd/>
              <a:tailEnd/>
            </a:ln>
          </p:spPr>
          <p:txBody>
            <a:bodyPr wrap="none" anchor="ctr"/>
            <a:lstStyle/>
            <a:p>
              <a:pPr algn="ctr" eaLnBrk="0" hangingPunct="0"/>
              <a:endParaRPr lang="en-US" sz="2400">
                <a:solidFill>
                  <a:srgbClr val="000000"/>
                </a:solidFill>
              </a:endParaRPr>
            </a:p>
            <a:p>
              <a:pPr algn="ctr" eaLnBrk="0" hangingPunct="0"/>
              <a:endParaRPr lang="en-US" sz="2400">
                <a:solidFill>
                  <a:srgbClr val="000000"/>
                </a:solidFill>
              </a:endParaRPr>
            </a:p>
          </p:txBody>
        </p:sp>
        <p:sp>
          <p:nvSpPr>
            <p:cNvPr id="47111" name="Oval 6"/>
            <p:cNvSpPr>
              <a:spLocks noChangeArrowheads="1"/>
            </p:cNvSpPr>
            <p:nvPr/>
          </p:nvSpPr>
          <p:spPr bwMode="auto">
            <a:xfrm>
              <a:off x="2016" y="2208"/>
              <a:ext cx="1584" cy="1008"/>
            </a:xfrm>
            <a:prstGeom prst="ellipse">
              <a:avLst/>
            </a:prstGeom>
            <a:solidFill>
              <a:schemeClr val="hlink"/>
            </a:solidFill>
            <a:ln w="9525">
              <a:solidFill>
                <a:schemeClr val="tx1"/>
              </a:solidFill>
              <a:round/>
              <a:headEnd/>
              <a:tailEnd/>
            </a:ln>
          </p:spPr>
          <p:txBody>
            <a:bodyPr wrap="none" anchor="ctr"/>
            <a:lstStyle/>
            <a:p>
              <a:pPr algn="ctr" eaLnBrk="0" hangingPunct="0"/>
              <a:r>
                <a:rPr lang="en-US" sz="800">
                  <a:solidFill>
                    <a:srgbClr val="000000"/>
                  </a:solidFill>
                </a:rPr>
                <a:t>Capacity for Trust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82307">
                                            <p:txEl>
                                              <p:pRg st="0" end="0"/>
                                            </p:txEl>
                                          </p:spTgt>
                                        </p:tgtEl>
                                        <p:attrNameLst>
                                          <p:attrName>style.visibility</p:attrName>
                                        </p:attrNameLst>
                                      </p:cBhvr>
                                      <p:to>
                                        <p:strVal val="visible"/>
                                      </p:to>
                                    </p:set>
                                    <p:animEffect transition="in" filter="slide(fromBottom)">
                                      <p:cBhvr>
                                        <p:cTn id="7" dur="500"/>
                                        <p:tgtEl>
                                          <p:spTgt spid="482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482307">
                                            <p:txEl>
                                              <p:pRg st="1" end="1"/>
                                            </p:txEl>
                                          </p:spTgt>
                                        </p:tgtEl>
                                        <p:attrNameLst>
                                          <p:attrName>style.visibility</p:attrName>
                                        </p:attrNameLst>
                                      </p:cBhvr>
                                      <p:to>
                                        <p:strVal val="visible"/>
                                      </p:to>
                                    </p:set>
                                    <p:animEffect transition="in" filter="slide(fromBottom)">
                                      <p:cBhvr>
                                        <p:cTn id="12" dur="500"/>
                                        <p:tgtEl>
                                          <p:spTgt spid="4823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482307">
                                            <p:txEl>
                                              <p:pRg st="2" end="2"/>
                                            </p:txEl>
                                          </p:spTgt>
                                        </p:tgtEl>
                                        <p:attrNameLst>
                                          <p:attrName>style.visibility</p:attrName>
                                        </p:attrNameLst>
                                      </p:cBhvr>
                                      <p:to>
                                        <p:strVal val="visible"/>
                                      </p:to>
                                    </p:set>
                                    <p:animEffect transition="in" filter="slide(fromBottom)">
                                      <p:cBhvr>
                                        <p:cTn id="17" dur="500"/>
                                        <p:tgtEl>
                                          <p:spTgt spid="4823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48131" name="Rectangle 2"/>
          <p:cNvSpPr>
            <a:spLocks noGrp="1" noChangeArrowheads="1"/>
          </p:cNvSpPr>
          <p:nvPr>
            <p:ph type="title"/>
          </p:nvPr>
        </p:nvSpPr>
        <p:spPr>
          <a:xfrm>
            <a:off x="455613" y="839788"/>
            <a:ext cx="8688387" cy="914400"/>
          </a:xfrm>
        </p:spPr>
        <p:txBody>
          <a:bodyPr/>
          <a:lstStyle/>
          <a:p>
            <a:r>
              <a:rPr lang="en-US" smtClean="0"/>
              <a:t>Speaking Honestly</a:t>
            </a:r>
          </a:p>
        </p:txBody>
      </p:sp>
      <p:sp>
        <p:nvSpPr>
          <p:cNvPr id="484355" name="Rectangle 3"/>
          <p:cNvSpPr>
            <a:spLocks noGrp="1" noChangeArrowheads="1"/>
          </p:cNvSpPr>
          <p:nvPr>
            <p:ph type="body" idx="1"/>
          </p:nvPr>
        </p:nvSpPr>
        <p:spPr/>
        <p:txBody>
          <a:bodyPr/>
          <a:lstStyle/>
          <a:p>
            <a:r>
              <a:rPr lang="en-US" smtClean="0"/>
              <a:t>Mentees – Describe someone who you feel is “positive”</a:t>
            </a:r>
          </a:p>
          <a:p>
            <a:endParaRPr lang="en-US" smtClean="0"/>
          </a:p>
          <a:p>
            <a:r>
              <a:rPr lang="en-US" smtClean="0"/>
              <a:t>Work in pairs to pinpoint the specific behaviors you expect of each other so your meetings are successful</a:t>
            </a:r>
          </a:p>
          <a:p>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43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53251" name="Rectangle 2"/>
          <p:cNvSpPr>
            <a:spLocks noGrp="1" noChangeArrowheads="1"/>
          </p:cNvSpPr>
          <p:nvPr>
            <p:ph type="title" idx="4294967295"/>
          </p:nvPr>
        </p:nvSpPr>
        <p:spPr>
          <a:xfrm>
            <a:off x="833438" y="2819400"/>
            <a:ext cx="7319962" cy="914400"/>
          </a:xfrm>
        </p:spPr>
        <p:txBody>
          <a:bodyPr/>
          <a:lstStyle/>
          <a:p>
            <a:pPr algn="ctr"/>
            <a:r>
              <a:rPr lang="en-US" smtClean="0"/>
              <a:t>Next Steps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54275" name="Rectangle 2"/>
          <p:cNvSpPr>
            <a:spLocks noGrp="1" noChangeArrowheads="1"/>
          </p:cNvSpPr>
          <p:nvPr>
            <p:ph type="title"/>
          </p:nvPr>
        </p:nvSpPr>
        <p:spPr>
          <a:xfrm>
            <a:off x="455613" y="839788"/>
            <a:ext cx="8231187" cy="914400"/>
          </a:xfrm>
        </p:spPr>
        <p:txBody>
          <a:bodyPr/>
          <a:lstStyle/>
          <a:p>
            <a:r>
              <a:rPr lang="en-US" smtClean="0"/>
              <a:t>Preparing for Next Meeting</a:t>
            </a:r>
          </a:p>
        </p:txBody>
      </p:sp>
      <p:sp>
        <p:nvSpPr>
          <p:cNvPr id="54276" name="Rectangle 3"/>
          <p:cNvSpPr>
            <a:spLocks noGrp="1" noChangeArrowheads="1"/>
          </p:cNvSpPr>
          <p:nvPr>
            <p:ph type="body" idx="1"/>
          </p:nvPr>
        </p:nvSpPr>
        <p:spPr/>
        <p:txBody>
          <a:bodyPr/>
          <a:lstStyle/>
          <a:p>
            <a:pPr marL="457200" indent="-457200"/>
            <a:r>
              <a:rPr lang="en-US" smtClean="0"/>
              <a:t>Schedule date, time, location (6 months if possible)</a:t>
            </a:r>
          </a:p>
          <a:p>
            <a:pPr marL="457200" indent="-457200"/>
            <a:r>
              <a:rPr lang="en-US" smtClean="0"/>
              <a:t>Complete two parts of meeting guideline for </a:t>
            </a:r>
            <a:r>
              <a:rPr lang="en-US" u="sng" smtClean="0"/>
              <a:t>first</a:t>
            </a:r>
            <a:r>
              <a:rPr lang="en-US" smtClean="0"/>
              <a:t> meeting</a:t>
            </a:r>
          </a:p>
          <a:p>
            <a:pPr marL="838200" lvl="1" indent="-381000">
              <a:buFontTx/>
              <a:buAutoNum type="arabicPeriod"/>
            </a:pPr>
            <a:r>
              <a:rPr lang="en-US" smtClean="0"/>
              <a:t>How you will build the relationship</a:t>
            </a:r>
          </a:p>
          <a:p>
            <a:pPr marL="838200" lvl="1" indent="-381000">
              <a:buFontTx/>
              <a:buAutoNum type="arabicPeriod"/>
            </a:pPr>
            <a:r>
              <a:rPr lang="en-US" smtClean="0"/>
              <a:t>Focus area</a:t>
            </a:r>
          </a:p>
          <a:p>
            <a:pPr marL="838200" lvl="1" indent="-381000"/>
            <a:r>
              <a:rPr lang="en-US" smtClean="0"/>
              <a:t>Clarify areas of development</a:t>
            </a:r>
          </a:p>
          <a:p>
            <a:pPr marL="838200" lvl="1" indent="-381000"/>
            <a:r>
              <a:rPr lang="en-US" smtClean="0"/>
              <a:t>Other topics</a:t>
            </a:r>
          </a:p>
          <a:p>
            <a:pPr marL="457200" indent="-457200">
              <a:buFontTx/>
              <a:buNone/>
            </a:pPr>
            <a:endParaRPr lang="en-US"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55299" name="Rectangle 2"/>
          <p:cNvSpPr>
            <a:spLocks noGrp="1" noChangeArrowheads="1"/>
          </p:cNvSpPr>
          <p:nvPr>
            <p:ph type="title"/>
          </p:nvPr>
        </p:nvSpPr>
        <p:spPr>
          <a:xfrm>
            <a:off x="455613" y="762000"/>
            <a:ext cx="4881562" cy="914400"/>
          </a:xfrm>
        </p:spPr>
        <p:txBody>
          <a:bodyPr/>
          <a:lstStyle/>
          <a:p>
            <a:r>
              <a:rPr lang="en-US" smtClean="0"/>
              <a:t>Next Steps</a:t>
            </a:r>
          </a:p>
        </p:txBody>
      </p:sp>
      <p:graphicFrame>
        <p:nvGraphicFramePr>
          <p:cNvPr id="500739" name="Group 3"/>
          <p:cNvGraphicFramePr>
            <a:graphicFrameLocks noGrp="1"/>
          </p:cNvGraphicFramePr>
          <p:nvPr>
            <p:ph idx="1"/>
          </p:nvPr>
        </p:nvGraphicFramePr>
        <p:xfrm>
          <a:off x="457200" y="1893888"/>
          <a:ext cx="8229600" cy="3002280"/>
        </p:xfrm>
        <a:graphic>
          <a:graphicData uri="http://schemas.openxmlformats.org/drawingml/2006/table">
            <a:tbl>
              <a:tblPr/>
              <a:tblGrid>
                <a:gridCol w="1219200"/>
                <a:gridCol w="7010400"/>
              </a:tblGrid>
              <a:tr h="11430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chemeClr val="tx1"/>
                          </a:solidFill>
                          <a:effectLst/>
                          <a:latin typeface="Verdana" pitchFamily="34" charset="0"/>
                          <a:ea typeface="ＭＳ Ｐゴシック" charset="-128"/>
                        </a:rPr>
                        <a:t>June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72D"/>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Verdana" pitchFamily="34" charset="0"/>
                          <a:ea typeface="ＭＳ Ｐゴシック" charset="-128"/>
                        </a:rPr>
                        <a:t>Notify us if match concerns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72D"/>
                    </a:solidFill>
                  </a:tcPr>
                </a:tc>
              </a:tr>
              <a:tr h="6032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chemeClr val="tx1"/>
                          </a:solidFill>
                          <a:effectLst/>
                          <a:latin typeface="Verdana" pitchFamily="34" charset="0"/>
                          <a:ea typeface="ＭＳ Ｐゴシック" charset="-128"/>
                        </a:rPr>
                        <a:t>July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chemeClr val="tx1"/>
                          </a:solidFill>
                          <a:effectLst/>
                          <a:latin typeface="Verdana" pitchFamily="34" charset="0"/>
                          <a:ea typeface="ＭＳ Ｐゴシック" charset="-128"/>
                        </a:rPr>
                        <a:t>Mentoring</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Verdana" pitchFamily="34" charset="0"/>
                          <a:ea typeface="ＭＳ Ｐゴシック" charset="-128"/>
                        </a:rPr>
                        <a:t>Finalize goals and identify 3 director-level activities</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Verdana" pitchFamily="34" charset="0"/>
                          <a:ea typeface="ＭＳ Ｐゴシック" charset="-128"/>
                        </a:rPr>
                        <a:t>Exposure to first director level activity</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Verdana" pitchFamily="34" charset="0"/>
                          <a:ea typeface="ＭＳ Ｐゴシック" charset="-128"/>
                        </a:rPr>
                        <a:t>Progress check-in (Knox will call)</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Verdana" pitchFamily="34" charset="0"/>
                        <a:ea typeface="ＭＳ Ｐゴシック"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8"/>
          <p:cNvSpPr>
            <a:spLocks noGrp="1" noChangeArrowheads="1"/>
          </p:cNvSpPr>
          <p:nvPr>
            <p:ph type="ftr" sz="quarter" idx="10"/>
          </p:nvPr>
        </p:nvSpPr>
        <p:spPr/>
        <p:txBody>
          <a:bodyPr/>
          <a:lstStyle/>
          <a:p>
            <a:pPr fontAlgn="base">
              <a:spcAft>
                <a:spcPct val="0"/>
              </a:spcAft>
              <a:defRPr/>
            </a:pPr>
            <a:r>
              <a:rPr lang="en-US" smtClean="0"/>
              <a:t>Children’s Center for Leadership                                                               	</a:t>
            </a:r>
          </a:p>
        </p:txBody>
      </p:sp>
      <p:sp>
        <p:nvSpPr>
          <p:cNvPr id="56323" name="Rectangle 2"/>
          <p:cNvSpPr>
            <a:spLocks noGrp="1" noChangeArrowheads="1"/>
          </p:cNvSpPr>
          <p:nvPr>
            <p:ph type="title"/>
          </p:nvPr>
        </p:nvSpPr>
        <p:spPr/>
        <p:txBody>
          <a:bodyPr/>
          <a:lstStyle/>
          <a:p>
            <a:r>
              <a:rPr lang="en-US" smtClean="0"/>
              <a:t>Thank You!</a:t>
            </a:r>
          </a:p>
        </p:txBody>
      </p:sp>
      <p:sp>
        <p:nvSpPr>
          <p:cNvPr id="56324" name="Rectangle 3"/>
          <p:cNvSpPr>
            <a:spLocks noGrp="1" noChangeArrowheads="1"/>
          </p:cNvSpPr>
          <p:nvPr>
            <p:ph type="body" idx="1"/>
          </p:nvPr>
        </p:nvSpPr>
        <p:spPr>
          <a:xfrm>
            <a:off x="457200" y="2408238"/>
            <a:ext cx="8229600" cy="1706562"/>
          </a:xfrm>
        </p:spPr>
        <p:txBody>
          <a:bodyPr/>
          <a:lstStyle/>
          <a:p>
            <a:pPr algn="ctr">
              <a:buFontTx/>
              <a:buNone/>
            </a:pPr>
            <a:r>
              <a:rPr lang="en-US" sz="2800" b="1" i="1" smtClean="0">
                <a:solidFill>
                  <a:schemeClr val="hlink"/>
                </a:solidFill>
              </a:rPr>
              <a:t>Let’s celebrate a great start and great work with lunch together </a:t>
            </a:r>
          </a:p>
          <a:p>
            <a:pPr algn="ctr">
              <a:buFontTx/>
              <a:buNone/>
            </a:pPr>
            <a:r>
              <a:rPr lang="en-US" sz="2800" b="1" i="1" smtClean="0">
                <a:solidFill>
                  <a:schemeClr val="hlink"/>
                </a:solidFill>
              </a:rPr>
              <a:t>if you are free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
      <a:dk1>
        <a:srgbClr val="000000"/>
      </a:dk1>
      <a:lt1>
        <a:srgbClr val="FFFFFF"/>
      </a:lt1>
      <a:dk2>
        <a:srgbClr val="000000"/>
      </a:dk2>
      <a:lt2>
        <a:srgbClr val="808080"/>
      </a:lt2>
      <a:accent1>
        <a:srgbClr val="0A4E31"/>
      </a:accent1>
      <a:accent2>
        <a:srgbClr val="814701"/>
      </a:accent2>
      <a:accent3>
        <a:srgbClr val="FFFFFF"/>
      </a:accent3>
      <a:accent4>
        <a:srgbClr val="000000"/>
      </a:accent4>
      <a:accent5>
        <a:srgbClr val="AAB2AD"/>
      </a:accent5>
      <a:accent6>
        <a:srgbClr val="743F01"/>
      </a:accent6>
      <a:hlink>
        <a:srgbClr val="F57300"/>
      </a:hlink>
      <a:folHlink>
        <a:srgbClr val="669871"/>
      </a:folHlink>
    </a:clrScheme>
    <a:fontScheme name="Blank Presentation">
      <a:majorFont>
        <a:latin typeface="Verdana"/>
        <a:ea typeface="ＭＳ Ｐゴシック"/>
        <a:cs typeface=""/>
      </a:majorFont>
      <a:minorFont>
        <a:latin typeface="Verdan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charset="0"/>
            <a:ea typeface="ＭＳ Ｐゴシック"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TotalTime>
  <Words>3270</Words>
  <Application>Microsoft Office PowerPoint</Application>
  <PresentationFormat>On-screen Show (4:3)</PresentationFormat>
  <Paragraphs>422</Paragraphs>
  <Slides>33</Slides>
  <Notes>30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Blank Presentation</vt:lpstr>
      <vt:lpstr>Mentoring Kick-off</vt:lpstr>
      <vt:lpstr>Today:</vt:lpstr>
      <vt:lpstr>Mentoring</vt:lpstr>
      <vt:lpstr>Why Mentors Matter</vt:lpstr>
      <vt:lpstr>It takes more than One Person to Build a Leader</vt:lpstr>
      <vt:lpstr>Building the Relationship and Trust </vt:lpstr>
      <vt:lpstr>Activity</vt:lpstr>
      <vt:lpstr>Expectations</vt:lpstr>
      <vt:lpstr>Expectations of Mentee</vt:lpstr>
      <vt:lpstr>Expectations of Mentors</vt:lpstr>
      <vt:lpstr>Coaching Application</vt:lpstr>
      <vt:lpstr>Confidentiality</vt:lpstr>
      <vt:lpstr>Confidentiality</vt:lpstr>
      <vt:lpstr>Joint Contract</vt:lpstr>
      <vt:lpstr>Back to Building  Relationship and Trust </vt:lpstr>
      <vt:lpstr>Common Interests</vt:lpstr>
      <vt:lpstr>Engagement Needs</vt:lpstr>
      <vt:lpstr>Break</vt:lpstr>
      <vt:lpstr>Determine the Focus of Your Work</vt:lpstr>
      <vt:lpstr>Development Focus</vt:lpstr>
      <vt:lpstr>Exposure to 3 Director-level Activities </vt:lpstr>
      <vt:lpstr>Exposure to 3 Director-level Activities </vt:lpstr>
      <vt:lpstr>How You will Work Together</vt:lpstr>
      <vt:lpstr>Meeting Guideline</vt:lpstr>
      <vt:lpstr>Meeting Logistics</vt:lpstr>
      <vt:lpstr>Personal Histories Exercise </vt:lpstr>
      <vt:lpstr>Relationship and Trust </vt:lpstr>
      <vt:lpstr>Building the Relationship and Trust </vt:lpstr>
      <vt:lpstr>Speaking Honestly</vt:lpstr>
      <vt:lpstr>Next Steps</vt:lpstr>
      <vt:lpstr>Preparing for Next Meeting</vt:lpstr>
      <vt:lpstr>Next Steps</vt:lpstr>
      <vt:lpstr>Thank You!</vt:lpstr>
    </vt:vector>
  </TitlesOfParts>
  <Company>Children's Healthcare of Atlanta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Mentoring</dc:title>
  <dc:creator>Sarah Carr Evans, Ph.D.</dc:creator>
  <cp:lastModifiedBy>kthompson2</cp:lastModifiedBy>
  <cp:revision>11</cp:revision>
  <dcterms:created xsi:type="dcterms:W3CDTF">2009-11-10T00:38:39Z</dcterms:created>
  <dcterms:modified xsi:type="dcterms:W3CDTF">2013-06-10T15:40:05Z</dcterms:modified>
</cp:coreProperties>
</file>