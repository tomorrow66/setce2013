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customXml/itemProps4.xml" ContentType="application/vnd.openxmlformats-officedocument.customXml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2"/>
  </p:notesMasterIdLst>
  <p:handoutMasterIdLst>
    <p:handoutMasterId r:id="rId23"/>
  </p:handoutMasterIdLst>
  <p:sldIdLst>
    <p:sldId id="402" r:id="rId6"/>
    <p:sldId id="427" r:id="rId7"/>
    <p:sldId id="416" r:id="rId8"/>
    <p:sldId id="417" r:id="rId9"/>
    <p:sldId id="405" r:id="rId10"/>
    <p:sldId id="418" r:id="rId11"/>
    <p:sldId id="424" r:id="rId12"/>
    <p:sldId id="414" r:id="rId13"/>
    <p:sldId id="397" r:id="rId14"/>
    <p:sldId id="419" r:id="rId15"/>
    <p:sldId id="422" r:id="rId16"/>
    <p:sldId id="411" r:id="rId17"/>
    <p:sldId id="412" r:id="rId18"/>
    <p:sldId id="410" r:id="rId19"/>
    <p:sldId id="408" r:id="rId20"/>
    <p:sldId id="426" r:id="rId2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9D57"/>
    <a:srgbClr val="FFFF99"/>
    <a:srgbClr val="FF0000"/>
    <a:srgbClr val="FF3399"/>
    <a:srgbClr val="00AA50"/>
    <a:srgbClr val="E9E6D7"/>
    <a:srgbClr val="0594FF"/>
    <a:srgbClr val="780032"/>
    <a:srgbClr val="7AC142"/>
    <a:srgbClr val="52BDE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74" autoAdjust="0"/>
    <p:restoredTop sz="99149" autoAdjust="0"/>
  </p:normalViewPr>
  <p:slideViewPr>
    <p:cSldViewPr>
      <p:cViewPr varScale="1">
        <p:scale>
          <a:sx n="70" d="100"/>
          <a:sy n="70" d="100"/>
        </p:scale>
        <p:origin x="-1230" y="-10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notesViewPr>
    <p:cSldViewPr>
      <p:cViewPr>
        <p:scale>
          <a:sx n="80" d="100"/>
          <a:sy n="80" d="100"/>
        </p:scale>
        <p:origin x="-1200" y="-72"/>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600CE7-9F1E-4552-A05B-56767AAEB273}"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5C7C8D87-E1FB-4D08-A083-35D0D2445FCD}">
      <dgm:prSet phldrT="[Text]"/>
      <dgm:spPr>
        <a:solidFill>
          <a:srgbClr val="0070C0"/>
        </a:solidFill>
      </dgm:spPr>
      <dgm:t>
        <a:bodyPr/>
        <a:lstStyle/>
        <a:p>
          <a:r>
            <a:rPr lang="en-US" dirty="0" smtClean="0"/>
            <a:t>360 interviews</a:t>
          </a:r>
          <a:endParaRPr lang="en-US" dirty="0"/>
        </a:p>
      </dgm:t>
    </dgm:pt>
    <dgm:pt modelId="{4A95C217-4B5E-4362-AC95-AECB2002338B}" type="parTrans" cxnId="{AC857115-DA36-4DFD-AECA-DC2716F8DA90}">
      <dgm:prSet/>
      <dgm:spPr/>
      <dgm:t>
        <a:bodyPr/>
        <a:lstStyle/>
        <a:p>
          <a:endParaRPr lang="en-US"/>
        </a:p>
      </dgm:t>
    </dgm:pt>
    <dgm:pt modelId="{F4C282CB-75F2-4428-AA3E-887AA0341C0F}" type="sibTrans" cxnId="{AC857115-DA36-4DFD-AECA-DC2716F8DA90}">
      <dgm:prSet/>
      <dgm:spPr>
        <a:solidFill>
          <a:srgbClr val="00B050"/>
        </a:solidFill>
      </dgm:spPr>
      <dgm:t>
        <a:bodyPr/>
        <a:lstStyle/>
        <a:p>
          <a:endParaRPr lang="en-US" dirty="0"/>
        </a:p>
      </dgm:t>
    </dgm:pt>
    <dgm:pt modelId="{0D66B262-3EE7-45E9-BBF7-32754E1C4E17}">
      <dgm:prSet phldrT="[Text]"/>
      <dgm:spPr>
        <a:solidFill>
          <a:srgbClr val="0070C0"/>
        </a:solidFill>
      </dgm:spPr>
      <dgm:t>
        <a:bodyPr/>
        <a:lstStyle/>
        <a:p>
          <a:r>
            <a:rPr lang="en-US" dirty="0" smtClean="0"/>
            <a:t>Online assessment</a:t>
          </a:r>
          <a:endParaRPr lang="en-US" dirty="0"/>
        </a:p>
      </dgm:t>
    </dgm:pt>
    <dgm:pt modelId="{6522C8A4-918C-4F04-BFDE-2946E35069C0}" type="parTrans" cxnId="{FD4DE099-E9C4-4E89-A0D9-304D6136D91D}">
      <dgm:prSet/>
      <dgm:spPr/>
      <dgm:t>
        <a:bodyPr/>
        <a:lstStyle/>
        <a:p>
          <a:endParaRPr lang="en-US"/>
        </a:p>
      </dgm:t>
    </dgm:pt>
    <dgm:pt modelId="{D51F0617-CC27-405E-8D6D-DF140877E327}" type="sibTrans" cxnId="{FD4DE099-E9C4-4E89-A0D9-304D6136D91D}">
      <dgm:prSet/>
      <dgm:spPr>
        <a:solidFill>
          <a:srgbClr val="00B050"/>
        </a:solidFill>
      </dgm:spPr>
      <dgm:t>
        <a:bodyPr/>
        <a:lstStyle/>
        <a:p>
          <a:endParaRPr lang="en-US" dirty="0"/>
        </a:p>
      </dgm:t>
    </dgm:pt>
    <dgm:pt modelId="{6CF517A8-12DF-4668-A860-B4E6B0AA6FD1}">
      <dgm:prSet phldrT="[Text]"/>
      <dgm:spPr>
        <a:solidFill>
          <a:srgbClr val="0070C0"/>
        </a:solidFill>
      </dgm:spPr>
      <dgm:t>
        <a:bodyPr/>
        <a:lstStyle/>
        <a:p>
          <a:r>
            <a:rPr lang="en-US" dirty="0" smtClean="0"/>
            <a:t>Feedback session</a:t>
          </a:r>
          <a:endParaRPr lang="en-US" dirty="0"/>
        </a:p>
      </dgm:t>
    </dgm:pt>
    <dgm:pt modelId="{0808A38A-C2B7-43CB-AB93-9C1AF0A8EC97}" type="parTrans" cxnId="{7CC502EC-8CB1-4EA8-80E0-5692330A0771}">
      <dgm:prSet/>
      <dgm:spPr/>
      <dgm:t>
        <a:bodyPr/>
        <a:lstStyle/>
        <a:p>
          <a:endParaRPr lang="en-US"/>
        </a:p>
      </dgm:t>
    </dgm:pt>
    <dgm:pt modelId="{E663FE43-F353-4A48-BB15-7C25EDFC8F4F}" type="sibTrans" cxnId="{7CC502EC-8CB1-4EA8-80E0-5692330A0771}">
      <dgm:prSet/>
      <dgm:spPr>
        <a:solidFill>
          <a:srgbClr val="00B050"/>
        </a:solidFill>
      </dgm:spPr>
      <dgm:t>
        <a:bodyPr/>
        <a:lstStyle/>
        <a:p>
          <a:endParaRPr lang="en-US" dirty="0"/>
        </a:p>
      </dgm:t>
    </dgm:pt>
    <dgm:pt modelId="{E11E1ECA-E9B4-443F-9C5E-E76960B8F2D1}">
      <dgm:prSet phldrT="[Text]"/>
      <dgm:spPr>
        <a:solidFill>
          <a:srgbClr val="0070C0"/>
        </a:solidFill>
      </dgm:spPr>
      <dgm:t>
        <a:bodyPr/>
        <a:lstStyle/>
        <a:p>
          <a:r>
            <a:rPr lang="en-US" dirty="0" smtClean="0"/>
            <a:t>Development plan</a:t>
          </a:r>
          <a:endParaRPr lang="en-US" dirty="0"/>
        </a:p>
      </dgm:t>
    </dgm:pt>
    <dgm:pt modelId="{B63E7867-DD2E-4EBF-AFE6-F0D2009E8EEC}" type="parTrans" cxnId="{08FF6AD1-A4EE-48C4-82F8-86C17B259E93}">
      <dgm:prSet/>
      <dgm:spPr/>
      <dgm:t>
        <a:bodyPr/>
        <a:lstStyle/>
        <a:p>
          <a:endParaRPr lang="en-US"/>
        </a:p>
      </dgm:t>
    </dgm:pt>
    <dgm:pt modelId="{38CA5709-9412-4730-A36F-8AB5CB589967}" type="sibTrans" cxnId="{08FF6AD1-A4EE-48C4-82F8-86C17B259E93}">
      <dgm:prSet/>
      <dgm:spPr/>
      <dgm:t>
        <a:bodyPr/>
        <a:lstStyle/>
        <a:p>
          <a:endParaRPr lang="en-US"/>
        </a:p>
      </dgm:t>
    </dgm:pt>
    <dgm:pt modelId="{2C91DC91-84A2-489B-9581-E794DE4A679B}" type="pres">
      <dgm:prSet presAssocID="{5D600CE7-9F1E-4552-A05B-56767AAEB273}" presName="Name0" presStyleCnt="0">
        <dgm:presLayoutVars>
          <dgm:dir/>
          <dgm:resizeHandles val="exact"/>
        </dgm:presLayoutVars>
      </dgm:prSet>
      <dgm:spPr/>
      <dgm:t>
        <a:bodyPr/>
        <a:lstStyle/>
        <a:p>
          <a:endParaRPr lang="en-US"/>
        </a:p>
      </dgm:t>
    </dgm:pt>
    <dgm:pt modelId="{F34B3C5D-7E95-46DB-839B-156AB91B9B0E}" type="pres">
      <dgm:prSet presAssocID="{5C7C8D87-E1FB-4D08-A083-35D0D2445FCD}" presName="node" presStyleLbl="node1" presStyleIdx="0" presStyleCnt="4" custLinFactNeighborX="-1338" custLinFactNeighborY="-1141">
        <dgm:presLayoutVars>
          <dgm:bulletEnabled val="1"/>
        </dgm:presLayoutVars>
      </dgm:prSet>
      <dgm:spPr/>
      <dgm:t>
        <a:bodyPr/>
        <a:lstStyle/>
        <a:p>
          <a:endParaRPr lang="en-US"/>
        </a:p>
      </dgm:t>
    </dgm:pt>
    <dgm:pt modelId="{0BA82726-D538-47D5-945B-9110662629F8}" type="pres">
      <dgm:prSet presAssocID="{F4C282CB-75F2-4428-AA3E-887AA0341C0F}" presName="sibTrans" presStyleLbl="sibTrans2D1" presStyleIdx="0" presStyleCnt="3"/>
      <dgm:spPr/>
      <dgm:t>
        <a:bodyPr/>
        <a:lstStyle/>
        <a:p>
          <a:endParaRPr lang="en-US"/>
        </a:p>
      </dgm:t>
    </dgm:pt>
    <dgm:pt modelId="{82C6CA54-95FA-44C3-A6AE-EED2F7CE3819}" type="pres">
      <dgm:prSet presAssocID="{F4C282CB-75F2-4428-AA3E-887AA0341C0F}" presName="connectorText" presStyleLbl="sibTrans2D1" presStyleIdx="0" presStyleCnt="3"/>
      <dgm:spPr/>
      <dgm:t>
        <a:bodyPr/>
        <a:lstStyle/>
        <a:p>
          <a:endParaRPr lang="en-US"/>
        </a:p>
      </dgm:t>
    </dgm:pt>
    <dgm:pt modelId="{873A1A4B-B717-4A7B-8FC4-048C2055E4EC}" type="pres">
      <dgm:prSet presAssocID="{0D66B262-3EE7-45E9-BBF7-32754E1C4E17}" presName="node" presStyleLbl="node1" presStyleIdx="1" presStyleCnt="4">
        <dgm:presLayoutVars>
          <dgm:bulletEnabled val="1"/>
        </dgm:presLayoutVars>
      </dgm:prSet>
      <dgm:spPr/>
      <dgm:t>
        <a:bodyPr/>
        <a:lstStyle/>
        <a:p>
          <a:endParaRPr lang="en-US"/>
        </a:p>
      </dgm:t>
    </dgm:pt>
    <dgm:pt modelId="{ECC45070-AB96-432D-AD0A-EC3E4503467B}" type="pres">
      <dgm:prSet presAssocID="{D51F0617-CC27-405E-8D6D-DF140877E327}" presName="sibTrans" presStyleLbl="sibTrans2D1" presStyleIdx="1" presStyleCnt="3"/>
      <dgm:spPr/>
      <dgm:t>
        <a:bodyPr/>
        <a:lstStyle/>
        <a:p>
          <a:endParaRPr lang="en-US"/>
        </a:p>
      </dgm:t>
    </dgm:pt>
    <dgm:pt modelId="{B90E3B22-3972-432D-B265-761E9E38DBDC}" type="pres">
      <dgm:prSet presAssocID="{D51F0617-CC27-405E-8D6D-DF140877E327}" presName="connectorText" presStyleLbl="sibTrans2D1" presStyleIdx="1" presStyleCnt="3"/>
      <dgm:spPr/>
      <dgm:t>
        <a:bodyPr/>
        <a:lstStyle/>
        <a:p>
          <a:endParaRPr lang="en-US"/>
        </a:p>
      </dgm:t>
    </dgm:pt>
    <dgm:pt modelId="{6A995E0C-3114-4C42-9244-A360780B7517}" type="pres">
      <dgm:prSet presAssocID="{6CF517A8-12DF-4668-A860-B4E6B0AA6FD1}" presName="node" presStyleLbl="node1" presStyleIdx="2" presStyleCnt="4">
        <dgm:presLayoutVars>
          <dgm:bulletEnabled val="1"/>
        </dgm:presLayoutVars>
      </dgm:prSet>
      <dgm:spPr/>
      <dgm:t>
        <a:bodyPr/>
        <a:lstStyle/>
        <a:p>
          <a:endParaRPr lang="en-US"/>
        </a:p>
      </dgm:t>
    </dgm:pt>
    <dgm:pt modelId="{1D90225F-34B1-4F5A-9C7A-A79AA081A498}" type="pres">
      <dgm:prSet presAssocID="{E663FE43-F353-4A48-BB15-7C25EDFC8F4F}" presName="sibTrans" presStyleLbl="sibTrans2D1" presStyleIdx="2" presStyleCnt="3"/>
      <dgm:spPr/>
      <dgm:t>
        <a:bodyPr/>
        <a:lstStyle/>
        <a:p>
          <a:endParaRPr lang="en-US"/>
        </a:p>
      </dgm:t>
    </dgm:pt>
    <dgm:pt modelId="{33CEC5A0-BA98-4248-8F62-49C4C80D8DE4}" type="pres">
      <dgm:prSet presAssocID="{E663FE43-F353-4A48-BB15-7C25EDFC8F4F}" presName="connectorText" presStyleLbl="sibTrans2D1" presStyleIdx="2" presStyleCnt="3"/>
      <dgm:spPr/>
      <dgm:t>
        <a:bodyPr/>
        <a:lstStyle/>
        <a:p>
          <a:endParaRPr lang="en-US"/>
        </a:p>
      </dgm:t>
    </dgm:pt>
    <dgm:pt modelId="{C25BB84C-75B4-445D-8CE6-8DE578C9FFAB}" type="pres">
      <dgm:prSet presAssocID="{E11E1ECA-E9B4-443F-9C5E-E76960B8F2D1}" presName="node" presStyleLbl="node1" presStyleIdx="3" presStyleCnt="4" custLinFactNeighborX="-7356">
        <dgm:presLayoutVars>
          <dgm:bulletEnabled val="1"/>
        </dgm:presLayoutVars>
      </dgm:prSet>
      <dgm:spPr/>
      <dgm:t>
        <a:bodyPr/>
        <a:lstStyle/>
        <a:p>
          <a:endParaRPr lang="en-US"/>
        </a:p>
      </dgm:t>
    </dgm:pt>
  </dgm:ptLst>
  <dgm:cxnLst>
    <dgm:cxn modelId="{FD4DE099-E9C4-4E89-A0D9-304D6136D91D}" srcId="{5D600CE7-9F1E-4552-A05B-56767AAEB273}" destId="{0D66B262-3EE7-45E9-BBF7-32754E1C4E17}" srcOrd="1" destOrd="0" parTransId="{6522C8A4-918C-4F04-BFDE-2946E35069C0}" sibTransId="{D51F0617-CC27-405E-8D6D-DF140877E327}"/>
    <dgm:cxn modelId="{51282480-9767-4516-BD3B-AC020845D918}" type="presOf" srcId="{E663FE43-F353-4A48-BB15-7C25EDFC8F4F}" destId="{1D90225F-34B1-4F5A-9C7A-A79AA081A498}" srcOrd="0" destOrd="0" presId="urn:microsoft.com/office/officeart/2005/8/layout/process1"/>
    <dgm:cxn modelId="{CD063154-A715-4D66-BEFC-F6DA21E65010}" type="presOf" srcId="{5D600CE7-9F1E-4552-A05B-56767AAEB273}" destId="{2C91DC91-84A2-489B-9581-E794DE4A679B}" srcOrd="0" destOrd="0" presId="urn:microsoft.com/office/officeart/2005/8/layout/process1"/>
    <dgm:cxn modelId="{70F99BB6-D92C-451A-B785-C30F4BCFB3EC}" type="presOf" srcId="{6CF517A8-12DF-4668-A860-B4E6B0AA6FD1}" destId="{6A995E0C-3114-4C42-9244-A360780B7517}" srcOrd="0" destOrd="0" presId="urn:microsoft.com/office/officeart/2005/8/layout/process1"/>
    <dgm:cxn modelId="{08FF6AD1-A4EE-48C4-82F8-86C17B259E93}" srcId="{5D600CE7-9F1E-4552-A05B-56767AAEB273}" destId="{E11E1ECA-E9B4-443F-9C5E-E76960B8F2D1}" srcOrd="3" destOrd="0" parTransId="{B63E7867-DD2E-4EBF-AFE6-F0D2009E8EEC}" sibTransId="{38CA5709-9412-4730-A36F-8AB5CB589967}"/>
    <dgm:cxn modelId="{E1CC5084-F29A-4A1E-B1EC-45A1D3F2BB19}" type="presOf" srcId="{D51F0617-CC27-405E-8D6D-DF140877E327}" destId="{B90E3B22-3972-432D-B265-761E9E38DBDC}" srcOrd="1" destOrd="0" presId="urn:microsoft.com/office/officeart/2005/8/layout/process1"/>
    <dgm:cxn modelId="{5665AA22-55B2-428E-B3B0-9496C35A07B5}" type="presOf" srcId="{0D66B262-3EE7-45E9-BBF7-32754E1C4E17}" destId="{873A1A4B-B717-4A7B-8FC4-048C2055E4EC}" srcOrd="0" destOrd="0" presId="urn:microsoft.com/office/officeart/2005/8/layout/process1"/>
    <dgm:cxn modelId="{7CC502EC-8CB1-4EA8-80E0-5692330A0771}" srcId="{5D600CE7-9F1E-4552-A05B-56767AAEB273}" destId="{6CF517A8-12DF-4668-A860-B4E6B0AA6FD1}" srcOrd="2" destOrd="0" parTransId="{0808A38A-C2B7-43CB-AB93-9C1AF0A8EC97}" sibTransId="{E663FE43-F353-4A48-BB15-7C25EDFC8F4F}"/>
    <dgm:cxn modelId="{EA833AE2-7D2A-4157-80BD-B68217E29BFF}" type="presOf" srcId="{E663FE43-F353-4A48-BB15-7C25EDFC8F4F}" destId="{33CEC5A0-BA98-4248-8F62-49C4C80D8DE4}" srcOrd="1" destOrd="0" presId="urn:microsoft.com/office/officeart/2005/8/layout/process1"/>
    <dgm:cxn modelId="{AC857115-DA36-4DFD-AECA-DC2716F8DA90}" srcId="{5D600CE7-9F1E-4552-A05B-56767AAEB273}" destId="{5C7C8D87-E1FB-4D08-A083-35D0D2445FCD}" srcOrd="0" destOrd="0" parTransId="{4A95C217-4B5E-4362-AC95-AECB2002338B}" sibTransId="{F4C282CB-75F2-4428-AA3E-887AA0341C0F}"/>
    <dgm:cxn modelId="{B74D3345-59DE-4693-842A-07AFEF677E90}" type="presOf" srcId="{5C7C8D87-E1FB-4D08-A083-35D0D2445FCD}" destId="{F34B3C5D-7E95-46DB-839B-156AB91B9B0E}" srcOrd="0" destOrd="0" presId="urn:microsoft.com/office/officeart/2005/8/layout/process1"/>
    <dgm:cxn modelId="{066227EC-FA02-4ADC-928E-B275C624F1BE}" type="presOf" srcId="{E11E1ECA-E9B4-443F-9C5E-E76960B8F2D1}" destId="{C25BB84C-75B4-445D-8CE6-8DE578C9FFAB}" srcOrd="0" destOrd="0" presId="urn:microsoft.com/office/officeart/2005/8/layout/process1"/>
    <dgm:cxn modelId="{40B674A8-B9A4-46D9-9CBB-97631AAF9439}" type="presOf" srcId="{F4C282CB-75F2-4428-AA3E-887AA0341C0F}" destId="{0BA82726-D538-47D5-945B-9110662629F8}" srcOrd="0" destOrd="0" presId="urn:microsoft.com/office/officeart/2005/8/layout/process1"/>
    <dgm:cxn modelId="{023CCFD1-0BC2-4BDB-A3F0-D33BA626EA2B}" type="presOf" srcId="{F4C282CB-75F2-4428-AA3E-887AA0341C0F}" destId="{82C6CA54-95FA-44C3-A6AE-EED2F7CE3819}" srcOrd="1" destOrd="0" presId="urn:microsoft.com/office/officeart/2005/8/layout/process1"/>
    <dgm:cxn modelId="{BF4DF3B6-5241-49FA-A5C6-35396331E7AF}" type="presOf" srcId="{D51F0617-CC27-405E-8D6D-DF140877E327}" destId="{ECC45070-AB96-432D-AD0A-EC3E4503467B}" srcOrd="0" destOrd="0" presId="urn:microsoft.com/office/officeart/2005/8/layout/process1"/>
    <dgm:cxn modelId="{1FD87762-FF3C-40F3-B422-886680F3E1B2}" type="presParOf" srcId="{2C91DC91-84A2-489B-9581-E794DE4A679B}" destId="{F34B3C5D-7E95-46DB-839B-156AB91B9B0E}" srcOrd="0" destOrd="0" presId="urn:microsoft.com/office/officeart/2005/8/layout/process1"/>
    <dgm:cxn modelId="{01D42183-AA20-4F25-8513-95B6FE31CCD4}" type="presParOf" srcId="{2C91DC91-84A2-489B-9581-E794DE4A679B}" destId="{0BA82726-D538-47D5-945B-9110662629F8}" srcOrd="1" destOrd="0" presId="urn:microsoft.com/office/officeart/2005/8/layout/process1"/>
    <dgm:cxn modelId="{883F3101-1D4C-4025-84BB-B1FE8D5570DA}" type="presParOf" srcId="{0BA82726-D538-47D5-945B-9110662629F8}" destId="{82C6CA54-95FA-44C3-A6AE-EED2F7CE3819}" srcOrd="0" destOrd="0" presId="urn:microsoft.com/office/officeart/2005/8/layout/process1"/>
    <dgm:cxn modelId="{F72300D8-63F4-42EE-A83B-51CBDE92D630}" type="presParOf" srcId="{2C91DC91-84A2-489B-9581-E794DE4A679B}" destId="{873A1A4B-B717-4A7B-8FC4-048C2055E4EC}" srcOrd="2" destOrd="0" presId="urn:microsoft.com/office/officeart/2005/8/layout/process1"/>
    <dgm:cxn modelId="{4B86143B-4E66-44AF-BB9C-57020C92FC59}" type="presParOf" srcId="{2C91DC91-84A2-489B-9581-E794DE4A679B}" destId="{ECC45070-AB96-432D-AD0A-EC3E4503467B}" srcOrd="3" destOrd="0" presId="urn:microsoft.com/office/officeart/2005/8/layout/process1"/>
    <dgm:cxn modelId="{C8C4A0FF-A01E-4936-8D83-F4386F0A3939}" type="presParOf" srcId="{ECC45070-AB96-432D-AD0A-EC3E4503467B}" destId="{B90E3B22-3972-432D-B265-761E9E38DBDC}" srcOrd="0" destOrd="0" presId="urn:microsoft.com/office/officeart/2005/8/layout/process1"/>
    <dgm:cxn modelId="{E11A3ED5-A16A-4E6A-BEFB-940B5682161B}" type="presParOf" srcId="{2C91DC91-84A2-489B-9581-E794DE4A679B}" destId="{6A995E0C-3114-4C42-9244-A360780B7517}" srcOrd="4" destOrd="0" presId="urn:microsoft.com/office/officeart/2005/8/layout/process1"/>
    <dgm:cxn modelId="{4949B29B-CABF-4107-8605-01CF9B955B36}" type="presParOf" srcId="{2C91DC91-84A2-489B-9581-E794DE4A679B}" destId="{1D90225F-34B1-4F5A-9C7A-A79AA081A498}" srcOrd="5" destOrd="0" presId="urn:microsoft.com/office/officeart/2005/8/layout/process1"/>
    <dgm:cxn modelId="{E5F9CFB7-F585-4824-875C-50DCD373BBA5}" type="presParOf" srcId="{1D90225F-34B1-4F5A-9C7A-A79AA081A498}" destId="{33CEC5A0-BA98-4248-8F62-49C4C80D8DE4}" srcOrd="0" destOrd="0" presId="urn:microsoft.com/office/officeart/2005/8/layout/process1"/>
    <dgm:cxn modelId="{DEFD3207-0270-4275-B1B3-FCA4460D97D3}" type="presParOf" srcId="{2C91DC91-84A2-489B-9581-E794DE4A679B}" destId="{C25BB84C-75B4-445D-8CE6-8DE578C9FFAB}" srcOrd="6" destOrd="0" presId="urn:microsoft.com/office/officeart/2005/8/layout/process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34B3C5D-7E95-46DB-839B-156AB91B9B0E}">
      <dsp:nvSpPr>
        <dsp:cNvPr id="0" name=""/>
        <dsp:cNvSpPr/>
      </dsp:nvSpPr>
      <dsp:spPr>
        <a:xfrm>
          <a:off x="0" y="1371599"/>
          <a:ext cx="1614166" cy="968500"/>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360 interviews</a:t>
          </a:r>
          <a:endParaRPr lang="en-US" sz="2100" kern="1200" dirty="0"/>
        </a:p>
      </dsp:txBody>
      <dsp:txXfrm>
        <a:off x="0" y="1371599"/>
        <a:ext cx="1614166" cy="968500"/>
      </dsp:txXfrm>
    </dsp:sp>
    <dsp:sp modelId="{0BA82726-D538-47D5-945B-9110662629F8}">
      <dsp:nvSpPr>
        <dsp:cNvPr id="0" name=""/>
        <dsp:cNvSpPr/>
      </dsp:nvSpPr>
      <dsp:spPr>
        <a:xfrm rot="16783">
          <a:off x="1776504" y="1661265"/>
          <a:ext cx="344164" cy="40031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dirty="0"/>
        </a:p>
      </dsp:txBody>
      <dsp:txXfrm rot="16783">
        <a:off x="1776504" y="1661265"/>
        <a:ext cx="344164" cy="400313"/>
      </dsp:txXfrm>
    </dsp:sp>
    <dsp:sp modelId="{873A1A4B-B717-4A7B-8FC4-048C2055E4EC}">
      <dsp:nvSpPr>
        <dsp:cNvPr id="0" name=""/>
        <dsp:cNvSpPr/>
      </dsp:nvSpPr>
      <dsp:spPr>
        <a:xfrm>
          <a:off x="2263525" y="1382649"/>
          <a:ext cx="1614166" cy="968500"/>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Online assessment</a:t>
          </a:r>
          <a:endParaRPr lang="en-US" sz="2100" kern="1200" dirty="0"/>
        </a:p>
      </dsp:txBody>
      <dsp:txXfrm>
        <a:off x="2263525" y="1382649"/>
        <a:ext cx="1614166" cy="968500"/>
      </dsp:txXfrm>
    </dsp:sp>
    <dsp:sp modelId="{ECC45070-AB96-432D-AD0A-EC3E4503467B}">
      <dsp:nvSpPr>
        <dsp:cNvPr id="0" name=""/>
        <dsp:cNvSpPr/>
      </dsp:nvSpPr>
      <dsp:spPr>
        <a:xfrm>
          <a:off x="4039108" y="1666743"/>
          <a:ext cx="342203" cy="40031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dirty="0"/>
        </a:p>
      </dsp:txBody>
      <dsp:txXfrm>
        <a:off x="4039108" y="1666743"/>
        <a:ext cx="342203" cy="400313"/>
      </dsp:txXfrm>
    </dsp:sp>
    <dsp:sp modelId="{6A995E0C-3114-4C42-9244-A360780B7517}">
      <dsp:nvSpPr>
        <dsp:cNvPr id="0" name=""/>
        <dsp:cNvSpPr/>
      </dsp:nvSpPr>
      <dsp:spPr>
        <a:xfrm>
          <a:off x="4523358" y="1382649"/>
          <a:ext cx="1614166" cy="968500"/>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Feedback session</a:t>
          </a:r>
          <a:endParaRPr lang="en-US" sz="2100" kern="1200" dirty="0"/>
        </a:p>
      </dsp:txBody>
      <dsp:txXfrm>
        <a:off x="4523358" y="1382649"/>
        <a:ext cx="1614166" cy="968500"/>
      </dsp:txXfrm>
    </dsp:sp>
    <dsp:sp modelId="{1D90225F-34B1-4F5A-9C7A-A79AA081A498}">
      <dsp:nvSpPr>
        <dsp:cNvPr id="0" name=""/>
        <dsp:cNvSpPr/>
      </dsp:nvSpPr>
      <dsp:spPr>
        <a:xfrm>
          <a:off x="6287068" y="1666743"/>
          <a:ext cx="317030" cy="40031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dirty="0"/>
        </a:p>
      </dsp:txBody>
      <dsp:txXfrm>
        <a:off x="6287068" y="1666743"/>
        <a:ext cx="317030" cy="400313"/>
      </dsp:txXfrm>
    </dsp:sp>
    <dsp:sp modelId="{C25BB84C-75B4-445D-8CE6-8DE578C9FFAB}">
      <dsp:nvSpPr>
        <dsp:cNvPr id="0" name=""/>
        <dsp:cNvSpPr/>
      </dsp:nvSpPr>
      <dsp:spPr>
        <a:xfrm>
          <a:off x="6735697" y="1382649"/>
          <a:ext cx="1614166" cy="968500"/>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Development plan</a:t>
          </a:r>
          <a:endParaRPr lang="en-US" sz="2100" kern="1200" dirty="0"/>
        </a:p>
      </dsp:txBody>
      <dsp:txXfrm>
        <a:off x="6735697" y="1382649"/>
        <a:ext cx="1614166" cy="9685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34050781-B1F5-4B92-87BC-E439C5246C8A}" type="datetimeFigureOut">
              <a:rPr lang="en-US" smtClean="0"/>
              <a:pPr/>
              <a:t>06/19/2013</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DD793ECC-2F91-413A-92E1-05225AF32749}" type="slidenum">
              <a:rPr lang="en-US" smtClean="0"/>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0796981D-1B90-48F0-8ACD-F504B659A3C4}" type="datetimeFigureOut">
              <a:rPr lang="en-US"/>
              <a:pPr>
                <a:defRPr/>
              </a:pPr>
              <a:t>06/19/2013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CB1E04C4-209E-42C0-BB16-60A19275D140}" type="slidenum">
              <a:rPr lang="en-US"/>
              <a:pPr>
                <a:defRPr/>
              </a:pPr>
              <a:t>‹#›</a:t>
            </a:fld>
            <a:endParaRPr lang="en-US" dirty="0"/>
          </a:p>
        </p:txBody>
      </p:sp>
    </p:spTree>
    <p:extLst>
      <p:ext uri="{BB962C8B-B14F-4D97-AF65-F5344CB8AC3E}">
        <p14:creationId xmlns:p14="http://schemas.microsoft.com/office/powerpoint/2010/main" xmlns="" val="19658887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81000" indent="-381000"/>
            <a:r>
              <a:rPr lang="en-US" dirty="0" smtClean="0"/>
              <a:t>The Hogan series aims to measure an individuals’ personality, strengths, shortcomings and aspirations. It is a highly comprehensive tool that focuses on the day to day performance, how individuals perform when under stress (the ‘dark side’) and the values of individuals that may impact their behavior and performance.</a:t>
            </a:r>
          </a:p>
          <a:p>
            <a:pPr marL="381000" indent="-381000"/>
            <a:r>
              <a:rPr lang="en-US" dirty="0" smtClean="0"/>
              <a:t>The Hogan Series has been validated with more than 40,000 executives from around the globe, and it is the leading executive assessment tool on the market.</a:t>
            </a:r>
          </a:p>
          <a:p>
            <a:pPr marL="381000" indent="-381000"/>
            <a:r>
              <a:rPr lang="en-US" dirty="0" smtClean="0"/>
              <a:t>Each of the 3 assessments will take 20 minutes or 60 minutes in total.</a:t>
            </a:r>
          </a:p>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100" dirty="0" smtClean="0">
                <a:latin typeface="Tw Cen MT"/>
              </a:rPr>
              <a:t>Keep in mind this is strictly people’s perceptions of your leadership skills. The only people that will be able to view the results of this assessment are you and your direct leader. </a:t>
            </a:r>
          </a:p>
          <a:p>
            <a:endParaRPr lang="en-US" sz="1100" dirty="0" smtClean="0">
              <a:latin typeface="Tw Cen MT"/>
            </a:endParaRPr>
          </a:p>
          <a:p>
            <a:r>
              <a:rPr lang="en-US" sz="1100" dirty="0" smtClean="0">
                <a:latin typeface="Tw Cen MT"/>
              </a:rPr>
              <a:t>It is not punitive, it is only for development purposes. We do this at the end of the program so that you can choose one thing that you want to continue to develop after graduation. </a:t>
            </a:r>
          </a:p>
          <a:p>
            <a:endParaRPr lang="en-US" sz="1100" dirty="0" smtClean="0">
              <a:latin typeface="Tw Cen MT"/>
            </a:endParaRPr>
          </a:p>
        </p:txBody>
      </p:sp>
      <p:sp>
        <p:nvSpPr>
          <p:cNvPr id="4" name="Slide Number Placeholder 3"/>
          <p:cNvSpPr txBox="1">
            <a:spLocks noGrp="1"/>
          </p:cNvSpPr>
          <p:nvPr/>
        </p:nvSpPr>
        <p:spPr>
          <a:xfrm>
            <a:off x="3970338" y="8829675"/>
            <a:ext cx="3038475" cy="465138"/>
          </a:xfrm>
          <a:prstGeom prst="rect">
            <a:avLst/>
          </a:prstGeom>
          <a:noFill/>
        </p:spPr>
        <p:txBody>
          <a:bodyPr lIns="93177" tIns="46589" rIns="93177" bIns="46589" anchor="b"/>
          <a:lstStyle/>
          <a:p>
            <a:pPr algn="r" fontAlgn="auto">
              <a:spcBef>
                <a:spcPts val="0"/>
              </a:spcBef>
              <a:spcAft>
                <a:spcPts val="0"/>
              </a:spcAft>
              <a:defRPr/>
            </a:pPr>
            <a:fld id="{FC4BCA6A-DB18-4568-A387-0242B84C38C6}" type="slidenum">
              <a:rPr lang="en-US" sz="1200">
                <a:latin typeface="+mn-lt"/>
              </a:rPr>
              <a:pPr algn="r" fontAlgn="auto">
                <a:spcBef>
                  <a:spcPts val="0"/>
                </a:spcBef>
                <a:spcAft>
                  <a:spcPts val="0"/>
                </a:spcAft>
                <a:defRPr/>
              </a:pPr>
              <a:t>13</a:t>
            </a:fld>
            <a:endParaRPr lang="en-US" sz="1200" dirty="0">
              <a:latin typeface="+mn-l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guiding the leaders in selecting raters:</a:t>
            </a:r>
          </a:p>
          <a:p>
            <a:r>
              <a:rPr lang="en-US" dirty="0" smtClean="0"/>
              <a:t> </a:t>
            </a:r>
          </a:p>
          <a:p>
            <a:pPr lvl="0"/>
            <a:r>
              <a:rPr lang="en-US" dirty="0" smtClean="0"/>
              <a:t>Select raters that know your work and style well</a:t>
            </a:r>
          </a:p>
          <a:p>
            <a:pPr lvl="0"/>
            <a:r>
              <a:rPr lang="en-US" dirty="0" smtClean="0"/>
              <a:t>Raters should be objective and honest in their appraisal</a:t>
            </a:r>
          </a:p>
          <a:p>
            <a:pPr lvl="0"/>
            <a:r>
              <a:rPr lang="en-US" dirty="0" smtClean="0"/>
              <a:t>Select raters that are not afraid to give constructive criticism to leaders</a:t>
            </a:r>
          </a:p>
          <a:p>
            <a:pPr lvl="0"/>
            <a:r>
              <a:rPr lang="en-US" dirty="0" smtClean="0"/>
              <a:t>Select raters that have discretion around confidentiality</a:t>
            </a:r>
          </a:p>
          <a:p>
            <a:endParaRPr lang="en-US" dirty="0"/>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B1E04C4-209E-42C0-BB16-60A19275D140}" type="slidenum">
              <a:rPr lang="en-US" smtClean="0"/>
              <a:pPr>
                <a:defRPr/>
              </a:pPr>
              <a:t>16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64008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a:off x="685800" y="3733800"/>
            <a:ext cx="77724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2130425"/>
            <a:ext cx="7772400" cy="1470025"/>
          </a:xfrm>
        </p:spPr>
        <p:txBody>
          <a:bodyPr anchor="b" anchorCtr="0">
            <a:normAutofit/>
          </a:bodyPr>
          <a:lstStyle>
            <a:lvl1pPr algn="l">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4572000" cy="914400"/>
          </a:xfrm>
        </p:spPr>
        <p:txBody>
          <a:bodyPr/>
          <a:lstStyle>
            <a:lvl1pPr marL="0" indent="0" algn="l">
              <a:buNone/>
              <a:defRPr>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logo with tag rgb horz.jpg"/>
          <p:cNvPicPr>
            <a:picLocks noChangeAspect="1"/>
          </p:cNvPicPr>
          <p:nvPr userDrawn="1"/>
        </p:nvPicPr>
        <p:blipFill>
          <a:blip r:embed="rId2" cstate="screen"/>
          <a:stretch>
            <a:fillRect/>
          </a:stretch>
        </p:blipFill>
        <p:spPr>
          <a:xfrm>
            <a:off x="5486400" y="5621020"/>
            <a:ext cx="3048000" cy="10541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6" descr="Hope-and-Will.jpg"/>
          <p:cNvPicPr>
            <a:picLocks noChangeAspect="1"/>
          </p:cNvPicPr>
          <p:nvPr userDrawn="1"/>
        </p:nvPicPr>
        <p:blipFill>
          <a:blip r:embed="rId2" cstate="screen"/>
          <a:srcRect/>
          <a:stretch>
            <a:fillRect/>
          </a:stretch>
        </p:blipFill>
        <p:spPr bwMode="auto">
          <a:xfrm>
            <a:off x="7197725" y="5249863"/>
            <a:ext cx="1946275" cy="1608137"/>
          </a:xfrm>
          <a:prstGeom prst="rect">
            <a:avLst/>
          </a:prstGeom>
          <a:noFill/>
          <a:ln w="9525">
            <a:noFill/>
            <a:miter lim="800000"/>
            <a:headEnd/>
            <a:tailEnd/>
          </a:ln>
        </p:spPr>
      </p:pic>
      <p:sp>
        <p:nvSpPr>
          <p:cNvPr id="2" name="Title 1"/>
          <p:cNvSpPr>
            <a:spLocks noGrp="1"/>
          </p:cNvSpPr>
          <p:nvPr>
            <p:ph type="ctrTitle"/>
          </p:nvPr>
        </p:nvSpPr>
        <p:spPr>
          <a:xfrm>
            <a:off x="152400" y="5387975"/>
            <a:ext cx="7086600" cy="1317625"/>
          </a:xfrm>
        </p:spPr>
        <p:txBody>
          <a:bodyPr anchor="b" anchorCtr="0">
            <a:normAutofit/>
          </a:bodyPr>
          <a:lstStyle>
            <a:lvl1pPr algn="l">
              <a:defRPr sz="4400"/>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chor="ctr" anchorCtr="0"/>
          <a:lstStyle>
            <a:lvl1pPr>
              <a:defRPr>
                <a:latin typeface="+mj-lt"/>
              </a:defRPr>
            </a:lvl1pPr>
          </a:lstStyle>
          <a:p>
            <a:r>
              <a:rPr lang="en-US" dirty="0" smtClean="0"/>
              <a:t>Click to edit Master title style</a:t>
            </a:r>
            <a:endParaRPr lang="en-US" dirty="0"/>
          </a:p>
        </p:txBody>
      </p:sp>
      <p:cxnSp>
        <p:nvCxnSpPr>
          <p:cNvPr id="4" name="Straight Connector 3"/>
          <p:cNvCxnSpPr/>
          <p:nvPr userDrawn="1"/>
        </p:nvCxnSpPr>
        <p:spPr>
          <a:xfrm>
            <a:off x="457200" y="10668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219200"/>
            <a:ext cx="8229600" cy="50292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dirty="0" smtClean="0"/>
              <a:t>Click to edit Master title style</a:t>
            </a:r>
            <a:endParaRPr lang="en-US" dirty="0"/>
          </a:p>
        </p:txBody>
      </p:sp>
      <p:pic>
        <p:nvPicPr>
          <p:cNvPr id="5"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6" name="TextBox 5"/>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n-lt"/>
              </a:rPr>
              <a:t>Children’s Healthcare of Atlanta</a:t>
            </a:r>
          </a:p>
        </p:txBody>
      </p:sp>
      <p:sp>
        <p:nvSpPr>
          <p:cNvPr id="3" name="Content Placeholder 2"/>
          <p:cNvSpPr>
            <a:spLocks noGrp="1"/>
          </p:cNvSpPr>
          <p:nvPr>
            <p:ph idx="1"/>
          </p:nvPr>
        </p:nvSpPr>
        <p:spPr>
          <a:xfrm>
            <a:off x="457200" y="1371600"/>
            <a:ext cx="8229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n-lt"/>
              </a:defRPr>
            </a:lvl1pPr>
          </a:lstStyle>
          <a:p>
            <a:pPr>
              <a:defRPr/>
            </a:pPr>
            <a:fld id="{01D945C9-0277-4107-B589-EC55ECD240BC}" type="slidenum">
              <a:rPr lang="en-US" smtClean="0"/>
              <a:pPr>
                <a:defRPr/>
              </a:pPr>
              <a:t>‹#›</a:t>
            </a:fld>
            <a:endParaRPr lang="en-US" dirty="0"/>
          </a:p>
        </p:txBody>
      </p:sp>
      <p:cxnSp>
        <p:nvCxnSpPr>
          <p:cNvPr id="8" name="Straight Connector 7"/>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371600"/>
            <a:ext cx="4038600" cy="47545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8"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9" name="TextBox 8"/>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0"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cxnSp>
        <p:nvCxnSpPr>
          <p:cNvPr id="11" name="Straight Connector 10"/>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cxnSp>
        <p:nvCxnSpPr>
          <p:cNvPr id="7" name="Straight Connector 6"/>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1376608"/>
            <a:ext cx="4040188" cy="715962"/>
          </a:xfrm>
        </p:spPr>
        <p:txBody>
          <a:bodyPr anchor="b">
            <a:noAutofit/>
          </a:bodyPr>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209800"/>
            <a:ext cx="4040188"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376608"/>
            <a:ext cx="4041775" cy="715962"/>
          </a:xfrm>
        </p:spPr>
        <p:txBody>
          <a:bodyPr anchor="b"/>
          <a:lstStyle>
            <a:lvl1pPr marL="0" indent="0">
              <a:buNone/>
              <a:defRPr sz="2400" b="1">
                <a:solidFill>
                  <a:srgbClr val="009D5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209800"/>
            <a:ext cx="4041775" cy="4038600"/>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10"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11" name="TextBox 10"/>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12"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pic>
        <p:nvPicPr>
          <p:cNvPr id="6"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7" name="TextBox 6"/>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dirty="0" smtClean="0"/>
              <a:t>Click to edit Master title style</a:t>
            </a:r>
            <a:endParaRPr lang="en-US" dirty="0"/>
          </a:p>
        </p:txBody>
      </p:sp>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cxnSp>
        <p:nvCxnSpPr>
          <p:cNvPr id="3" name="Straight Connector 2"/>
          <p:cNvCxnSpPr/>
          <p:nvPr userDrawn="1"/>
        </p:nvCxnSpPr>
        <p:spPr>
          <a:xfrm>
            <a:off x="457200" y="1219200"/>
            <a:ext cx="8229600" cy="0"/>
          </a:xfrm>
          <a:prstGeom prst="line">
            <a:avLst/>
          </a:prstGeom>
          <a:ln w="50800" cap="rnd">
            <a:solidFill>
              <a:srgbClr val="009D57"/>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chor="ctr" anchorCtr="0"/>
          <a:lstStyle>
            <a:lvl1pPr>
              <a:defRPr>
                <a:latin typeface="+mj-lt"/>
              </a:defRPr>
            </a:lvl1pPr>
          </a:lstStyle>
          <a:p>
            <a:r>
              <a:rPr lang="en-US" smtClean="0"/>
              <a:t>Click to edit Master title style</a:t>
            </a:r>
            <a:endParaRPr lang="en-US"/>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4" name="Picture 6" descr="Hope-and-Will.jpg"/>
          <p:cNvPicPr>
            <a:picLocks noChangeAspect="1"/>
          </p:cNvPicPr>
          <p:nvPr userDrawn="1"/>
        </p:nvPicPr>
        <p:blipFill>
          <a:blip r:embed="rId2" cstate="screen"/>
          <a:srcRect/>
          <a:stretch>
            <a:fillRect/>
          </a:stretch>
        </p:blipFill>
        <p:spPr bwMode="auto">
          <a:xfrm>
            <a:off x="7269163" y="6299835"/>
            <a:ext cx="1112837" cy="558165"/>
          </a:xfrm>
          <a:prstGeom prst="rect">
            <a:avLst/>
          </a:prstGeom>
          <a:noFill/>
          <a:ln w="9525">
            <a:noFill/>
            <a:miter lim="800000"/>
            <a:headEnd/>
            <a:tailEnd/>
          </a:ln>
        </p:spPr>
      </p:pic>
      <p:sp>
        <p:nvSpPr>
          <p:cNvPr id="5" name="TextBox 4"/>
          <p:cNvSpPr txBox="1"/>
          <p:nvPr userDrawn="1"/>
        </p:nvSpPr>
        <p:spPr>
          <a:xfrm>
            <a:off x="990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6"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Box 6"/>
          <p:cNvSpPr txBox="1"/>
          <p:nvPr userDrawn="1"/>
        </p:nvSpPr>
        <p:spPr>
          <a:xfrm>
            <a:off x="1752600" y="6550025"/>
            <a:ext cx="6477000" cy="307975"/>
          </a:xfrm>
          <a:prstGeom prst="rect">
            <a:avLst/>
          </a:prstGeom>
          <a:noFill/>
        </p:spPr>
        <p:txBody>
          <a:bodyPr>
            <a:spAutoFit/>
          </a:bodyPr>
          <a:lstStyle/>
          <a:p>
            <a:pPr algn="r">
              <a:defRPr/>
            </a:pPr>
            <a:r>
              <a:rPr lang="en-US" sz="1400" dirty="0">
                <a:solidFill>
                  <a:schemeClr val="bg1">
                    <a:lumMod val="75000"/>
                  </a:schemeClr>
                </a:solidFill>
                <a:latin typeface="+mj-lt"/>
              </a:rPr>
              <a:t>Children’s Healthcare of Atlanta</a:t>
            </a:r>
          </a:p>
        </p:txBody>
      </p:sp>
      <p:sp>
        <p:nvSpPr>
          <p:cNvPr id="8" name="Slide Number Placeholder 5"/>
          <p:cNvSpPr>
            <a:spLocks noGrp="1"/>
          </p:cNvSpPr>
          <p:nvPr>
            <p:ph type="sldNum" sz="quarter" idx="10"/>
          </p:nvPr>
        </p:nvSpPr>
        <p:spPr>
          <a:xfrm>
            <a:off x="8382000" y="6544310"/>
            <a:ext cx="381000" cy="365125"/>
          </a:xfrm>
        </p:spPr>
        <p:txBody>
          <a:bodyPr/>
          <a:lstStyle>
            <a:lvl1pPr>
              <a:defRPr sz="1100">
                <a:solidFill>
                  <a:schemeClr val="bg1">
                    <a:lumMod val="50000"/>
                  </a:schemeClr>
                </a:solidFill>
                <a:latin typeface="+mj-lt"/>
              </a:defRPr>
            </a:lvl1pPr>
          </a:lstStyle>
          <a:p>
            <a:pPr>
              <a:defRPr/>
            </a:pPr>
            <a:fld id="{01D945C9-0277-4107-B589-EC55ECD240B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7620000" cy="762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685800" y="1905000"/>
            <a:ext cx="3810000" cy="3962400"/>
          </a:xfrm>
        </p:spPr>
        <p:txBody>
          <a:bodyPr/>
          <a:lstStyle/>
          <a:p>
            <a:pPr lvl="0"/>
            <a:endParaRPr lang="en-US" noProof="0" dirty="0"/>
          </a:p>
        </p:txBody>
      </p:sp>
      <p:sp>
        <p:nvSpPr>
          <p:cNvPr id="4" name="Text Placeholder 3"/>
          <p:cNvSpPr>
            <a:spLocks noGrp="1"/>
          </p:cNvSpPr>
          <p:nvPr>
            <p:ph type="body" sz="half" idx="2"/>
          </p:nvPr>
        </p:nvSpPr>
        <p:spPr>
          <a:xfrm>
            <a:off x="4648200" y="1905000"/>
            <a:ext cx="3810000"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2209800" y="6400800"/>
            <a:ext cx="1905000" cy="457200"/>
          </a:xfrm>
          <a:prstGeom prst="rect">
            <a:avLst/>
          </a:prstGeom>
        </p:spPr>
        <p:txBody>
          <a:bodyPr/>
          <a:lstStyle>
            <a:lvl1pPr>
              <a:defRPr>
                <a:ea typeface="ＭＳ Ｐゴシック" pitchFamily="34" charset="-128"/>
                <a:cs typeface="+mn-cs"/>
              </a:defRPr>
            </a:lvl1pPr>
          </a:lstStyle>
          <a:p>
            <a:pPr>
              <a:defRPr/>
            </a:pPr>
            <a:endParaRPr lang="en-US" dirty="0"/>
          </a:p>
        </p:txBody>
      </p:sp>
      <p:sp>
        <p:nvSpPr>
          <p:cNvPr id="6" name="Footer Placeholder 5"/>
          <p:cNvSpPr>
            <a:spLocks noGrp="1"/>
          </p:cNvSpPr>
          <p:nvPr>
            <p:ph type="ftr" sz="quarter" idx="11"/>
          </p:nvPr>
        </p:nvSpPr>
        <p:spPr>
          <a:xfrm>
            <a:off x="4191000" y="6400800"/>
            <a:ext cx="2895600" cy="457200"/>
          </a:xfrm>
          <a:prstGeom prst="rect">
            <a:avLst/>
          </a:prstGeom>
        </p:spPr>
        <p:txBody>
          <a:bodyPr/>
          <a:lstStyle>
            <a:lvl1pPr>
              <a:defRPr>
                <a:ea typeface="ＭＳ Ｐゴシック" pitchFamily="34" charset="-128"/>
                <a:cs typeface="+mn-cs"/>
              </a:defRPr>
            </a:lvl1pPr>
          </a:lstStyle>
          <a:p>
            <a:pPr>
              <a:defRPr/>
            </a:pPr>
            <a:r>
              <a:rPr lang="en-US" dirty="0"/>
              <a:t>Children’s Center for Leadership                                                                </a:t>
            </a:r>
          </a:p>
        </p:txBody>
      </p:sp>
      <p:sp>
        <p:nvSpPr>
          <p:cNvPr id="7" name="Slide Number Placeholder 6"/>
          <p:cNvSpPr>
            <a:spLocks noGrp="1"/>
          </p:cNvSpPr>
          <p:nvPr>
            <p:ph type="sldNum" sz="quarter" idx="12"/>
          </p:nvPr>
        </p:nvSpPr>
        <p:spPr>
          <a:xfrm>
            <a:off x="7162800" y="6324600"/>
            <a:ext cx="1905000" cy="457200"/>
          </a:xfrm>
        </p:spPr>
        <p:txBody>
          <a:bodyPr/>
          <a:lstStyle>
            <a:lvl1pPr>
              <a:defRPr/>
            </a:lvl1pPr>
          </a:lstStyle>
          <a:p>
            <a:pPr>
              <a:defRPr/>
            </a:pPr>
            <a:fld id="{36A25779-B8A7-4B12-861E-B8CE40622900}" type="slidenum">
              <a:rPr lang="en-US"/>
              <a:pPr>
                <a:defRPr/>
              </a:pPr>
              <a:t>‹#›</a:t>
            </a:fld>
            <a:endParaRPr lang="en-US" sz="1400" dirty="0">
              <a:latin typeface="Times New Roman"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5613" y="839788"/>
            <a:ext cx="4881562" cy="914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905000"/>
            <a:ext cx="8229600" cy="4221163"/>
          </a:xfrm>
        </p:spPr>
        <p:txBody>
          <a:bodyPr/>
          <a:lstStyle/>
          <a:p>
            <a:pPr lvl="0"/>
            <a:endParaRPr lang="en-US" noProof="0" dirty="0" smtClean="0"/>
          </a:p>
        </p:txBody>
      </p:sp>
      <p:sp>
        <p:nvSpPr>
          <p:cNvPr id="4" name="Rectangle 6"/>
          <p:cNvSpPr>
            <a:spLocks noGrp="1" noChangeArrowheads="1"/>
          </p:cNvSpPr>
          <p:nvPr>
            <p:ph type="sldNum" sz="quarter" idx="10"/>
          </p:nvPr>
        </p:nvSpPr>
        <p:spPr>
          <a:ln/>
        </p:spPr>
        <p:txBody>
          <a:bodyPr/>
          <a:lstStyle>
            <a:lvl1pPr>
              <a:defRPr/>
            </a:lvl1pPr>
          </a:lstStyle>
          <a:p>
            <a:pPr>
              <a:defRPr/>
            </a:pPr>
            <a:fld id="{8FD0E649-A650-4A2F-B932-D041BA49DCF3}"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4572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6" name="Slide Number Placeholder 5"/>
          <p:cNvSpPr>
            <a:spLocks noGrp="1"/>
          </p:cNvSpPr>
          <p:nvPr>
            <p:ph type="sldNum" sz="quarter" idx="4"/>
          </p:nvPr>
        </p:nvSpPr>
        <p:spPr>
          <a:xfrm>
            <a:off x="8305800" y="6356350"/>
            <a:ext cx="381000" cy="365125"/>
          </a:xfrm>
          <a:prstGeom prst="rect">
            <a:avLst/>
          </a:prstGeom>
        </p:spPr>
        <p:txBody>
          <a:bodyPr vert="horz" lIns="91440" tIns="45720" rIns="91440" bIns="45720" rtlCol="0" anchor="ctr"/>
          <a:lstStyle>
            <a:lvl1pPr algn="r" fontAlgn="auto">
              <a:spcBef>
                <a:spcPts val="0"/>
              </a:spcBef>
              <a:spcAft>
                <a:spcPts val="0"/>
              </a:spcAft>
              <a:defRPr sz="1000" b="0">
                <a:solidFill>
                  <a:schemeClr val="bg1">
                    <a:lumMod val="50000"/>
                  </a:schemeClr>
                </a:solidFill>
                <a:latin typeface="Archer Semibold" pitchFamily="50" charset="0"/>
              </a:defRPr>
            </a:lvl1pPr>
          </a:lstStyle>
          <a:p>
            <a:pPr>
              <a:defRPr/>
            </a:pPr>
            <a:fld id="{D423F924-74D2-45C3-9581-52674854CC0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15" r:id="rId2"/>
    <p:sldLayoutId id="2147483718" r:id="rId3"/>
    <p:sldLayoutId id="2147483705" r:id="rId4"/>
    <p:sldLayoutId id="2147483706" r:id="rId5"/>
    <p:sldLayoutId id="2147483707" r:id="rId6"/>
    <p:sldLayoutId id="2147483708" r:id="rId7"/>
    <p:sldLayoutId id="2147483709" r:id="rId8"/>
    <p:sldLayoutId id="2147483716" r:id="rId9"/>
    <p:sldLayoutId id="2147483719" r:id="rId10"/>
    <p:sldLayoutId id="2147483710" r:id="rId11"/>
    <p:sldLayoutId id="2147483717" r:id="rId12"/>
    <p:sldLayoutId id="2147483714" r:id="rId13"/>
    <p:sldLayoutId id="2147483723" r:id="rId14"/>
    <p:sldLayoutId id="2147483724" r:id="rId15"/>
  </p:sldLayoutIdLst>
  <p:hf hdr="0" ftr="0" dt="0"/>
  <p:txStyles>
    <p:titleStyle>
      <a:lvl1pPr algn="l" rtl="0" eaLnBrk="0" fontAlgn="base" hangingPunct="0">
        <a:spcBef>
          <a:spcPct val="0"/>
        </a:spcBef>
        <a:spcAft>
          <a:spcPct val="0"/>
        </a:spcAft>
        <a:defRPr sz="3600" kern="1200">
          <a:solidFill>
            <a:srgbClr val="009D57"/>
          </a:solidFill>
          <a:latin typeface="+mj-lt"/>
          <a:ea typeface="+mj-ea"/>
          <a:cs typeface="+mj-cs"/>
        </a:defRPr>
      </a:lvl1pPr>
      <a:lvl2pPr algn="l" rtl="0" eaLnBrk="0" fontAlgn="base" hangingPunct="0">
        <a:spcBef>
          <a:spcPct val="0"/>
        </a:spcBef>
        <a:spcAft>
          <a:spcPct val="0"/>
        </a:spcAft>
        <a:defRPr sz="3600">
          <a:solidFill>
            <a:srgbClr val="009D57"/>
          </a:solidFill>
          <a:latin typeface="Archer Semibold" pitchFamily="50" charset="0"/>
        </a:defRPr>
      </a:lvl2pPr>
      <a:lvl3pPr algn="l" rtl="0" eaLnBrk="0" fontAlgn="base" hangingPunct="0">
        <a:spcBef>
          <a:spcPct val="0"/>
        </a:spcBef>
        <a:spcAft>
          <a:spcPct val="0"/>
        </a:spcAft>
        <a:defRPr sz="3600">
          <a:solidFill>
            <a:srgbClr val="009D57"/>
          </a:solidFill>
          <a:latin typeface="Archer Semibold" pitchFamily="50" charset="0"/>
        </a:defRPr>
      </a:lvl3pPr>
      <a:lvl4pPr algn="l" rtl="0" eaLnBrk="0" fontAlgn="base" hangingPunct="0">
        <a:spcBef>
          <a:spcPct val="0"/>
        </a:spcBef>
        <a:spcAft>
          <a:spcPct val="0"/>
        </a:spcAft>
        <a:defRPr sz="3600">
          <a:solidFill>
            <a:srgbClr val="009D57"/>
          </a:solidFill>
          <a:latin typeface="Archer Semibold" pitchFamily="50" charset="0"/>
        </a:defRPr>
      </a:lvl4pPr>
      <a:lvl5pPr algn="l" rtl="0" eaLnBrk="0" fontAlgn="base" hangingPunct="0">
        <a:spcBef>
          <a:spcPct val="0"/>
        </a:spcBef>
        <a:spcAft>
          <a:spcPct val="0"/>
        </a:spcAft>
        <a:defRPr sz="3600">
          <a:solidFill>
            <a:srgbClr val="009D57"/>
          </a:solidFill>
          <a:latin typeface="Archer Semibold" pitchFamily="50" charset="0"/>
        </a:defRPr>
      </a:lvl5pPr>
      <a:lvl6pPr marL="457200" algn="l" rtl="0" fontAlgn="base">
        <a:spcBef>
          <a:spcPct val="0"/>
        </a:spcBef>
        <a:spcAft>
          <a:spcPct val="0"/>
        </a:spcAft>
        <a:defRPr sz="3600">
          <a:solidFill>
            <a:srgbClr val="009D57"/>
          </a:solidFill>
          <a:latin typeface="Archer Semibold" pitchFamily="50" charset="0"/>
        </a:defRPr>
      </a:lvl6pPr>
      <a:lvl7pPr marL="914400" algn="l" rtl="0" fontAlgn="base">
        <a:spcBef>
          <a:spcPct val="0"/>
        </a:spcBef>
        <a:spcAft>
          <a:spcPct val="0"/>
        </a:spcAft>
        <a:defRPr sz="3600">
          <a:solidFill>
            <a:srgbClr val="009D57"/>
          </a:solidFill>
          <a:latin typeface="Archer Semibold" pitchFamily="50" charset="0"/>
        </a:defRPr>
      </a:lvl7pPr>
      <a:lvl8pPr marL="1371600" algn="l" rtl="0" fontAlgn="base">
        <a:spcBef>
          <a:spcPct val="0"/>
        </a:spcBef>
        <a:spcAft>
          <a:spcPct val="0"/>
        </a:spcAft>
        <a:defRPr sz="3600">
          <a:solidFill>
            <a:srgbClr val="009D57"/>
          </a:solidFill>
          <a:latin typeface="Archer Semibold" pitchFamily="50" charset="0"/>
        </a:defRPr>
      </a:lvl8pPr>
      <a:lvl9pPr marL="1828800" algn="l" rtl="0" fontAlgn="base">
        <a:spcBef>
          <a:spcPct val="0"/>
        </a:spcBef>
        <a:spcAft>
          <a:spcPct val="0"/>
        </a:spcAft>
        <a:defRPr sz="3600">
          <a:solidFill>
            <a:srgbClr val="009D57"/>
          </a:solidFill>
          <a:latin typeface="Archer Semibold" pitchFamily="50" charset="0"/>
        </a:defRPr>
      </a:lvl9pPr>
    </p:titleStyle>
    <p:bodyStyle>
      <a:lvl1pPr marL="342900" indent="-342900" algn="l" rtl="0" eaLnBrk="0" fontAlgn="base" hangingPunct="0">
        <a:spcBef>
          <a:spcPct val="20000"/>
        </a:spcBef>
        <a:spcAft>
          <a:spcPct val="0"/>
        </a:spcAft>
        <a:buFont typeface="Arial" charset="0"/>
        <a:buChar char="•"/>
        <a:defRPr sz="2800" kern="1200">
          <a:solidFill>
            <a:srgbClr val="262626"/>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rgbClr val="262626"/>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rgbClr val="262626"/>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rgbClr val="26262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smtClean="0"/>
              <a:t>Leader Next</a:t>
            </a:r>
            <a:endParaRPr lang="en-US" b="1" i="1" dirty="0"/>
          </a:p>
        </p:txBody>
      </p:sp>
      <p:sp>
        <p:nvSpPr>
          <p:cNvPr id="3" name="Subtitle 2"/>
          <p:cNvSpPr>
            <a:spLocks noGrp="1"/>
          </p:cNvSpPr>
          <p:nvPr>
            <p:ph type="subTitle" idx="1"/>
          </p:nvPr>
        </p:nvSpPr>
        <p:spPr>
          <a:xfrm>
            <a:off x="685800" y="3886200"/>
            <a:ext cx="7772400" cy="914400"/>
          </a:xfrm>
        </p:spPr>
        <p:txBody>
          <a:bodyPr/>
          <a:lstStyle/>
          <a:p>
            <a:r>
              <a:rPr lang="en-US" dirty="0" smtClean="0"/>
              <a:t>Participant Welcome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sz="3200" dirty="0" smtClean="0"/>
              <a:t>Agenda</a:t>
            </a:r>
            <a:endParaRPr lang="en-US" sz="3200" dirty="0"/>
          </a:p>
        </p:txBody>
      </p:sp>
      <p:sp>
        <p:nvSpPr>
          <p:cNvPr id="3" name="Content Placeholder 2"/>
          <p:cNvSpPr>
            <a:spLocks noGrp="1"/>
          </p:cNvSpPr>
          <p:nvPr>
            <p:ph sz="half" idx="1"/>
          </p:nvPr>
        </p:nvSpPr>
        <p:spPr>
          <a:xfrm>
            <a:off x="762000" y="1600200"/>
            <a:ext cx="7391400" cy="3962400"/>
          </a:xfrm>
          <a:solidFill>
            <a:schemeClr val="accent3">
              <a:lumMod val="20000"/>
              <a:lumOff val="80000"/>
            </a:schemeClr>
          </a:solidFill>
          <a:ln w="28575">
            <a:solidFill>
              <a:schemeClr val="accent1"/>
            </a:solidFill>
          </a:ln>
        </p:spPr>
        <p:txBody>
          <a:bodyPr/>
          <a:lstStyle/>
          <a:p>
            <a:pPr>
              <a:spcBef>
                <a:spcPts val="1200"/>
              </a:spcBef>
              <a:buClr>
                <a:srgbClr val="009D57"/>
              </a:buClr>
              <a:buFont typeface="Tw Cen MT" pitchFamily="34" charset="0"/>
              <a:buChar char="•"/>
            </a:pPr>
            <a:r>
              <a:rPr lang="en-US" sz="2400" dirty="0" smtClean="0">
                <a:solidFill>
                  <a:schemeClr val="tx1"/>
                </a:solidFill>
              </a:rPr>
              <a:t>Children’s Leadership Competencies and the 2013 Development Plan</a:t>
            </a:r>
          </a:p>
          <a:p>
            <a:pPr>
              <a:spcBef>
                <a:spcPts val="1200"/>
              </a:spcBef>
              <a:buClr>
                <a:srgbClr val="009D57"/>
              </a:buClr>
              <a:buFont typeface="Tw Cen MT" pitchFamily="34" charset="0"/>
              <a:buChar char="•"/>
            </a:pPr>
            <a:r>
              <a:rPr lang="en-US" sz="2400" dirty="0" smtClean="0">
                <a:solidFill>
                  <a:schemeClr val="tx1"/>
                </a:solidFill>
              </a:rPr>
              <a:t>Overview of </a:t>
            </a:r>
            <a:r>
              <a:rPr lang="en-US" sz="2400" b="1" i="1" dirty="0" smtClean="0">
                <a:solidFill>
                  <a:schemeClr val="tx1"/>
                </a:solidFill>
              </a:rPr>
              <a:t>Leader Next</a:t>
            </a:r>
            <a:endParaRPr lang="en-US" sz="2400" dirty="0" smtClean="0">
              <a:solidFill>
                <a:schemeClr val="tx1"/>
              </a:solidFill>
            </a:endParaRPr>
          </a:p>
          <a:p>
            <a:pPr lvl="1">
              <a:spcBef>
                <a:spcPts val="1200"/>
              </a:spcBef>
              <a:buClr>
                <a:srgbClr val="009D57"/>
              </a:buClr>
              <a:buFont typeface="Tw Cen MT" pitchFamily="34" charset="0"/>
              <a:buChar char="•"/>
            </a:pPr>
            <a:r>
              <a:rPr lang="en-US" sz="2000" dirty="0" smtClean="0">
                <a:solidFill>
                  <a:schemeClr val="tx1"/>
                </a:solidFill>
              </a:rPr>
              <a:t>Participants</a:t>
            </a:r>
          </a:p>
          <a:p>
            <a:pPr lvl="1">
              <a:spcBef>
                <a:spcPts val="1200"/>
              </a:spcBef>
              <a:buClr>
                <a:srgbClr val="009D57"/>
              </a:buClr>
              <a:buFont typeface="Tw Cen MT" pitchFamily="34" charset="0"/>
              <a:buChar char="•"/>
            </a:pPr>
            <a:r>
              <a:rPr lang="en-US" sz="2000" dirty="0" smtClean="0">
                <a:solidFill>
                  <a:schemeClr val="tx1"/>
                </a:solidFill>
              </a:rPr>
              <a:t>The Experience</a:t>
            </a:r>
          </a:p>
          <a:p>
            <a:pPr lvl="1">
              <a:spcBef>
                <a:spcPts val="1200"/>
              </a:spcBef>
              <a:buClr>
                <a:srgbClr val="009D57"/>
              </a:buClr>
              <a:buFont typeface="Tw Cen MT" pitchFamily="34" charset="0"/>
              <a:buChar char="•"/>
            </a:pPr>
            <a:r>
              <a:rPr lang="en-US" sz="2000" dirty="0" smtClean="0">
                <a:solidFill>
                  <a:schemeClr val="tx1"/>
                </a:solidFill>
              </a:rPr>
              <a:t>Expectations and Time Commitment</a:t>
            </a:r>
          </a:p>
          <a:p>
            <a:pPr>
              <a:spcBef>
                <a:spcPts val="1200"/>
              </a:spcBef>
              <a:buClr>
                <a:srgbClr val="009D57"/>
              </a:buClr>
              <a:buFont typeface="Tw Cen MT" pitchFamily="34" charset="0"/>
              <a:buChar char="•"/>
            </a:pPr>
            <a:r>
              <a:rPr lang="en-US" sz="2400" dirty="0" smtClean="0"/>
              <a:t>Next Steps</a:t>
            </a:r>
          </a:p>
          <a:p>
            <a:pPr lvl="1">
              <a:spcBef>
                <a:spcPts val="1200"/>
              </a:spcBef>
              <a:buClr>
                <a:srgbClr val="009D57"/>
              </a:buClr>
              <a:buFont typeface="Tw Cen MT" pitchFamily="34" charset="0"/>
              <a:buChar char="•"/>
            </a:pPr>
            <a:r>
              <a:rPr lang="en-US" sz="2000" dirty="0" smtClean="0"/>
              <a:t>The Assessment Process</a:t>
            </a:r>
          </a:p>
          <a:p>
            <a:pPr>
              <a:spcBef>
                <a:spcPts val="1200"/>
              </a:spcBef>
              <a:buClr>
                <a:srgbClr val="009D57"/>
              </a:buClr>
              <a:buFont typeface="Tw Cen MT" pitchFamily="34" charset="0"/>
              <a:buChar char="•"/>
            </a:pPr>
            <a:endParaRPr lang="en-US" sz="2400" dirty="0"/>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Children’s Competencies lead the way</a:t>
            </a:r>
            <a:endParaRPr lang="en-US" sz="3000" dirty="0"/>
          </a:p>
        </p:txBody>
      </p:sp>
      <p:sp>
        <p:nvSpPr>
          <p:cNvPr id="3" name="Content Placeholder 2"/>
          <p:cNvSpPr>
            <a:spLocks noGrp="1"/>
          </p:cNvSpPr>
          <p:nvPr>
            <p:ph idx="1"/>
          </p:nvPr>
        </p:nvSpPr>
        <p:spPr>
          <a:xfrm>
            <a:off x="457200" y="1371600"/>
            <a:ext cx="8229600" cy="1981200"/>
          </a:xfrm>
        </p:spPr>
        <p:txBody>
          <a:bodyPr/>
          <a:lstStyle/>
          <a:p>
            <a:r>
              <a:rPr lang="en-US" sz="2200" dirty="0" smtClean="0"/>
              <a:t>Children’s Leadership Competencies will be the foundation for all curriculum and content related to leader development. </a:t>
            </a:r>
          </a:p>
          <a:p>
            <a:r>
              <a:rPr lang="en-US" sz="2200" dirty="0" smtClean="0"/>
              <a:t>Connecting the competencies to the strategy will help leaders understand and apply learning. </a:t>
            </a:r>
          </a:p>
          <a:p>
            <a:r>
              <a:rPr lang="en-US" sz="2200" dirty="0" smtClean="0"/>
              <a:t>Competencies will ensure we develop the “total leader”.</a:t>
            </a:r>
            <a:endParaRPr lang="en-US" sz="2200" dirty="0"/>
          </a:p>
        </p:txBody>
      </p:sp>
      <p:sp>
        <p:nvSpPr>
          <p:cNvPr id="7" name="TextBox 81"/>
          <p:cNvSpPr txBox="1">
            <a:spLocks noChangeArrowheads="1"/>
          </p:cNvSpPr>
          <p:nvPr/>
        </p:nvSpPr>
        <p:spPr bwMode="auto">
          <a:xfrm>
            <a:off x="1881187" y="3771900"/>
            <a:ext cx="1695450" cy="2251899"/>
          </a:xfrm>
          <a:prstGeom prst="rect">
            <a:avLst/>
          </a:prstGeom>
          <a:solidFill>
            <a:schemeClr val="bg1"/>
          </a:solidFill>
          <a:ln w="28575">
            <a:solidFill>
              <a:srgbClr val="009D57"/>
            </a:solidFill>
            <a:miter lim="800000"/>
            <a:headEnd/>
            <a:tailEnd/>
          </a:ln>
        </p:spPr>
        <p:txBody>
          <a:bodyPr>
            <a:spAutoFit/>
          </a:bodyPr>
          <a:lstStyle/>
          <a:p>
            <a:pPr algn="ctr">
              <a:defRPr/>
            </a:pPr>
            <a:r>
              <a:rPr lang="en-US" sz="1400" b="1" dirty="0" smtClean="0">
                <a:latin typeface="Tw Cen MT" pitchFamily="34" charset="0"/>
              </a:rPr>
              <a:t>Build a Strong Team</a:t>
            </a:r>
          </a:p>
          <a:p>
            <a:pPr algn="ctr">
              <a:defRPr/>
            </a:pPr>
            <a:endParaRPr lang="en-US" sz="1400"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Hire </a:t>
            </a:r>
            <a:r>
              <a:rPr lang="en-US" sz="1200" dirty="0">
                <a:latin typeface="Tw Cen MT" pitchFamily="34" charset="0"/>
              </a:rPr>
              <a:t>and keep the best</a:t>
            </a:r>
          </a:p>
          <a:p>
            <a:pPr marL="117475" indent="-117475">
              <a:spcBef>
                <a:spcPts val="400"/>
              </a:spcBef>
              <a:spcAft>
                <a:spcPts val="200"/>
              </a:spcAft>
              <a:buFont typeface="Arial" pitchFamily="34" charset="0"/>
              <a:buChar char="•"/>
              <a:defRPr/>
            </a:pPr>
            <a:r>
              <a:rPr lang="en-US" sz="1200" dirty="0">
                <a:latin typeface="Tw Cen MT" pitchFamily="34" charset="0"/>
              </a:rPr>
              <a:t>Delegate authority</a:t>
            </a:r>
          </a:p>
          <a:p>
            <a:pPr marL="117475" indent="-117475">
              <a:spcBef>
                <a:spcPts val="400"/>
              </a:spcBef>
              <a:spcAft>
                <a:spcPts val="200"/>
              </a:spcAft>
              <a:buFont typeface="Arial" pitchFamily="34" charset="0"/>
              <a:buChar char="•"/>
              <a:defRPr/>
            </a:pPr>
            <a:r>
              <a:rPr lang="en-US" sz="1200" dirty="0">
                <a:latin typeface="Tw Cen MT" pitchFamily="34" charset="0"/>
              </a:rPr>
              <a:t>Trust your team</a:t>
            </a:r>
          </a:p>
          <a:p>
            <a:pPr marL="117475" indent="-117475">
              <a:spcBef>
                <a:spcPts val="400"/>
              </a:spcBef>
              <a:spcAft>
                <a:spcPts val="200"/>
              </a:spcAft>
              <a:buFont typeface="Arial" pitchFamily="34" charset="0"/>
              <a:buChar char="•"/>
              <a:defRPr/>
            </a:pPr>
            <a:r>
              <a:rPr lang="en-US" sz="1200" dirty="0">
                <a:latin typeface="Tw Cen MT" pitchFamily="34" charset="0"/>
              </a:rPr>
              <a:t>Celebrate success</a:t>
            </a:r>
          </a:p>
          <a:p>
            <a:pPr marL="117475" indent="-117475">
              <a:spcBef>
                <a:spcPts val="400"/>
              </a:spcBef>
              <a:spcAft>
                <a:spcPts val="200"/>
              </a:spcAft>
              <a:buFont typeface="Arial" pitchFamily="34" charset="0"/>
              <a:buChar char="•"/>
              <a:defRPr/>
            </a:pPr>
            <a:r>
              <a:rPr lang="en-US" sz="1200" dirty="0">
                <a:latin typeface="Tw Cen MT" pitchFamily="34" charset="0"/>
              </a:rPr>
              <a:t>Promote   development</a:t>
            </a:r>
            <a:endParaRPr lang="en-US" sz="1200" b="1" dirty="0">
              <a:latin typeface="Tw Cen MT" pitchFamily="34" charset="0"/>
            </a:endParaRPr>
          </a:p>
          <a:p>
            <a:pPr marL="117475" indent="-117475">
              <a:spcBef>
                <a:spcPts val="400"/>
              </a:spcBef>
              <a:spcAft>
                <a:spcPts val="200"/>
              </a:spcAft>
              <a:buFont typeface="Arial" pitchFamily="34" charset="0"/>
              <a:buChar char="•"/>
              <a:defRPr/>
            </a:pPr>
            <a:endParaRPr lang="en-US" sz="1200" dirty="0">
              <a:latin typeface="Tw Cen MT" pitchFamily="34" charset="0"/>
            </a:endParaRPr>
          </a:p>
        </p:txBody>
      </p:sp>
      <p:sp>
        <p:nvSpPr>
          <p:cNvPr id="8" name="TextBox 43"/>
          <p:cNvSpPr txBox="1">
            <a:spLocks noChangeArrowheads="1"/>
          </p:cNvSpPr>
          <p:nvPr/>
        </p:nvSpPr>
        <p:spPr bwMode="auto">
          <a:xfrm>
            <a:off x="152400" y="3771900"/>
            <a:ext cx="1666875" cy="2247900"/>
          </a:xfrm>
          <a:prstGeom prst="rect">
            <a:avLst/>
          </a:prstGeom>
          <a:solidFill>
            <a:schemeClr val="bg1"/>
          </a:solidFill>
          <a:ln w="28575">
            <a:solidFill>
              <a:srgbClr val="F7941E"/>
            </a:solidFill>
            <a:miter lim="800000"/>
            <a:headEnd/>
            <a:tailEnd/>
          </a:ln>
        </p:spPr>
        <p:txBody>
          <a:bodyPr wrap="square">
            <a:spAutoFit/>
          </a:bodyPr>
          <a:lstStyle/>
          <a:p>
            <a:pPr algn="ctr">
              <a:defRPr/>
            </a:pPr>
            <a:r>
              <a:rPr lang="en-US" sz="1400" b="1" dirty="0">
                <a:latin typeface="Tw Cen MT" pitchFamily="34" charset="0"/>
              </a:rPr>
              <a:t>Get Results</a:t>
            </a: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a:latin typeface="Tw Cen MT" pitchFamily="34" charset="0"/>
              </a:rPr>
              <a:t>Understand issues</a:t>
            </a:r>
          </a:p>
          <a:p>
            <a:pPr marL="117475" indent="-117475">
              <a:spcBef>
                <a:spcPts val="400"/>
              </a:spcBef>
              <a:spcAft>
                <a:spcPts val="200"/>
              </a:spcAft>
              <a:buFont typeface="Arial" pitchFamily="34" charset="0"/>
              <a:buChar char="•"/>
              <a:defRPr/>
            </a:pPr>
            <a:r>
              <a:rPr lang="en-US" sz="1200" dirty="0">
                <a:latin typeface="Tw Cen MT" pitchFamily="34" charset="0"/>
              </a:rPr>
              <a:t>Connect the dots</a:t>
            </a:r>
          </a:p>
          <a:p>
            <a:pPr marL="117475" indent="-117475">
              <a:spcBef>
                <a:spcPts val="400"/>
              </a:spcBef>
              <a:spcAft>
                <a:spcPts val="200"/>
              </a:spcAft>
              <a:buFont typeface="Arial" pitchFamily="34" charset="0"/>
              <a:buChar char="•"/>
              <a:defRPr/>
            </a:pPr>
            <a:r>
              <a:rPr lang="en-US" sz="1200" dirty="0">
                <a:latin typeface="Tw Cen MT" pitchFamily="34" charset="0"/>
              </a:rPr>
              <a:t>Make decisions</a:t>
            </a:r>
          </a:p>
          <a:p>
            <a:pPr marL="117475" indent="-117475">
              <a:spcBef>
                <a:spcPts val="400"/>
              </a:spcBef>
              <a:spcAft>
                <a:spcPts val="200"/>
              </a:spcAft>
              <a:buFont typeface="Arial" pitchFamily="34" charset="0"/>
              <a:buChar char="•"/>
              <a:defRPr/>
            </a:pPr>
            <a:r>
              <a:rPr lang="en-US" sz="1200" dirty="0">
                <a:latin typeface="Tw Cen MT" pitchFamily="34" charset="0"/>
              </a:rPr>
              <a:t>Be efficient and consistent</a:t>
            </a:r>
          </a:p>
          <a:p>
            <a:pPr marL="117475" indent="-117475">
              <a:spcBef>
                <a:spcPts val="400"/>
              </a:spcBef>
              <a:spcAft>
                <a:spcPts val="200"/>
              </a:spcAft>
              <a:buFont typeface="Arial" pitchFamily="34" charset="0"/>
              <a:buChar char="•"/>
              <a:defRPr/>
            </a:pPr>
            <a:r>
              <a:rPr lang="en-US" sz="1200" dirty="0">
                <a:latin typeface="Tw Cen MT" pitchFamily="34" charset="0"/>
              </a:rPr>
              <a:t>Set expectations</a:t>
            </a:r>
          </a:p>
          <a:p>
            <a:pPr marL="117475" indent="-117475">
              <a:spcBef>
                <a:spcPts val="400"/>
              </a:spcBef>
              <a:spcAft>
                <a:spcPts val="200"/>
              </a:spcAft>
              <a:buFont typeface="Arial" pitchFamily="34" charset="0"/>
              <a:buChar char="•"/>
              <a:defRPr/>
            </a:pPr>
            <a:endParaRPr lang="en-US" sz="1200" dirty="0">
              <a:latin typeface="Tw Cen MT" pitchFamily="34" charset="0"/>
            </a:endParaRPr>
          </a:p>
        </p:txBody>
      </p:sp>
      <p:sp>
        <p:nvSpPr>
          <p:cNvPr id="9" name="TextBox 39"/>
          <p:cNvSpPr txBox="1">
            <a:spLocks noChangeArrowheads="1"/>
          </p:cNvSpPr>
          <p:nvPr/>
        </p:nvSpPr>
        <p:spPr bwMode="auto">
          <a:xfrm>
            <a:off x="3629025" y="3771901"/>
            <a:ext cx="1752600" cy="2251899"/>
          </a:xfrm>
          <a:prstGeom prst="rect">
            <a:avLst/>
          </a:prstGeom>
          <a:solidFill>
            <a:schemeClr val="bg1"/>
          </a:solidFill>
          <a:ln w="28575">
            <a:solidFill>
              <a:srgbClr val="009DDC"/>
            </a:solidFill>
            <a:miter lim="800000"/>
            <a:headEnd/>
            <a:tailEnd/>
          </a:ln>
        </p:spPr>
        <p:txBody>
          <a:bodyPr wrap="square">
            <a:spAutoFit/>
          </a:bodyPr>
          <a:lstStyle/>
          <a:p>
            <a:pPr algn="ctr">
              <a:defRPr/>
            </a:pPr>
            <a:r>
              <a:rPr lang="en-US" sz="1400" b="1" dirty="0">
                <a:latin typeface="Tw Cen MT" pitchFamily="34" charset="0"/>
              </a:rPr>
              <a:t>Be Clear and Compelling</a:t>
            </a:r>
            <a:endParaRPr lang="en-US" sz="1400"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Know </a:t>
            </a:r>
            <a:r>
              <a:rPr lang="en-US" sz="1200" dirty="0">
                <a:latin typeface="Tw Cen MT" pitchFamily="34" charset="0"/>
              </a:rPr>
              <a:t>your audience</a:t>
            </a:r>
          </a:p>
          <a:p>
            <a:pPr marL="117475" indent="-117475">
              <a:spcBef>
                <a:spcPts val="400"/>
              </a:spcBef>
              <a:spcAft>
                <a:spcPts val="200"/>
              </a:spcAft>
              <a:buFont typeface="Arial" pitchFamily="34" charset="0"/>
              <a:buChar char="•"/>
              <a:defRPr/>
            </a:pPr>
            <a:r>
              <a:rPr lang="en-US" sz="1200" dirty="0">
                <a:latin typeface="Tw Cen MT" pitchFamily="34" charset="0"/>
              </a:rPr>
              <a:t>Set context</a:t>
            </a:r>
          </a:p>
          <a:p>
            <a:pPr marL="117475" indent="-117475">
              <a:spcBef>
                <a:spcPts val="400"/>
              </a:spcBef>
              <a:spcAft>
                <a:spcPts val="200"/>
              </a:spcAft>
              <a:buFont typeface="Arial" pitchFamily="34" charset="0"/>
              <a:buChar char="•"/>
              <a:defRPr/>
            </a:pPr>
            <a:r>
              <a:rPr lang="en-US" sz="1200" dirty="0">
                <a:latin typeface="Tw Cen MT" pitchFamily="34" charset="0"/>
              </a:rPr>
              <a:t>Manage the message</a:t>
            </a:r>
          </a:p>
          <a:p>
            <a:pPr marL="117475" indent="-117475">
              <a:spcBef>
                <a:spcPts val="400"/>
              </a:spcBef>
              <a:spcAft>
                <a:spcPts val="200"/>
              </a:spcAft>
              <a:buFont typeface="Arial" pitchFamily="34" charset="0"/>
              <a:buChar char="•"/>
              <a:defRPr/>
            </a:pPr>
            <a:r>
              <a:rPr lang="en-US" sz="1200" dirty="0">
                <a:latin typeface="Tw Cen MT" pitchFamily="34" charset="0"/>
              </a:rPr>
              <a:t>Make your point</a:t>
            </a:r>
          </a:p>
          <a:p>
            <a:pPr marL="117475" indent="-117475">
              <a:spcBef>
                <a:spcPts val="400"/>
              </a:spcBef>
              <a:spcAft>
                <a:spcPts val="200"/>
              </a:spcAft>
              <a:buFont typeface="Arial" pitchFamily="34" charset="0"/>
              <a:buChar char="•"/>
              <a:defRPr/>
            </a:pPr>
            <a:r>
              <a:rPr lang="en-US" sz="1200" dirty="0">
                <a:latin typeface="Tw Cen MT" pitchFamily="34" charset="0"/>
              </a:rPr>
              <a:t>Exercise clarity and </a:t>
            </a:r>
            <a:r>
              <a:rPr lang="en-US" sz="1200" dirty="0" smtClean="0">
                <a:latin typeface="Tw Cen MT" pitchFamily="34" charset="0"/>
              </a:rPr>
              <a:t>brevity</a:t>
            </a:r>
          </a:p>
          <a:p>
            <a:pPr marL="117475" indent="-117475">
              <a:spcBef>
                <a:spcPts val="400"/>
              </a:spcBef>
              <a:spcAft>
                <a:spcPts val="200"/>
              </a:spcAft>
              <a:defRPr/>
            </a:pPr>
            <a:endParaRPr lang="en-US" sz="1200" dirty="0">
              <a:latin typeface="Tw Cen MT" pitchFamily="34" charset="0"/>
            </a:endParaRPr>
          </a:p>
        </p:txBody>
      </p:sp>
      <p:sp>
        <p:nvSpPr>
          <p:cNvPr id="10" name="TextBox 40"/>
          <p:cNvSpPr txBox="1">
            <a:spLocks noChangeArrowheads="1"/>
          </p:cNvSpPr>
          <p:nvPr/>
        </p:nvSpPr>
        <p:spPr bwMode="auto">
          <a:xfrm>
            <a:off x="7343775" y="3762374"/>
            <a:ext cx="1676400" cy="2257425"/>
          </a:xfrm>
          <a:prstGeom prst="rect">
            <a:avLst/>
          </a:prstGeom>
          <a:noFill/>
          <a:ln w="28575">
            <a:solidFill>
              <a:srgbClr val="7030A0"/>
            </a:solidFill>
            <a:miter lim="800000"/>
            <a:headEnd/>
            <a:tailEnd/>
          </a:ln>
        </p:spPr>
        <p:txBody>
          <a:bodyPr wrap="square">
            <a:spAutoFit/>
          </a:bodyPr>
          <a:lstStyle/>
          <a:p>
            <a:pPr algn="ctr">
              <a:defRPr/>
            </a:pPr>
            <a:r>
              <a:rPr lang="en-US" sz="1400" b="1" dirty="0">
                <a:latin typeface="Tw Cen MT" pitchFamily="34" charset="0"/>
              </a:rPr>
              <a:t>Grow Relationships</a:t>
            </a:r>
            <a:endParaRPr lang="en-US" sz="1400" dirty="0">
              <a:latin typeface="Tw Cen MT" pitchFamily="34" charset="0"/>
            </a:endParaRP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Know </a:t>
            </a:r>
            <a:r>
              <a:rPr lang="en-US" sz="1200" dirty="0">
                <a:latin typeface="Tw Cen MT" pitchFamily="34" charset="0"/>
              </a:rPr>
              <a:t>your customer</a:t>
            </a:r>
          </a:p>
          <a:p>
            <a:pPr marL="117475" indent="-117475">
              <a:spcBef>
                <a:spcPts val="400"/>
              </a:spcBef>
              <a:spcAft>
                <a:spcPts val="200"/>
              </a:spcAft>
              <a:buFont typeface="Arial" pitchFamily="34" charset="0"/>
              <a:buChar char="•"/>
              <a:defRPr/>
            </a:pPr>
            <a:r>
              <a:rPr lang="en-US" sz="1200" dirty="0">
                <a:latin typeface="Tw Cen MT" pitchFamily="34" charset="0"/>
              </a:rPr>
              <a:t>Work across    boundaries</a:t>
            </a:r>
          </a:p>
          <a:p>
            <a:pPr marL="117475" indent="-117475">
              <a:spcBef>
                <a:spcPts val="400"/>
              </a:spcBef>
              <a:spcAft>
                <a:spcPts val="200"/>
              </a:spcAft>
              <a:buFont typeface="Arial" pitchFamily="34" charset="0"/>
              <a:buChar char="•"/>
              <a:defRPr/>
            </a:pPr>
            <a:r>
              <a:rPr lang="en-US" sz="1200" dirty="0">
                <a:latin typeface="Tw Cen MT" pitchFamily="34" charset="0"/>
              </a:rPr>
              <a:t>Value perspectives</a:t>
            </a:r>
          </a:p>
          <a:p>
            <a:pPr marL="117475" indent="-117475">
              <a:spcBef>
                <a:spcPts val="400"/>
              </a:spcBef>
              <a:spcAft>
                <a:spcPts val="200"/>
              </a:spcAft>
              <a:buFont typeface="Arial" pitchFamily="34" charset="0"/>
              <a:buChar char="•"/>
              <a:defRPr/>
            </a:pPr>
            <a:r>
              <a:rPr lang="en-US" sz="1200" dirty="0">
                <a:latin typeface="Tw Cen MT" pitchFamily="34" charset="0"/>
              </a:rPr>
              <a:t>Play well with others</a:t>
            </a:r>
          </a:p>
          <a:p>
            <a:pPr marL="117475" indent="-117475">
              <a:spcBef>
                <a:spcPts val="400"/>
              </a:spcBef>
              <a:spcAft>
                <a:spcPts val="200"/>
              </a:spcAft>
              <a:buFont typeface="Arial" pitchFamily="34" charset="0"/>
              <a:buChar char="•"/>
              <a:defRPr/>
            </a:pPr>
            <a:r>
              <a:rPr lang="en-US" sz="1200" dirty="0">
                <a:latin typeface="Tw Cen MT" pitchFamily="34" charset="0"/>
              </a:rPr>
              <a:t>Foster trust</a:t>
            </a:r>
          </a:p>
          <a:p>
            <a:pPr>
              <a:buFont typeface="Arial" charset="0"/>
              <a:buChar char="•"/>
              <a:defRPr/>
            </a:pPr>
            <a:endParaRPr lang="en-US" sz="800" b="1" dirty="0" smtClean="0">
              <a:latin typeface="Tw Cen MT" pitchFamily="34" charset="0"/>
            </a:endParaRPr>
          </a:p>
          <a:p>
            <a:pPr>
              <a:buFont typeface="Arial" charset="0"/>
              <a:buChar char="•"/>
              <a:defRPr/>
            </a:pPr>
            <a:endParaRPr lang="en-US" sz="800" b="1" dirty="0">
              <a:latin typeface="Tw Cen MT" pitchFamily="34" charset="0"/>
            </a:endParaRPr>
          </a:p>
        </p:txBody>
      </p:sp>
      <p:sp>
        <p:nvSpPr>
          <p:cNvPr id="11" name="TextBox 42"/>
          <p:cNvSpPr txBox="1">
            <a:spLocks noChangeArrowheads="1"/>
          </p:cNvSpPr>
          <p:nvPr/>
        </p:nvSpPr>
        <p:spPr bwMode="auto">
          <a:xfrm>
            <a:off x="5434013" y="3762375"/>
            <a:ext cx="1852612" cy="2257425"/>
          </a:xfrm>
          <a:prstGeom prst="rect">
            <a:avLst/>
          </a:prstGeom>
          <a:noFill/>
          <a:ln w="28575">
            <a:solidFill>
              <a:srgbClr val="ED1B2F"/>
            </a:solidFill>
            <a:miter lim="800000"/>
            <a:headEnd/>
            <a:tailEnd/>
          </a:ln>
        </p:spPr>
        <p:txBody>
          <a:bodyPr wrap="square">
            <a:spAutoFit/>
          </a:bodyPr>
          <a:lstStyle/>
          <a:p>
            <a:pPr algn="ctr">
              <a:defRPr/>
            </a:pPr>
            <a:r>
              <a:rPr lang="en-US" sz="1400" b="1" dirty="0">
                <a:latin typeface="Tw Cen MT" pitchFamily="34" charset="0"/>
              </a:rPr>
              <a:t>Be a Leader</a:t>
            </a:r>
            <a:endParaRPr lang="en-US" sz="1400" dirty="0">
              <a:latin typeface="Tw Cen MT" pitchFamily="34" charset="0"/>
            </a:endParaRPr>
          </a:p>
          <a:p>
            <a:pPr>
              <a:defRPr/>
            </a:pPr>
            <a:endParaRPr lang="en-US" sz="1200" b="1" dirty="0">
              <a:latin typeface="Tw Cen MT" pitchFamily="34" charset="0"/>
            </a:endParaRPr>
          </a:p>
          <a:p>
            <a:pPr marL="117475" indent="-117475">
              <a:spcBef>
                <a:spcPts val="400"/>
              </a:spcBef>
              <a:spcAft>
                <a:spcPts val="200"/>
              </a:spcAft>
              <a:buFont typeface="Arial" pitchFamily="34" charset="0"/>
              <a:buChar char="•"/>
              <a:defRPr/>
            </a:pPr>
            <a:r>
              <a:rPr lang="en-US" sz="1200" dirty="0" smtClean="0">
                <a:latin typeface="Tw Cen MT" pitchFamily="34" charset="0"/>
              </a:rPr>
              <a:t>Work </a:t>
            </a:r>
            <a:r>
              <a:rPr lang="en-US" sz="1200" dirty="0">
                <a:latin typeface="Tw Cen MT" pitchFamily="34" charset="0"/>
              </a:rPr>
              <a:t>with energy</a:t>
            </a:r>
          </a:p>
          <a:p>
            <a:pPr marL="117475" indent="-117475">
              <a:spcBef>
                <a:spcPts val="400"/>
              </a:spcBef>
              <a:spcAft>
                <a:spcPts val="200"/>
              </a:spcAft>
              <a:buFont typeface="Arial" pitchFamily="34" charset="0"/>
              <a:buChar char="•"/>
              <a:defRPr/>
            </a:pPr>
            <a:r>
              <a:rPr lang="en-US" sz="1200" dirty="0">
                <a:latin typeface="Tw Cen MT" pitchFamily="34" charset="0"/>
              </a:rPr>
              <a:t>Be confident and </a:t>
            </a:r>
            <a:r>
              <a:rPr lang="en-US" sz="1200" dirty="0" smtClean="0">
                <a:latin typeface="Tw Cen MT" pitchFamily="34" charset="0"/>
              </a:rPr>
              <a:t>decisive</a:t>
            </a:r>
            <a:endParaRPr lang="en-US" sz="1200" dirty="0">
              <a:latin typeface="Tw Cen MT" pitchFamily="34" charset="0"/>
            </a:endParaRPr>
          </a:p>
          <a:p>
            <a:pPr marL="117475" indent="-117475">
              <a:spcBef>
                <a:spcPts val="400"/>
              </a:spcBef>
              <a:spcAft>
                <a:spcPts val="200"/>
              </a:spcAft>
              <a:buFont typeface="Arial" pitchFamily="34" charset="0"/>
              <a:buChar char="•"/>
              <a:defRPr/>
            </a:pPr>
            <a:r>
              <a:rPr lang="en-US" sz="1200" dirty="0">
                <a:latin typeface="Tw Cen MT" pitchFamily="34" charset="0"/>
              </a:rPr>
              <a:t>Balance listening and responding  </a:t>
            </a:r>
          </a:p>
          <a:p>
            <a:pPr marL="117475" indent="-117475">
              <a:spcBef>
                <a:spcPts val="400"/>
              </a:spcBef>
              <a:spcAft>
                <a:spcPts val="200"/>
              </a:spcAft>
              <a:buFont typeface="Arial" pitchFamily="34" charset="0"/>
              <a:buChar char="•"/>
              <a:defRPr/>
            </a:pPr>
            <a:r>
              <a:rPr lang="en-US" sz="1200" dirty="0">
                <a:latin typeface="Tw Cen MT" pitchFamily="34" charset="0"/>
              </a:rPr>
              <a:t>Admit your mistakes</a:t>
            </a:r>
          </a:p>
          <a:p>
            <a:pPr marL="117475" indent="-117475">
              <a:spcBef>
                <a:spcPts val="400"/>
              </a:spcBef>
              <a:spcAft>
                <a:spcPts val="200"/>
              </a:spcAft>
              <a:buFont typeface="Arial" pitchFamily="34" charset="0"/>
              <a:buChar char="•"/>
              <a:defRPr/>
            </a:pPr>
            <a:r>
              <a:rPr lang="en-US" sz="1200" dirty="0">
                <a:latin typeface="Tw Cen MT" pitchFamily="34" charset="0"/>
              </a:rPr>
              <a:t>Be polished </a:t>
            </a:r>
            <a:r>
              <a:rPr lang="en-US" sz="1200" dirty="0" smtClean="0">
                <a:latin typeface="Tw Cen MT" pitchFamily="34" charset="0"/>
              </a:rPr>
              <a:t>and poised</a:t>
            </a:r>
            <a:r>
              <a:rPr lang="en-US" sz="300" dirty="0" smtClean="0">
                <a:latin typeface="Tw Cen MT" pitchFamily="34" charset="0"/>
              </a:rPr>
              <a:t> </a:t>
            </a:r>
          </a:p>
          <a:p>
            <a:pPr marL="117475" indent="-117475">
              <a:spcBef>
                <a:spcPts val="400"/>
              </a:spcBef>
              <a:spcAft>
                <a:spcPts val="200"/>
              </a:spcAft>
              <a:defRPr/>
            </a:pPr>
            <a:endParaRPr lang="en-US" sz="1200" dirty="0">
              <a:latin typeface="Tw Cen MT" pitchFamily="34" charset="0"/>
            </a:endParaRPr>
          </a:p>
        </p:txBody>
      </p:sp>
      <p:sp>
        <p:nvSpPr>
          <p:cNvPr id="12" name="Slide Number Placeholder 11"/>
          <p:cNvSpPr>
            <a:spLocks noGrp="1"/>
          </p:cNvSpPr>
          <p:nvPr>
            <p:ph type="sldNum" sz="quarter" idx="10"/>
          </p:nvPr>
        </p:nvSpPr>
        <p:spPr/>
        <p:txBody>
          <a:bodyPr/>
          <a:lstStyle/>
          <a:p>
            <a:pPr>
              <a:defRPr/>
            </a:pPr>
            <a:fld id="{01D945C9-0277-4107-B589-EC55ECD240BC}"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7"/>
          <p:cNvSpPr txBox="1">
            <a:spLocks noChangeArrowheads="1"/>
          </p:cNvSpPr>
          <p:nvPr/>
        </p:nvSpPr>
        <p:spPr bwMode="auto">
          <a:xfrm>
            <a:off x="1868488" y="107950"/>
            <a:ext cx="5462587" cy="338138"/>
          </a:xfrm>
          <a:prstGeom prst="rect">
            <a:avLst/>
          </a:prstGeom>
          <a:noFill/>
          <a:ln w="9525">
            <a:noFill/>
            <a:miter lim="800000"/>
            <a:headEnd/>
            <a:tailEnd/>
          </a:ln>
        </p:spPr>
        <p:txBody>
          <a:bodyPr>
            <a:spAutoFit/>
          </a:bodyPr>
          <a:lstStyle/>
          <a:p>
            <a:r>
              <a:rPr lang="en-US" sz="1600" b="1">
                <a:latin typeface="Tw Cen MT" pitchFamily="34" charset="0"/>
              </a:rPr>
              <a:t>              Get Results 	                          Build a Strong Team</a:t>
            </a:r>
            <a:endParaRPr lang="en-US" sz="1600" b="1">
              <a:solidFill>
                <a:srgbClr val="FF0000"/>
              </a:solidFill>
              <a:latin typeface="Tw Cen MT" pitchFamily="34" charset="0"/>
            </a:endParaRPr>
          </a:p>
        </p:txBody>
      </p:sp>
      <p:sp>
        <p:nvSpPr>
          <p:cNvPr id="12291" name="TextBox 17"/>
          <p:cNvSpPr txBox="1">
            <a:spLocks noChangeArrowheads="1"/>
          </p:cNvSpPr>
          <p:nvPr/>
        </p:nvSpPr>
        <p:spPr bwMode="auto">
          <a:xfrm>
            <a:off x="328613" y="3548063"/>
            <a:ext cx="8358187" cy="338137"/>
          </a:xfrm>
          <a:prstGeom prst="rect">
            <a:avLst/>
          </a:prstGeom>
          <a:noFill/>
          <a:ln w="9525">
            <a:noFill/>
            <a:miter lim="800000"/>
            <a:headEnd/>
            <a:tailEnd/>
          </a:ln>
        </p:spPr>
        <p:txBody>
          <a:bodyPr>
            <a:spAutoFit/>
          </a:bodyPr>
          <a:lstStyle/>
          <a:p>
            <a:r>
              <a:rPr lang="en-US" sz="1600" b="1">
                <a:latin typeface="Tw Cen MT" pitchFamily="34" charset="0"/>
              </a:rPr>
              <a:t>       Be Clear and Compelling                        Be a Leader                         Grow Relationships</a:t>
            </a:r>
            <a:endParaRPr lang="en-US" sz="1600" b="1">
              <a:solidFill>
                <a:srgbClr val="FF0000"/>
              </a:solidFill>
              <a:latin typeface="Tw Cen MT" pitchFamily="34" charset="0"/>
            </a:endParaRPr>
          </a:p>
        </p:txBody>
      </p:sp>
      <p:pic>
        <p:nvPicPr>
          <p:cNvPr id="12292" name="Picture 9"/>
          <p:cNvPicPr>
            <a:picLocks noChangeAspect="1" noChangeArrowheads="1"/>
          </p:cNvPicPr>
          <p:nvPr/>
        </p:nvPicPr>
        <p:blipFill>
          <a:blip r:embed="rId3" cstate="print"/>
          <a:srcRect/>
          <a:stretch>
            <a:fillRect/>
          </a:stretch>
        </p:blipFill>
        <p:spPr bwMode="auto">
          <a:xfrm>
            <a:off x="1795463" y="465138"/>
            <a:ext cx="2652712" cy="2832100"/>
          </a:xfrm>
          <a:prstGeom prst="rect">
            <a:avLst/>
          </a:prstGeom>
          <a:noFill/>
          <a:ln w="9525">
            <a:noFill/>
            <a:miter lim="800000"/>
            <a:headEnd/>
            <a:tailEnd/>
          </a:ln>
        </p:spPr>
      </p:pic>
      <p:pic>
        <p:nvPicPr>
          <p:cNvPr id="12293" name="Picture 10"/>
          <p:cNvPicPr>
            <a:picLocks noChangeAspect="1" noChangeArrowheads="1"/>
          </p:cNvPicPr>
          <p:nvPr/>
        </p:nvPicPr>
        <p:blipFill>
          <a:blip r:embed="rId4" cstate="print"/>
          <a:srcRect/>
          <a:stretch>
            <a:fillRect/>
          </a:stretch>
        </p:blipFill>
        <p:spPr bwMode="auto">
          <a:xfrm>
            <a:off x="4795838" y="469900"/>
            <a:ext cx="2590800" cy="2835275"/>
          </a:xfrm>
          <a:prstGeom prst="rect">
            <a:avLst/>
          </a:prstGeom>
          <a:noFill/>
          <a:ln w="9525">
            <a:noFill/>
            <a:miter lim="800000"/>
            <a:headEnd/>
            <a:tailEnd/>
          </a:ln>
        </p:spPr>
      </p:pic>
      <p:pic>
        <p:nvPicPr>
          <p:cNvPr id="12294" name="Picture 11"/>
          <p:cNvPicPr>
            <a:picLocks noChangeAspect="1" noChangeArrowheads="1"/>
          </p:cNvPicPr>
          <p:nvPr/>
        </p:nvPicPr>
        <p:blipFill>
          <a:blip r:embed="rId5" cstate="print"/>
          <a:srcRect/>
          <a:stretch>
            <a:fillRect/>
          </a:stretch>
        </p:blipFill>
        <p:spPr bwMode="auto">
          <a:xfrm>
            <a:off x="603250" y="3868738"/>
            <a:ext cx="2468563" cy="2882900"/>
          </a:xfrm>
          <a:prstGeom prst="rect">
            <a:avLst/>
          </a:prstGeom>
          <a:noFill/>
          <a:ln w="9525">
            <a:noFill/>
            <a:miter lim="800000"/>
            <a:headEnd/>
            <a:tailEnd/>
          </a:ln>
        </p:spPr>
      </p:pic>
      <p:pic>
        <p:nvPicPr>
          <p:cNvPr id="12295" name="Picture 13"/>
          <p:cNvPicPr>
            <a:picLocks noChangeAspect="1" noChangeArrowheads="1"/>
          </p:cNvPicPr>
          <p:nvPr/>
        </p:nvPicPr>
        <p:blipFill>
          <a:blip r:embed="rId6" cstate="print"/>
          <a:srcRect/>
          <a:stretch>
            <a:fillRect/>
          </a:stretch>
        </p:blipFill>
        <p:spPr bwMode="auto">
          <a:xfrm>
            <a:off x="6148388" y="3870325"/>
            <a:ext cx="2386012" cy="2881313"/>
          </a:xfrm>
          <a:prstGeom prst="rect">
            <a:avLst/>
          </a:prstGeom>
          <a:noFill/>
          <a:ln w="9525">
            <a:noFill/>
            <a:miter lim="800000"/>
            <a:headEnd/>
            <a:tailEnd/>
          </a:ln>
        </p:spPr>
      </p:pic>
      <p:pic>
        <p:nvPicPr>
          <p:cNvPr id="12296" name="Picture 9"/>
          <p:cNvPicPr>
            <a:picLocks noChangeAspect="1" noChangeArrowheads="1"/>
          </p:cNvPicPr>
          <p:nvPr/>
        </p:nvPicPr>
        <p:blipFill>
          <a:blip r:embed="rId7" cstate="print"/>
          <a:srcRect/>
          <a:stretch>
            <a:fillRect/>
          </a:stretch>
        </p:blipFill>
        <p:spPr bwMode="auto">
          <a:xfrm>
            <a:off x="3278188" y="3875088"/>
            <a:ext cx="2665412" cy="2879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267200" y="6324600"/>
            <a:ext cx="48768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228600"/>
            <a:ext cx="8229600" cy="762000"/>
          </a:xfrm>
        </p:spPr>
        <p:txBody>
          <a:bodyPr/>
          <a:lstStyle/>
          <a:p>
            <a:r>
              <a:rPr lang="en-US" sz="3200" dirty="0" smtClean="0"/>
              <a:t>2013 Leader Development Plan</a:t>
            </a:r>
            <a:endParaRPr lang="en-US" sz="3200" dirty="0"/>
          </a:p>
        </p:txBody>
      </p:sp>
      <p:sp>
        <p:nvSpPr>
          <p:cNvPr id="12" name="Slide Number Placeholder 3"/>
          <p:cNvSpPr>
            <a:spLocks noGrp="1"/>
          </p:cNvSpPr>
          <p:nvPr>
            <p:ph type="sldNum" sz="quarter" idx="10"/>
          </p:nvPr>
        </p:nvSpPr>
        <p:spPr>
          <a:xfrm>
            <a:off x="8763000" y="6492875"/>
            <a:ext cx="381000" cy="365125"/>
          </a:xfrm>
        </p:spPr>
        <p:txBody>
          <a:bodyPr/>
          <a:lstStyle/>
          <a:p>
            <a:pPr>
              <a:defRPr/>
            </a:pPr>
            <a:fld id="{01D945C9-0277-4107-B589-EC55ECD240BC}" type="slidenum">
              <a:rPr lang="en-US" smtClean="0"/>
              <a:pPr>
                <a:defRPr/>
              </a:pPr>
              <a:t>5</a:t>
            </a:fld>
            <a:endParaRPr lang="en-US" dirty="0"/>
          </a:p>
        </p:txBody>
      </p:sp>
      <p:sp>
        <p:nvSpPr>
          <p:cNvPr id="8" name="Content Placeholder 3"/>
          <p:cNvSpPr txBox="1">
            <a:spLocks/>
          </p:cNvSpPr>
          <p:nvPr/>
        </p:nvSpPr>
        <p:spPr bwMode="auto">
          <a:xfrm>
            <a:off x="762000" y="5638800"/>
            <a:ext cx="16764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buFont typeface="Arial" charset="0"/>
              <a:buNone/>
              <a:tabLst/>
              <a:defRPr/>
            </a:pPr>
            <a:endParaRPr kumimoji="0" lang="en-US" sz="11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3" name="Content Placeholder 3"/>
          <p:cNvSpPr txBox="1">
            <a:spLocks/>
          </p:cNvSpPr>
          <p:nvPr/>
        </p:nvSpPr>
        <p:spPr bwMode="auto">
          <a:xfrm>
            <a:off x="685800" y="6400800"/>
            <a:ext cx="16764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buFont typeface="Arial" charset="0"/>
              <a:buNone/>
              <a:tabLst/>
              <a:defRPr/>
            </a:pPr>
            <a:endParaRPr kumimoji="0" lang="en-US" sz="11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4" name="Content Placeholder 3"/>
          <p:cNvSpPr txBox="1">
            <a:spLocks/>
          </p:cNvSpPr>
          <p:nvPr/>
        </p:nvSpPr>
        <p:spPr bwMode="auto">
          <a:xfrm>
            <a:off x="5105400" y="1676400"/>
            <a:ext cx="3733800" cy="4343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tabLst/>
              <a:defRPr/>
            </a:pPr>
            <a:endParaRPr kumimoji="0" lang="en-US" sz="140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1"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6" name="Rectangle 15"/>
          <p:cNvSpPr/>
          <p:nvPr/>
        </p:nvSpPr>
        <p:spPr bwMode="auto">
          <a:xfrm>
            <a:off x="447675" y="1676400"/>
            <a:ext cx="8458200" cy="2057400"/>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2">
                  <a:lumMod val="75000"/>
                </a:schemeClr>
              </a:solidFill>
            </a:endParaRPr>
          </a:p>
        </p:txBody>
      </p:sp>
      <p:sp>
        <p:nvSpPr>
          <p:cNvPr id="17" name="Text Box 13"/>
          <p:cNvSpPr txBox="1">
            <a:spLocks noChangeArrowheads="1"/>
          </p:cNvSpPr>
          <p:nvPr/>
        </p:nvSpPr>
        <p:spPr bwMode="auto">
          <a:xfrm>
            <a:off x="3733800" y="182880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1</a:t>
            </a:r>
          </a:p>
          <a:p>
            <a:pPr algn="ctr">
              <a:spcBef>
                <a:spcPts val="0"/>
              </a:spcBef>
            </a:pPr>
            <a:r>
              <a:rPr lang="en-US" sz="1100" dirty="0" smtClean="0">
                <a:solidFill>
                  <a:srgbClr val="7030A0"/>
                </a:solidFill>
                <a:latin typeface="Tw Cen MT" pitchFamily="34" charset="0"/>
              </a:rPr>
              <a:t>Directors +</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(Cohort 1)</a:t>
            </a:r>
          </a:p>
        </p:txBody>
      </p:sp>
      <p:sp>
        <p:nvSpPr>
          <p:cNvPr id="18" name="Rectangle 17"/>
          <p:cNvSpPr/>
          <p:nvPr/>
        </p:nvSpPr>
        <p:spPr bwMode="auto">
          <a:xfrm>
            <a:off x="466725" y="4286249"/>
            <a:ext cx="8458200" cy="2114551"/>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9900"/>
              </a:solidFill>
            </a:endParaRPr>
          </a:p>
        </p:txBody>
      </p:sp>
      <p:sp>
        <p:nvSpPr>
          <p:cNvPr id="19" name="Line 26"/>
          <p:cNvSpPr>
            <a:spLocks noChangeShapeType="1"/>
          </p:cNvSpPr>
          <p:nvPr/>
        </p:nvSpPr>
        <p:spPr bwMode="auto">
          <a:xfrm>
            <a:off x="4695825" y="4659313"/>
            <a:ext cx="0" cy="11588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20" name="Line 26"/>
          <p:cNvSpPr>
            <a:spLocks noChangeShapeType="1"/>
          </p:cNvSpPr>
          <p:nvPr/>
        </p:nvSpPr>
        <p:spPr bwMode="auto">
          <a:xfrm flipH="1">
            <a:off x="6650038" y="4659313"/>
            <a:ext cx="0" cy="27622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21" name="Line 5"/>
          <p:cNvSpPr>
            <a:spLocks noChangeShapeType="1"/>
          </p:cNvSpPr>
          <p:nvPr/>
        </p:nvSpPr>
        <p:spPr bwMode="auto">
          <a:xfrm>
            <a:off x="627063" y="5149850"/>
            <a:ext cx="8005762" cy="0"/>
          </a:xfrm>
          <a:prstGeom prst="line">
            <a:avLst/>
          </a:prstGeom>
          <a:noFill/>
          <a:ln w="38100">
            <a:solidFill>
              <a:schemeClr val="tx1"/>
            </a:solidFill>
            <a:round/>
            <a:headEnd type="triangle" w="med" len="med"/>
            <a:tailEnd type="triangle" w="med" len="med"/>
          </a:ln>
        </p:spPr>
        <p:txBody>
          <a:bodyPr/>
          <a:lstStyle/>
          <a:p>
            <a:pPr>
              <a:defRPr/>
            </a:pPr>
            <a:endParaRPr lang="en-US" sz="1050" dirty="0">
              <a:solidFill>
                <a:srgbClr val="FF9900"/>
              </a:solidFill>
              <a:latin typeface="Arial" pitchFamily="34" charset="0"/>
            </a:endParaRPr>
          </a:p>
        </p:txBody>
      </p:sp>
      <p:sp>
        <p:nvSpPr>
          <p:cNvPr id="22" name="Line 26"/>
          <p:cNvSpPr>
            <a:spLocks noChangeShapeType="1"/>
          </p:cNvSpPr>
          <p:nvPr/>
        </p:nvSpPr>
        <p:spPr bwMode="auto">
          <a:xfrm flipH="1">
            <a:off x="6659563" y="5218113"/>
            <a:ext cx="0" cy="45243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23" name="Text Box 21"/>
          <p:cNvSpPr txBox="1">
            <a:spLocks noChangeArrowheads="1"/>
          </p:cNvSpPr>
          <p:nvPr/>
        </p:nvSpPr>
        <p:spPr bwMode="auto">
          <a:xfrm>
            <a:off x="1500401" y="44014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Q1</a:t>
            </a:r>
          </a:p>
        </p:txBody>
      </p:sp>
      <p:sp>
        <p:nvSpPr>
          <p:cNvPr id="24" name="Text Box 21"/>
          <p:cNvSpPr txBox="1">
            <a:spLocks noChangeArrowheads="1"/>
          </p:cNvSpPr>
          <p:nvPr/>
        </p:nvSpPr>
        <p:spPr bwMode="auto">
          <a:xfrm>
            <a:off x="5211876" y="4401416"/>
            <a:ext cx="800823"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Q3</a:t>
            </a:r>
          </a:p>
        </p:txBody>
      </p:sp>
      <p:sp>
        <p:nvSpPr>
          <p:cNvPr id="25" name="Text Box 21"/>
          <p:cNvSpPr txBox="1">
            <a:spLocks noChangeArrowheads="1"/>
          </p:cNvSpPr>
          <p:nvPr/>
        </p:nvSpPr>
        <p:spPr bwMode="auto">
          <a:xfrm>
            <a:off x="7249333" y="44014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Q4</a:t>
            </a:r>
          </a:p>
        </p:txBody>
      </p:sp>
      <p:sp>
        <p:nvSpPr>
          <p:cNvPr id="26" name="Text Box 17"/>
          <p:cNvSpPr txBox="1">
            <a:spLocks noChangeArrowheads="1"/>
          </p:cNvSpPr>
          <p:nvPr/>
        </p:nvSpPr>
        <p:spPr bwMode="auto">
          <a:xfrm>
            <a:off x="1371600" y="2667000"/>
            <a:ext cx="963613" cy="430888"/>
          </a:xfrm>
          <a:prstGeom prst="rect">
            <a:avLst/>
          </a:prstGeom>
          <a:noFill/>
          <a:ln w="9525">
            <a:noFill/>
            <a:miter lim="800000"/>
            <a:headEnd/>
            <a:tailEnd/>
          </a:ln>
        </p:spPr>
        <p:txBody>
          <a:bodyPr>
            <a:spAutoFit/>
          </a:bodyPr>
          <a:lstStyle/>
          <a:p>
            <a:pPr algn="ctr">
              <a:spcBef>
                <a:spcPct val="50000"/>
              </a:spcBef>
            </a:pPr>
            <a:r>
              <a:rPr lang="en-US" sz="1100" b="1" dirty="0">
                <a:solidFill>
                  <a:srgbClr val="7030A0"/>
                </a:solidFill>
                <a:latin typeface="Tw Cen MT" pitchFamily="34" charset="0"/>
              </a:rPr>
              <a:t>Talent Sessions</a:t>
            </a:r>
          </a:p>
        </p:txBody>
      </p:sp>
      <p:sp>
        <p:nvSpPr>
          <p:cNvPr id="27" name="Line 26"/>
          <p:cNvSpPr>
            <a:spLocks noChangeShapeType="1"/>
          </p:cNvSpPr>
          <p:nvPr/>
        </p:nvSpPr>
        <p:spPr bwMode="auto">
          <a:xfrm flipH="1">
            <a:off x="4695825" y="5151438"/>
            <a:ext cx="0" cy="525462"/>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28" name="Text Box 21"/>
          <p:cNvSpPr txBox="1">
            <a:spLocks noChangeArrowheads="1"/>
          </p:cNvSpPr>
          <p:nvPr/>
        </p:nvSpPr>
        <p:spPr bwMode="auto">
          <a:xfrm>
            <a:off x="3319165" y="4401416"/>
            <a:ext cx="800822" cy="230832"/>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Q2</a:t>
            </a:r>
          </a:p>
        </p:txBody>
      </p:sp>
      <p:sp>
        <p:nvSpPr>
          <p:cNvPr id="29" name="Line 26"/>
          <p:cNvSpPr>
            <a:spLocks noChangeShapeType="1"/>
          </p:cNvSpPr>
          <p:nvPr/>
        </p:nvSpPr>
        <p:spPr bwMode="auto">
          <a:xfrm flipH="1">
            <a:off x="2789238" y="4659313"/>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30" name="Line 26"/>
          <p:cNvSpPr>
            <a:spLocks noChangeShapeType="1"/>
          </p:cNvSpPr>
          <p:nvPr/>
        </p:nvSpPr>
        <p:spPr bwMode="auto">
          <a:xfrm>
            <a:off x="2789238" y="5153025"/>
            <a:ext cx="0" cy="5238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FF9900"/>
              </a:solidFill>
            </a:endParaRPr>
          </a:p>
        </p:txBody>
      </p:sp>
      <p:sp>
        <p:nvSpPr>
          <p:cNvPr id="31" name="Title 1"/>
          <p:cNvSpPr txBox="1">
            <a:spLocks/>
          </p:cNvSpPr>
          <p:nvPr/>
        </p:nvSpPr>
        <p:spPr bwMode="auto">
          <a:xfrm>
            <a:off x="381000" y="1143000"/>
            <a:ext cx="8229600" cy="609600"/>
          </a:xfrm>
          <a:prstGeom prst="rect">
            <a:avLst/>
          </a:prstGeom>
          <a:noFill/>
          <a:ln w="9525">
            <a:noFill/>
            <a:miter lim="800000"/>
            <a:headEnd/>
            <a:tailEnd/>
          </a:ln>
        </p:spPr>
        <p:txBody>
          <a:bodyPr anchor="ctr"/>
          <a:lstStyle/>
          <a:p>
            <a:pPr eaLnBrk="0" hangingPunct="0">
              <a:defRPr/>
            </a:pPr>
            <a:r>
              <a:rPr lang="en-US" sz="1400" b="1" dirty="0" smtClean="0">
                <a:solidFill>
                  <a:srgbClr val="009D57"/>
                </a:solidFill>
                <a:latin typeface="Tw Cen MT" pitchFamily="34" charset="0"/>
                <a:ea typeface="+mj-ea"/>
                <a:cs typeface="+mj-cs"/>
              </a:rPr>
              <a:t>Top Talent Development – </a:t>
            </a:r>
            <a:r>
              <a:rPr lang="en-US" sz="1400" b="1" dirty="0" smtClean="0">
                <a:solidFill>
                  <a:srgbClr val="7030A0"/>
                </a:solidFill>
                <a:latin typeface="Tw Cen MT" pitchFamily="34" charset="0"/>
                <a:ea typeface="+mj-ea"/>
                <a:cs typeface="+mj-cs"/>
              </a:rPr>
              <a:t>Leadership Next</a:t>
            </a:r>
            <a:endParaRPr lang="en-US" sz="1400" b="1" dirty="0">
              <a:solidFill>
                <a:srgbClr val="7030A0"/>
              </a:solidFill>
              <a:latin typeface="Tw Cen MT" pitchFamily="34" charset="0"/>
              <a:ea typeface="+mj-ea"/>
              <a:cs typeface="+mj-cs"/>
            </a:endParaRPr>
          </a:p>
        </p:txBody>
      </p:sp>
      <p:sp>
        <p:nvSpPr>
          <p:cNvPr id="32" name="Line 26"/>
          <p:cNvSpPr>
            <a:spLocks noChangeShapeType="1"/>
          </p:cNvSpPr>
          <p:nvPr/>
        </p:nvSpPr>
        <p:spPr bwMode="auto">
          <a:xfrm flipH="1">
            <a:off x="6630988" y="2144713"/>
            <a:ext cx="0" cy="27622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33" name="Line 5"/>
          <p:cNvSpPr>
            <a:spLocks noChangeShapeType="1"/>
          </p:cNvSpPr>
          <p:nvPr/>
        </p:nvSpPr>
        <p:spPr bwMode="auto">
          <a:xfrm>
            <a:off x="608013" y="2635250"/>
            <a:ext cx="8005762" cy="0"/>
          </a:xfrm>
          <a:prstGeom prst="line">
            <a:avLst/>
          </a:prstGeom>
          <a:noFill/>
          <a:ln w="38100">
            <a:solidFill>
              <a:schemeClr val="tx1"/>
            </a:solidFill>
            <a:round/>
            <a:headEnd type="triangle" w="med" len="med"/>
            <a:tailEnd type="triangle" w="med" len="med"/>
          </a:ln>
        </p:spPr>
        <p:txBody>
          <a:bodyPr/>
          <a:lstStyle/>
          <a:p>
            <a:pPr>
              <a:defRPr/>
            </a:pPr>
            <a:endParaRPr lang="en-US" sz="1050" dirty="0">
              <a:latin typeface="Arial" pitchFamily="34" charset="0"/>
            </a:endParaRPr>
          </a:p>
        </p:txBody>
      </p:sp>
      <p:sp>
        <p:nvSpPr>
          <p:cNvPr id="34" name="Text Box 13"/>
          <p:cNvSpPr txBox="1">
            <a:spLocks noChangeArrowheads="1"/>
          </p:cNvSpPr>
          <p:nvPr/>
        </p:nvSpPr>
        <p:spPr bwMode="auto">
          <a:xfrm>
            <a:off x="1905000" y="4552950"/>
            <a:ext cx="901700" cy="600164"/>
          </a:xfrm>
          <a:prstGeom prst="rect">
            <a:avLst/>
          </a:prstGeom>
          <a:noFill/>
          <a:ln w="9525">
            <a:noFill/>
            <a:miter lim="800000"/>
            <a:headEnd/>
            <a:tailEnd/>
          </a:ln>
        </p:spPr>
        <p:txBody>
          <a:bodyPr>
            <a:spAutoFit/>
          </a:bodyPr>
          <a:lstStyle/>
          <a:p>
            <a:pPr algn="ctr">
              <a:spcBef>
                <a:spcPct val="50000"/>
              </a:spcBef>
            </a:pPr>
            <a:r>
              <a:rPr lang="en-US" sz="1100" b="1" dirty="0">
                <a:solidFill>
                  <a:schemeClr val="accent6">
                    <a:lumMod val="75000"/>
                  </a:schemeClr>
                </a:solidFill>
                <a:latin typeface="Tw Cen MT" pitchFamily="34" charset="0"/>
              </a:rPr>
              <a:t>Leadership Series </a:t>
            </a:r>
            <a:r>
              <a:rPr lang="en-US" sz="1100" dirty="0" smtClean="0">
                <a:solidFill>
                  <a:schemeClr val="accent6">
                    <a:lumMod val="75000"/>
                  </a:schemeClr>
                </a:solidFill>
                <a:latin typeface="Tw Cen MT" pitchFamily="34" charset="0"/>
              </a:rPr>
              <a:t>(</a:t>
            </a:r>
            <a:r>
              <a:rPr lang="en-US" sz="1100" dirty="0">
                <a:solidFill>
                  <a:schemeClr val="accent6">
                    <a:lumMod val="75000"/>
                  </a:schemeClr>
                </a:solidFill>
                <a:latin typeface="Tw Cen MT" pitchFamily="34" charset="0"/>
              </a:rPr>
              <a:t>Director +)</a:t>
            </a:r>
            <a:endParaRPr lang="en-US" sz="1100" b="1" dirty="0">
              <a:solidFill>
                <a:schemeClr val="accent6">
                  <a:lumMod val="75000"/>
                </a:schemeClr>
              </a:solidFill>
              <a:latin typeface="Tw Cen MT" pitchFamily="34" charset="0"/>
            </a:endParaRPr>
          </a:p>
        </p:txBody>
      </p:sp>
      <p:sp>
        <p:nvSpPr>
          <p:cNvPr id="35" name="Text Box 14"/>
          <p:cNvSpPr txBox="1">
            <a:spLocks noChangeArrowheads="1"/>
          </p:cNvSpPr>
          <p:nvPr/>
        </p:nvSpPr>
        <p:spPr bwMode="auto">
          <a:xfrm>
            <a:off x="5257800" y="4562475"/>
            <a:ext cx="944563" cy="600164"/>
          </a:xfrm>
          <a:prstGeom prst="rect">
            <a:avLst/>
          </a:prstGeom>
          <a:noFill/>
          <a:ln w="9525">
            <a:noFill/>
            <a:miter lim="800000"/>
            <a:headEnd/>
            <a:tailEnd/>
          </a:ln>
        </p:spPr>
        <p:txBody>
          <a:bodyPr>
            <a:spAutoFit/>
          </a:bodyPr>
          <a:lstStyle/>
          <a:p>
            <a:pPr algn="ctr">
              <a:spcBef>
                <a:spcPct val="50000"/>
              </a:spcBef>
            </a:pPr>
            <a:r>
              <a:rPr lang="en-US" sz="1100" b="1" dirty="0">
                <a:solidFill>
                  <a:schemeClr val="accent6">
                    <a:lumMod val="75000"/>
                  </a:schemeClr>
                </a:solidFill>
                <a:latin typeface="Tw Cen MT" pitchFamily="34" charset="0"/>
              </a:rPr>
              <a:t>Leadership </a:t>
            </a:r>
            <a:r>
              <a:rPr lang="en-US" sz="1100" b="1" dirty="0" smtClean="0">
                <a:solidFill>
                  <a:schemeClr val="accent6">
                    <a:lumMod val="75000"/>
                  </a:schemeClr>
                </a:solidFill>
                <a:latin typeface="Tw Cen MT" pitchFamily="34" charset="0"/>
              </a:rPr>
              <a:t>Series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36" name="Line 26"/>
          <p:cNvSpPr>
            <a:spLocks noChangeShapeType="1"/>
          </p:cNvSpPr>
          <p:nvPr/>
        </p:nvSpPr>
        <p:spPr bwMode="auto">
          <a:xfrm flipH="1">
            <a:off x="6640513" y="2636838"/>
            <a:ext cx="0" cy="452437"/>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37" name="Text Box 21"/>
          <p:cNvSpPr txBox="1">
            <a:spLocks noChangeArrowheads="1"/>
          </p:cNvSpPr>
          <p:nvPr/>
        </p:nvSpPr>
        <p:spPr bwMode="auto">
          <a:xfrm>
            <a:off x="1481351" y="1667761"/>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Q1</a:t>
            </a:r>
          </a:p>
        </p:txBody>
      </p:sp>
      <p:sp>
        <p:nvSpPr>
          <p:cNvPr id="38" name="Text Box 21"/>
          <p:cNvSpPr txBox="1">
            <a:spLocks noChangeArrowheads="1"/>
          </p:cNvSpPr>
          <p:nvPr/>
        </p:nvSpPr>
        <p:spPr bwMode="auto">
          <a:xfrm>
            <a:off x="5192826" y="1667761"/>
            <a:ext cx="800823"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Q3</a:t>
            </a:r>
          </a:p>
        </p:txBody>
      </p:sp>
      <p:sp>
        <p:nvSpPr>
          <p:cNvPr id="39" name="Text Box 21"/>
          <p:cNvSpPr txBox="1">
            <a:spLocks noChangeArrowheads="1"/>
          </p:cNvSpPr>
          <p:nvPr/>
        </p:nvSpPr>
        <p:spPr bwMode="auto">
          <a:xfrm>
            <a:off x="7230283" y="1667761"/>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Q4</a:t>
            </a:r>
          </a:p>
        </p:txBody>
      </p:sp>
      <p:sp>
        <p:nvSpPr>
          <p:cNvPr id="40" name="Line 26"/>
          <p:cNvSpPr>
            <a:spLocks noChangeShapeType="1"/>
          </p:cNvSpPr>
          <p:nvPr/>
        </p:nvSpPr>
        <p:spPr bwMode="auto">
          <a:xfrm flipH="1">
            <a:off x="4676775" y="2636838"/>
            <a:ext cx="0" cy="525462"/>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41" name="Text Box 21"/>
          <p:cNvSpPr txBox="1">
            <a:spLocks noChangeArrowheads="1"/>
          </p:cNvSpPr>
          <p:nvPr/>
        </p:nvSpPr>
        <p:spPr bwMode="auto">
          <a:xfrm>
            <a:off x="3038475" y="1676400"/>
            <a:ext cx="800822" cy="230873"/>
          </a:xfrm>
          <a:prstGeom prst="rect">
            <a:avLst/>
          </a:prstGeom>
          <a:noFill/>
          <a:ln w="9525">
            <a:noFill/>
            <a:miter lim="800000"/>
            <a:headEnd/>
            <a:tailEnd/>
          </a:ln>
        </p:spPr>
        <p:txBody>
          <a:bodyPr>
            <a:spAutoFit/>
          </a:bodyPr>
          <a:lstStyle/>
          <a:p>
            <a:pPr algn="ctr">
              <a:spcBef>
                <a:spcPct val="50000"/>
              </a:spcBef>
            </a:pPr>
            <a:r>
              <a:rPr lang="en-US" sz="900" b="1" dirty="0">
                <a:latin typeface="Tw Cen MT" pitchFamily="34" charset="0"/>
              </a:rPr>
              <a:t>Q2</a:t>
            </a:r>
          </a:p>
        </p:txBody>
      </p:sp>
      <p:sp>
        <p:nvSpPr>
          <p:cNvPr id="42" name="Line 26"/>
          <p:cNvSpPr>
            <a:spLocks noChangeShapeType="1"/>
          </p:cNvSpPr>
          <p:nvPr/>
        </p:nvSpPr>
        <p:spPr bwMode="auto">
          <a:xfrm flipH="1">
            <a:off x="2770188" y="2144713"/>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43" name="Line 26"/>
          <p:cNvSpPr>
            <a:spLocks noChangeShapeType="1"/>
          </p:cNvSpPr>
          <p:nvPr/>
        </p:nvSpPr>
        <p:spPr bwMode="auto">
          <a:xfrm>
            <a:off x="2770188" y="2638425"/>
            <a:ext cx="0" cy="5238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44" name="Text Box 13"/>
          <p:cNvSpPr txBox="1">
            <a:spLocks noChangeArrowheads="1"/>
          </p:cNvSpPr>
          <p:nvPr/>
        </p:nvSpPr>
        <p:spPr bwMode="auto">
          <a:xfrm>
            <a:off x="3086100" y="5191125"/>
            <a:ext cx="1295400" cy="600164"/>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System Manager</a:t>
            </a:r>
          </a:p>
          <a:p>
            <a:pPr algn="ctr">
              <a:spcBef>
                <a:spcPts val="0"/>
              </a:spcBef>
            </a:pPr>
            <a:r>
              <a:rPr lang="en-US" sz="1100" b="1" dirty="0" smtClean="0">
                <a:solidFill>
                  <a:schemeClr val="accent6">
                    <a:lumMod val="75000"/>
                  </a:schemeClr>
                </a:solidFill>
                <a:latin typeface="Tw Cen MT" pitchFamily="34" charset="0"/>
              </a:rPr>
              <a:t>Meeting</a:t>
            </a:r>
            <a:r>
              <a:rPr lang="en-US" sz="1100" dirty="0">
                <a:solidFill>
                  <a:schemeClr val="accent6">
                    <a:lumMod val="75000"/>
                  </a:schemeClr>
                </a:solidFill>
                <a:latin typeface="Tw Cen MT" pitchFamily="34" charset="0"/>
              </a:rPr>
              <a:t> </a:t>
            </a:r>
            <a:r>
              <a:rPr lang="en-US" sz="1100" dirty="0" smtClean="0">
                <a:solidFill>
                  <a:schemeClr val="accent6">
                    <a:lumMod val="75000"/>
                  </a:schemeClr>
                </a:solidFill>
                <a:latin typeface="Tw Cen MT" pitchFamily="34" charset="0"/>
              </a:rPr>
              <a:t>            (People Managers)</a:t>
            </a:r>
            <a:endParaRPr lang="en-US" sz="1100" b="1" dirty="0" smtClean="0">
              <a:solidFill>
                <a:schemeClr val="accent6">
                  <a:lumMod val="75000"/>
                </a:schemeClr>
              </a:solidFill>
              <a:latin typeface="Tw Cen MT" pitchFamily="34" charset="0"/>
            </a:endParaRPr>
          </a:p>
        </p:txBody>
      </p:sp>
      <p:sp>
        <p:nvSpPr>
          <p:cNvPr id="45" name="Line 26"/>
          <p:cNvSpPr>
            <a:spLocks noChangeShapeType="1"/>
          </p:cNvSpPr>
          <p:nvPr/>
        </p:nvSpPr>
        <p:spPr bwMode="auto">
          <a:xfrm flipH="1">
            <a:off x="4686300" y="2143125"/>
            <a:ext cx="0" cy="447675"/>
          </a:xfrm>
          <a:prstGeom prst="line">
            <a:avLst/>
          </a:prstGeom>
          <a:noFill/>
          <a:ln w="25400">
            <a:solidFill>
              <a:schemeClr val="bg1">
                <a:lumMod val="65000"/>
              </a:schemeClr>
            </a:solidFill>
            <a:prstDash val="dash"/>
            <a:round/>
            <a:headEnd/>
            <a:tailEnd/>
          </a:ln>
          <a:effectLst/>
        </p:spPr>
        <p:txBody>
          <a:bodyPr/>
          <a:lstStyle/>
          <a:p>
            <a:pPr>
              <a:defRPr/>
            </a:pPr>
            <a:endParaRPr lang="en-US" sz="1050" dirty="0">
              <a:ln>
                <a:solidFill>
                  <a:schemeClr val="bg1">
                    <a:lumMod val="65000"/>
                  </a:schemeClr>
                </a:solidFill>
              </a:ln>
              <a:solidFill>
                <a:srgbClr val="969696"/>
              </a:solidFill>
            </a:endParaRPr>
          </a:p>
        </p:txBody>
      </p:sp>
      <p:sp>
        <p:nvSpPr>
          <p:cNvPr id="46" name="Text Box 18"/>
          <p:cNvSpPr txBox="1">
            <a:spLocks noChangeArrowheads="1"/>
          </p:cNvSpPr>
          <p:nvPr/>
        </p:nvSpPr>
        <p:spPr bwMode="auto">
          <a:xfrm>
            <a:off x="3352800" y="6096000"/>
            <a:ext cx="5562600" cy="246221"/>
          </a:xfrm>
          <a:prstGeom prst="rect">
            <a:avLst/>
          </a:prstGeom>
          <a:noFill/>
          <a:ln w="9525">
            <a:noFill/>
            <a:miter lim="800000"/>
            <a:headEnd/>
            <a:tailEnd/>
          </a:ln>
        </p:spPr>
        <p:txBody>
          <a:bodyPr wrap="square">
            <a:spAutoFit/>
          </a:bodyPr>
          <a:lstStyle/>
          <a:p>
            <a:pPr algn="ctr">
              <a:spcBef>
                <a:spcPct val="50000"/>
              </a:spcBef>
            </a:pPr>
            <a:r>
              <a:rPr lang="en-US" sz="1000" b="1" dirty="0" smtClean="0">
                <a:solidFill>
                  <a:schemeClr val="bg1">
                    <a:lumMod val="50000"/>
                  </a:schemeClr>
                </a:solidFill>
                <a:latin typeface="Tw Cen MT" pitchFamily="34" charset="0"/>
              </a:rPr>
              <a:t>SLA/VP 360 Feedback (those in Leader Next will complete at time of program) </a:t>
            </a:r>
            <a:endParaRPr lang="en-US" sz="1000" b="1" dirty="0">
              <a:solidFill>
                <a:schemeClr val="bg1">
                  <a:lumMod val="50000"/>
                </a:schemeClr>
              </a:solidFill>
              <a:latin typeface="Tw Cen MT" pitchFamily="34" charset="0"/>
            </a:endParaRPr>
          </a:p>
        </p:txBody>
      </p:sp>
      <p:sp>
        <p:nvSpPr>
          <p:cNvPr id="47" name="Title 1"/>
          <p:cNvSpPr txBox="1">
            <a:spLocks/>
          </p:cNvSpPr>
          <p:nvPr/>
        </p:nvSpPr>
        <p:spPr bwMode="auto">
          <a:xfrm>
            <a:off x="457200" y="3800475"/>
            <a:ext cx="8229600" cy="609600"/>
          </a:xfrm>
          <a:prstGeom prst="rect">
            <a:avLst/>
          </a:prstGeom>
          <a:noFill/>
          <a:ln w="9525">
            <a:noFill/>
            <a:miter lim="800000"/>
            <a:headEnd/>
            <a:tailEnd/>
          </a:ln>
        </p:spPr>
        <p:txBody>
          <a:bodyPr anchor="ctr"/>
          <a:lstStyle/>
          <a:p>
            <a:pPr eaLnBrk="0" hangingPunct="0">
              <a:defRPr/>
            </a:pPr>
            <a:r>
              <a:rPr lang="en-US" sz="1400" b="1" dirty="0" smtClean="0">
                <a:solidFill>
                  <a:srgbClr val="009D57"/>
                </a:solidFill>
                <a:latin typeface="Tw Cen MT" pitchFamily="34" charset="0"/>
                <a:ea typeface="+mj-ea"/>
                <a:cs typeface="+mj-cs"/>
              </a:rPr>
              <a:t>All Leader Development – </a:t>
            </a:r>
            <a:r>
              <a:rPr lang="en-US" sz="1400" b="1" dirty="0" smtClean="0">
                <a:solidFill>
                  <a:schemeClr val="accent6">
                    <a:lumMod val="75000"/>
                  </a:schemeClr>
                </a:solidFill>
                <a:latin typeface="Tw Cen MT" pitchFamily="34" charset="0"/>
                <a:ea typeface="+mj-ea"/>
                <a:cs typeface="+mj-cs"/>
              </a:rPr>
              <a:t>Leadership Now</a:t>
            </a:r>
            <a:endParaRPr lang="en-US" sz="1400" b="1" dirty="0">
              <a:solidFill>
                <a:schemeClr val="accent6">
                  <a:lumMod val="75000"/>
                </a:schemeClr>
              </a:solidFill>
              <a:latin typeface="Tw Cen MT" pitchFamily="34" charset="0"/>
              <a:ea typeface="+mj-ea"/>
              <a:cs typeface="+mj-cs"/>
            </a:endParaRPr>
          </a:p>
        </p:txBody>
      </p:sp>
      <p:sp>
        <p:nvSpPr>
          <p:cNvPr id="48" name="Text Box 13"/>
          <p:cNvSpPr txBox="1">
            <a:spLocks noChangeArrowheads="1"/>
          </p:cNvSpPr>
          <p:nvPr/>
        </p:nvSpPr>
        <p:spPr bwMode="auto">
          <a:xfrm>
            <a:off x="4686300" y="2667000"/>
            <a:ext cx="990600" cy="600164"/>
          </a:xfrm>
          <a:prstGeom prst="rect">
            <a:avLst/>
          </a:prstGeom>
          <a:noFill/>
          <a:ln w="9525">
            <a:noFill/>
            <a:miter lim="800000"/>
            <a:headEnd/>
            <a:tailEnd/>
          </a:ln>
        </p:spPr>
        <p:txBody>
          <a:bodyPr wrap="square">
            <a:spAutoFit/>
          </a:bodyPr>
          <a:lstStyle/>
          <a:p>
            <a:pPr algn="ctr">
              <a:spcBef>
                <a:spcPts val="0"/>
              </a:spcBef>
            </a:pPr>
            <a:r>
              <a:rPr lang="en-US" sz="1100" b="1" dirty="0" smtClean="0">
                <a:solidFill>
                  <a:srgbClr val="7030A0"/>
                </a:solidFill>
                <a:latin typeface="Tw Cen MT" pitchFamily="34" charset="0"/>
              </a:rPr>
              <a:t>Generation Next</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(Next Cohort)</a:t>
            </a:r>
          </a:p>
        </p:txBody>
      </p:sp>
      <p:sp>
        <p:nvSpPr>
          <p:cNvPr id="49" name="Text Box 13"/>
          <p:cNvSpPr txBox="1">
            <a:spLocks noChangeArrowheads="1"/>
          </p:cNvSpPr>
          <p:nvPr/>
        </p:nvSpPr>
        <p:spPr bwMode="auto">
          <a:xfrm>
            <a:off x="609600" y="5172075"/>
            <a:ext cx="1123950" cy="1015663"/>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Management Essentials Program</a:t>
            </a:r>
          </a:p>
          <a:p>
            <a:pPr algn="ctr">
              <a:spcBef>
                <a:spcPts val="0"/>
              </a:spcBef>
            </a:pPr>
            <a:r>
              <a:rPr lang="en-US" sz="900" dirty="0" smtClean="0">
                <a:solidFill>
                  <a:schemeClr val="accent6">
                    <a:lumMod val="75000"/>
                  </a:schemeClr>
                </a:solidFill>
                <a:latin typeface="Tw Cen MT" pitchFamily="34" charset="0"/>
              </a:rPr>
              <a:t>(Next Cohort – New cohort launched every 3 months)</a:t>
            </a:r>
            <a:r>
              <a:rPr lang="en-US" sz="900" b="1" dirty="0" smtClean="0">
                <a:solidFill>
                  <a:schemeClr val="accent6">
                    <a:lumMod val="75000"/>
                  </a:schemeClr>
                </a:solidFill>
                <a:latin typeface="Tw Cen MT" pitchFamily="34" charset="0"/>
              </a:rPr>
              <a:t> </a:t>
            </a:r>
            <a:endParaRPr lang="en-US" sz="900" dirty="0" smtClean="0">
              <a:solidFill>
                <a:schemeClr val="accent6">
                  <a:lumMod val="75000"/>
                </a:schemeClr>
              </a:solidFill>
              <a:latin typeface="Tw Cen MT" pitchFamily="34" charset="0"/>
            </a:endParaRPr>
          </a:p>
        </p:txBody>
      </p:sp>
      <p:sp>
        <p:nvSpPr>
          <p:cNvPr id="50" name="Text Box 13"/>
          <p:cNvSpPr txBox="1">
            <a:spLocks noChangeArrowheads="1"/>
          </p:cNvSpPr>
          <p:nvPr/>
        </p:nvSpPr>
        <p:spPr bwMode="auto">
          <a:xfrm>
            <a:off x="2705100" y="2628900"/>
            <a:ext cx="885825" cy="600164"/>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Chiefs Workshop</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(Class 5)</a:t>
            </a:r>
          </a:p>
        </p:txBody>
      </p:sp>
      <p:sp>
        <p:nvSpPr>
          <p:cNvPr id="51" name="Text Box 13"/>
          <p:cNvSpPr txBox="1">
            <a:spLocks noChangeArrowheads="1"/>
          </p:cNvSpPr>
          <p:nvPr/>
        </p:nvSpPr>
        <p:spPr bwMode="auto">
          <a:xfrm>
            <a:off x="5715000" y="5172075"/>
            <a:ext cx="990600" cy="938719"/>
          </a:xfrm>
          <a:prstGeom prst="rect">
            <a:avLst/>
          </a:prstGeom>
          <a:noFill/>
          <a:ln w="9525">
            <a:noFill/>
            <a:miter lim="800000"/>
            <a:headEnd/>
            <a:tailEnd/>
          </a:ln>
        </p:spPr>
        <p:txBody>
          <a:bodyPr wrap="square">
            <a:spAutoFit/>
          </a:bodyPr>
          <a:lstStyle/>
          <a:p>
            <a:pPr algn="ctr">
              <a:spcBef>
                <a:spcPts val="0"/>
              </a:spcBef>
            </a:pPr>
            <a:r>
              <a:rPr lang="en-US" sz="1100" b="1" dirty="0" smtClean="0">
                <a:solidFill>
                  <a:schemeClr val="accent6">
                    <a:lumMod val="75000"/>
                  </a:schemeClr>
                </a:solidFill>
                <a:latin typeface="Tw Cen MT" pitchFamily="34" charset="0"/>
              </a:rPr>
              <a:t>Physician Management</a:t>
            </a:r>
          </a:p>
          <a:p>
            <a:pPr algn="ctr">
              <a:spcBef>
                <a:spcPts val="0"/>
              </a:spcBef>
            </a:pPr>
            <a:r>
              <a:rPr lang="en-US" sz="1100" b="1" dirty="0" smtClean="0">
                <a:solidFill>
                  <a:schemeClr val="accent6">
                    <a:lumMod val="75000"/>
                  </a:schemeClr>
                </a:solidFill>
                <a:latin typeface="Tw Cen MT" pitchFamily="34" charset="0"/>
              </a:rPr>
              <a:t>Essentials Program</a:t>
            </a:r>
          </a:p>
          <a:p>
            <a:pPr algn="ctr">
              <a:spcBef>
                <a:spcPts val="0"/>
              </a:spcBef>
            </a:pPr>
            <a:r>
              <a:rPr lang="en-US" sz="1100" dirty="0" smtClean="0">
                <a:solidFill>
                  <a:schemeClr val="accent6">
                    <a:lumMod val="75000"/>
                  </a:schemeClr>
                </a:solidFill>
                <a:latin typeface="Tw Cen MT" pitchFamily="34" charset="0"/>
              </a:rPr>
              <a:t>(Next Cohort)</a:t>
            </a:r>
            <a:r>
              <a:rPr lang="en-US" sz="1100" b="1" dirty="0" smtClean="0">
                <a:solidFill>
                  <a:schemeClr val="accent6">
                    <a:lumMod val="75000"/>
                  </a:schemeClr>
                </a:solidFill>
                <a:latin typeface="Tw Cen MT" pitchFamily="34" charset="0"/>
              </a:rPr>
              <a:t> </a:t>
            </a:r>
            <a:endParaRPr lang="en-US" sz="1100" dirty="0" smtClean="0">
              <a:solidFill>
                <a:schemeClr val="accent6">
                  <a:lumMod val="75000"/>
                </a:schemeClr>
              </a:solidFill>
              <a:latin typeface="Tw Cen MT" pitchFamily="34" charset="0"/>
            </a:endParaRPr>
          </a:p>
        </p:txBody>
      </p:sp>
      <p:sp>
        <p:nvSpPr>
          <p:cNvPr id="52" name="Text Box 13"/>
          <p:cNvSpPr txBox="1">
            <a:spLocks noChangeArrowheads="1"/>
          </p:cNvSpPr>
          <p:nvPr/>
        </p:nvSpPr>
        <p:spPr bwMode="auto">
          <a:xfrm>
            <a:off x="3810000" y="4552950"/>
            <a:ext cx="901700" cy="600164"/>
          </a:xfrm>
          <a:prstGeom prst="rect">
            <a:avLst/>
          </a:prstGeom>
          <a:noFill/>
          <a:ln w="9525">
            <a:noFill/>
            <a:miter lim="800000"/>
            <a:headEnd/>
            <a:tailEnd/>
          </a:ln>
        </p:spPr>
        <p:txBody>
          <a:bodyPr>
            <a:spAutoFit/>
          </a:bodyPr>
          <a:lstStyle/>
          <a:p>
            <a:pPr algn="ctr">
              <a:spcBef>
                <a:spcPct val="50000"/>
              </a:spcBef>
            </a:pPr>
            <a:r>
              <a:rPr lang="en-US" sz="1100" b="1" dirty="0" smtClean="0">
                <a:solidFill>
                  <a:schemeClr val="accent6">
                    <a:lumMod val="75000"/>
                  </a:schemeClr>
                </a:solidFill>
                <a:latin typeface="Tw Cen MT" pitchFamily="34" charset="0"/>
              </a:rPr>
              <a:t>Take Out Training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53" name="Text Box 13"/>
          <p:cNvSpPr txBox="1">
            <a:spLocks noChangeArrowheads="1"/>
          </p:cNvSpPr>
          <p:nvPr/>
        </p:nvSpPr>
        <p:spPr bwMode="auto">
          <a:xfrm>
            <a:off x="6629400" y="4562475"/>
            <a:ext cx="901700" cy="600164"/>
          </a:xfrm>
          <a:prstGeom prst="rect">
            <a:avLst/>
          </a:prstGeom>
          <a:noFill/>
          <a:ln w="9525">
            <a:noFill/>
            <a:miter lim="800000"/>
            <a:headEnd/>
            <a:tailEnd/>
          </a:ln>
        </p:spPr>
        <p:txBody>
          <a:bodyPr>
            <a:spAutoFit/>
          </a:bodyPr>
          <a:lstStyle/>
          <a:p>
            <a:pPr algn="ctr">
              <a:spcBef>
                <a:spcPct val="50000"/>
              </a:spcBef>
            </a:pPr>
            <a:r>
              <a:rPr lang="en-US" sz="1100" b="1" dirty="0" smtClean="0">
                <a:solidFill>
                  <a:schemeClr val="accent6">
                    <a:lumMod val="75000"/>
                  </a:schemeClr>
                </a:solidFill>
                <a:latin typeface="Tw Cen MT" pitchFamily="34" charset="0"/>
              </a:rPr>
              <a:t>Take Out Training </a:t>
            </a:r>
            <a:r>
              <a:rPr lang="en-US" sz="1100" dirty="0" smtClean="0">
                <a:solidFill>
                  <a:schemeClr val="accent6">
                    <a:lumMod val="75000"/>
                  </a:schemeClr>
                </a:solidFill>
                <a:latin typeface="Tw Cen MT" pitchFamily="34" charset="0"/>
              </a:rPr>
              <a:t>(Director </a:t>
            </a:r>
            <a:r>
              <a:rPr lang="en-US" sz="1100" dirty="0">
                <a:solidFill>
                  <a:schemeClr val="accent6">
                    <a:lumMod val="75000"/>
                  </a:schemeClr>
                </a:solidFill>
                <a:latin typeface="Tw Cen MT" pitchFamily="34" charset="0"/>
              </a:rPr>
              <a:t>+)</a:t>
            </a:r>
            <a:endParaRPr lang="en-US" sz="1100" b="1" dirty="0">
              <a:solidFill>
                <a:schemeClr val="accent6">
                  <a:lumMod val="75000"/>
                </a:schemeClr>
              </a:solidFill>
              <a:latin typeface="Tw Cen MT" pitchFamily="34" charset="0"/>
            </a:endParaRPr>
          </a:p>
        </p:txBody>
      </p:sp>
      <p:sp>
        <p:nvSpPr>
          <p:cNvPr id="54" name="TextBox 53"/>
          <p:cNvSpPr txBox="1"/>
          <p:nvPr/>
        </p:nvSpPr>
        <p:spPr>
          <a:xfrm>
            <a:off x="838200" y="3371850"/>
            <a:ext cx="1710725" cy="246221"/>
          </a:xfrm>
          <a:prstGeom prst="rect">
            <a:avLst/>
          </a:prstGeom>
          <a:noFill/>
        </p:spPr>
        <p:txBody>
          <a:bodyPr wrap="none" rtlCol="0">
            <a:spAutoFit/>
          </a:bodyPr>
          <a:lstStyle/>
          <a:p>
            <a:r>
              <a:rPr lang="en-US" sz="1000" b="1" dirty="0" smtClean="0">
                <a:solidFill>
                  <a:schemeClr val="bg1">
                    <a:lumMod val="50000"/>
                  </a:schemeClr>
                </a:solidFill>
                <a:latin typeface="+mn-lt"/>
              </a:rPr>
              <a:t>Performance Review Process</a:t>
            </a:r>
            <a:endParaRPr lang="en-US" sz="1000" b="1" dirty="0">
              <a:solidFill>
                <a:schemeClr val="bg1">
                  <a:lumMod val="50000"/>
                </a:schemeClr>
              </a:solidFill>
              <a:latin typeface="+mn-lt"/>
            </a:endParaRPr>
          </a:p>
        </p:txBody>
      </p:sp>
      <p:sp>
        <p:nvSpPr>
          <p:cNvPr id="55" name="TextBox 54"/>
          <p:cNvSpPr txBox="1"/>
          <p:nvPr/>
        </p:nvSpPr>
        <p:spPr>
          <a:xfrm>
            <a:off x="5562600" y="3371850"/>
            <a:ext cx="3048000" cy="246221"/>
          </a:xfrm>
          <a:prstGeom prst="rect">
            <a:avLst/>
          </a:prstGeom>
          <a:noFill/>
        </p:spPr>
        <p:txBody>
          <a:bodyPr wrap="square" rtlCol="0">
            <a:spAutoFit/>
          </a:bodyPr>
          <a:lstStyle/>
          <a:p>
            <a:pPr algn="ctr"/>
            <a:r>
              <a:rPr lang="en-US" sz="1000" b="1" dirty="0" smtClean="0">
                <a:solidFill>
                  <a:schemeClr val="bg1">
                    <a:lumMod val="50000"/>
                  </a:schemeClr>
                </a:solidFill>
                <a:latin typeface="+mn-lt"/>
              </a:rPr>
              <a:t>Budget Process</a:t>
            </a:r>
            <a:endParaRPr lang="en-US" sz="1000" b="1" dirty="0">
              <a:solidFill>
                <a:schemeClr val="bg1">
                  <a:lumMod val="50000"/>
                </a:schemeClr>
              </a:solidFill>
              <a:latin typeface="+mn-lt"/>
            </a:endParaRPr>
          </a:p>
        </p:txBody>
      </p:sp>
      <p:cxnSp>
        <p:nvCxnSpPr>
          <p:cNvPr id="56" name="Straight Arrow Connector 55"/>
          <p:cNvCxnSpPr/>
          <p:nvPr/>
        </p:nvCxnSpPr>
        <p:spPr>
          <a:xfrm flipV="1">
            <a:off x="7543800" y="3524250"/>
            <a:ext cx="1143000" cy="0"/>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10800000">
            <a:off x="5334000" y="3524250"/>
            <a:ext cx="12954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8" name="Text Box 13"/>
          <p:cNvSpPr txBox="1">
            <a:spLocks noChangeArrowheads="1"/>
          </p:cNvSpPr>
          <p:nvPr/>
        </p:nvSpPr>
        <p:spPr bwMode="auto">
          <a:xfrm>
            <a:off x="6705600" y="2638425"/>
            <a:ext cx="885825" cy="600164"/>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Chiefs Workshop</a:t>
            </a:r>
            <a:endParaRPr lang="en-US" sz="1100" dirty="0">
              <a:solidFill>
                <a:srgbClr val="7030A0"/>
              </a:solidFill>
              <a:latin typeface="Tw Cen MT" pitchFamily="34" charset="0"/>
            </a:endParaRPr>
          </a:p>
          <a:p>
            <a:pPr algn="ctr">
              <a:spcBef>
                <a:spcPts val="0"/>
              </a:spcBef>
            </a:pPr>
            <a:r>
              <a:rPr lang="en-US" sz="1100" dirty="0" smtClean="0">
                <a:solidFill>
                  <a:srgbClr val="7030A0"/>
                </a:solidFill>
                <a:latin typeface="Tw Cen MT" pitchFamily="34" charset="0"/>
              </a:rPr>
              <a:t>(Class 6)</a:t>
            </a:r>
          </a:p>
        </p:txBody>
      </p:sp>
      <p:sp>
        <p:nvSpPr>
          <p:cNvPr id="59" name="Text Box 13"/>
          <p:cNvSpPr txBox="1">
            <a:spLocks noChangeArrowheads="1"/>
          </p:cNvSpPr>
          <p:nvPr/>
        </p:nvSpPr>
        <p:spPr bwMode="auto">
          <a:xfrm>
            <a:off x="5181600" y="182880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2</a:t>
            </a:r>
          </a:p>
          <a:p>
            <a:pPr algn="ctr">
              <a:spcBef>
                <a:spcPts val="0"/>
              </a:spcBef>
            </a:pPr>
            <a:r>
              <a:rPr lang="en-US" sz="1100" dirty="0" smtClean="0">
                <a:solidFill>
                  <a:srgbClr val="7030A0"/>
                </a:solidFill>
                <a:latin typeface="Tw Cen MT" pitchFamily="34" charset="0"/>
              </a:rPr>
              <a:t>Directors +</a:t>
            </a:r>
          </a:p>
          <a:p>
            <a:pPr algn="ctr">
              <a:spcBef>
                <a:spcPts val="0"/>
              </a:spcBef>
            </a:pPr>
            <a:r>
              <a:rPr lang="en-US" sz="1100" dirty="0" smtClean="0">
                <a:solidFill>
                  <a:srgbClr val="7030A0"/>
                </a:solidFill>
                <a:latin typeface="Tw Cen MT" pitchFamily="34" charset="0"/>
              </a:rPr>
              <a:t>(Cohort 1)</a:t>
            </a:r>
            <a:endParaRPr lang="en-US" sz="1100" dirty="0">
              <a:solidFill>
                <a:srgbClr val="7030A0"/>
              </a:solidFill>
              <a:latin typeface="Tw Cen MT" pitchFamily="34" charset="0"/>
            </a:endParaRPr>
          </a:p>
        </p:txBody>
      </p:sp>
      <p:sp>
        <p:nvSpPr>
          <p:cNvPr id="60" name="Text Box 13"/>
          <p:cNvSpPr txBox="1">
            <a:spLocks noChangeArrowheads="1"/>
          </p:cNvSpPr>
          <p:nvPr/>
        </p:nvSpPr>
        <p:spPr bwMode="auto">
          <a:xfrm>
            <a:off x="7162800" y="1828800"/>
            <a:ext cx="885825" cy="769441"/>
          </a:xfrm>
          <a:prstGeom prst="rect">
            <a:avLst/>
          </a:prstGeom>
          <a:noFill/>
          <a:ln w="9525">
            <a:noFill/>
            <a:miter lim="800000"/>
            <a:headEnd/>
            <a:tailEnd/>
          </a:ln>
        </p:spPr>
        <p:txBody>
          <a:bodyPr>
            <a:spAutoFit/>
          </a:bodyPr>
          <a:lstStyle/>
          <a:p>
            <a:pPr algn="ctr">
              <a:spcBef>
                <a:spcPts val="0"/>
              </a:spcBef>
            </a:pPr>
            <a:r>
              <a:rPr lang="en-US" sz="1100" b="1" dirty="0" smtClean="0">
                <a:solidFill>
                  <a:srgbClr val="7030A0"/>
                </a:solidFill>
                <a:latin typeface="Tw Cen MT" pitchFamily="34" charset="0"/>
              </a:rPr>
              <a:t>Leader Next</a:t>
            </a:r>
          </a:p>
          <a:p>
            <a:pPr algn="ctr">
              <a:spcBef>
                <a:spcPts val="0"/>
              </a:spcBef>
            </a:pPr>
            <a:r>
              <a:rPr lang="en-US" sz="1100" dirty="0" smtClean="0">
                <a:solidFill>
                  <a:srgbClr val="7030A0"/>
                </a:solidFill>
                <a:latin typeface="Tw Cen MT" pitchFamily="34" charset="0"/>
              </a:rPr>
              <a:t>Workshop 3</a:t>
            </a:r>
          </a:p>
          <a:p>
            <a:pPr algn="ctr">
              <a:spcBef>
                <a:spcPts val="0"/>
              </a:spcBef>
            </a:pPr>
            <a:r>
              <a:rPr lang="en-US" sz="1100" dirty="0" smtClean="0">
                <a:solidFill>
                  <a:srgbClr val="7030A0"/>
                </a:solidFill>
                <a:latin typeface="Tw Cen MT" pitchFamily="34" charset="0"/>
              </a:rPr>
              <a:t>Directors +</a:t>
            </a:r>
          </a:p>
          <a:p>
            <a:pPr algn="ctr">
              <a:spcBef>
                <a:spcPts val="0"/>
              </a:spcBef>
            </a:pPr>
            <a:r>
              <a:rPr lang="en-US" sz="1100" dirty="0" smtClean="0">
                <a:solidFill>
                  <a:srgbClr val="7030A0"/>
                </a:solidFill>
                <a:latin typeface="Tw Cen MT" pitchFamily="34" charset="0"/>
              </a:rPr>
              <a:t>(Cohort 1)</a:t>
            </a:r>
            <a:endParaRPr lang="en-US" sz="1100" dirty="0">
              <a:solidFill>
                <a:srgbClr val="7030A0"/>
              </a:solidFill>
              <a:latin typeface="Tw Cen MT" pitchFamily="34" charset="0"/>
            </a:endParaRPr>
          </a:p>
        </p:txBody>
      </p:sp>
      <p:cxnSp>
        <p:nvCxnSpPr>
          <p:cNvPr id="61" name="Straight Arrow Connector 60"/>
          <p:cNvCxnSpPr/>
          <p:nvPr/>
        </p:nvCxnSpPr>
        <p:spPr>
          <a:xfrm rot="10800000">
            <a:off x="3352800" y="6248400"/>
            <a:ext cx="7620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8153400" y="6248400"/>
            <a:ext cx="609600" cy="1588"/>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3" name="Rounded Rectangle 62"/>
          <p:cNvSpPr/>
          <p:nvPr/>
        </p:nvSpPr>
        <p:spPr>
          <a:xfrm>
            <a:off x="3666226" y="1861870"/>
            <a:ext cx="4465620" cy="76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sz="3200" dirty="0" smtClean="0"/>
              <a:t>Agenda</a:t>
            </a:r>
            <a:endParaRPr lang="en-US" sz="3200" dirty="0"/>
          </a:p>
        </p:txBody>
      </p:sp>
      <p:sp>
        <p:nvSpPr>
          <p:cNvPr id="3" name="Content Placeholder 2"/>
          <p:cNvSpPr>
            <a:spLocks noGrp="1"/>
          </p:cNvSpPr>
          <p:nvPr>
            <p:ph sz="half" idx="1"/>
          </p:nvPr>
        </p:nvSpPr>
        <p:spPr>
          <a:xfrm>
            <a:off x="762000" y="1600200"/>
            <a:ext cx="7391400" cy="3962400"/>
          </a:xfrm>
          <a:solidFill>
            <a:schemeClr val="accent3">
              <a:lumMod val="20000"/>
              <a:lumOff val="80000"/>
            </a:schemeClr>
          </a:solidFill>
          <a:ln w="28575">
            <a:solidFill>
              <a:schemeClr val="accent1"/>
            </a:solidFill>
          </a:ln>
        </p:spPr>
        <p:txBody>
          <a:bodyPr/>
          <a:lstStyle/>
          <a:p>
            <a:pPr>
              <a:spcBef>
                <a:spcPts val="1200"/>
              </a:spcBef>
              <a:buClr>
                <a:srgbClr val="009D57"/>
              </a:buClr>
              <a:buFont typeface="Tw Cen MT" pitchFamily="34" charset="0"/>
              <a:buChar char="•"/>
            </a:pPr>
            <a:r>
              <a:rPr lang="en-US" sz="2400" dirty="0" smtClean="0"/>
              <a:t>Children’s Leadership Competencies and the 2013 Development Plan</a:t>
            </a:r>
          </a:p>
          <a:p>
            <a:pPr>
              <a:spcBef>
                <a:spcPts val="1200"/>
              </a:spcBef>
              <a:buClr>
                <a:srgbClr val="009D57"/>
              </a:buClr>
              <a:buFont typeface="Tw Cen MT" pitchFamily="34" charset="0"/>
              <a:buChar char="•"/>
            </a:pPr>
            <a:r>
              <a:rPr lang="en-US" sz="2400" dirty="0" smtClean="0">
                <a:solidFill>
                  <a:srgbClr val="0070C0"/>
                </a:solidFill>
              </a:rPr>
              <a:t>Overview of </a:t>
            </a:r>
            <a:r>
              <a:rPr lang="en-US" sz="2400" b="1" i="1" dirty="0" smtClean="0">
                <a:solidFill>
                  <a:srgbClr val="0070C0"/>
                </a:solidFill>
              </a:rPr>
              <a:t>Leader Next</a:t>
            </a:r>
            <a:endParaRPr lang="en-US" sz="2400" dirty="0" smtClean="0">
              <a:solidFill>
                <a:srgbClr val="0070C0"/>
              </a:solidFill>
            </a:endParaRPr>
          </a:p>
          <a:p>
            <a:pPr lvl="1">
              <a:spcBef>
                <a:spcPts val="1200"/>
              </a:spcBef>
              <a:buClr>
                <a:srgbClr val="009D57"/>
              </a:buClr>
              <a:buFont typeface="Tw Cen MT" pitchFamily="34" charset="0"/>
              <a:buChar char="•"/>
            </a:pPr>
            <a:r>
              <a:rPr lang="en-US" sz="2000" dirty="0" smtClean="0">
                <a:solidFill>
                  <a:srgbClr val="0070C0"/>
                </a:solidFill>
              </a:rPr>
              <a:t>Participants</a:t>
            </a:r>
          </a:p>
          <a:p>
            <a:pPr lvl="1">
              <a:spcBef>
                <a:spcPts val="1200"/>
              </a:spcBef>
              <a:buClr>
                <a:srgbClr val="009D57"/>
              </a:buClr>
              <a:buFont typeface="Tw Cen MT" pitchFamily="34" charset="0"/>
              <a:buChar char="•"/>
            </a:pPr>
            <a:r>
              <a:rPr lang="en-US" sz="2000" dirty="0" smtClean="0">
                <a:solidFill>
                  <a:srgbClr val="0070C0"/>
                </a:solidFill>
              </a:rPr>
              <a:t>The Experience</a:t>
            </a:r>
          </a:p>
          <a:p>
            <a:pPr lvl="1">
              <a:spcBef>
                <a:spcPts val="1200"/>
              </a:spcBef>
              <a:buClr>
                <a:srgbClr val="009D57"/>
              </a:buClr>
              <a:buFont typeface="Tw Cen MT" pitchFamily="34" charset="0"/>
              <a:buChar char="•"/>
            </a:pPr>
            <a:r>
              <a:rPr lang="en-US" sz="2000" dirty="0" smtClean="0">
                <a:solidFill>
                  <a:srgbClr val="0070C0"/>
                </a:solidFill>
              </a:rPr>
              <a:t>Expectations and Time Commitment</a:t>
            </a:r>
          </a:p>
          <a:p>
            <a:pPr>
              <a:spcBef>
                <a:spcPts val="1200"/>
              </a:spcBef>
              <a:buClr>
                <a:srgbClr val="009D57"/>
              </a:buClr>
              <a:buFont typeface="Tw Cen MT" pitchFamily="34" charset="0"/>
              <a:buChar char="•"/>
            </a:pPr>
            <a:r>
              <a:rPr lang="en-US" sz="2400" dirty="0" smtClean="0"/>
              <a:t>Next Steps</a:t>
            </a:r>
          </a:p>
          <a:p>
            <a:pPr lvl="1">
              <a:spcBef>
                <a:spcPts val="1200"/>
              </a:spcBef>
              <a:buClr>
                <a:srgbClr val="009D57"/>
              </a:buClr>
              <a:buFont typeface="Tw Cen MT" pitchFamily="34" charset="0"/>
              <a:buChar char="•"/>
            </a:pPr>
            <a:r>
              <a:rPr lang="en-US" sz="2000" dirty="0" smtClean="0"/>
              <a:t>The Assessment Process</a:t>
            </a:r>
          </a:p>
          <a:p>
            <a:pPr>
              <a:spcBef>
                <a:spcPts val="1200"/>
              </a:spcBef>
              <a:buClr>
                <a:srgbClr val="009D57"/>
              </a:buClr>
              <a:buFont typeface="Tw Cen MT" pitchFamily="34" charset="0"/>
              <a:buChar char="•"/>
            </a:pPr>
            <a:endParaRPr lang="en-US" sz="2400" dirty="0"/>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6</a:t>
            </a:fld>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267200" y="6324600"/>
            <a:ext cx="48768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228600"/>
            <a:ext cx="8229600" cy="762000"/>
          </a:xfrm>
        </p:spPr>
        <p:txBody>
          <a:bodyPr/>
          <a:lstStyle/>
          <a:p>
            <a:r>
              <a:rPr lang="en-US" sz="3200" dirty="0" smtClean="0"/>
              <a:t>2013 </a:t>
            </a:r>
            <a:r>
              <a:rPr lang="en-US" sz="3200" b="1" i="1" dirty="0" smtClean="0"/>
              <a:t>Leader Next</a:t>
            </a:r>
            <a:r>
              <a:rPr lang="en-US" sz="3200" dirty="0" smtClean="0"/>
              <a:t> Participants</a:t>
            </a:r>
            <a:endParaRPr lang="en-US" sz="3200" dirty="0"/>
          </a:p>
        </p:txBody>
      </p:sp>
      <p:sp>
        <p:nvSpPr>
          <p:cNvPr id="4" name="Content Placeholder 3"/>
          <p:cNvSpPr>
            <a:spLocks noGrp="1"/>
          </p:cNvSpPr>
          <p:nvPr>
            <p:ph idx="1"/>
          </p:nvPr>
        </p:nvSpPr>
        <p:spPr>
          <a:xfrm>
            <a:off x="964722" y="1367276"/>
            <a:ext cx="7162800" cy="4840862"/>
          </a:xfrm>
          <a:solidFill>
            <a:schemeClr val="accent1">
              <a:lumMod val="20000"/>
              <a:lumOff val="80000"/>
            </a:schemeClr>
          </a:solidFill>
        </p:spPr>
        <p:txBody>
          <a:bodyPr/>
          <a:lstStyle/>
          <a:p>
            <a:pPr>
              <a:spcBef>
                <a:spcPts val="400"/>
              </a:spcBef>
              <a:buFont typeface="+mj-lt"/>
              <a:buAutoNum type="arabicPeriod"/>
              <a:defRPr/>
            </a:pPr>
            <a:r>
              <a:rPr lang="en-US" sz="1200" dirty="0" smtClean="0">
                <a:solidFill>
                  <a:schemeClr val="tx1"/>
                </a:solidFill>
              </a:rPr>
              <a:t>Heather Balberde – Director, Physician Practice Operations</a:t>
            </a:r>
            <a:endParaRPr lang="en-US" sz="1200" dirty="0" smtClean="0">
              <a:solidFill>
                <a:srgbClr val="FF0000"/>
              </a:solidFill>
            </a:endParaRPr>
          </a:p>
          <a:p>
            <a:pPr lvl="0">
              <a:spcBef>
                <a:spcPts val="400"/>
              </a:spcBef>
              <a:buFont typeface="+mj-lt"/>
              <a:buAutoNum type="arabicPeriod"/>
              <a:defRPr/>
            </a:pPr>
            <a:r>
              <a:rPr lang="en-US" sz="1200" dirty="0" smtClean="0">
                <a:solidFill>
                  <a:schemeClr val="tx1"/>
                </a:solidFill>
              </a:rPr>
              <a:t>Rick Bonner, MD – Executive Director, Physician Practice Council</a:t>
            </a:r>
          </a:p>
          <a:p>
            <a:pPr>
              <a:spcBef>
                <a:spcPts val="400"/>
              </a:spcBef>
              <a:buFont typeface="+mj-lt"/>
              <a:buAutoNum type="arabicPeriod"/>
              <a:defRPr/>
            </a:pPr>
            <a:r>
              <a:rPr lang="en-US" sz="1200" dirty="0" smtClean="0">
                <a:solidFill>
                  <a:schemeClr val="tx1"/>
                </a:solidFill>
              </a:rPr>
              <a:t>Mary Beth Bova – SVP Operations, Egleston</a:t>
            </a:r>
          </a:p>
          <a:p>
            <a:pPr lvl="0">
              <a:spcBef>
                <a:spcPts val="400"/>
              </a:spcBef>
              <a:buFont typeface="+mj-lt"/>
              <a:buAutoNum type="arabicPeriod"/>
              <a:defRPr/>
            </a:pPr>
            <a:r>
              <a:rPr lang="en-US" sz="1200" dirty="0" smtClean="0">
                <a:solidFill>
                  <a:schemeClr val="tx1"/>
                </a:solidFill>
              </a:rPr>
              <a:t>Farah Chapes – Government Affairs Director</a:t>
            </a:r>
          </a:p>
          <a:p>
            <a:pPr>
              <a:spcBef>
                <a:spcPts val="400"/>
              </a:spcBef>
              <a:buFont typeface="+mj-lt"/>
              <a:buAutoNum type="arabicPeriod"/>
              <a:defRPr/>
            </a:pPr>
            <a:r>
              <a:rPr lang="en-US" sz="1200" dirty="0" smtClean="0"/>
              <a:t>Linda Cole – SVP Operations, Scottish Rite</a:t>
            </a:r>
          </a:p>
          <a:p>
            <a:pPr>
              <a:spcBef>
                <a:spcPts val="400"/>
              </a:spcBef>
              <a:buFont typeface="+mj-lt"/>
              <a:buAutoNum type="arabicPeriod"/>
              <a:defRPr/>
            </a:pPr>
            <a:r>
              <a:rPr lang="en-US" sz="1200" dirty="0" smtClean="0">
                <a:solidFill>
                  <a:schemeClr val="tx1"/>
                </a:solidFill>
              </a:rPr>
              <a:t>Florence Davis – Director, Patient Access/UR</a:t>
            </a:r>
          </a:p>
          <a:p>
            <a:pPr lvl="0">
              <a:spcBef>
                <a:spcPts val="400"/>
              </a:spcBef>
              <a:buFont typeface="+mj-lt"/>
              <a:buAutoNum type="arabicPeriod"/>
              <a:defRPr/>
            </a:pPr>
            <a:r>
              <a:rPr lang="en-US" sz="1200" dirty="0" smtClean="0"/>
              <a:t>Jim Fortenberry, MD – Pediatrician in Chief</a:t>
            </a:r>
          </a:p>
          <a:p>
            <a:pPr>
              <a:spcBef>
                <a:spcPts val="400"/>
              </a:spcBef>
              <a:buFont typeface="+mj-lt"/>
              <a:buAutoNum type="arabicPeriod"/>
              <a:defRPr/>
            </a:pPr>
            <a:r>
              <a:rPr lang="en-US" sz="1200" dirty="0" smtClean="0"/>
              <a:t>Julia Jones – VP, Operations, Hughes Spalding</a:t>
            </a:r>
          </a:p>
          <a:p>
            <a:pPr>
              <a:spcBef>
                <a:spcPts val="400"/>
              </a:spcBef>
              <a:buFont typeface="+mj-lt"/>
              <a:buAutoNum type="arabicPeriod"/>
              <a:defRPr/>
            </a:pPr>
            <a:r>
              <a:rPr lang="en-US" sz="1200" dirty="0" smtClean="0"/>
              <a:t>Ellen </a:t>
            </a:r>
            <a:r>
              <a:rPr lang="en-US" sz="1200" dirty="0" smtClean="0"/>
              <a:t>Light – Director, Clinical Risk Management &amp; Patient Grievances</a:t>
            </a:r>
          </a:p>
          <a:p>
            <a:pPr lvl="0">
              <a:spcBef>
                <a:spcPts val="400"/>
              </a:spcBef>
              <a:buFont typeface="+mj-lt"/>
              <a:buAutoNum type="arabicPeriod"/>
              <a:defRPr/>
            </a:pPr>
            <a:r>
              <a:rPr lang="en-US" sz="1200" dirty="0" smtClean="0"/>
              <a:t>Bill Mahle, MD – Cardiologist, Sibley </a:t>
            </a:r>
          </a:p>
          <a:p>
            <a:pPr lvl="0">
              <a:spcBef>
                <a:spcPts val="400"/>
              </a:spcBef>
              <a:buFont typeface="+mj-lt"/>
              <a:buAutoNum type="arabicPeriod"/>
              <a:defRPr/>
            </a:pPr>
            <a:r>
              <a:rPr lang="en-US" sz="1200" dirty="0" smtClean="0"/>
              <a:t>John McMillen – Senior Director, Supply Chain</a:t>
            </a:r>
          </a:p>
          <a:p>
            <a:pPr>
              <a:spcBef>
                <a:spcPts val="400"/>
              </a:spcBef>
              <a:buFont typeface="+mj-lt"/>
              <a:buAutoNum type="arabicPeriod"/>
              <a:defRPr/>
            </a:pPr>
            <a:r>
              <a:rPr lang="en-US" sz="1200" dirty="0" smtClean="0"/>
              <a:t>Don Mueller – VP Operations, Marcus Autism Center</a:t>
            </a:r>
          </a:p>
          <a:p>
            <a:pPr>
              <a:spcBef>
                <a:spcPts val="400"/>
              </a:spcBef>
              <a:buFont typeface="+mj-lt"/>
              <a:buAutoNum type="arabicPeriod"/>
              <a:defRPr/>
            </a:pPr>
            <a:r>
              <a:rPr lang="en-US" sz="1200" dirty="0" smtClean="0"/>
              <a:t>Tim Stacy – Director, Pharmacy</a:t>
            </a:r>
          </a:p>
          <a:p>
            <a:pPr>
              <a:spcBef>
                <a:spcPts val="400"/>
              </a:spcBef>
              <a:buFont typeface="+mj-lt"/>
              <a:buAutoNum type="arabicPeriod"/>
              <a:defRPr/>
            </a:pPr>
            <a:r>
              <a:rPr lang="en-US" sz="1200" dirty="0" smtClean="0">
                <a:solidFill>
                  <a:schemeClr val="tx1"/>
                </a:solidFill>
              </a:rPr>
              <a:t>Kay Stewart-Huey – Service Line Administrator</a:t>
            </a:r>
          </a:p>
          <a:p>
            <a:pPr lvl="0">
              <a:spcBef>
                <a:spcPts val="400"/>
              </a:spcBef>
              <a:buFont typeface="+mj-lt"/>
              <a:buAutoNum type="arabicPeriod"/>
              <a:defRPr/>
            </a:pPr>
            <a:r>
              <a:rPr lang="en-US" sz="1200" dirty="0" smtClean="0">
                <a:solidFill>
                  <a:schemeClr val="tx1"/>
                </a:solidFill>
              </a:rPr>
              <a:t>Beth Strickland – VP, Total Rewards</a:t>
            </a:r>
          </a:p>
          <a:p>
            <a:pPr>
              <a:spcBef>
                <a:spcPts val="400"/>
              </a:spcBef>
              <a:buFont typeface="+mj-lt"/>
              <a:buAutoNum type="arabicPeriod"/>
              <a:defRPr/>
            </a:pPr>
            <a:r>
              <a:rPr lang="en-US" sz="1200" dirty="0" smtClean="0"/>
              <a:t>Diane Waldner – Service Line Administrator</a:t>
            </a:r>
          </a:p>
          <a:p>
            <a:pPr lvl="0">
              <a:spcBef>
                <a:spcPts val="400"/>
              </a:spcBef>
              <a:buFont typeface="+mj-lt"/>
              <a:buAutoNum type="arabicPeriod"/>
              <a:defRPr/>
            </a:pPr>
            <a:r>
              <a:rPr lang="en-US" sz="1200" dirty="0" smtClean="0"/>
              <a:t>Mark Wulkan, MD – Surgeon in Chief</a:t>
            </a:r>
          </a:p>
        </p:txBody>
      </p:sp>
      <p:sp>
        <p:nvSpPr>
          <p:cNvPr id="12" name="Slide Number Placeholder 3"/>
          <p:cNvSpPr>
            <a:spLocks noGrp="1"/>
          </p:cNvSpPr>
          <p:nvPr>
            <p:ph type="sldNum" sz="quarter" idx="10"/>
          </p:nvPr>
        </p:nvSpPr>
        <p:spPr>
          <a:xfrm>
            <a:off x="8763000" y="6492875"/>
            <a:ext cx="381000" cy="365125"/>
          </a:xfrm>
        </p:spPr>
        <p:txBody>
          <a:bodyPr/>
          <a:lstStyle/>
          <a:p>
            <a:pPr>
              <a:defRPr/>
            </a:pPr>
            <a:fld id="{01D945C9-0277-4107-B589-EC55ECD240BC}" type="slidenum">
              <a:rPr lang="en-US" smtClean="0"/>
              <a:pPr>
                <a:defRPr/>
              </a:pPr>
              <a:t>7</a:t>
            </a:fld>
            <a:endParaRPr lang="en-US" dirty="0"/>
          </a:p>
        </p:txBody>
      </p:sp>
      <p:sp>
        <p:nvSpPr>
          <p:cNvPr id="8" name="Content Placeholder 3"/>
          <p:cNvSpPr txBox="1">
            <a:spLocks/>
          </p:cNvSpPr>
          <p:nvPr/>
        </p:nvSpPr>
        <p:spPr bwMode="auto">
          <a:xfrm>
            <a:off x="762000" y="5638800"/>
            <a:ext cx="16764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buFont typeface="Arial" charset="0"/>
              <a:buNone/>
              <a:tabLst/>
              <a:defRPr/>
            </a:pPr>
            <a:endParaRPr kumimoji="0" lang="en-US" sz="11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3" name="Content Placeholder 3"/>
          <p:cNvSpPr txBox="1">
            <a:spLocks/>
          </p:cNvSpPr>
          <p:nvPr/>
        </p:nvSpPr>
        <p:spPr bwMode="auto">
          <a:xfrm>
            <a:off x="685800" y="6400800"/>
            <a:ext cx="16764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buFont typeface="Arial" charset="0"/>
              <a:buNone/>
              <a:tabLst/>
              <a:defRPr/>
            </a:pPr>
            <a:endParaRPr kumimoji="0" lang="en-US" sz="11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4" name="Content Placeholder 3"/>
          <p:cNvSpPr txBox="1">
            <a:spLocks/>
          </p:cNvSpPr>
          <p:nvPr/>
        </p:nvSpPr>
        <p:spPr bwMode="auto">
          <a:xfrm>
            <a:off x="5105400" y="1600200"/>
            <a:ext cx="3733800" cy="4343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00"/>
              </a:spcBef>
              <a:spcAft>
                <a:spcPct val="0"/>
              </a:spcAft>
              <a:buClrTx/>
              <a:buSzTx/>
              <a:tabLst/>
              <a:defRPr/>
            </a:pPr>
            <a:endParaRPr kumimoji="0" lang="en-US" sz="140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1"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ts val="100"/>
              </a:spcBef>
              <a:spcAft>
                <a:spcPct val="0"/>
              </a:spcAft>
              <a:buClrTx/>
              <a:buSzTx/>
              <a:buFont typeface="Arial" charset="0"/>
              <a:buChar char="•"/>
              <a:tabLst/>
              <a:defRPr/>
            </a:pPr>
            <a:endParaRPr kumimoji="0" lang="en-US" sz="115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15" name="TextBox 14"/>
          <p:cNvSpPr txBox="1"/>
          <p:nvPr/>
        </p:nvSpPr>
        <p:spPr>
          <a:xfrm>
            <a:off x="5410200" y="4648200"/>
            <a:ext cx="2590800" cy="1431161"/>
          </a:xfrm>
          <a:prstGeom prst="rect">
            <a:avLst/>
          </a:prstGeom>
          <a:solidFill>
            <a:schemeClr val="accent3">
              <a:lumMod val="40000"/>
              <a:lumOff val="60000"/>
            </a:schemeClr>
          </a:solidFill>
        </p:spPr>
        <p:txBody>
          <a:bodyPr wrap="square" rtlCol="0">
            <a:spAutoFit/>
          </a:bodyPr>
          <a:lstStyle/>
          <a:p>
            <a:pPr>
              <a:lnSpc>
                <a:spcPct val="150000"/>
              </a:lnSpc>
            </a:pPr>
            <a:r>
              <a:rPr lang="en-US" sz="1600" b="1" dirty="0" smtClean="0">
                <a:solidFill>
                  <a:srgbClr val="0070C0"/>
                </a:solidFill>
                <a:latin typeface="+mj-lt"/>
              </a:rPr>
              <a:t>Participant Demographics</a:t>
            </a:r>
          </a:p>
          <a:p>
            <a:pPr>
              <a:lnSpc>
                <a:spcPct val="150000"/>
              </a:lnSpc>
              <a:buFont typeface="Arial" pitchFamily="34" charset="0"/>
              <a:buChar char="•"/>
            </a:pPr>
            <a:r>
              <a:rPr lang="en-US" sz="1400" dirty="0" smtClean="0">
                <a:latin typeface="+mj-lt"/>
              </a:rPr>
              <a:t>  VP, SVP – 5</a:t>
            </a:r>
          </a:p>
          <a:p>
            <a:pPr>
              <a:lnSpc>
                <a:spcPct val="150000"/>
              </a:lnSpc>
              <a:buFont typeface="Arial" pitchFamily="34" charset="0"/>
              <a:buChar char="•"/>
            </a:pPr>
            <a:r>
              <a:rPr lang="en-US" sz="1400" dirty="0" smtClean="0">
                <a:latin typeface="+mj-lt"/>
              </a:rPr>
              <a:t>  Director, Sr. Director, SLA – 8</a:t>
            </a:r>
          </a:p>
          <a:p>
            <a:pPr>
              <a:lnSpc>
                <a:spcPct val="150000"/>
              </a:lnSpc>
              <a:buFont typeface="Arial" pitchFamily="34" charset="0"/>
              <a:buChar char="•"/>
            </a:pPr>
            <a:r>
              <a:rPr lang="en-US" sz="1400" dirty="0" smtClean="0">
                <a:latin typeface="+mj-lt"/>
              </a:rPr>
              <a:t>  Physicians - </a:t>
            </a:r>
            <a:r>
              <a:rPr lang="en-US" sz="1400" dirty="0" smtClean="0">
                <a:latin typeface="+mj-lt"/>
              </a:rPr>
              <a:t>5</a:t>
            </a:r>
            <a:endParaRPr lang="en-US" sz="1400" dirty="0">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sz="2800" dirty="0" smtClean="0"/>
              <a:t>What will I gain from </a:t>
            </a:r>
            <a:r>
              <a:rPr lang="en-US" sz="2800" b="1" i="1" dirty="0" smtClean="0"/>
              <a:t>Leader Next?</a:t>
            </a:r>
            <a:endParaRPr lang="en-US" sz="2800" b="1" i="1" dirty="0"/>
          </a:p>
        </p:txBody>
      </p:sp>
      <p:sp>
        <p:nvSpPr>
          <p:cNvPr id="3" name="Content Placeholder 2"/>
          <p:cNvSpPr>
            <a:spLocks noGrp="1"/>
          </p:cNvSpPr>
          <p:nvPr>
            <p:ph sz="half" idx="1"/>
          </p:nvPr>
        </p:nvSpPr>
        <p:spPr>
          <a:xfrm>
            <a:off x="457200" y="1752600"/>
            <a:ext cx="8077200" cy="3048000"/>
          </a:xfrm>
        </p:spPr>
        <p:txBody>
          <a:bodyPr/>
          <a:lstStyle/>
          <a:p>
            <a:pPr>
              <a:buNone/>
            </a:pPr>
            <a:r>
              <a:rPr lang="en-US" sz="2000" dirty="0" smtClean="0"/>
              <a:t>Leaders who attend </a:t>
            </a:r>
            <a:r>
              <a:rPr lang="en-US" sz="2000" b="1" i="1" dirty="0" smtClean="0"/>
              <a:t>Leader Next</a:t>
            </a:r>
            <a:r>
              <a:rPr lang="en-US" sz="2000" dirty="0" smtClean="0"/>
              <a:t> will better:</a:t>
            </a:r>
          </a:p>
          <a:p>
            <a:pPr lvl="0"/>
            <a:r>
              <a:rPr lang="en-US" sz="2000" dirty="0" smtClean="0"/>
              <a:t>Understand the external environment and how to pull relevant megatrends into business decisions </a:t>
            </a:r>
          </a:p>
          <a:p>
            <a:pPr lvl="0"/>
            <a:r>
              <a:rPr lang="en-US" sz="2000" dirty="0" smtClean="0"/>
              <a:t>Know how to ask the right questions to drive better business outcomes </a:t>
            </a:r>
          </a:p>
          <a:p>
            <a:pPr lvl="0"/>
            <a:r>
              <a:rPr lang="en-US" sz="2000" dirty="0" smtClean="0"/>
              <a:t>Understand how to tell the right story to drive results</a:t>
            </a:r>
          </a:p>
          <a:p>
            <a:pPr lvl="0"/>
            <a:r>
              <a:rPr lang="en-US" sz="2000" dirty="0" smtClean="0"/>
              <a:t>Be able to set expectations for high performance and identify ways to delegate and empower their teams</a:t>
            </a:r>
          </a:p>
          <a:p>
            <a:pPr lvl="0"/>
            <a:r>
              <a:rPr lang="en-US" sz="2000" dirty="0" smtClean="0"/>
              <a:t>Demonstrate increased leadership impact</a:t>
            </a:r>
          </a:p>
          <a:p>
            <a:endParaRPr lang="en-US" sz="2000" dirty="0"/>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Leader Next </a:t>
            </a:r>
            <a:r>
              <a:rPr lang="en-US" dirty="0" smtClean="0"/>
              <a:t>Program At a Glance</a:t>
            </a:r>
            <a:endParaRPr lang="en-US" dirty="0"/>
          </a:p>
        </p:txBody>
      </p:sp>
      <p:sp>
        <p:nvSpPr>
          <p:cNvPr id="26" name="Slide Number Placeholder 3"/>
          <p:cNvSpPr txBox="1">
            <a:spLocks/>
          </p:cNvSpPr>
          <p:nvPr/>
        </p:nvSpPr>
        <p:spPr>
          <a:xfrm>
            <a:off x="8763000" y="6492875"/>
            <a:ext cx="3810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1D945C9-0277-4107-B589-EC55ECD240BC}" type="slidenum">
              <a:rPr kumimoji="0" lang="en-US" sz="1100" b="0" i="0" u="none" strike="noStrike" kern="1200" cap="none" spc="0" normalizeH="0" baseline="0" noProof="0" smtClean="0">
                <a:ln>
                  <a:noFill/>
                </a:ln>
                <a:solidFill>
                  <a:schemeClr val="bg1">
                    <a:lumMod val="50000"/>
                  </a:schemeClr>
                </a:solidFill>
                <a:effectLst/>
                <a:uLnTx/>
                <a:uFillTx/>
                <a:latin typeface="+mj-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schemeClr val="bg1">
                  <a:lumMod val="50000"/>
                </a:schemeClr>
              </a:solidFill>
              <a:effectLst/>
              <a:uLnTx/>
              <a:uFillTx/>
              <a:latin typeface="+mj-lt"/>
              <a:ea typeface="+mn-ea"/>
              <a:cs typeface="+mn-cs"/>
            </a:endParaRPr>
          </a:p>
        </p:txBody>
      </p:sp>
      <p:sp>
        <p:nvSpPr>
          <p:cNvPr id="25" name="AutoShape 253"/>
          <p:cNvSpPr>
            <a:spLocks noChangeArrowheads="1"/>
          </p:cNvSpPr>
          <p:nvPr/>
        </p:nvSpPr>
        <p:spPr bwMode="auto">
          <a:xfrm>
            <a:off x="2629606" y="1696520"/>
            <a:ext cx="1981200" cy="6858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b="1" dirty="0" smtClean="0">
                <a:solidFill>
                  <a:schemeClr val="bg1"/>
                </a:solidFill>
                <a:latin typeface="+mn-lt"/>
                <a:ea typeface="ＭＳ Ｐゴシック" charset="0"/>
              </a:rPr>
              <a:t>Workshop 1: </a:t>
            </a:r>
          </a:p>
          <a:p>
            <a:pPr algn="ctr">
              <a:defRPr/>
            </a:pPr>
            <a:r>
              <a:rPr lang="en-US" sz="1300" dirty="0" smtClean="0">
                <a:solidFill>
                  <a:schemeClr val="bg1"/>
                </a:solidFill>
                <a:latin typeface="+mn-lt"/>
                <a:ea typeface="ＭＳ Ｐゴシック" charset="0"/>
              </a:rPr>
              <a:t>Know the Business</a:t>
            </a:r>
          </a:p>
          <a:p>
            <a:pPr algn="ctr">
              <a:defRPr/>
            </a:pPr>
            <a:r>
              <a:rPr lang="en-US" sz="1300" dirty="0" smtClean="0">
                <a:solidFill>
                  <a:schemeClr val="bg1"/>
                </a:solidFill>
                <a:latin typeface="+mn-lt"/>
                <a:ea typeface="ＭＳ Ｐゴシック" charset="0"/>
              </a:rPr>
              <a:t>(2.5 days)</a:t>
            </a:r>
            <a:endParaRPr lang="en-US" sz="1300" dirty="0">
              <a:solidFill>
                <a:schemeClr val="bg1"/>
              </a:solidFill>
              <a:latin typeface="+mn-lt"/>
              <a:ea typeface="ＭＳ Ｐゴシック" charset="0"/>
            </a:endParaRPr>
          </a:p>
        </p:txBody>
      </p:sp>
      <p:sp>
        <p:nvSpPr>
          <p:cNvPr id="31" name="AutoShape 253"/>
          <p:cNvSpPr>
            <a:spLocks noChangeArrowheads="1"/>
          </p:cNvSpPr>
          <p:nvPr/>
        </p:nvSpPr>
        <p:spPr bwMode="auto">
          <a:xfrm>
            <a:off x="648406" y="1696520"/>
            <a:ext cx="1981200" cy="685800"/>
          </a:xfrm>
          <a:prstGeom prst="homePlate">
            <a:avLst>
              <a:gd name="adj" fmla="val 42857"/>
            </a:avLst>
          </a:prstGeom>
          <a:solidFill>
            <a:srgbClr val="0070C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dirty="0" smtClean="0">
                <a:solidFill>
                  <a:schemeClr val="bg1"/>
                </a:solidFill>
                <a:latin typeface="+mn-lt"/>
                <a:ea typeface="ＭＳ Ｐゴシック" charset="0"/>
              </a:rPr>
              <a:t>Assessment </a:t>
            </a:r>
          </a:p>
          <a:p>
            <a:pPr algn="ctr">
              <a:defRPr/>
            </a:pPr>
            <a:r>
              <a:rPr lang="en-US" sz="1300" dirty="0" smtClean="0">
                <a:solidFill>
                  <a:schemeClr val="bg1"/>
                </a:solidFill>
                <a:latin typeface="+mn-lt"/>
                <a:ea typeface="ＭＳ Ｐゴシック" charset="0"/>
              </a:rPr>
              <a:t>&amp; Feedback</a:t>
            </a:r>
          </a:p>
        </p:txBody>
      </p:sp>
      <p:sp>
        <p:nvSpPr>
          <p:cNvPr id="33" name="AutoShape 253"/>
          <p:cNvSpPr>
            <a:spLocks noChangeArrowheads="1"/>
          </p:cNvSpPr>
          <p:nvPr/>
        </p:nvSpPr>
        <p:spPr bwMode="auto">
          <a:xfrm>
            <a:off x="6592006" y="1706045"/>
            <a:ext cx="1981200" cy="6858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b="1" dirty="0" smtClean="0">
                <a:solidFill>
                  <a:schemeClr val="bg1"/>
                </a:solidFill>
                <a:latin typeface="+mn-lt"/>
                <a:ea typeface="ＭＳ Ｐゴシック" charset="0"/>
              </a:rPr>
              <a:t>Workshop 3: </a:t>
            </a:r>
          </a:p>
          <a:p>
            <a:pPr algn="ctr">
              <a:defRPr/>
            </a:pPr>
            <a:r>
              <a:rPr lang="en-US" sz="1300" dirty="0" smtClean="0">
                <a:solidFill>
                  <a:schemeClr val="bg1"/>
                </a:solidFill>
                <a:latin typeface="+mn-lt"/>
                <a:ea typeface="ＭＳ Ｐゴシック" charset="0"/>
              </a:rPr>
              <a:t>Lead Your Team</a:t>
            </a:r>
          </a:p>
          <a:p>
            <a:pPr algn="ctr">
              <a:defRPr/>
            </a:pPr>
            <a:r>
              <a:rPr lang="en-US" sz="1300" dirty="0" smtClean="0">
                <a:solidFill>
                  <a:schemeClr val="bg1"/>
                </a:solidFill>
                <a:latin typeface="+mn-lt"/>
                <a:ea typeface="ＭＳ Ｐゴシック" charset="0"/>
              </a:rPr>
              <a:t>(2 days)</a:t>
            </a:r>
          </a:p>
        </p:txBody>
      </p:sp>
      <p:sp>
        <p:nvSpPr>
          <p:cNvPr id="34" name="AutoShape 253"/>
          <p:cNvSpPr>
            <a:spLocks noChangeArrowheads="1"/>
          </p:cNvSpPr>
          <p:nvPr/>
        </p:nvSpPr>
        <p:spPr bwMode="auto">
          <a:xfrm>
            <a:off x="4610806" y="1696520"/>
            <a:ext cx="1981200" cy="685800"/>
          </a:xfrm>
          <a:prstGeom prst="homePlate">
            <a:avLst>
              <a:gd name="adj" fmla="val 42857"/>
            </a:avLst>
          </a:prstGeom>
          <a:solidFill>
            <a:srgbClr val="009D57"/>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300" b="1" dirty="0" smtClean="0">
                <a:solidFill>
                  <a:schemeClr val="bg1"/>
                </a:solidFill>
                <a:latin typeface="+mn-lt"/>
                <a:ea typeface="ＭＳ Ｐゴシック" charset="0"/>
              </a:rPr>
              <a:t>Workshop 2: </a:t>
            </a:r>
          </a:p>
          <a:p>
            <a:pPr algn="ctr">
              <a:defRPr/>
            </a:pPr>
            <a:r>
              <a:rPr lang="en-US" sz="1300" dirty="0" smtClean="0">
                <a:solidFill>
                  <a:schemeClr val="bg1"/>
                </a:solidFill>
                <a:latin typeface="+mn-lt"/>
                <a:ea typeface="ＭＳ Ｐゴシック" charset="0"/>
              </a:rPr>
              <a:t>Lead Your Business</a:t>
            </a:r>
          </a:p>
          <a:p>
            <a:pPr algn="ctr">
              <a:defRPr/>
            </a:pPr>
            <a:r>
              <a:rPr lang="en-US" sz="1300" dirty="0" smtClean="0">
                <a:solidFill>
                  <a:schemeClr val="bg1"/>
                </a:solidFill>
                <a:latin typeface="+mn-lt"/>
                <a:ea typeface="ＭＳ Ｐゴシック" charset="0"/>
              </a:rPr>
              <a:t>(3 days)</a:t>
            </a:r>
          </a:p>
        </p:txBody>
      </p:sp>
      <p:sp>
        <p:nvSpPr>
          <p:cNvPr id="37" name="TextBox 36"/>
          <p:cNvSpPr txBox="1"/>
          <p:nvPr/>
        </p:nvSpPr>
        <p:spPr>
          <a:xfrm>
            <a:off x="648406" y="1391720"/>
            <a:ext cx="7655237" cy="338554"/>
          </a:xfrm>
          <a:prstGeom prst="rect">
            <a:avLst/>
          </a:prstGeom>
          <a:noFill/>
        </p:spPr>
        <p:txBody>
          <a:bodyPr wrap="none" rtlCol="0">
            <a:spAutoFit/>
          </a:bodyPr>
          <a:lstStyle/>
          <a:p>
            <a:r>
              <a:rPr lang="en-US" sz="1600" b="1" dirty="0" smtClean="0">
                <a:latin typeface="+mj-lt"/>
              </a:rPr>
              <a:t>    </a:t>
            </a:r>
            <a:r>
              <a:rPr lang="en-US" sz="1400" b="1" dirty="0" smtClean="0">
                <a:latin typeface="+mj-lt"/>
              </a:rPr>
              <a:t>April 8 – May 31                     June 5-7                        August 14-16                  November 14-15</a:t>
            </a:r>
            <a:endParaRPr lang="en-US" sz="1400" b="1" dirty="0">
              <a:latin typeface="+mj-lt"/>
            </a:endParaRPr>
          </a:p>
        </p:txBody>
      </p:sp>
      <p:sp>
        <p:nvSpPr>
          <p:cNvPr id="38" name="Rounded Rectangle 37"/>
          <p:cNvSpPr/>
          <p:nvPr/>
        </p:nvSpPr>
        <p:spPr>
          <a:xfrm>
            <a:off x="2640238" y="2458520"/>
            <a:ext cx="1741967" cy="310408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12713" indent="-112713"/>
            <a:r>
              <a:rPr lang="en-US" sz="1200" dirty="0" smtClean="0">
                <a:solidFill>
                  <a:schemeClr val="tx1"/>
                </a:solidFill>
              </a:rPr>
              <a:t>Key Topics:</a:t>
            </a:r>
          </a:p>
          <a:p>
            <a:pPr marL="112713" indent="-112713">
              <a:buFont typeface="Arial" pitchFamily="34" charset="0"/>
              <a:buChar char="•"/>
            </a:pPr>
            <a:r>
              <a:rPr lang="en-US" sz="1200" dirty="0" smtClean="0">
                <a:solidFill>
                  <a:schemeClr val="tx1"/>
                </a:solidFill>
              </a:rPr>
              <a:t>Connect the Dots</a:t>
            </a:r>
          </a:p>
          <a:p>
            <a:pPr marL="112713" indent="-112713">
              <a:buFont typeface="Arial" pitchFamily="34" charset="0"/>
              <a:buChar char="•"/>
            </a:pPr>
            <a:r>
              <a:rPr lang="en-US" sz="1200" dirty="0" smtClean="0">
                <a:solidFill>
                  <a:schemeClr val="tx1"/>
                </a:solidFill>
              </a:rPr>
              <a:t>Ask the Right Questions</a:t>
            </a:r>
          </a:p>
          <a:p>
            <a:pPr marL="112713" indent="-112713">
              <a:buFont typeface="Arial" pitchFamily="34" charset="0"/>
              <a:buChar char="•"/>
            </a:pPr>
            <a:r>
              <a:rPr lang="en-US" sz="1200" dirty="0" smtClean="0">
                <a:solidFill>
                  <a:schemeClr val="tx1"/>
                </a:solidFill>
              </a:rPr>
              <a:t>Understand Issues</a:t>
            </a:r>
          </a:p>
          <a:p>
            <a:pPr marL="112713" indent="-112713">
              <a:buFont typeface="Arial" pitchFamily="34" charset="0"/>
              <a:buChar char="•"/>
            </a:pPr>
            <a:r>
              <a:rPr lang="en-US" sz="1200" dirty="0" smtClean="0">
                <a:solidFill>
                  <a:schemeClr val="tx1"/>
                </a:solidFill>
              </a:rPr>
              <a:t>Make Decisions</a:t>
            </a:r>
          </a:p>
          <a:p>
            <a:pPr marL="112713" indent="-112713">
              <a:buFont typeface="Arial" pitchFamily="34" charset="0"/>
              <a:buChar char="•"/>
            </a:pPr>
            <a:r>
              <a:rPr lang="en-US" sz="1200" dirty="0" smtClean="0">
                <a:solidFill>
                  <a:schemeClr val="tx1"/>
                </a:solidFill>
              </a:rPr>
              <a:t>Manage Uncertainty</a:t>
            </a:r>
          </a:p>
          <a:p>
            <a:pPr marL="112713" indent="-112713">
              <a:buFont typeface="Arial" pitchFamily="34" charset="0"/>
              <a:buChar char="•"/>
            </a:pPr>
            <a:r>
              <a:rPr lang="en-US" sz="1200" dirty="0" smtClean="0">
                <a:solidFill>
                  <a:schemeClr val="tx1"/>
                </a:solidFill>
              </a:rPr>
              <a:t>Get Sustainable Results</a:t>
            </a:r>
          </a:p>
        </p:txBody>
      </p:sp>
      <p:sp>
        <p:nvSpPr>
          <p:cNvPr id="45" name="Rounded Rectangle 44"/>
          <p:cNvSpPr/>
          <p:nvPr/>
        </p:nvSpPr>
        <p:spPr>
          <a:xfrm>
            <a:off x="4621439" y="2458520"/>
            <a:ext cx="1741967" cy="310408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12713" indent="-112713"/>
            <a:r>
              <a:rPr lang="en-US" sz="1200" dirty="0" smtClean="0">
                <a:solidFill>
                  <a:schemeClr val="tx1"/>
                </a:solidFill>
              </a:rPr>
              <a:t>Key Topics:</a:t>
            </a:r>
          </a:p>
          <a:p>
            <a:pPr marL="112713" indent="-112713">
              <a:buFont typeface="Arial" pitchFamily="34" charset="0"/>
              <a:buChar char="•"/>
            </a:pPr>
            <a:r>
              <a:rPr lang="en-US" sz="1200" dirty="0" smtClean="0">
                <a:solidFill>
                  <a:schemeClr val="tx1"/>
                </a:solidFill>
              </a:rPr>
              <a:t>Transform the Business</a:t>
            </a:r>
          </a:p>
          <a:p>
            <a:pPr marL="112713" indent="-112713">
              <a:buFont typeface="Arial" pitchFamily="34" charset="0"/>
              <a:buChar char="•"/>
            </a:pPr>
            <a:r>
              <a:rPr lang="en-US" sz="1200" dirty="0" smtClean="0">
                <a:solidFill>
                  <a:schemeClr val="tx1"/>
                </a:solidFill>
              </a:rPr>
              <a:t>Understand System Dynamics</a:t>
            </a:r>
          </a:p>
          <a:p>
            <a:pPr marL="112713" lvl="0" indent="-112713">
              <a:buFont typeface="Arial" pitchFamily="34" charset="0"/>
              <a:buChar char="•"/>
            </a:pPr>
            <a:r>
              <a:rPr lang="en-US" sz="1200" dirty="0" smtClean="0">
                <a:solidFill>
                  <a:schemeClr val="tx1"/>
                </a:solidFill>
              </a:rPr>
              <a:t>Increase System Perspective </a:t>
            </a:r>
          </a:p>
          <a:p>
            <a:pPr marL="112713" indent="-112713">
              <a:buFont typeface="Arial" pitchFamily="34" charset="0"/>
              <a:buChar char="•"/>
            </a:pPr>
            <a:r>
              <a:rPr lang="en-US" sz="1200" dirty="0" smtClean="0">
                <a:solidFill>
                  <a:schemeClr val="tx1"/>
                </a:solidFill>
              </a:rPr>
              <a:t>Understand Process Improvement</a:t>
            </a:r>
          </a:p>
          <a:p>
            <a:pPr marL="112713" indent="-112713">
              <a:buFont typeface="Arial" pitchFamily="34" charset="0"/>
              <a:buChar char="•"/>
            </a:pPr>
            <a:r>
              <a:rPr lang="en-US" sz="1200" dirty="0" smtClean="0">
                <a:solidFill>
                  <a:schemeClr val="tx1"/>
                </a:solidFill>
              </a:rPr>
              <a:t>Work Across Boundaries</a:t>
            </a:r>
          </a:p>
          <a:p>
            <a:pPr marL="112713" indent="-112713">
              <a:buFont typeface="Arial" pitchFamily="34" charset="0"/>
              <a:buChar char="•"/>
            </a:pPr>
            <a:r>
              <a:rPr lang="en-US" sz="1200" dirty="0" smtClean="0">
                <a:solidFill>
                  <a:schemeClr val="tx1"/>
                </a:solidFill>
              </a:rPr>
              <a:t>Manage Conflict </a:t>
            </a:r>
          </a:p>
          <a:p>
            <a:pPr marL="112713" indent="-112713">
              <a:buFont typeface="Arial" pitchFamily="34" charset="0"/>
              <a:buChar char="•"/>
            </a:pPr>
            <a:r>
              <a:rPr lang="en-US" sz="1200" dirty="0" smtClean="0">
                <a:solidFill>
                  <a:schemeClr val="tx1"/>
                </a:solidFill>
              </a:rPr>
              <a:t>Know your Audience</a:t>
            </a:r>
          </a:p>
          <a:p>
            <a:pPr marL="112713" indent="-112713">
              <a:buFont typeface="Arial" pitchFamily="34" charset="0"/>
              <a:buChar char="•"/>
            </a:pPr>
            <a:r>
              <a:rPr lang="en-US" sz="1200" dirty="0" smtClean="0">
                <a:solidFill>
                  <a:schemeClr val="tx1"/>
                </a:solidFill>
                <a:ea typeface="Calibri"/>
                <a:cs typeface="Times New Roman"/>
              </a:rPr>
              <a:t>Manage the Message</a:t>
            </a:r>
          </a:p>
          <a:p>
            <a:pPr marL="112713" lvl="0" indent="-112713">
              <a:buFont typeface="Arial" pitchFamily="34" charset="0"/>
              <a:buChar char="•"/>
            </a:pPr>
            <a:r>
              <a:rPr lang="en-US" sz="1200" dirty="0" smtClean="0">
                <a:solidFill>
                  <a:schemeClr val="tx1"/>
                </a:solidFill>
                <a:ea typeface="Calibri"/>
                <a:cs typeface="Times New Roman"/>
              </a:rPr>
              <a:t>Make Your Point</a:t>
            </a:r>
          </a:p>
        </p:txBody>
      </p:sp>
      <p:sp>
        <p:nvSpPr>
          <p:cNvPr id="46" name="Rounded Rectangle 45"/>
          <p:cNvSpPr/>
          <p:nvPr/>
        </p:nvSpPr>
        <p:spPr>
          <a:xfrm>
            <a:off x="6602639" y="2458520"/>
            <a:ext cx="1741967" cy="310408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12713" indent="-112713"/>
            <a:r>
              <a:rPr lang="en-US" sz="1200" dirty="0" smtClean="0">
                <a:solidFill>
                  <a:schemeClr val="tx1"/>
                </a:solidFill>
              </a:rPr>
              <a:t>Key Topics:</a:t>
            </a:r>
          </a:p>
          <a:p>
            <a:pPr marL="112713" lvl="0" indent="-112713">
              <a:buFont typeface="Arial" pitchFamily="34" charset="0"/>
              <a:buChar char="•"/>
            </a:pPr>
            <a:r>
              <a:rPr lang="en-US" sz="1200" dirty="0" smtClean="0">
                <a:solidFill>
                  <a:schemeClr val="tx1"/>
                </a:solidFill>
              </a:rPr>
              <a:t>Hire &amp; Keep the Best</a:t>
            </a:r>
          </a:p>
          <a:p>
            <a:pPr marL="112713" indent="-112713">
              <a:buFont typeface="Arial" pitchFamily="34" charset="0"/>
              <a:buChar char="•"/>
            </a:pPr>
            <a:r>
              <a:rPr lang="en-US" sz="1200" dirty="0" smtClean="0">
                <a:solidFill>
                  <a:schemeClr val="tx1"/>
                </a:solidFill>
              </a:rPr>
              <a:t>Delegate Authority</a:t>
            </a:r>
          </a:p>
          <a:p>
            <a:pPr marL="112713" indent="-112713">
              <a:buFont typeface="Arial" pitchFamily="34" charset="0"/>
              <a:buChar char="•"/>
            </a:pPr>
            <a:r>
              <a:rPr lang="en-US" sz="1200" dirty="0" smtClean="0">
                <a:solidFill>
                  <a:schemeClr val="tx1"/>
                </a:solidFill>
              </a:rPr>
              <a:t>Expect High Performance</a:t>
            </a:r>
          </a:p>
          <a:p>
            <a:pPr marL="112713" lvl="0" indent="-112713">
              <a:buFont typeface="Arial" pitchFamily="34" charset="0"/>
              <a:buChar char="•"/>
            </a:pPr>
            <a:r>
              <a:rPr lang="en-US" sz="1200" dirty="0" smtClean="0">
                <a:solidFill>
                  <a:schemeClr val="tx1"/>
                </a:solidFill>
              </a:rPr>
              <a:t>Increase your Leadership Impact</a:t>
            </a:r>
          </a:p>
          <a:p>
            <a:pPr marL="112713" indent="-112713">
              <a:buFont typeface="Arial" pitchFamily="34" charset="0"/>
              <a:buChar char="•"/>
            </a:pPr>
            <a:r>
              <a:rPr lang="en-US" sz="1200" dirty="0" smtClean="0">
                <a:solidFill>
                  <a:schemeClr val="tx1"/>
                </a:solidFill>
              </a:rPr>
              <a:t>Live the Values</a:t>
            </a:r>
          </a:p>
          <a:p>
            <a:pPr marL="112713" indent="-112713">
              <a:buFont typeface="Arial" pitchFamily="34" charset="0"/>
              <a:buChar char="•"/>
            </a:pPr>
            <a:endParaRPr lang="en-US" sz="1200" dirty="0" smtClean="0">
              <a:solidFill>
                <a:schemeClr val="tx1"/>
              </a:solidFill>
            </a:endParaRPr>
          </a:p>
        </p:txBody>
      </p:sp>
      <p:sp>
        <p:nvSpPr>
          <p:cNvPr id="47" name="Rounded Rectangle 46"/>
          <p:cNvSpPr/>
          <p:nvPr/>
        </p:nvSpPr>
        <p:spPr>
          <a:xfrm>
            <a:off x="659039" y="2458520"/>
            <a:ext cx="1741967" cy="198120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12713" indent="-112713"/>
            <a:r>
              <a:rPr lang="en-US" sz="1200" dirty="0" smtClean="0">
                <a:solidFill>
                  <a:schemeClr val="tx1"/>
                </a:solidFill>
              </a:rPr>
              <a:t>Key Steps:</a:t>
            </a:r>
          </a:p>
          <a:p>
            <a:pPr marL="112713" indent="-112713">
              <a:buFont typeface="Arial" pitchFamily="34" charset="0"/>
              <a:buChar char="•"/>
            </a:pPr>
            <a:r>
              <a:rPr lang="en-US" sz="1200" dirty="0" smtClean="0">
                <a:solidFill>
                  <a:schemeClr val="tx1"/>
                </a:solidFill>
              </a:rPr>
              <a:t>Live 360 interviews </a:t>
            </a:r>
          </a:p>
          <a:p>
            <a:pPr marL="112713" indent="-112713">
              <a:buFont typeface="Arial" pitchFamily="34" charset="0"/>
              <a:buChar char="•"/>
            </a:pPr>
            <a:r>
              <a:rPr lang="en-US" sz="1200" dirty="0" smtClean="0">
                <a:solidFill>
                  <a:schemeClr val="tx1"/>
                </a:solidFill>
              </a:rPr>
              <a:t>Complete online assessment</a:t>
            </a:r>
          </a:p>
          <a:p>
            <a:pPr marL="112713" indent="-112713">
              <a:buFont typeface="Arial" pitchFamily="34" charset="0"/>
              <a:buChar char="•"/>
            </a:pPr>
            <a:r>
              <a:rPr lang="en-US" sz="1200" dirty="0" smtClean="0">
                <a:solidFill>
                  <a:schemeClr val="tx1"/>
                </a:solidFill>
              </a:rPr>
              <a:t>Receive feedback from 3</a:t>
            </a:r>
            <a:r>
              <a:rPr lang="en-US" sz="1200" baseline="30000" dirty="0" smtClean="0">
                <a:solidFill>
                  <a:schemeClr val="tx1"/>
                </a:solidFill>
              </a:rPr>
              <a:t>rd</a:t>
            </a:r>
            <a:r>
              <a:rPr lang="en-US" sz="1200" dirty="0" smtClean="0">
                <a:solidFill>
                  <a:schemeClr val="tx1"/>
                </a:solidFill>
              </a:rPr>
              <a:t> party assessor</a:t>
            </a:r>
          </a:p>
          <a:p>
            <a:pPr marL="112713" indent="-112713">
              <a:buFont typeface="Arial" pitchFamily="34" charset="0"/>
              <a:buChar char="•"/>
            </a:pPr>
            <a:r>
              <a:rPr lang="en-US" sz="1200" dirty="0" smtClean="0">
                <a:solidFill>
                  <a:schemeClr val="tx1"/>
                </a:solidFill>
              </a:rPr>
              <a:t>Draft development plan</a:t>
            </a:r>
          </a:p>
          <a:p>
            <a:pPr marL="112713" indent="-112713"/>
            <a:endParaRPr lang="en-US" sz="1200" dirty="0" smtClean="0">
              <a:solidFill>
                <a:schemeClr val="tx1"/>
              </a:solidFill>
            </a:endParaRPr>
          </a:p>
          <a:p>
            <a:pPr marL="112713" indent="-112713">
              <a:buFont typeface="Arial" pitchFamily="34" charset="0"/>
              <a:buChar char="•"/>
            </a:pPr>
            <a:endParaRPr lang="en-US" sz="1200" dirty="0" smtClean="0">
              <a:solidFill>
                <a:schemeClr val="tx1"/>
              </a:solidFill>
            </a:endParaRPr>
          </a:p>
          <a:p>
            <a:pPr marL="112713" indent="-112713">
              <a:buFont typeface="Arial" pitchFamily="34" charset="0"/>
              <a:buChar char="•"/>
            </a:pPr>
            <a:endParaRPr lang="en-US" sz="1200" dirty="0" smtClean="0">
              <a:solidFill>
                <a:schemeClr val="tx1"/>
              </a:solidFill>
            </a:endParaRPr>
          </a:p>
          <a:p>
            <a:pPr marL="112713" indent="-112713">
              <a:buFont typeface="Arial" pitchFamily="34" charset="0"/>
              <a:buChar char="•"/>
            </a:pPr>
            <a:endParaRPr lang="en-US" sz="1200" dirty="0" smtClean="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r>
              <a:rPr lang="en-US" sz="3000" dirty="0" smtClean="0"/>
              <a:t>Expectations and Time Commitment </a:t>
            </a:r>
            <a:endParaRPr lang="en-US" sz="3000" dirty="0"/>
          </a:p>
        </p:txBody>
      </p:sp>
      <p:sp>
        <p:nvSpPr>
          <p:cNvPr id="3" name="Content Placeholder 2"/>
          <p:cNvSpPr>
            <a:spLocks noGrp="1"/>
          </p:cNvSpPr>
          <p:nvPr>
            <p:ph sz="half" idx="1"/>
          </p:nvPr>
        </p:nvSpPr>
        <p:spPr>
          <a:xfrm>
            <a:off x="457200" y="1905000"/>
            <a:ext cx="8229600" cy="3810000"/>
          </a:xfrm>
          <a:noFill/>
          <a:ln w="28575">
            <a:solidFill>
              <a:srgbClr val="00AA50"/>
            </a:solidFill>
          </a:ln>
        </p:spPr>
        <p:txBody>
          <a:bodyPr/>
          <a:lstStyle/>
          <a:p>
            <a:pPr>
              <a:buNone/>
            </a:pPr>
            <a:r>
              <a:rPr lang="en-US" sz="1800" b="1" dirty="0" smtClean="0">
                <a:solidFill>
                  <a:srgbClr val="0070C0"/>
                </a:solidFill>
              </a:rPr>
              <a:t>Expectations of Participant:</a:t>
            </a:r>
          </a:p>
          <a:p>
            <a:r>
              <a:rPr lang="en-US" sz="1800" dirty="0" smtClean="0">
                <a:solidFill>
                  <a:schemeClr val="tx1"/>
                </a:solidFill>
              </a:rPr>
              <a:t>That you are able to attend all workshops without conflict or interruption</a:t>
            </a:r>
          </a:p>
          <a:p>
            <a:r>
              <a:rPr lang="en-US" sz="1800" dirty="0" smtClean="0">
                <a:solidFill>
                  <a:schemeClr val="tx1"/>
                </a:solidFill>
              </a:rPr>
              <a:t>That you complete any pre-read materials required for workshops (minimal)</a:t>
            </a:r>
          </a:p>
          <a:p>
            <a:r>
              <a:rPr lang="en-US" sz="1800" dirty="0" smtClean="0">
                <a:solidFill>
                  <a:schemeClr val="tx1"/>
                </a:solidFill>
              </a:rPr>
              <a:t>That you have a discussion with your leader before and after the workshops to align your objective and create an environment of support</a:t>
            </a:r>
          </a:p>
          <a:p>
            <a:r>
              <a:rPr lang="en-US" sz="1800" dirty="0" smtClean="0">
                <a:solidFill>
                  <a:schemeClr val="tx1"/>
                </a:solidFill>
              </a:rPr>
              <a:t>That you focus on your development by actively seeking input, feedback and resources to support you</a:t>
            </a:r>
          </a:p>
          <a:p>
            <a:pPr>
              <a:buNone/>
            </a:pPr>
            <a:endParaRPr lang="en-US" sz="1800" dirty="0" smtClean="0">
              <a:solidFill>
                <a:schemeClr val="tx1"/>
              </a:solidFill>
            </a:endParaRPr>
          </a:p>
          <a:p>
            <a:pPr>
              <a:buNone/>
            </a:pPr>
            <a:r>
              <a:rPr lang="en-US" sz="1800" b="1" dirty="0" smtClean="0">
                <a:solidFill>
                  <a:schemeClr val="accent1"/>
                </a:solidFill>
              </a:rPr>
              <a:t>Time Commitment over the Year:</a:t>
            </a:r>
          </a:p>
          <a:p>
            <a:r>
              <a:rPr lang="en-US" sz="1800" dirty="0" smtClean="0">
                <a:solidFill>
                  <a:schemeClr val="tx1"/>
                </a:solidFill>
              </a:rPr>
              <a:t>Assessment: 4-5 hours</a:t>
            </a:r>
          </a:p>
          <a:p>
            <a:r>
              <a:rPr lang="en-US" sz="1800" dirty="0" smtClean="0">
                <a:solidFill>
                  <a:schemeClr val="tx1"/>
                </a:solidFill>
              </a:rPr>
              <a:t>Workshops: 7.5 days </a:t>
            </a:r>
          </a:p>
          <a:p>
            <a:endParaRPr lang="en-US" sz="1800" dirty="0" smtClean="0">
              <a:solidFill>
                <a:schemeClr val="tx1"/>
              </a:solidFill>
            </a:endParaRPr>
          </a:p>
        </p:txBody>
      </p:sp>
      <p:sp>
        <p:nvSpPr>
          <p:cNvPr id="14" name="Slide Number Placeholder 13"/>
          <p:cNvSpPr>
            <a:spLocks noGrp="1"/>
          </p:cNvSpPr>
          <p:nvPr>
            <p:ph type="sldNum" sz="quarter" idx="10"/>
          </p:nvPr>
        </p:nvSpPr>
        <p:spPr/>
        <p:txBody>
          <a:bodyPr/>
          <a:lstStyle/>
          <a:p>
            <a:pPr>
              <a:defRPr/>
            </a:pPr>
            <a:fld id="{01D945C9-0277-4107-B589-EC55ECD240BC}" type="slidenum">
              <a:rPr lang="en-US" smtClean="0"/>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sz="3200" dirty="0" smtClean="0"/>
              <a:t>Agenda</a:t>
            </a:r>
            <a:endParaRPr lang="en-US" sz="3200" dirty="0"/>
          </a:p>
        </p:txBody>
      </p:sp>
      <p:sp>
        <p:nvSpPr>
          <p:cNvPr id="3" name="Content Placeholder 2"/>
          <p:cNvSpPr>
            <a:spLocks noGrp="1"/>
          </p:cNvSpPr>
          <p:nvPr>
            <p:ph sz="half" idx="1"/>
          </p:nvPr>
        </p:nvSpPr>
        <p:spPr>
          <a:xfrm>
            <a:off x="762000" y="1600200"/>
            <a:ext cx="7391400" cy="3962400"/>
          </a:xfrm>
          <a:solidFill>
            <a:schemeClr val="accent3">
              <a:lumMod val="20000"/>
              <a:lumOff val="80000"/>
            </a:schemeClr>
          </a:solidFill>
          <a:ln w="28575">
            <a:solidFill>
              <a:schemeClr val="accent1"/>
            </a:solidFill>
          </a:ln>
        </p:spPr>
        <p:txBody>
          <a:bodyPr/>
          <a:lstStyle/>
          <a:p>
            <a:pPr>
              <a:spcBef>
                <a:spcPts val="1200"/>
              </a:spcBef>
              <a:buClr>
                <a:srgbClr val="009D57"/>
              </a:buClr>
              <a:buFont typeface="Tw Cen MT" pitchFamily="34" charset="0"/>
              <a:buChar char="•"/>
            </a:pPr>
            <a:r>
              <a:rPr lang="en-US" sz="2400" dirty="0" smtClean="0"/>
              <a:t>Children’s Leadership Competencies and the 2013 Development Plan</a:t>
            </a:r>
          </a:p>
          <a:p>
            <a:pPr>
              <a:spcBef>
                <a:spcPts val="1200"/>
              </a:spcBef>
              <a:buClr>
                <a:srgbClr val="009D57"/>
              </a:buClr>
              <a:buFont typeface="Tw Cen MT" pitchFamily="34" charset="0"/>
              <a:buChar char="•"/>
            </a:pPr>
            <a:r>
              <a:rPr lang="en-US" sz="2400" dirty="0" smtClean="0">
                <a:solidFill>
                  <a:schemeClr val="tx1"/>
                </a:solidFill>
              </a:rPr>
              <a:t>Overview of </a:t>
            </a:r>
            <a:r>
              <a:rPr lang="en-US" sz="2400" b="1" i="1" dirty="0" smtClean="0">
                <a:solidFill>
                  <a:schemeClr val="tx1"/>
                </a:solidFill>
              </a:rPr>
              <a:t>Leader Next</a:t>
            </a:r>
            <a:endParaRPr lang="en-US" sz="2400" dirty="0" smtClean="0">
              <a:solidFill>
                <a:schemeClr val="tx1"/>
              </a:solidFill>
            </a:endParaRPr>
          </a:p>
          <a:p>
            <a:pPr lvl="1">
              <a:spcBef>
                <a:spcPts val="1200"/>
              </a:spcBef>
              <a:buClr>
                <a:srgbClr val="009D57"/>
              </a:buClr>
              <a:buFont typeface="Tw Cen MT" pitchFamily="34" charset="0"/>
              <a:buChar char="•"/>
            </a:pPr>
            <a:r>
              <a:rPr lang="en-US" sz="2000" dirty="0" smtClean="0">
                <a:solidFill>
                  <a:schemeClr val="tx1"/>
                </a:solidFill>
              </a:rPr>
              <a:t>Participants</a:t>
            </a:r>
          </a:p>
          <a:p>
            <a:pPr lvl="1">
              <a:spcBef>
                <a:spcPts val="1200"/>
              </a:spcBef>
              <a:buClr>
                <a:srgbClr val="009D57"/>
              </a:buClr>
              <a:buFont typeface="Tw Cen MT" pitchFamily="34" charset="0"/>
              <a:buChar char="•"/>
            </a:pPr>
            <a:r>
              <a:rPr lang="en-US" sz="2000" dirty="0" smtClean="0">
                <a:solidFill>
                  <a:schemeClr val="tx1"/>
                </a:solidFill>
              </a:rPr>
              <a:t>The Experience</a:t>
            </a:r>
          </a:p>
          <a:p>
            <a:pPr lvl="1">
              <a:spcBef>
                <a:spcPts val="1200"/>
              </a:spcBef>
              <a:buClr>
                <a:srgbClr val="009D57"/>
              </a:buClr>
              <a:buFont typeface="Tw Cen MT" pitchFamily="34" charset="0"/>
              <a:buChar char="•"/>
            </a:pPr>
            <a:r>
              <a:rPr lang="en-US" sz="2000" dirty="0" smtClean="0">
                <a:solidFill>
                  <a:schemeClr val="tx1"/>
                </a:solidFill>
              </a:rPr>
              <a:t>Expectations and Time Commitment</a:t>
            </a:r>
          </a:p>
          <a:p>
            <a:pPr>
              <a:spcBef>
                <a:spcPts val="1200"/>
              </a:spcBef>
              <a:buClr>
                <a:srgbClr val="009D57"/>
              </a:buClr>
              <a:buFont typeface="Tw Cen MT" pitchFamily="34" charset="0"/>
              <a:buChar char="•"/>
            </a:pPr>
            <a:r>
              <a:rPr lang="en-US" sz="2400" dirty="0" smtClean="0">
                <a:solidFill>
                  <a:srgbClr val="0070C0"/>
                </a:solidFill>
              </a:rPr>
              <a:t>Next Steps</a:t>
            </a:r>
          </a:p>
          <a:p>
            <a:pPr lvl="1">
              <a:spcBef>
                <a:spcPts val="1200"/>
              </a:spcBef>
              <a:buClr>
                <a:srgbClr val="009D57"/>
              </a:buClr>
              <a:buFont typeface="Tw Cen MT" pitchFamily="34" charset="0"/>
              <a:buChar char="•"/>
            </a:pPr>
            <a:r>
              <a:rPr lang="en-US" sz="2000" dirty="0" smtClean="0">
                <a:solidFill>
                  <a:srgbClr val="0070C0"/>
                </a:solidFill>
              </a:rPr>
              <a:t>The Assessment Process</a:t>
            </a:r>
          </a:p>
          <a:p>
            <a:pPr>
              <a:spcBef>
                <a:spcPts val="1200"/>
              </a:spcBef>
              <a:buClr>
                <a:srgbClr val="009D57"/>
              </a:buClr>
              <a:buFont typeface="Tw Cen MT" pitchFamily="34" charset="0"/>
              <a:buChar char="•"/>
            </a:pPr>
            <a:endParaRPr lang="en-US" sz="2400" dirty="0"/>
          </a:p>
        </p:txBody>
      </p:sp>
      <p:sp>
        <p:nvSpPr>
          <p:cNvPr id="5" name="Slide Number Placeholder 4"/>
          <p:cNvSpPr>
            <a:spLocks noGrp="1"/>
          </p:cNvSpPr>
          <p:nvPr>
            <p:ph type="sldNum" sz="quarter" idx="10"/>
          </p:nvPr>
        </p:nvSpPr>
        <p:spPr/>
        <p:txBody>
          <a:bodyPr/>
          <a:lstStyle/>
          <a:p>
            <a:pPr>
              <a:defRPr/>
            </a:pPr>
            <a:fld id="{01D945C9-0277-4107-B589-EC55ECD240BC}"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Types of Assessment </a:t>
            </a:r>
            <a:endParaRPr lang="en-US" dirty="0"/>
          </a:p>
        </p:txBody>
      </p:sp>
      <p:sp>
        <p:nvSpPr>
          <p:cNvPr id="10" name="Text Placeholder 9"/>
          <p:cNvSpPr>
            <a:spLocks noGrp="1"/>
          </p:cNvSpPr>
          <p:nvPr>
            <p:ph type="body" idx="1"/>
          </p:nvPr>
        </p:nvSpPr>
        <p:spPr>
          <a:xfrm>
            <a:off x="457200" y="1859664"/>
            <a:ext cx="4040188" cy="528392"/>
          </a:xfrm>
          <a:solidFill>
            <a:srgbClr val="009D57"/>
          </a:solidFill>
        </p:spPr>
        <p:txBody>
          <a:bodyPr/>
          <a:lstStyle/>
          <a:p>
            <a:pPr algn="ctr"/>
            <a:r>
              <a:rPr lang="en-US" dirty="0" smtClean="0">
                <a:solidFill>
                  <a:schemeClr val="bg1"/>
                </a:solidFill>
              </a:rPr>
              <a:t>Inside Out	</a:t>
            </a:r>
            <a:endParaRPr lang="en-US" dirty="0">
              <a:solidFill>
                <a:schemeClr val="bg1"/>
              </a:solidFill>
            </a:endParaRPr>
          </a:p>
        </p:txBody>
      </p:sp>
      <p:sp>
        <p:nvSpPr>
          <p:cNvPr id="11" name="Content Placeholder 10"/>
          <p:cNvSpPr>
            <a:spLocks noGrp="1"/>
          </p:cNvSpPr>
          <p:nvPr>
            <p:ph sz="half" idx="2"/>
          </p:nvPr>
        </p:nvSpPr>
        <p:spPr>
          <a:xfrm>
            <a:off x="457200" y="2540456"/>
            <a:ext cx="4040188" cy="3250744"/>
          </a:xfrm>
          <a:ln w="28575">
            <a:solidFill>
              <a:srgbClr val="009D57"/>
            </a:solidFill>
          </a:ln>
        </p:spPr>
        <p:txBody>
          <a:bodyPr/>
          <a:lstStyle/>
          <a:p>
            <a:pPr marL="225425" indent="-225425" algn="ctr">
              <a:buNone/>
            </a:pPr>
            <a:r>
              <a:rPr lang="en-US" dirty="0" smtClean="0"/>
              <a:t>How you see yourself</a:t>
            </a:r>
          </a:p>
          <a:p>
            <a:pPr marL="225425" indent="-225425"/>
            <a:r>
              <a:rPr lang="en-US" sz="1800" dirty="0" smtClean="0"/>
              <a:t>In-depth interview </a:t>
            </a:r>
          </a:p>
          <a:p>
            <a:pPr marL="225425" indent="-225425"/>
            <a:r>
              <a:rPr lang="en-US" sz="1800" dirty="0" smtClean="0"/>
              <a:t>3 Hogan Assessments:</a:t>
            </a:r>
          </a:p>
          <a:p>
            <a:pPr marL="625475" lvl="1" indent="-225425">
              <a:buFont typeface="+mj-lt"/>
              <a:buAutoNum type="arabicPeriod"/>
            </a:pPr>
            <a:r>
              <a:rPr lang="en-US" sz="1800" dirty="0" smtClean="0"/>
              <a:t> Your leadership style</a:t>
            </a:r>
          </a:p>
          <a:p>
            <a:pPr marL="625475" lvl="1" indent="-225425">
              <a:buFont typeface="+mj-lt"/>
              <a:buAutoNum type="arabicPeriod"/>
            </a:pPr>
            <a:r>
              <a:rPr lang="en-US" sz="1800" dirty="0" smtClean="0"/>
              <a:t> Potential leadership challenges</a:t>
            </a:r>
          </a:p>
          <a:p>
            <a:pPr marL="625475" lvl="1" indent="-225425">
              <a:buFont typeface="+mj-lt"/>
              <a:buAutoNum type="arabicPeriod"/>
            </a:pPr>
            <a:r>
              <a:rPr lang="en-US" sz="1800" dirty="0" smtClean="0"/>
              <a:t> What motivates you</a:t>
            </a:r>
            <a:endParaRPr lang="en-US" sz="1800" dirty="0"/>
          </a:p>
        </p:txBody>
      </p:sp>
      <p:sp>
        <p:nvSpPr>
          <p:cNvPr id="12" name="Text Placeholder 11"/>
          <p:cNvSpPr>
            <a:spLocks noGrp="1"/>
          </p:cNvSpPr>
          <p:nvPr>
            <p:ph type="body" sz="quarter" idx="3"/>
          </p:nvPr>
        </p:nvSpPr>
        <p:spPr>
          <a:xfrm>
            <a:off x="4645025" y="1859664"/>
            <a:ext cx="4041775" cy="528392"/>
          </a:xfrm>
          <a:solidFill>
            <a:srgbClr val="009D57"/>
          </a:solidFill>
        </p:spPr>
        <p:txBody>
          <a:bodyPr/>
          <a:lstStyle/>
          <a:p>
            <a:pPr algn="ctr"/>
            <a:r>
              <a:rPr lang="en-US" dirty="0" smtClean="0">
                <a:solidFill>
                  <a:schemeClr val="bg1"/>
                </a:solidFill>
              </a:rPr>
              <a:t>Outside In</a:t>
            </a:r>
            <a:endParaRPr lang="en-US" dirty="0">
              <a:solidFill>
                <a:schemeClr val="bg1"/>
              </a:solidFill>
            </a:endParaRPr>
          </a:p>
        </p:txBody>
      </p:sp>
      <p:sp>
        <p:nvSpPr>
          <p:cNvPr id="13" name="Content Placeholder 12"/>
          <p:cNvSpPr>
            <a:spLocks noGrp="1"/>
          </p:cNvSpPr>
          <p:nvPr>
            <p:ph sz="quarter" idx="4"/>
          </p:nvPr>
        </p:nvSpPr>
        <p:spPr>
          <a:xfrm>
            <a:off x="4645025" y="2540456"/>
            <a:ext cx="4041775" cy="3250744"/>
          </a:xfrm>
          <a:ln w="28575">
            <a:solidFill>
              <a:srgbClr val="009D57"/>
            </a:solidFill>
          </a:ln>
        </p:spPr>
        <p:txBody>
          <a:bodyPr/>
          <a:lstStyle/>
          <a:p>
            <a:pPr algn="ctr">
              <a:buNone/>
            </a:pPr>
            <a:r>
              <a:rPr lang="en-US" dirty="0" smtClean="0"/>
              <a:t>How others see you</a:t>
            </a:r>
          </a:p>
          <a:p>
            <a:r>
              <a:rPr lang="en-US" sz="1800" dirty="0" smtClean="0"/>
              <a:t>Live 360 format </a:t>
            </a:r>
          </a:p>
          <a:p>
            <a:r>
              <a:rPr lang="en-US" sz="1800" dirty="0" smtClean="0"/>
              <a:t>7-9 raters</a:t>
            </a:r>
          </a:p>
          <a:p>
            <a:r>
              <a:rPr lang="en-US" sz="1800" dirty="0" smtClean="0"/>
              <a:t>Based on new leader competencies</a:t>
            </a:r>
            <a:endParaRPr lang="en-US" sz="1800" dirty="0"/>
          </a:p>
        </p:txBody>
      </p:sp>
      <p:sp>
        <p:nvSpPr>
          <p:cNvPr id="26" name="Slide Number Placeholder 3"/>
          <p:cNvSpPr txBox="1">
            <a:spLocks/>
          </p:cNvSpPr>
          <p:nvPr/>
        </p:nvSpPr>
        <p:spPr>
          <a:xfrm>
            <a:off x="8763000" y="6492875"/>
            <a:ext cx="3810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1D945C9-0277-4107-B589-EC55ECD240BC}" type="slidenum">
              <a:rPr kumimoji="0" lang="en-US" sz="1100" b="0" i="0" u="none" strike="noStrike" kern="1200" cap="none" spc="0" normalizeH="0" baseline="0" noProof="0" smtClean="0">
                <a:ln>
                  <a:noFill/>
                </a:ln>
                <a:solidFill>
                  <a:schemeClr val="bg1">
                    <a:lumMod val="50000"/>
                  </a:schemeClr>
                </a:solidFill>
                <a:effectLst/>
                <a:uLnTx/>
                <a:uFillTx/>
                <a:latin typeface="+mj-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schemeClr val="bg1">
                  <a:lumMod val="50000"/>
                </a:schemeClr>
              </a:solidFill>
              <a:effectLst/>
              <a:uLnTx/>
              <a:uFillTx/>
              <a:latin typeface="+mj-lt"/>
              <a:ea typeface="+mn-ea"/>
              <a:cs typeface="+mn-cs"/>
            </a:endParaRPr>
          </a:p>
        </p:txBody>
      </p:sp>
      <p:pic>
        <p:nvPicPr>
          <p:cNvPr id="29699" name="Picture 3"/>
          <p:cNvPicPr>
            <a:picLocks noChangeAspect="1" noChangeArrowheads="1"/>
          </p:cNvPicPr>
          <p:nvPr/>
        </p:nvPicPr>
        <p:blipFill>
          <a:blip r:embed="rId3" cstate="print"/>
          <a:srcRect/>
          <a:stretch>
            <a:fillRect/>
          </a:stretch>
        </p:blipFill>
        <p:spPr bwMode="auto">
          <a:xfrm>
            <a:off x="5334000" y="3810000"/>
            <a:ext cx="2456146" cy="1793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200" y="228600"/>
            <a:ext cx="8229600" cy="990600"/>
          </a:xfrm>
        </p:spPr>
        <p:txBody>
          <a:bodyPr/>
          <a:lstStyle/>
          <a:p>
            <a:r>
              <a:rPr lang="en-US" sz="3200" dirty="0" smtClean="0"/>
              <a:t>Who Will Assess Me?</a:t>
            </a:r>
          </a:p>
        </p:txBody>
      </p:sp>
      <p:sp>
        <p:nvSpPr>
          <p:cNvPr id="5" name="Content Placeholder 4"/>
          <p:cNvSpPr>
            <a:spLocks noGrp="1"/>
          </p:cNvSpPr>
          <p:nvPr>
            <p:ph idx="1"/>
          </p:nvPr>
        </p:nvSpPr>
        <p:spPr>
          <a:xfrm>
            <a:off x="457200" y="1524000"/>
            <a:ext cx="8229600" cy="4343400"/>
          </a:xfrm>
        </p:spPr>
        <p:txBody>
          <a:bodyPr/>
          <a:lstStyle/>
          <a:p>
            <a:pPr marL="381000" indent="-381000" eaLnBrk="1" hangingPunct="1">
              <a:lnSpc>
                <a:spcPct val="115000"/>
              </a:lnSpc>
              <a:buFontTx/>
              <a:buNone/>
            </a:pPr>
            <a:r>
              <a:rPr lang="en-US" sz="2400" b="1" dirty="0" smtClean="0">
                <a:solidFill>
                  <a:srgbClr val="0070C0"/>
                </a:solidFill>
              </a:rPr>
              <a:t>Aon Hewitt Consulting</a:t>
            </a:r>
          </a:p>
          <a:p>
            <a:pPr marL="381000" indent="-381000" eaLnBrk="1" hangingPunct="1">
              <a:lnSpc>
                <a:spcPct val="115000"/>
              </a:lnSpc>
              <a:buClr>
                <a:srgbClr val="009D57"/>
              </a:buClr>
            </a:pPr>
            <a:r>
              <a:rPr lang="en-US" sz="2400" dirty="0" smtClean="0"/>
              <a:t>World leader in executive assessment</a:t>
            </a:r>
          </a:p>
          <a:p>
            <a:pPr marL="381000" indent="-381000" eaLnBrk="1" hangingPunct="1">
              <a:lnSpc>
                <a:spcPct val="115000"/>
              </a:lnSpc>
              <a:buClr>
                <a:srgbClr val="009D57"/>
              </a:buClr>
            </a:pPr>
            <a:r>
              <a:rPr lang="en-US" sz="2400" dirty="0" smtClean="0"/>
              <a:t>PhD and Master’s level consultants with deep expertise in executive assessment and coaching</a:t>
            </a:r>
          </a:p>
          <a:p>
            <a:pPr marL="381000" indent="-381000" eaLnBrk="1" hangingPunct="1">
              <a:lnSpc>
                <a:spcPct val="115000"/>
              </a:lnSpc>
              <a:buClr>
                <a:srgbClr val="009D57"/>
              </a:buClr>
            </a:pPr>
            <a:r>
              <a:rPr lang="en-US" sz="2400" dirty="0" smtClean="0"/>
              <a:t>Your assigned consultant will:</a:t>
            </a:r>
          </a:p>
          <a:p>
            <a:pPr marL="781050" lvl="1" indent="-381000" eaLnBrk="1" hangingPunct="1">
              <a:lnSpc>
                <a:spcPct val="115000"/>
              </a:lnSpc>
              <a:buClr>
                <a:srgbClr val="009D57"/>
              </a:buClr>
            </a:pPr>
            <a:r>
              <a:rPr lang="en-US" sz="2000" dirty="0" smtClean="0"/>
              <a:t>Interview you</a:t>
            </a:r>
          </a:p>
          <a:p>
            <a:pPr marL="781050" lvl="1" indent="-381000" eaLnBrk="1" hangingPunct="1">
              <a:lnSpc>
                <a:spcPct val="115000"/>
              </a:lnSpc>
              <a:buClr>
                <a:srgbClr val="009D57"/>
              </a:buClr>
            </a:pPr>
            <a:r>
              <a:rPr lang="en-US" sz="2000" dirty="0" smtClean="0"/>
              <a:t>Interview the raters you select</a:t>
            </a:r>
          </a:p>
          <a:p>
            <a:pPr marL="781050" lvl="1" indent="-381000" eaLnBrk="1" hangingPunct="1">
              <a:lnSpc>
                <a:spcPct val="115000"/>
              </a:lnSpc>
              <a:buClr>
                <a:srgbClr val="009D57"/>
              </a:buClr>
            </a:pPr>
            <a:r>
              <a:rPr lang="en-US" sz="2000" dirty="0" smtClean="0"/>
              <a:t>Write the report </a:t>
            </a:r>
          </a:p>
          <a:p>
            <a:pPr marL="781050" lvl="1" indent="-381000" eaLnBrk="1" hangingPunct="1">
              <a:lnSpc>
                <a:spcPct val="115000"/>
              </a:lnSpc>
              <a:buClr>
                <a:srgbClr val="009D57"/>
              </a:buClr>
            </a:pPr>
            <a:r>
              <a:rPr lang="en-US" sz="2000" dirty="0" smtClean="0"/>
              <a:t>Conduct a face to face feedback session with you</a:t>
            </a:r>
          </a:p>
          <a:p>
            <a:pPr>
              <a:buNone/>
            </a:pPr>
            <a:endParaRPr lang="en-US" dirty="0"/>
          </a:p>
        </p:txBody>
      </p:sp>
      <p:sp>
        <p:nvSpPr>
          <p:cNvPr id="4" name="Slide Number Placeholder 3"/>
          <p:cNvSpPr txBox="1">
            <a:spLocks noGrp="1"/>
          </p:cNvSpPr>
          <p:nvPr/>
        </p:nvSpPr>
        <p:spPr>
          <a:xfrm>
            <a:off x="8382000" y="6543675"/>
            <a:ext cx="381000" cy="365125"/>
          </a:xfrm>
          <a:prstGeom prst="rect">
            <a:avLst/>
          </a:prstGeom>
          <a:noFill/>
        </p:spPr>
        <p:txBody>
          <a:bodyPr anchor="ctr"/>
          <a:lstStyle/>
          <a:p>
            <a:pPr algn="r" fontAlgn="auto">
              <a:spcBef>
                <a:spcPts val="0"/>
              </a:spcBef>
              <a:spcAft>
                <a:spcPts val="0"/>
              </a:spcAft>
              <a:defRPr/>
            </a:pPr>
            <a:fld id="{0B260747-CDCA-4703-BC3A-19C99B2F69FD}" type="slidenum">
              <a:rPr lang="en-US" sz="1100">
                <a:solidFill>
                  <a:schemeClr val="bg1">
                    <a:lumMod val="50000"/>
                  </a:schemeClr>
                </a:solidFill>
                <a:latin typeface="+mj-lt"/>
              </a:rPr>
              <a:pPr algn="r" fontAlgn="auto">
                <a:spcBef>
                  <a:spcPts val="0"/>
                </a:spcBef>
                <a:spcAft>
                  <a:spcPts val="0"/>
                </a:spcAft>
                <a:defRPr/>
              </a:pPr>
              <a:t>13</a:t>
            </a:fld>
            <a:endParaRPr lang="en-US" sz="1100" dirty="0">
              <a:solidFill>
                <a:schemeClr val="bg1">
                  <a:lumMod val="50000"/>
                </a:schemeClr>
              </a:solidFill>
              <a:latin typeface="+mj-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nvGraphicFramePr>
        <p:xfrm>
          <a:off x="385949" y="228600"/>
          <a:ext cx="8401051"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457200" y="228600"/>
            <a:ext cx="8229600" cy="762000"/>
          </a:xfrm>
        </p:spPr>
        <p:txBody>
          <a:bodyPr/>
          <a:lstStyle/>
          <a:p>
            <a:r>
              <a:rPr lang="en-US" sz="3200" dirty="0" smtClean="0"/>
              <a:t>The Assessment Process</a:t>
            </a:r>
            <a:endParaRPr lang="en-US" sz="3200" dirty="0"/>
          </a:p>
        </p:txBody>
      </p:sp>
      <p:sp>
        <p:nvSpPr>
          <p:cNvPr id="26" name="Slide Number Placeholder 3"/>
          <p:cNvSpPr txBox="1">
            <a:spLocks/>
          </p:cNvSpPr>
          <p:nvPr/>
        </p:nvSpPr>
        <p:spPr>
          <a:xfrm>
            <a:off x="8763000" y="6492875"/>
            <a:ext cx="3810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1D945C9-0277-4107-B589-EC55ECD240BC}" type="slidenum">
              <a:rPr kumimoji="0" lang="en-US" sz="1100" b="0" i="0" u="none" strike="noStrike" kern="1200" cap="none" spc="0" normalizeH="0" baseline="0" noProof="0" smtClean="0">
                <a:ln>
                  <a:noFill/>
                </a:ln>
                <a:solidFill>
                  <a:schemeClr val="bg1">
                    <a:lumMod val="50000"/>
                  </a:schemeClr>
                </a:solidFill>
                <a:effectLst/>
                <a:uLnTx/>
                <a:uFillTx/>
                <a:latin typeface="+mj-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dirty="0">
              <a:ln>
                <a:noFill/>
              </a:ln>
              <a:solidFill>
                <a:schemeClr val="bg1">
                  <a:lumMod val="50000"/>
                </a:schemeClr>
              </a:solidFill>
              <a:effectLst/>
              <a:uLnTx/>
              <a:uFillTx/>
              <a:latin typeface="+mj-lt"/>
              <a:ea typeface="+mn-ea"/>
              <a:cs typeface="+mn-cs"/>
            </a:endParaRPr>
          </a:p>
        </p:txBody>
      </p:sp>
      <p:sp>
        <p:nvSpPr>
          <p:cNvPr id="9" name="Content Placeholder 2"/>
          <p:cNvSpPr>
            <a:spLocks noGrp="1"/>
          </p:cNvSpPr>
          <p:nvPr>
            <p:ph idx="4294967295"/>
          </p:nvPr>
        </p:nvSpPr>
        <p:spPr>
          <a:xfrm>
            <a:off x="277488" y="2632496"/>
            <a:ext cx="2160912" cy="3844504"/>
          </a:xfrm>
          <a:solidFill>
            <a:schemeClr val="bg1"/>
          </a:solidFill>
          <a:ln>
            <a:noFill/>
          </a:ln>
        </p:spPr>
        <p:txBody>
          <a:bodyPr/>
          <a:lstStyle/>
          <a:p>
            <a:pPr marL="225425" indent="-225425">
              <a:buNone/>
            </a:pPr>
            <a:r>
              <a:rPr lang="en-US" sz="1400" b="1" dirty="0" smtClean="0">
                <a:solidFill>
                  <a:schemeClr val="tx1"/>
                </a:solidFill>
              </a:rPr>
              <a:t>April 5-12: </a:t>
            </a:r>
          </a:p>
          <a:p>
            <a:pPr marL="225425" indent="-225425"/>
            <a:r>
              <a:rPr lang="en-US" sz="1400" dirty="0" smtClean="0">
                <a:solidFill>
                  <a:schemeClr val="tx1"/>
                </a:solidFill>
              </a:rPr>
              <a:t>Select your raters and discuss with your manager</a:t>
            </a:r>
          </a:p>
          <a:p>
            <a:pPr marL="225425" indent="-225425">
              <a:buNone/>
            </a:pPr>
            <a:r>
              <a:rPr lang="en-US" sz="1400" b="1" dirty="0" smtClean="0">
                <a:solidFill>
                  <a:schemeClr val="tx1"/>
                </a:solidFill>
              </a:rPr>
              <a:t>April 12:</a:t>
            </a:r>
          </a:p>
          <a:p>
            <a:pPr marL="225425" indent="-225425"/>
            <a:r>
              <a:rPr lang="en-US" sz="1400" dirty="0" smtClean="0">
                <a:solidFill>
                  <a:schemeClr val="tx1"/>
                </a:solidFill>
              </a:rPr>
              <a:t>Submit your approved rater list to Jennifer Ferrara in Learning</a:t>
            </a:r>
          </a:p>
          <a:p>
            <a:pPr marL="225425" indent="-225425">
              <a:buNone/>
            </a:pPr>
            <a:r>
              <a:rPr lang="en-US" sz="1400" b="1" dirty="0" smtClean="0">
                <a:solidFill>
                  <a:schemeClr val="tx1"/>
                </a:solidFill>
              </a:rPr>
              <a:t>April 15:</a:t>
            </a:r>
          </a:p>
          <a:p>
            <a:pPr marL="225425" indent="-225425"/>
            <a:r>
              <a:rPr lang="en-US" sz="1400" dirty="0" smtClean="0">
                <a:solidFill>
                  <a:schemeClr val="tx1"/>
                </a:solidFill>
              </a:rPr>
              <a:t>Send pre-written email to invite your raters to provide feedback</a:t>
            </a:r>
          </a:p>
          <a:p>
            <a:pPr marL="225425" indent="-225425">
              <a:buNone/>
            </a:pPr>
            <a:r>
              <a:rPr lang="en-US" sz="1400" b="1" dirty="0" smtClean="0">
                <a:solidFill>
                  <a:schemeClr val="tx1"/>
                </a:solidFill>
              </a:rPr>
              <a:t>April 22:</a:t>
            </a:r>
          </a:p>
          <a:p>
            <a:pPr marL="225425" indent="-225425"/>
            <a:r>
              <a:rPr lang="en-US" sz="1400" dirty="0" smtClean="0">
                <a:solidFill>
                  <a:schemeClr val="tx1"/>
                </a:solidFill>
              </a:rPr>
              <a:t>Your one hour interview with Aon Hewitt will be scheduled</a:t>
            </a:r>
          </a:p>
        </p:txBody>
      </p:sp>
      <p:sp>
        <p:nvSpPr>
          <p:cNvPr id="14" name="Content Placeholder 2"/>
          <p:cNvSpPr>
            <a:spLocks noGrp="1"/>
          </p:cNvSpPr>
          <p:nvPr>
            <p:ph idx="4294967295"/>
          </p:nvPr>
        </p:nvSpPr>
        <p:spPr>
          <a:xfrm>
            <a:off x="2454218" y="2616678"/>
            <a:ext cx="2211234" cy="3510150"/>
          </a:xfrm>
          <a:solidFill>
            <a:schemeClr val="bg1"/>
          </a:solidFill>
          <a:ln>
            <a:noFill/>
          </a:ln>
        </p:spPr>
        <p:txBody>
          <a:bodyPr/>
          <a:lstStyle/>
          <a:p>
            <a:pPr marL="225425" indent="-225425">
              <a:buNone/>
            </a:pPr>
            <a:r>
              <a:rPr lang="en-US" sz="1400" b="1" dirty="0" smtClean="0">
                <a:solidFill>
                  <a:schemeClr val="tx1"/>
                </a:solidFill>
              </a:rPr>
              <a:t>April 23:</a:t>
            </a:r>
          </a:p>
          <a:p>
            <a:pPr marL="225425" indent="-225425"/>
            <a:r>
              <a:rPr lang="en-US" sz="1400" dirty="0" smtClean="0">
                <a:solidFill>
                  <a:schemeClr val="tx1"/>
                </a:solidFill>
              </a:rPr>
              <a:t>You will receive an email with your unique login information from Aon Hewitt</a:t>
            </a:r>
          </a:p>
          <a:p>
            <a:pPr marL="225425" indent="-225425">
              <a:buNone/>
            </a:pPr>
            <a:r>
              <a:rPr lang="en-US" sz="1400" b="1" dirty="0" smtClean="0">
                <a:solidFill>
                  <a:schemeClr val="tx1"/>
                </a:solidFill>
              </a:rPr>
              <a:t>May 3:</a:t>
            </a:r>
          </a:p>
          <a:p>
            <a:pPr marL="225425" indent="-225425"/>
            <a:r>
              <a:rPr lang="en-US" sz="1400" dirty="0" smtClean="0">
                <a:solidFill>
                  <a:schemeClr val="tx1"/>
                </a:solidFill>
              </a:rPr>
              <a:t>Deadline to complete three Hogan Assessments online (60 minutes)</a:t>
            </a:r>
          </a:p>
        </p:txBody>
      </p:sp>
      <p:sp>
        <p:nvSpPr>
          <p:cNvPr id="15" name="Content Placeholder 2"/>
          <p:cNvSpPr>
            <a:spLocks noGrp="1"/>
          </p:cNvSpPr>
          <p:nvPr>
            <p:ph idx="4294967295"/>
          </p:nvPr>
        </p:nvSpPr>
        <p:spPr>
          <a:xfrm>
            <a:off x="4735894" y="2623870"/>
            <a:ext cx="2209800" cy="3510150"/>
          </a:xfrm>
          <a:solidFill>
            <a:schemeClr val="bg1"/>
          </a:solidFill>
          <a:ln>
            <a:noFill/>
          </a:ln>
        </p:spPr>
        <p:txBody>
          <a:bodyPr/>
          <a:lstStyle/>
          <a:p>
            <a:pPr marL="225425" indent="-225425">
              <a:buNone/>
            </a:pPr>
            <a:r>
              <a:rPr lang="en-US" sz="1400" b="1" dirty="0" smtClean="0">
                <a:solidFill>
                  <a:schemeClr val="tx1"/>
                </a:solidFill>
              </a:rPr>
              <a:t>May 20 – June 4:</a:t>
            </a:r>
          </a:p>
          <a:p>
            <a:pPr marL="225425" indent="-225425"/>
            <a:r>
              <a:rPr lang="en-US" sz="1400" dirty="0" smtClean="0">
                <a:solidFill>
                  <a:schemeClr val="tx1"/>
                </a:solidFill>
              </a:rPr>
              <a:t>Your two-hour feedback session will be scheduled with Aon Hewitt</a:t>
            </a:r>
          </a:p>
          <a:p>
            <a:pPr marL="225425" indent="-225425"/>
            <a:r>
              <a:rPr lang="en-US" sz="1400" dirty="0" smtClean="0">
                <a:solidFill>
                  <a:schemeClr val="tx1"/>
                </a:solidFill>
              </a:rPr>
              <a:t>Begin development conversation with Aon Hewitt assessor</a:t>
            </a:r>
          </a:p>
        </p:txBody>
      </p:sp>
      <p:sp>
        <p:nvSpPr>
          <p:cNvPr id="10" name="Content Placeholder 2"/>
          <p:cNvSpPr>
            <a:spLocks noGrp="1"/>
          </p:cNvSpPr>
          <p:nvPr>
            <p:ph idx="4294967295"/>
          </p:nvPr>
        </p:nvSpPr>
        <p:spPr>
          <a:xfrm>
            <a:off x="6944260" y="2590800"/>
            <a:ext cx="2133600" cy="3510150"/>
          </a:xfrm>
          <a:solidFill>
            <a:schemeClr val="bg1"/>
          </a:solidFill>
          <a:ln>
            <a:noFill/>
          </a:ln>
        </p:spPr>
        <p:txBody>
          <a:bodyPr/>
          <a:lstStyle/>
          <a:p>
            <a:pPr marL="225425" indent="-225425">
              <a:buNone/>
            </a:pPr>
            <a:r>
              <a:rPr lang="en-US" sz="1400" b="1" dirty="0" smtClean="0">
                <a:solidFill>
                  <a:schemeClr val="tx1"/>
                </a:solidFill>
              </a:rPr>
              <a:t>June 10-14:</a:t>
            </a:r>
          </a:p>
          <a:p>
            <a:pPr marL="225425" indent="-225425"/>
            <a:r>
              <a:rPr lang="en-US" sz="1400" dirty="0" smtClean="0">
                <a:solidFill>
                  <a:schemeClr val="tx1"/>
                </a:solidFill>
              </a:rPr>
              <a:t>Finalize development plan</a:t>
            </a:r>
          </a:p>
          <a:p>
            <a:pPr marL="225425" indent="-225425">
              <a:buNone/>
            </a:pPr>
            <a:r>
              <a:rPr lang="en-US" sz="1400" b="1" dirty="0" smtClean="0">
                <a:solidFill>
                  <a:schemeClr val="tx1"/>
                </a:solidFill>
              </a:rPr>
              <a:t>June 17-21:</a:t>
            </a:r>
          </a:p>
          <a:p>
            <a:pPr marL="225425" indent="-225425"/>
            <a:r>
              <a:rPr lang="en-US" sz="1400" dirty="0" smtClean="0">
                <a:solidFill>
                  <a:schemeClr val="tx1"/>
                </a:solidFill>
              </a:rPr>
              <a:t>Your HR partner will schedule a meeting to review &amp; discuss your development plan</a:t>
            </a:r>
          </a:p>
          <a:p>
            <a:pPr marL="225425" indent="-225425">
              <a:buNone/>
            </a:pPr>
            <a:r>
              <a:rPr lang="en-US" sz="1400" b="1" dirty="0" smtClean="0">
                <a:solidFill>
                  <a:schemeClr val="tx1"/>
                </a:solidFill>
              </a:rPr>
              <a:t>June 21-28:</a:t>
            </a:r>
          </a:p>
          <a:p>
            <a:pPr marL="225425" indent="-225425"/>
            <a:r>
              <a:rPr lang="en-US" sz="1400" dirty="0" smtClean="0">
                <a:solidFill>
                  <a:schemeClr val="tx1"/>
                </a:solidFill>
              </a:rPr>
              <a:t>Share updated development plan with manager </a:t>
            </a:r>
          </a:p>
        </p:txBody>
      </p:sp>
      <p:sp>
        <p:nvSpPr>
          <p:cNvPr id="11" name="TextBox 10"/>
          <p:cNvSpPr txBox="1"/>
          <p:nvPr/>
        </p:nvSpPr>
        <p:spPr>
          <a:xfrm>
            <a:off x="381000" y="1219200"/>
            <a:ext cx="8279831" cy="369332"/>
          </a:xfrm>
          <a:prstGeom prst="rect">
            <a:avLst/>
          </a:prstGeom>
          <a:noFill/>
        </p:spPr>
        <p:txBody>
          <a:bodyPr wrap="none" rtlCol="0">
            <a:spAutoFit/>
          </a:bodyPr>
          <a:lstStyle/>
          <a:p>
            <a:r>
              <a:rPr lang="en-US" b="1" dirty="0" smtClean="0">
                <a:latin typeface="+mj-lt"/>
              </a:rPr>
              <a:t>  April 5 – 22                April 23 – May 3            May 20 – June 4            June 10 – 28</a:t>
            </a:r>
            <a:endParaRPr lang="en-US" b="1" dirty="0">
              <a:latin typeface="+mj-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lstStyle/>
          <a:p>
            <a:r>
              <a:rPr lang="en-US" sz="3200" dirty="0" smtClean="0"/>
              <a:t>Rater Selection Guidelines</a:t>
            </a:r>
            <a:endParaRPr lang="en-US" sz="3200" dirty="0"/>
          </a:p>
        </p:txBody>
      </p:sp>
      <p:sp>
        <p:nvSpPr>
          <p:cNvPr id="26" name="Slide Number Placeholder 3"/>
          <p:cNvSpPr txBox="1">
            <a:spLocks/>
          </p:cNvSpPr>
          <p:nvPr/>
        </p:nvSpPr>
        <p:spPr>
          <a:xfrm>
            <a:off x="8763000" y="6492875"/>
            <a:ext cx="3810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1D945C9-0277-4107-B589-EC55ECD240BC}" type="slidenum">
              <a:rPr kumimoji="0" lang="en-US" sz="1100" b="0" i="0" u="none" strike="noStrike" kern="1200" cap="none" spc="0" normalizeH="0" baseline="0" noProof="0" smtClean="0">
                <a:ln>
                  <a:noFill/>
                </a:ln>
                <a:solidFill>
                  <a:schemeClr val="bg1">
                    <a:lumMod val="50000"/>
                  </a:schemeClr>
                </a:solidFill>
                <a:effectLst/>
                <a:uLnTx/>
                <a:uFillTx/>
                <a:latin typeface="+mj-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dirty="0">
              <a:ln>
                <a:noFill/>
              </a:ln>
              <a:solidFill>
                <a:schemeClr val="bg1">
                  <a:lumMod val="50000"/>
                </a:schemeClr>
              </a:solidFill>
              <a:effectLst/>
              <a:uLnTx/>
              <a:uFillTx/>
              <a:latin typeface="+mj-lt"/>
              <a:ea typeface="+mn-ea"/>
              <a:cs typeface="+mn-cs"/>
            </a:endParaRPr>
          </a:p>
        </p:txBody>
      </p:sp>
      <p:graphicFrame>
        <p:nvGraphicFramePr>
          <p:cNvPr id="8" name="Table 7"/>
          <p:cNvGraphicFramePr>
            <a:graphicFrameLocks noGrp="1"/>
          </p:cNvGraphicFramePr>
          <p:nvPr/>
        </p:nvGraphicFramePr>
        <p:xfrm>
          <a:off x="457200" y="1195450"/>
          <a:ext cx="8229600" cy="2570480"/>
        </p:xfrm>
        <a:graphic>
          <a:graphicData uri="http://schemas.openxmlformats.org/drawingml/2006/table">
            <a:tbl>
              <a:tblPr firstRow="1" bandRow="1">
                <a:tableStyleId>{74C1A8A3-306A-4EB7-A6B1-4F7E0EB9C5D6}</a:tableStyleId>
              </a:tblPr>
              <a:tblGrid>
                <a:gridCol w="3581400"/>
                <a:gridCol w="4648200"/>
              </a:tblGrid>
              <a:tr h="370840">
                <a:tc>
                  <a:txBody>
                    <a:bodyPr/>
                    <a:lstStyle/>
                    <a:p>
                      <a:r>
                        <a:rPr lang="en-US" dirty="0" smtClean="0"/>
                        <a:t>Rater</a:t>
                      </a:r>
                      <a:r>
                        <a:rPr lang="en-US" baseline="0" dirty="0" smtClean="0"/>
                        <a:t> Category</a:t>
                      </a:r>
                      <a:endParaRPr lang="en-US" dirty="0">
                        <a:solidFill>
                          <a:sysClr val="windowText" lastClr="000000"/>
                        </a:solidFill>
                      </a:endParaRPr>
                    </a:p>
                  </a:txBody>
                  <a:tcPr>
                    <a:solidFill>
                      <a:srgbClr val="0070C0"/>
                    </a:solidFill>
                  </a:tcPr>
                </a:tc>
                <a:tc>
                  <a:txBody>
                    <a:bodyPr/>
                    <a:lstStyle/>
                    <a:p>
                      <a:r>
                        <a:rPr lang="en-US" dirty="0" smtClean="0"/>
                        <a:t>Rater Name</a:t>
                      </a:r>
                      <a:endParaRPr lang="en-US" dirty="0">
                        <a:solidFill>
                          <a:sysClr val="windowText" lastClr="000000"/>
                        </a:solidFill>
                      </a:endParaRPr>
                    </a:p>
                  </a:txBody>
                  <a:tcPr>
                    <a:solidFill>
                      <a:srgbClr val="0070C0"/>
                    </a:solidFill>
                  </a:tcPr>
                </a:tc>
              </a:tr>
              <a:tr h="370840">
                <a:tc>
                  <a:txBody>
                    <a:bodyPr/>
                    <a:lstStyle/>
                    <a:p>
                      <a:r>
                        <a:rPr lang="en-US" dirty="0" smtClean="0"/>
                        <a:t>Direct</a:t>
                      </a:r>
                      <a:r>
                        <a:rPr lang="en-US" baseline="0" dirty="0" smtClean="0"/>
                        <a:t> </a:t>
                      </a:r>
                      <a:r>
                        <a:rPr lang="en-US" dirty="0" smtClean="0"/>
                        <a:t>Manager</a:t>
                      </a:r>
                      <a:endParaRPr lang="en-US" dirty="0"/>
                    </a:p>
                  </a:txBody>
                  <a:tcPr anchor="ctr">
                    <a:solidFill>
                      <a:schemeClr val="accent1">
                        <a:lumMod val="20000"/>
                        <a:lumOff val="80000"/>
                      </a:schemeClr>
                    </a:solidFill>
                  </a:tcPr>
                </a:tc>
                <a:tc>
                  <a:txBody>
                    <a:bodyPr/>
                    <a:lstStyle/>
                    <a:p>
                      <a:pPr>
                        <a:buFont typeface="Arial" pitchFamily="34" charset="0"/>
                        <a:buChar char="•"/>
                      </a:pPr>
                      <a:r>
                        <a:rPr lang="en-US" dirty="0" smtClean="0"/>
                        <a:t> </a:t>
                      </a:r>
                      <a:endParaRPr lang="en-US" dirty="0"/>
                    </a:p>
                  </a:txBody>
                  <a:tcPr>
                    <a:solidFill>
                      <a:schemeClr val="accent1">
                        <a:lumMod val="20000"/>
                        <a:lumOff val="80000"/>
                      </a:schemeClr>
                    </a:solidFill>
                  </a:tcPr>
                </a:tc>
              </a:tr>
              <a:tr h="370840">
                <a:tc>
                  <a:txBody>
                    <a:bodyPr/>
                    <a:lstStyle/>
                    <a:p>
                      <a:r>
                        <a:rPr lang="en-US" dirty="0" smtClean="0"/>
                        <a:t>Peers</a:t>
                      </a:r>
                      <a:r>
                        <a:rPr lang="en-US" baseline="0" dirty="0" smtClean="0"/>
                        <a:t> / Business Partners </a:t>
                      </a:r>
                    </a:p>
                    <a:p>
                      <a:r>
                        <a:rPr lang="en-US" baseline="0" dirty="0" smtClean="0"/>
                        <a:t>(select 3-4)</a:t>
                      </a:r>
                      <a:endParaRPr lang="en-US" dirty="0"/>
                    </a:p>
                  </a:txBody>
                  <a:tcPr anchor="ctr"/>
                </a:tc>
                <a:tc>
                  <a:txBody>
                    <a:bodyPr/>
                    <a:lstStyle/>
                    <a:p>
                      <a:pPr>
                        <a:buFont typeface="Arial" pitchFamily="34" charset="0"/>
                        <a:buChar char="•"/>
                      </a:pPr>
                      <a:r>
                        <a:rPr lang="en-US" dirty="0" smtClean="0"/>
                        <a:t>  </a:t>
                      </a:r>
                    </a:p>
                    <a:p>
                      <a:pPr>
                        <a:buFont typeface="Arial" pitchFamily="34" charset="0"/>
                        <a:buChar char="•"/>
                      </a:pPr>
                      <a:r>
                        <a:rPr lang="en-US" dirty="0" smtClean="0"/>
                        <a:t> </a:t>
                      </a:r>
                    </a:p>
                    <a:p>
                      <a:pPr>
                        <a:buFont typeface="Arial" pitchFamily="34" charset="0"/>
                        <a:buChar char="•"/>
                      </a:pPr>
                      <a:r>
                        <a:rPr lang="en-US" dirty="0" smtClean="0"/>
                        <a:t> </a:t>
                      </a:r>
                      <a:endParaRPr lang="en-US" dirty="0"/>
                    </a:p>
                  </a:txBody>
                  <a:tcPr/>
                </a:tc>
              </a:tr>
              <a:tr h="370840">
                <a:tc>
                  <a:txBody>
                    <a:bodyPr/>
                    <a:lstStyle/>
                    <a:p>
                      <a:r>
                        <a:rPr lang="en-US" dirty="0" smtClean="0"/>
                        <a:t>Direct</a:t>
                      </a:r>
                      <a:r>
                        <a:rPr lang="en-US" baseline="0" dirty="0" smtClean="0"/>
                        <a:t> Reports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(select 3-4)</a:t>
                      </a:r>
                      <a:endParaRPr lang="en-US" dirty="0" smtClean="0"/>
                    </a:p>
                  </a:txBody>
                  <a:tcPr anchor="ctr">
                    <a:solidFill>
                      <a:schemeClr val="accent1">
                        <a:lumMod val="20000"/>
                        <a:lumOff val="80000"/>
                      </a:schemeClr>
                    </a:solidFill>
                  </a:tcPr>
                </a:tc>
                <a:tc>
                  <a:txBody>
                    <a:bodyPr/>
                    <a:lstStyle/>
                    <a:p>
                      <a:pPr>
                        <a:buFont typeface="Arial" pitchFamily="34" charset="0"/>
                        <a:buChar char="•"/>
                      </a:pPr>
                      <a:r>
                        <a:rPr lang="en-US" dirty="0" smtClean="0"/>
                        <a:t> </a:t>
                      </a:r>
                    </a:p>
                    <a:p>
                      <a:pPr>
                        <a:buFont typeface="Arial" pitchFamily="34" charset="0"/>
                        <a:buChar char="•"/>
                      </a:pPr>
                      <a:r>
                        <a:rPr lang="en-US" dirty="0" smtClean="0"/>
                        <a:t> </a:t>
                      </a:r>
                    </a:p>
                    <a:p>
                      <a:pPr>
                        <a:buFont typeface="Arial" pitchFamily="34" charset="0"/>
                        <a:buChar char="•"/>
                      </a:pPr>
                      <a:r>
                        <a:rPr lang="en-US" dirty="0" smtClean="0"/>
                        <a:t> </a:t>
                      </a:r>
                      <a:endParaRPr lang="en-US" dirty="0"/>
                    </a:p>
                  </a:txBody>
                  <a:tcPr>
                    <a:solidFill>
                      <a:schemeClr val="accent1">
                        <a:lumMod val="20000"/>
                        <a:lumOff val="80000"/>
                      </a:schemeClr>
                    </a:solidFill>
                  </a:tcPr>
                </a:tc>
              </a:tr>
            </a:tbl>
          </a:graphicData>
        </a:graphic>
      </p:graphicFrame>
      <p:sp>
        <p:nvSpPr>
          <p:cNvPr id="10" name="TextBox 9"/>
          <p:cNvSpPr txBox="1"/>
          <p:nvPr/>
        </p:nvSpPr>
        <p:spPr>
          <a:xfrm>
            <a:off x="457200" y="4683825"/>
            <a:ext cx="8229600" cy="1477328"/>
          </a:xfrm>
          <a:prstGeom prst="rect">
            <a:avLst/>
          </a:prstGeom>
          <a:solidFill>
            <a:srgbClr val="009D57"/>
          </a:solidFill>
          <a:ln>
            <a:solidFill>
              <a:schemeClr val="accent1"/>
            </a:solidFill>
          </a:ln>
        </p:spPr>
        <p:txBody>
          <a:bodyPr wrap="square" rtlCol="0">
            <a:spAutoFit/>
          </a:bodyPr>
          <a:lstStyle/>
          <a:p>
            <a:r>
              <a:rPr lang="en-US" u="sng" dirty="0" smtClean="0">
                <a:solidFill>
                  <a:schemeClr val="bg1"/>
                </a:solidFill>
                <a:latin typeface="+mn-lt"/>
              </a:rPr>
              <a:t>Who do I choose?</a:t>
            </a:r>
          </a:p>
          <a:p>
            <a:pPr marL="285750" lvl="0" indent="-285750">
              <a:buFont typeface="Arial" pitchFamily="34" charset="0"/>
              <a:buChar char="•"/>
            </a:pPr>
            <a:r>
              <a:rPr lang="en-US" dirty="0" smtClean="0">
                <a:solidFill>
                  <a:schemeClr val="bg1"/>
                </a:solidFill>
                <a:latin typeface="+mn-lt"/>
              </a:rPr>
              <a:t>People that know your work and style well</a:t>
            </a:r>
          </a:p>
          <a:p>
            <a:pPr marL="285750" lvl="0" indent="-285750">
              <a:buFont typeface="Arial" pitchFamily="34" charset="0"/>
              <a:buChar char="•"/>
            </a:pPr>
            <a:r>
              <a:rPr lang="en-US" dirty="0" smtClean="0">
                <a:solidFill>
                  <a:schemeClr val="bg1"/>
                </a:solidFill>
                <a:latin typeface="+mn-lt"/>
              </a:rPr>
              <a:t>People who will be objective and honest in their appraisal, not just friends </a:t>
            </a:r>
          </a:p>
          <a:p>
            <a:pPr marL="285750" lvl="0" indent="-285750">
              <a:buFont typeface="Arial" pitchFamily="34" charset="0"/>
              <a:buChar char="•"/>
            </a:pPr>
            <a:r>
              <a:rPr lang="en-US" dirty="0" smtClean="0">
                <a:solidFill>
                  <a:schemeClr val="bg1"/>
                </a:solidFill>
                <a:latin typeface="+mn-lt"/>
              </a:rPr>
              <a:t>People who are not afraid to give constructive feedback to leaders</a:t>
            </a:r>
          </a:p>
          <a:p>
            <a:pPr marL="285750" lvl="0" indent="-285750">
              <a:buFont typeface="Arial" pitchFamily="34" charset="0"/>
              <a:buChar char="•"/>
            </a:pPr>
            <a:r>
              <a:rPr lang="en-US" dirty="0" smtClean="0">
                <a:solidFill>
                  <a:schemeClr val="bg1"/>
                </a:solidFill>
                <a:latin typeface="+mn-lt"/>
              </a:rPr>
              <a:t>People who will exercise discretion around confidentiality</a:t>
            </a:r>
            <a:endParaRPr lang="en-US" dirty="0">
              <a:solidFill>
                <a:schemeClr val="bg1"/>
              </a:solidFill>
            </a:endParaRPr>
          </a:p>
        </p:txBody>
      </p:sp>
      <p:sp>
        <p:nvSpPr>
          <p:cNvPr id="11" name="TextBox 10"/>
          <p:cNvSpPr txBox="1"/>
          <p:nvPr/>
        </p:nvSpPr>
        <p:spPr>
          <a:xfrm>
            <a:off x="457200" y="3898075"/>
            <a:ext cx="8229600" cy="646331"/>
          </a:xfrm>
          <a:prstGeom prst="rect">
            <a:avLst/>
          </a:prstGeom>
          <a:solidFill>
            <a:srgbClr val="FF0000"/>
          </a:solidFill>
          <a:ln>
            <a:noFill/>
          </a:ln>
        </p:spPr>
        <p:txBody>
          <a:bodyPr wrap="square" rtlCol="0">
            <a:spAutoFit/>
          </a:bodyPr>
          <a:lstStyle/>
          <a:p>
            <a:r>
              <a:rPr lang="en-US" u="sng" dirty="0" smtClean="0">
                <a:solidFill>
                  <a:schemeClr val="bg1"/>
                </a:solidFill>
                <a:latin typeface="+mn-lt"/>
              </a:rPr>
              <a:t>How many raters?</a:t>
            </a:r>
          </a:p>
          <a:p>
            <a:pPr marL="285750" lvl="0" indent="-285750">
              <a:buFont typeface="Arial" pitchFamily="34" charset="0"/>
              <a:buChar char="•"/>
            </a:pPr>
            <a:r>
              <a:rPr lang="en-US" dirty="0" smtClean="0">
                <a:solidFill>
                  <a:schemeClr val="bg1"/>
                </a:solidFill>
                <a:latin typeface="+mn-lt"/>
              </a:rPr>
              <a:t>At least 7 but no more than 9</a:t>
            </a:r>
            <a:endParaRPr lang="en-US" dirty="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762000"/>
          </a:xfrm>
        </p:spPr>
        <p:txBody>
          <a:bodyPr/>
          <a:lstStyle/>
          <a:p>
            <a:pPr algn="ctr"/>
            <a:r>
              <a:rPr lang="en-US" dirty="0" smtClean="0"/>
              <a:t>Congratulations and Thank You!</a:t>
            </a:r>
            <a:endParaRPr lang="en-US" dirty="0"/>
          </a:p>
        </p:txBody>
      </p:sp>
      <p:sp>
        <p:nvSpPr>
          <p:cNvPr id="4" name="Slide Number Placeholder 3"/>
          <p:cNvSpPr>
            <a:spLocks noGrp="1"/>
          </p:cNvSpPr>
          <p:nvPr>
            <p:ph type="sldNum" sz="quarter" idx="10"/>
          </p:nvPr>
        </p:nvSpPr>
        <p:spPr/>
        <p:txBody>
          <a:bodyPr/>
          <a:lstStyle/>
          <a:p>
            <a:pPr>
              <a:defRPr/>
            </a:pPr>
            <a:fld id="{01D945C9-0277-4107-B589-EC55ECD240BC}" type="slidenum">
              <a:rPr lang="en-US" smtClean="0"/>
              <a:pPr>
                <a:defRPr/>
              </a:pPr>
              <a:t>16</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012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w Cen MT">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B0FB2C6ABEC65479E8AA3347DD68E86" ma:contentTypeVersion="0" ma:contentTypeDescription="Create a new document." ma:contentTypeScope="" ma:versionID="a2d51b441e9a126f29512c348ec8f8ed">
  <xsd:schema xmlns:xsd="http://www.w3.org/2001/XMLSchema" xmlns:xs="http://www.w3.org/2001/XMLSchema" xmlns:p="http://schemas.microsoft.com/office/2006/metadata/properties" xmlns:ns2="ba5c537b-76b1-4cd5-9d4c-86b4b8c0019a" targetNamespace="http://schemas.microsoft.com/office/2006/metadata/properties" ma:root="true" ma:fieldsID="039c945749aff10dd2fa070e50eba845" ns2:_="">
    <xsd:import namespace="ba5c537b-76b1-4cd5-9d4c-86b4b8c0019a"/>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c537b-76b1-4cd5-9d4c-86b4b8c0019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A9D14F-C51F-40D1-964D-79174CFB373E}">
  <ds:schemaRefs>
    <ds:schemaRef ds:uri="http://schemas.microsoft.com/sharepoint/events"/>
  </ds:schemaRefs>
</ds:datastoreItem>
</file>

<file path=customXml/itemProps2.xml><?xml version="1.0" encoding="utf-8"?>
<ds:datastoreItem xmlns:ds="http://schemas.openxmlformats.org/officeDocument/2006/customXml" ds:itemID="{7A2734BC-A3C4-46C6-8948-71C8C5B1A97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ba5c537b-76b1-4cd5-9d4c-86b4b8c0019a"/>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6A36295A-B945-4C82-8C6B-F853A8DC4A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c537b-76b1-4cd5-9d4c-86b4b8c001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D963D8ED-181A-432D-AE19-FA0D5420CD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9204</TotalTime>
  <Words>1387</Words>
  <Application>Microsoft Office PowerPoint</Application>
  <PresentationFormat>On-screen Show (4:3)</PresentationFormat>
  <Paragraphs>314</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2012 Template</vt:lpstr>
      <vt:lpstr>Leader Next</vt:lpstr>
      <vt:lpstr>Agenda</vt:lpstr>
      <vt:lpstr>Children’s Competencies lead the way</vt:lpstr>
      <vt:lpstr>Slide 4</vt:lpstr>
      <vt:lpstr>2013 Leader Development Plan</vt:lpstr>
      <vt:lpstr>Agenda</vt:lpstr>
      <vt:lpstr>2013 Leader Next Participants</vt:lpstr>
      <vt:lpstr>What will I gain from Leader Next?</vt:lpstr>
      <vt:lpstr>Leader Next Program At a Glance</vt:lpstr>
      <vt:lpstr>Expectations and Time Commitment </vt:lpstr>
      <vt:lpstr>Agenda</vt:lpstr>
      <vt:lpstr>Two Types of Assessment </vt:lpstr>
      <vt:lpstr>Who Will Assess Me?</vt:lpstr>
      <vt:lpstr>The Assessment Process</vt:lpstr>
      <vt:lpstr>Rater Selection Guidelines</vt:lpstr>
      <vt:lpstr>Congratulations and Thank You!</vt:lpstr>
    </vt:vector>
  </TitlesOfParts>
  <Company>Children's Healthcare of Atlanta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Children’s Healthcare of Atlanta</dc:title>
  <dc:creator>Chris Thornton</dc:creator>
  <cp:lastModifiedBy>jennifer ferrara</cp:lastModifiedBy>
  <cp:revision>898</cp:revision>
  <cp:lastPrinted>2012-03-27T20:50:30Z</cp:lastPrinted>
  <dcterms:created xsi:type="dcterms:W3CDTF">2012-03-06T21:24:02Z</dcterms:created>
  <dcterms:modified xsi:type="dcterms:W3CDTF">2013-06-19T13:57:31Z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0x0101001B0FB2C6ABEC65479E8AA3347DD68E86</vt:lpwstr>
  </property>
</Properties>
</file>