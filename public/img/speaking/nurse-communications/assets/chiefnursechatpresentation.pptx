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customXml/itemProps4.xml" ContentType="application/vnd.openxmlformats-officedocument.customXmlProperti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  <p:sldMasterId id="2147483674" r:id="rId6"/>
  </p:sldMasterIdLst>
  <p:notesMasterIdLst>
    <p:notesMasterId r:id="rId14"/>
  </p:notesMasterIdLst>
  <p:sldIdLst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366" autoAdjust="0"/>
  </p:normalViewPr>
  <p:slideViewPr>
    <p:cSldViewPr>
      <p:cViewPr varScale="1">
        <p:scale>
          <a:sx n="57" d="100"/>
          <a:sy n="57" d="100"/>
        </p:scale>
        <p:origin x="-88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FA9EF3-0520-4128-B499-AF03EA4BD04C}" type="datetimeFigureOut">
              <a:rPr lang="en-US" smtClean="0"/>
              <a:pPr/>
              <a:t>06/11/2013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86870-0F0C-4FDA-92F8-3A91934D09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106D10A-9E57-4931-AB59-7F95947A1540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0F6FB6-CFB1-42A5-83E5-890ED37D6131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B86870-0F0C-4FDA-92F8-3A91934D09E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685800" y="3733800"/>
            <a:ext cx="77724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197725" y="5249863"/>
            <a:ext cx="1946275" cy="160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b" anchorCtr="0">
            <a:normAutofit/>
          </a:bodyPr>
          <a:lstStyle>
            <a:lvl1pPr algn="l"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6400800" cy="9144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685800" y="3733800"/>
            <a:ext cx="77724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b" anchorCtr="0">
            <a:normAutofit/>
          </a:bodyPr>
          <a:lstStyle>
            <a:lvl1pPr algn="l"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4572000" cy="9144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8" name="Picture 7" descr="logo with tag rgb horz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5486400" y="5621020"/>
            <a:ext cx="3048000" cy="1054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197725" y="5249863"/>
            <a:ext cx="1946275" cy="160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5387975"/>
            <a:ext cx="7086600" cy="1317625"/>
          </a:xfrm>
        </p:spPr>
        <p:txBody>
          <a:bodyPr anchor="b" anchorCtr="0">
            <a:normAutofit/>
          </a:bodyPr>
          <a:lstStyle>
            <a:lvl1pPr algn="l"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8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white">
                    <a:lumMod val="75000"/>
                  </a:prstClr>
                </a:solidFill>
              </a:rPr>
              <a:t>Children’s Healthcare of Atlanta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5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white">
                    <a:lumMod val="75000"/>
                  </a:prstClr>
                </a:solidFill>
              </a:rPr>
              <a:t>Children’s Healthcare of Atlanta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754563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754563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8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white">
                    <a:lumMod val="75000"/>
                  </a:prstClr>
                </a:solidFill>
              </a:rPr>
              <a:t>Children’s Healthcare of Atlanta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6608"/>
            <a:ext cx="4040188" cy="71596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009D57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09800"/>
            <a:ext cx="4040188" cy="4038600"/>
          </a:xfrm>
        </p:spPr>
        <p:txBody>
          <a:bodyPr/>
          <a:lstStyle>
            <a:lvl1pPr>
              <a:defRPr sz="2400"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600">
                <a:latin typeface="+mj-lt"/>
              </a:defRPr>
            </a:lvl4pPr>
            <a:lvl5pPr>
              <a:defRPr sz="1600">
                <a:latin typeface="+mj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376608"/>
            <a:ext cx="4041775" cy="7159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9D57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209800"/>
            <a:ext cx="4041775" cy="4038600"/>
          </a:xfrm>
        </p:spPr>
        <p:txBody>
          <a:bodyPr/>
          <a:lstStyle>
            <a:lvl1pPr>
              <a:defRPr sz="2400"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600">
                <a:latin typeface="+mj-lt"/>
              </a:defRPr>
            </a:lvl4pPr>
            <a:lvl5pPr>
              <a:defRPr sz="1600">
                <a:latin typeface="+mj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10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white">
                    <a:lumMod val="75000"/>
                  </a:prstClr>
                </a:solidFill>
              </a:rPr>
              <a:t>Children’s Healthcare of Atlanta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pic>
        <p:nvPicPr>
          <p:cNvPr id="6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white">
                    <a:lumMod val="75000"/>
                  </a:prstClr>
                </a:solidFill>
              </a:rPr>
              <a:t>Children’s Healthcare of Atlanta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752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white">
                    <a:lumMod val="75000"/>
                  </a:prstClr>
                </a:solidFill>
              </a:rPr>
              <a:t>Children’s Healthcare of Atlanta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457200" y="1219200"/>
            <a:ext cx="8229600" cy="0"/>
          </a:xfrm>
          <a:prstGeom prst="line">
            <a:avLst/>
          </a:prstGeom>
          <a:ln w="50800" cap="rnd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ope-and-Will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269163" y="6299835"/>
            <a:ext cx="1112837" cy="5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 userDrawn="1"/>
        </p:nvSpPr>
        <p:spPr>
          <a:xfrm>
            <a:off x="990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white">
                    <a:lumMod val="75000"/>
                  </a:prstClr>
                </a:solidFill>
              </a:rPr>
              <a:t>Children’s Healthcare of Atlanta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1752600" y="6550025"/>
            <a:ext cx="6477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white">
                    <a:lumMod val="75000"/>
                  </a:prstClr>
                </a:solidFill>
              </a:rPr>
              <a:t>Children’s Healthcare of Atlanta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82000" y="6544310"/>
            <a:ext cx="381000" cy="365125"/>
          </a:xfrm>
        </p:spPr>
        <p:txBody>
          <a:bodyPr/>
          <a:lstStyle>
            <a:lvl1pPr>
              <a:defRPr sz="11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01D945C9-0277-4107-B589-EC55ECD240B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mbria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37F77-7616-47BE-A6FB-6EAD3F766BF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xfrm>
            <a:off x="8701088" y="6518275"/>
            <a:ext cx="214312" cy="203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7C076F-0980-4165-8909-C5D63DA0FC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mbria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CF73AF-F4D8-491E-8372-E4D26B4C12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251C85-6984-438B-8375-F5A3FE5A49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B40495-F8D8-43BB-8010-CDD41BD336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B66267-3732-4FF8-9542-442D19336F0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73E08B-C49C-49B9-8209-E564F247E6B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955617-245D-48EB-9248-C4C8CC64B4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>
              <a:sym typeface="Futura Std Medium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E3D721-7014-4047-8A53-83F11D104C1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70CFDD-BAFB-41A8-81D1-965D908C01D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7451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745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C96C74-56BD-4269-9690-040B34CA17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mall Title, No Hope and W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457200" y="457200"/>
            <a:ext cx="8229600" cy="0"/>
          </a:xfrm>
          <a:prstGeom prst="line">
            <a:avLst/>
          </a:prstGeom>
          <a:ln w="50800">
            <a:solidFill>
              <a:srgbClr val="009D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239000" cy="457200"/>
          </a:xfrm>
        </p:spPr>
        <p:txBody>
          <a:bodyPr>
            <a:normAutofit/>
          </a:bodyPr>
          <a:lstStyle>
            <a:lvl1pPr>
              <a:defRPr sz="2800" b="1" i="0">
                <a:latin typeface="Cambria" pitchFamily="18" charset="0"/>
                <a:cs typeface="Cambria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5DECA03-5ECA-4DCA-AEF1-6733610AD06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483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635635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bg1">
                    <a:lumMod val="50000"/>
                  </a:schemeClr>
                </a:solidFill>
                <a:latin typeface="Archer Semibold" pitchFamily="50" charset="0"/>
              </a:defRPr>
            </a:lvl1pPr>
          </a:lstStyle>
          <a:p>
            <a:pPr>
              <a:defRPr/>
            </a:pPr>
            <a:fld id="{D423F924-74D2-45C3-9581-52674854CC09}" type="slidenum">
              <a:rPr lang="en-US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009D5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Semibold" pitchFamily="50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rgbClr val="262626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rgbClr val="262626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rgbClr val="262626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00"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22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Archer Medium" pitchFamily="50" charset="0"/>
              </a:rPr>
              <a:t>Click to edit Master title style</a:t>
            </a:r>
          </a:p>
        </p:txBody>
      </p:sp>
      <p:sp>
        <p:nvSpPr>
          <p:cNvPr id="2" name="Text Box 2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8472488" y="6518275"/>
            <a:ext cx="214312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7F7F7F"/>
                </a:solidFill>
                <a:latin typeface="Archer Semibold" pitchFamily="50" charset="0"/>
                <a:ea typeface="ヒラギノ角ゴ Pro W3" charset="-128"/>
                <a:sym typeface="Archer Semibold" pitchFamily="50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51004D-EE47-430A-A976-FE358FC4AD4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/>
          </a:p>
        </p:txBody>
      </p:sp>
      <p:cxnSp>
        <p:nvCxnSpPr>
          <p:cNvPr id="2052" name="Straight Connector 4"/>
          <p:cNvCxnSpPr>
            <a:cxnSpLocks noChangeShapeType="1"/>
          </p:cNvCxnSpPr>
          <p:nvPr/>
        </p:nvCxn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50800" cap="rnd" algn="ctr">
            <a:solidFill>
              <a:srgbClr val="009D57"/>
            </a:solidFill>
            <a:round/>
            <a:headEnd/>
            <a:tailE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9D57"/>
          </a:solidFill>
          <a:latin typeface="Cambria" pitchFamily="18" charset="0"/>
          <a:ea typeface="+mj-ea"/>
          <a:cs typeface="+mj-cs"/>
          <a:sym typeface="Archer Medium" pitchFamily="50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9D57"/>
          </a:solidFill>
          <a:latin typeface="Cambria" pitchFamily="18" charset="0"/>
          <a:ea typeface="ヒラギノ角ゴ ProN W6" charset="0"/>
          <a:cs typeface="ヒラギノ角ゴ ProN W6" charset="0"/>
          <a:sym typeface="Archer Medium" pitchFamily="50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9D57"/>
          </a:solidFill>
          <a:latin typeface="Cambria" pitchFamily="18" charset="0"/>
          <a:ea typeface="ヒラギノ角ゴ ProN W6" charset="0"/>
          <a:cs typeface="ヒラギノ角ゴ ProN W6" charset="0"/>
          <a:sym typeface="Archer Medium" pitchFamily="50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9D57"/>
          </a:solidFill>
          <a:latin typeface="Cambria" pitchFamily="18" charset="0"/>
          <a:ea typeface="ヒラギノ角ゴ ProN W6" charset="0"/>
          <a:cs typeface="ヒラギノ角ゴ ProN W6" charset="0"/>
          <a:sym typeface="Archer Medium" pitchFamily="50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009D57"/>
          </a:solidFill>
          <a:latin typeface="Cambria" pitchFamily="18" charset="0"/>
          <a:ea typeface="ヒラギノ角ゴ ProN W6" charset="0"/>
          <a:cs typeface="ヒラギノ角ゴ ProN W6" charset="0"/>
          <a:sym typeface="Archer Medium" pitchFamily="50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Medium" charset="0"/>
          <a:ea typeface="ヒラギノ角ゴ ProN W6" charset="0"/>
          <a:cs typeface="ヒラギノ角ゴ ProN W6" charset="0"/>
          <a:sym typeface="Archer Medium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Medium" charset="0"/>
          <a:ea typeface="ヒラギノ角ゴ ProN W6" charset="0"/>
          <a:cs typeface="ヒラギノ角ゴ ProN W6" charset="0"/>
          <a:sym typeface="Archer Medium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Medium" charset="0"/>
          <a:ea typeface="ヒラギノ角ゴ ProN W6" charset="0"/>
          <a:cs typeface="ヒラギノ角ゴ ProN W6" charset="0"/>
          <a:sym typeface="Archer Medium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9D57"/>
          </a:solidFill>
          <a:latin typeface="Archer Medium" charset="0"/>
          <a:ea typeface="ヒラギノ角ゴ ProN W6" charset="0"/>
          <a:cs typeface="ヒラギノ角ゴ ProN W6" charset="0"/>
          <a:sym typeface="Archer Medium" charset="0"/>
        </a:defRPr>
      </a:lvl9pPr>
    </p:titleStyle>
    <p:bodyStyle>
      <a:lvl1pPr marL="342900" indent="-342900" algn="l" rtl="0" eaLnBrk="0" fontAlgn="base" hangingPunct="0">
        <a:spcBef>
          <a:spcPts val="800"/>
        </a:spcBef>
        <a:spcAft>
          <a:spcPct val="0"/>
        </a:spcAft>
        <a:buClr>
          <a:srgbClr val="262626"/>
        </a:buClr>
        <a:buSzPct val="100000"/>
        <a:buFont typeface="Arial" pitchFamily="34" charset="0"/>
        <a:buChar char="•"/>
        <a:defRPr sz="3200">
          <a:solidFill>
            <a:srgbClr val="262626"/>
          </a:solidFill>
          <a:latin typeface="+mn-lt"/>
          <a:ea typeface="+mn-ea"/>
          <a:cs typeface="+mn-cs"/>
          <a:sym typeface="Futura Std Medium" pitchFamily="34" charset="0"/>
        </a:defRPr>
      </a:lvl1pPr>
      <a:lvl2pPr marL="742950" indent="-285750" algn="l" rtl="0" eaLnBrk="0" fontAlgn="base" hangingPunct="0">
        <a:spcBef>
          <a:spcPts val="700"/>
        </a:spcBef>
        <a:spcAft>
          <a:spcPct val="0"/>
        </a:spcAft>
        <a:buClr>
          <a:srgbClr val="262626"/>
        </a:buClr>
        <a:buSzPct val="100000"/>
        <a:buFont typeface="Arial" pitchFamily="34" charset="0"/>
        <a:buChar char="–"/>
        <a:defRPr sz="2800">
          <a:solidFill>
            <a:srgbClr val="262626"/>
          </a:solidFill>
          <a:latin typeface="+mn-lt"/>
          <a:ea typeface="+mn-ea"/>
          <a:cs typeface="+mn-cs"/>
          <a:sym typeface="Futura Std Medium" pitchFamily="34" charset="0"/>
        </a:defRPr>
      </a:lvl2pPr>
      <a:lvl3pPr marL="1143000" indent="-228600" algn="l" rtl="0" eaLnBrk="0" fontAlgn="base" hangingPunct="0">
        <a:spcBef>
          <a:spcPts val="600"/>
        </a:spcBef>
        <a:spcAft>
          <a:spcPct val="0"/>
        </a:spcAft>
        <a:buClr>
          <a:srgbClr val="262626"/>
        </a:buClr>
        <a:buSzPct val="100000"/>
        <a:buFont typeface="Arial" pitchFamily="34" charset="0"/>
        <a:buChar char="•"/>
        <a:defRPr sz="2400">
          <a:solidFill>
            <a:srgbClr val="262626"/>
          </a:solidFill>
          <a:latin typeface="+mn-lt"/>
          <a:ea typeface="+mn-ea"/>
          <a:cs typeface="+mn-cs"/>
          <a:sym typeface="Futura Std Medium" pitchFamily="34" charset="0"/>
        </a:defRPr>
      </a:lvl3pPr>
      <a:lvl4pPr marL="1600200" indent="-228600" algn="l" rtl="0" eaLnBrk="0" fontAlgn="base" hangingPunct="0">
        <a:spcBef>
          <a:spcPts val="500"/>
        </a:spcBef>
        <a:spcAft>
          <a:spcPct val="0"/>
        </a:spcAft>
        <a:buClr>
          <a:srgbClr val="262626"/>
        </a:buClr>
        <a:buSzPct val="100000"/>
        <a:buFont typeface="Arial" pitchFamily="34" charset="0"/>
        <a:buChar char="–"/>
        <a:defRPr sz="2000">
          <a:solidFill>
            <a:srgbClr val="262626"/>
          </a:solidFill>
          <a:latin typeface="+mn-lt"/>
          <a:ea typeface="+mn-ea"/>
          <a:cs typeface="+mn-cs"/>
          <a:sym typeface="Futura Std Medium" pitchFamily="34" charset="0"/>
        </a:defRPr>
      </a:lvl4pPr>
      <a:lvl5pPr marL="2057400" indent="-228600" algn="l" rtl="0" eaLnBrk="0" fontAlgn="base" hangingPunct="0">
        <a:spcBef>
          <a:spcPts val="500"/>
        </a:spcBef>
        <a:spcAft>
          <a:spcPct val="0"/>
        </a:spcAft>
        <a:buClr>
          <a:srgbClr val="262626"/>
        </a:buClr>
        <a:buSzPct val="100000"/>
        <a:buFont typeface="Arial" pitchFamily="34" charset="0"/>
        <a:buChar char="»"/>
        <a:defRPr sz="2000">
          <a:solidFill>
            <a:srgbClr val="262626"/>
          </a:solidFill>
          <a:latin typeface="+mn-lt"/>
          <a:ea typeface="+mn-ea"/>
          <a:cs typeface="+mn-cs"/>
          <a:sym typeface="Futura Std Medium" pitchFamily="34" charset="0"/>
        </a:defRPr>
      </a:lvl5pPr>
      <a:lvl6pPr marL="2514600" indent="-228600" algn="l" rtl="0" fontAlgn="base">
        <a:spcBef>
          <a:spcPts val="500"/>
        </a:spcBef>
        <a:spcAft>
          <a:spcPct val="0"/>
        </a:spcAft>
        <a:buClr>
          <a:srgbClr val="262626"/>
        </a:buClr>
        <a:buSzPct val="100000"/>
        <a:buFont typeface="Arial" charset="0"/>
        <a:buChar char="»"/>
        <a:defRPr sz="2000">
          <a:solidFill>
            <a:srgbClr val="262626"/>
          </a:solidFill>
          <a:latin typeface="+mn-lt"/>
          <a:ea typeface="+mn-ea"/>
          <a:cs typeface="+mn-cs"/>
          <a:sym typeface="Futura Std Medium" charset="0"/>
        </a:defRPr>
      </a:lvl6pPr>
      <a:lvl7pPr marL="2971800" indent="-228600" algn="l" rtl="0" fontAlgn="base">
        <a:spcBef>
          <a:spcPts val="500"/>
        </a:spcBef>
        <a:spcAft>
          <a:spcPct val="0"/>
        </a:spcAft>
        <a:buClr>
          <a:srgbClr val="262626"/>
        </a:buClr>
        <a:buSzPct val="100000"/>
        <a:buFont typeface="Arial" charset="0"/>
        <a:buChar char="»"/>
        <a:defRPr sz="2000">
          <a:solidFill>
            <a:srgbClr val="262626"/>
          </a:solidFill>
          <a:latin typeface="+mn-lt"/>
          <a:ea typeface="+mn-ea"/>
          <a:cs typeface="+mn-cs"/>
          <a:sym typeface="Futura Std Medium" charset="0"/>
        </a:defRPr>
      </a:lvl7pPr>
      <a:lvl8pPr marL="3429000" indent="-228600" algn="l" rtl="0" fontAlgn="base">
        <a:spcBef>
          <a:spcPts val="500"/>
        </a:spcBef>
        <a:spcAft>
          <a:spcPct val="0"/>
        </a:spcAft>
        <a:buClr>
          <a:srgbClr val="262626"/>
        </a:buClr>
        <a:buSzPct val="100000"/>
        <a:buFont typeface="Arial" charset="0"/>
        <a:buChar char="»"/>
        <a:defRPr sz="2000">
          <a:solidFill>
            <a:srgbClr val="262626"/>
          </a:solidFill>
          <a:latin typeface="+mn-lt"/>
          <a:ea typeface="+mn-ea"/>
          <a:cs typeface="+mn-cs"/>
          <a:sym typeface="Futura Std Medium" charset="0"/>
        </a:defRPr>
      </a:lvl8pPr>
      <a:lvl9pPr marL="3886200" indent="-228600" algn="l" rtl="0" fontAlgn="base">
        <a:spcBef>
          <a:spcPts val="500"/>
        </a:spcBef>
        <a:spcAft>
          <a:spcPct val="0"/>
        </a:spcAft>
        <a:buClr>
          <a:srgbClr val="262626"/>
        </a:buClr>
        <a:buSzPct val="100000"/>
        <a:buFont typeface="Arial" charset="0"/>
        <a:buChar char="»"/>
        <a:defRPr sz="2000">
          <a:solidFill>
            <a:srgbClr val="262626"/>
          </a:solidFill>
          <a:latin typeface="+mn-lt"/>
          <a:ea typeface="+mn-ea"/>
          <a:cs typeface="+mn-cs"/>
          <a:sym typeface="Futura Std Medium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image" Target="../media/image5.gif"/><Relationship Id="rId7" Type="http://schemas.openxmlformats.org/officeDocument/2006/relationships/image" Target="../media/image9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6.gif"/><Relationship Id="rId9" Type="http://schemas.openxmlformats.org/officeDocument/2006/relationships/image" Target="../media/image11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3"/>
          <p:cNvSpPr>
            <a:spLocks noGrp="1"/>
          </p:cNvSpPr>
          <p:nvPr>
            <p:ph type="ctrTitle"/>
          </p:nvPr>
        </p:nvSpPr>
        <p:spPr>
          <a:xfrm>
            <a:off x="685800" y="2187575"/>
            <a:ext cx="7772400" cy="1470025"/>
          </a:xfrm>
        </p:spPr>
        <p:txBody>
          <a:bodyPr/>
          <a:lstStyle/>
          <a:p>
            <a:pPr eaLnBrk="1" hangingPunct="1"/>
            <a:r>
              <a:rPr lang="en-US" dirty="0" smtClean="0"/>
              <a:t>Nursing Strategic Plan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6248400" cy="914400"/>
          </a:xfrm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en-US" dirty="0" smtClean="0"/>
              <a:t>2013 - 2015</a:t>
            </a:r>
            <a:endParaRPr lang="en-US" dirty="0"/>
          </a:p>
        </p:txBody>
      </p:sp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0" y="0"/>
          <a:ext cx="9144000" cy="2286000"/>
        </p:xfrm>
        <a:graphic>
          <a:graphicData uri="http://schemas.openxmlformats.org/presentationml/2006/ole">
            <p:oleObj spid="_x0000_s18434" name="Acrobat Document" r:id="rId4" imgW="31104000" imgH="7776000" progId="AcroExch.Document.7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4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eaLnBrk="1" hangingPunct="1"/>
            <a:r>
              <a:rPr lang="en-US" dirty="0" smtClean="0"/>
              <a:t>Strategies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224461-A405-4E3A-BB94-97228AACD65E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grpSp>
        <p:nvGrpSpPr>
          <p:cNvPr id="6" name="Group 26"/>
          <p:cNvGrpSpPr/>
          <p:nvPr/>
        </p:nvGrpSpPr>
        <p:grpSpPr>
          <a:xfrm>
            <a:off x="685800" y="1600200"/>
            <a:ext cx="7685652" cy="3465697"/>
            <a:chOff x="381000" y="990600"/>
            <a:chExt cx="5764239" cy="3259557"/>
          </a:xfrm>
        </p:grpSpPr>
        <p:grpSp>
          <p:nvGrpSpPr>
            <p:cNvPr id="7" name="Group 32"/>
            <p:cNvGrpSpPr/>
            <p:nvPr/>
          </p:nvGrpSpPr>
          <p:grpSpPr>
            <a:xfrm>
              <a:off x="381000" y="990600"/>
              <a:ext cx="1904999" cy="3259557"/>
              <a:chOff x="381000" y="990600"/>
              <a:chExt cx="1904999" cy="3259557"/>
            </a:xfrm>
          </p:grpSpPr>
          <p:pic>
            <p:nvPicPr>
              <p:cNvPr id="18" name="Picture 17" descr="Deliver.gif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33400" y="990600"/>
                <a:ext cx="1645920" cy="1645920"/>
              </a:xfrm>
              <a:prstGeom prst="rect">
                <a:avLst/>
              </a:prstGeom>
            </p:spPr>
          </p:pic>
          <p:pic>
            <p:nvPicPr>
              <p:cNvPr id="19" name="Picture 18" descr="Green-Bar.gif"/>
              <p:cNvPicPr>
                <a:picLocks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81000" y="3200400"/>
                <a:ext cx="1878039" cy="228600"/>
              </a:xfrm>
              <a:prstGeom prst="rect">
                <a:avLst/>
              </a:prstGeom>
            </p:spPr>
          </p:pic>
          <p:pic>
            <p:nvPicPr>
              <p:cNvPr id="20" name="Picture 19" descr="Green-Bar.gif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07960" y="2137979"/>
                <a:ext cx="1878039" cy="350520"/>
              </a:xfrm>
              <a:prstGeom prst="rect">
                <a:avLst/>
              </a:prstGeom>
            </p:spPr>
          </p:pic>
          <p:sp>
            <p:nvSpPr>
              <p:cNvPr id="21" name="TextBox 20"/>
              <p:cNvSpPr txBox="1"/>
              <p:nvPr/>
            </p:nvSpPr>
            <p:spPr>
              <a:xfrm>
                <a:off x="457200" y="3352800"/>
                <a:ext cx="1752600" cy="897357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ts val="1200"/>
                  </a:spcAft>
                </a:pPr>
                <a:r>
                  <a:rPr lang="en-US" sz="1400" dirty="0">
                    <a:solidFill>
                      <a:prstClr val="black"/>
                    </a:solidFill>
                    <a:latin typeface="Tw Cen MT" pitchFamily="34" charset="0"/>
                    <a:cs typeface="Calibri" pitchFamily="34" charset="0"/>
                    <a:sym typeface="Gill Sans" charset="0"/>
                  </a:rPr>
                  <a:t>Balance organizational financial viability with effective and efficient nursing care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457200" y="2331804"/>
                <a:ext cx="1752600" cy="8973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dirty="0">
                    <a:solidFill>
                      <a:srgbClr val="000000"/>
                    </a:solidFill>
                    <a:latin typeface="Tw Cen MT" pitchFamily="34" charset="0"/>
                    <a:sym typeface="Gill Sans" charset="0"/>
                  </a:rPr>
                  <a:t>Improve nursing and patient care though evidence based practice and care coordination</a:t>
                </a:r>
              </a:p>
            </p:txBody>
          </p:sp>
        </p:grpSp>
        <p:grpSp>
          <p:nvGrpSpPr>
            <p:cNvPr id="8" name="Group 33"/>
            <p:cNvGrpSpPr/>
            <p:nvPr/>
          </p:nvGrpSpPr>
          <p:grpSpPr>
            <a:xfrm>
              <a:off x="2362200" y="990600"/>
              <a:ext cx="1901057" cy="3056927"/>
              <a:chOff x="2362200" y="990600"/>
              <a:chExt cx="1901057" cy="3056927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2362200" y="2362199"/>
                <a:ext cx="1901057" cy="839463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ts val="1200"/>
                  </a:spcAft>
                </a:pPr>
                <a:r>
                  <a:rPr lang="en-US" sz="1300" dirty="0">
                    <a:solidFill>
                      <a:prstClr val="black"/>
                    </a:solidFill>
                    <a:latin typeface="Tw Cen MT" pitchFamily="34" charset="0"/>
                    <a:cs typeface="Calibri" pitchFamily="34" charset="0"/>
                    <a:sym typeface="Gill Sans" charset="0"/>
                  </a:rPr>
                  <a:t>Enhance philosophy and framework for decision-making that empowers nurses and maximizes evidence based resources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2514600" y="3352799"/>
                <a:ext cx="1600200" cy="694728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ts val="1200"/>
                  </a:spcAft>
                </a:pPr>
                <a:r>
                  <a:rPr lang="en-US" sz="1400" dirty="0">
                    <a:solidFill>
                      <a:prstClr val="black"/>
                    </a:solidFill>
                    <a:latin typeface="Tw Cen MT" pitchFamily="34" charset="0"/>
                    <a:cs typeface="Calibri" pitchFamily="34" charset="0"/>
                    <a:sym typeface="Gill Sans" charset="0"/>
                  </a:rPr>
                  <a:t>Use nurses to the full extent of their education and training</a:t>
                </a:r>
              </a:p>
            </p:txBody>
          </p:sp>
          <p:pic>
            <p:nvPicPr>
              <p:cNvPr id="15" name="Picture 14" descr="InspirePeople.gif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514600" y="990600"/>
                <a:ext cx="1645920" cy="1645920"/>
              </a:xfrm>
              <a:prstGeom prst="rect">
                <a:avLst/>
              </a:prstGeom>
            </p:spPr>
          </p:pic>
          <p:pic>
            <p:nvPicPr>
              <p:cNvPr id="16" name="Picture 15" descr="Blue-Bar.gif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362200" y="2133600"/>
                <a:ext cx="1878039" cy="381000"/>
              </a:xfrm>
              <a:prstGeom prst="rect">
                <a:avLst/>
              </a:prstGeom>
            </p:spPr>
          </p:pic>
          <p:pic>
            <p:nvPicPr>
              <p:cNvPr id="17" name="Picture 16" descr="Blue-Bar.gif"/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362200" y="3212296"/>
                <a:ext cx="1878039" cy="193759"/>
              </a:xfrm>
              <a:prstGeom prst="rect">
                <a:avLst/>
              </a:prstGeom>
            </p:spPr>
          </p:pic>
        </p:grpSp>
        <p:grpSp>
          <p:nvGrpSpPr>
            <p:cNvPr id="9" name="Group 31"/>
            <p:cNvGrpSpPr/>
            <p:nvPr/>
          </p:nvGrpSpPr>
          <p:grpSpPr>
            <a:xfrm>
              <a:off x="4267200" y="990600"/>
              <a:ext cx="1878039" cy="1863698"/>
              <a:chOff x="4267200" y="990600"/>
              <a:chExt cx="1878039" cy="1863698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4343400" y="2362199"/>
                <a:ext cx="1698175" cy="49209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ts val="1200"/>
                  </a:spcAft>
                </a:pPr>
                <a:r>
                  <a:rPr lang="en-US" sz="1400" dirty="0">
                    <a:solidFill>
                      <a:prstClr val="black"/>
                    </a:solidFill>
                    <a:latin typeface="Tw Cen MT" pitchFamily="34" charset="0"/>
                    <a:cs typeface="Calibri" pitchFamily="34" charset="0"/>
                    <a:sym typeface="Gill Sans" charset="0"/>
                  </a:rPr>
                  <a:t>Contribute new knowledge  through nursing research</a:t>
                </a:r>
              </a:p>
            </p:txBody>
          </p:sp>
          <p:pic>
            <p:nvPicPr>
              <p:cNvPr id="11" name="Picture 10" descr="Transform.gif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343400" y="990600"/>
                <a:ext cx="1645920" cy="1645920"/>
              </a:xfrm>
              <a:prstGeom prst="rect">
                <a:avLst/>
              </a:prstGeom>
            </p:spPr>
          </p:pic>
          <p:pic>
            <p:nvPicPr>
              <p:cNvPr id="12" name="Picture 11" descr="Red-Bar.gif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267200" y="2133600"/>
                <a:ext cx="1878039" cy="350520"/>
              </a:xfrm>
              <a:prstGeom prst="rect">
                <a:avLst/>
              </a:prstGeom>
            </p:spPr>
          </p:pic>
        </p:grpSp>
      </p:grpSp>
      <p:pic>
        <p:nvPicPr>
          <p:cNvPr id="23" name="Picture 22" descr="111209-Diagram-OUT.gif"/>
          <p:cNvPicPr>
            <a:picLocks noChangeAspect="1"/>
          </p:cNvPicPr>
          <p:nvPr/>
        </p:nvPicPr>
        <p:blipFill>
          <a:blip r:embed="rId9" cstate="print"/>
          <a:srcRect t="15621" b="14567"/>
          <a:stretch>
            <a:fillRect/>
          </a:stretch>
        </p:blipFill>
        <p:spPr>
          <a:xfrm>
            <a:off x="7010400" y="304800"/>
            <a:ext cx="1930400" cy="1438211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latin typeface="Arial Rounded MT Bold" pitchFamily="34" charset="0"/>
              </a:rPr>
              <a:t>DELIVER </a:t>
            </a:r>
            <a:r>
              <a:rPr lang="en-US" sz="2800" dirty="0" smtClean="0">
                <a:latin typeface="Arial Rounded MT Bold" pitchFamily="34" charset="0"/>
              </a:rPr>
              <a:t>THE BEST </a:t>
            </a:r>
            <a:r>
              <a:rPr lang="en-US" sz="3200" b="1" dirty="0" smtClean="0">
                <a:latin typeface="Arial Rounded MT Bold" pitchFamily="34" charset="0"/>
              </a:rPr>
              <a:t>CARE</a:t>
            </a:r>
            <a:endParaRPr lang="en-US" sz="3200" b="1" dirty="0">
              <a:latin typeface="Arial Rounded MT Bold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D945C9-0277-4107-B589-EC55ECD240B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3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4191000"/>
            <a:ext cx="8229600" cy="2057400"/>
          </a:xfrm>
        </p:spPr>
        <p:txBody>
          <a:bodyPr>
            <a:normAutofit fontScale="92500"/>
          </a:bodyPr>
          <a:lstStyle/>
          <a:p>
            <a:pPr lvl="0" fontAlgn="auto"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chemeClr val="tx1"/>
                </a:solidFill>
                <a:latin typeface="Tw Cen MT" pitchFamily="34" charset="0"/>
              </a:rPr>
              <a:t>What  does this mean for you?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latin typeface="Tw Cen MT" pitchFamily="34" charset="0"/>
              </a:rPr>
              <a:t>Find</a:t>
            </a:r>
            <a:r>
              <a:rPr lang="en-US" dirty="0" smtClean="0">
                <a:solidFill>
                  <a:schemeClr val="tx1"/>
                </a:solidFill>
                <a:latin typeface="Tw Cen MT" pitchFamily="34" charset="0"/>
              </a:rPr>
              <a:t> efficiency in the workplace and eliminate unnecessary work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  <a:latin typeface="Tw Cen MT" pitchFamily="34" charset="0"/>
              </a:rPr>
              <a:t>Enhance collaboration with our physicians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  <a:latin typeface="Tw Cen MT" pitchFamily="34" charset="0"/>
              </a:rPr>
              <a:t>Use our quality data, information &amp; technology to help us make better decisions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6" name="Picture 5" descr="111209-Diagram-OUT.gif"/>
          <p:cNvPicPr>
            <a:picLocks noChangeAspect="1"/>
          </p:cNvPicPr>
          <p:nvPr/>
        </p:nvPicPr>
        <p:blipFill>
          <a:blip r:embed="rId3" cstate="print"/>
          <a:srcRect t="15621" b="14567"/>
          <a:stretch>
            <a:fillRect/>
          </a:stretch>
        </p:blipFill>
        <p:spPr>
          <a:xfrm>
            <a:off x="7010400" y="304800"/>
            <a:ext cx="1930400" cy="143821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Rectangle 7"/>
          <p:cNvSpPr/>
          <p:nvPr/>
        </p:nvSpPr>
        <p:spPr>
          <a:xfrm>
            <a:off x="2819400" y="1676400"/>
            <a:ext cx="1676400" cy="11430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B050"/>
                </a:solidFill>
              </a:rPr>
              <a:t>Right Nurse</a:t>
            </a:r>
          </a:p>
          <a:p>
            <a:pPr algn="ctr"/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95800" y="1676400"/>
            <a:ext cx="1676400" cy="114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Right Place</a:t>
            </a:r>
          </a:p>
          <a:p>
            <a:pPr algn="ctr"/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19400" y="2819400"/>
            <a:ext cx="1676400" cy="114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rgbClr val="FF0000"/>
              </a:solidFill>
            </a:endParaRP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Doing the 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Right Thing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95800" y="2819400"/>
            <a:ext cx="1676400" cy="1143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rgbClr val="FFC000"/>
              </a:solidFill>
            </a:endParaRPr>
          </a:p>
          <a:p>
            <a:pPr algn="ctr"/>
            <a:r>
              <a:rPr lang="en-US" b="1" dirty="0" smtClean="0">
                <a:solidFill>
                  <a:srgbClr val="FFC000"/>
                </a:solidFill>
              </a:rPr>
              <a:t>Right Time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12" name="5-Point Star 11"/>
          <p:cNvSpPr/>
          <p:nvPr/>
        </p:nvSpPr>
        <p:spPr>
          <a:xfrm>
            <a:off x="3505200" y="1905000"/>
            <a:ext cx="1981200" cy="144780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 smtClean="0">
                <a:solidFill>
                  <a:schemeClr val="tx2"/>
                </a:solidFill>
              </a:rPr>
              <a:t>BEST Patient Care</a:t>
            </a:r>
            <a:endParaRPr lang="en-US" sz="13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latin typeface="Arial Rounded MT Bold" pitchFamily="34" charset="0"/>
              </a:rPr>
              <a:t>INSPIRE </a:t>
            </a:r>
            <a:r>
              <a:rPr lang="en-US" sz="2800" dirty="0" smtClean="0">
                <a:latin typeface="Arial Rounded MT Bold" pitchFamily="34" charset="0"/>
              </a:rPr>
              <a:t>THE BEST IN </a:t>
            </a:r>
            <a:r>
              <a:rPr lang="en-US" sz="3200" b="1" dirty="0" smtClean="0">
                <a:latin typeface="Arial Rounded MT Bold" pitchFamily="34" charset="0"/>
              </a:rPr>
              <a:t>PEOPLE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0" y="1905000"/>
            <a:ext cx="4495800" cy="4114800"/>
          </a:xfrm>
        </p:spPr>
        <p:txBody>
          <a:bodyPr>
            <a:normAutofit fontScale="92500"/>
          </a:bodyPr>
          <a:lstStyle/>
          <a:p>
            <a:pPr lvl="0" fontAlgn="auto"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chemeClr val="tx1"/>
                </a:solidFill>
                <a:latin typeface="Tw Cen MT" pitchFamily="34" charset="0"/>
              </a:rPr>
              <a:t>What  does this mean for you?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  <a:latin typeface="Tw Cen MT" pitchFamily="34" charset="0"/>
              </a:rPr>
              <a:t>Leverage current skills, education and training 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  <a:latin typeface="Tw Cen MT" pitchFamily="34" charset="0"/>
              </a:rPr>
              <a:t>Analyze &amp; plan for future nursing positions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  <a:latin typeface="Tw Cen MT" pitchFamily="34" charset="0"/>
              </a:rPr>
              <a:t>Ensure that your involvement in decision making works for you and others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  <a:latin typeface="Tw Cen MT" pitchFamily="34" charset="0"/>
              </a:rPr>
              <a:t>Use professional development to enhance nursing at Children’s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D945C9-0277-4107-B589-EC55ECD240B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4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5" name="Picture 4" descr="111209-Diagram-OUT.gif"/>
          <p:cNvPicPr>
            <a:picLocks noChangeAspect="1"/>
          </p:cNvPicPr>
          <p:nvPr/>
        </p:nvPicPr>
        <p:blipFill>
          <a:blip r:embed="rId2" cstate="print"/>
          <a:srcRect t="15621" b="14567"/>
          <a:stretch>
            <a:fillRect/>
          </a:stretch>
        </p:blipFill>
        <p:spPr>
          <a:xfrm>
            <a:off x="7010400" y="304800"/>
            <a:ext cx="1930400" cy="143821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Picture 5" descr="Final clinical competency model graphic.JPG"/>
          <p:cNvPicPr>
            <a:picLocks noChangeAspect="1"/>
          </p:cNvPicPr>
          <p:nvPr/>
        </p:nvPicPr>
        <p:blipFill>
          <a:blip r:embed="rId3" cstate="print"/>
          <a:srcRect l="11610" t="11688" r="11610" b="19481"/>
          <a:stretch>
            <a:fillRect/>
          </a:stretch>
        </p:blipFill>
        <p:spPr>
          <a:xfrm>
            <a:off x="685800" y="2209800"/>
            <a:ext cx="2995315" cy="3200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latin typeface="Arial Rounded MT Bold" pitchFamily="34" charset="0"/>
              </a:rPr>
              <a:t>TRANSFORM PEDIATRICS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4724400" cy="4876800"/>
          </a:xfrm>
        </p:spPr>
        <p:txBody>
          <a:bodyPr/>
          <a:lstStyle/>
          <a:p>
            <a:pPr lvl="0" fontAlgn="auto"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chemeClr val="tx1"/>
                </a:solidFill>
                <a:latin typeface="Tw Cen MT" pitchFamily="34" charset="0"/>
              </a:rPr>
              <a:t>What  does this mean for you?</a:t>
            </a:r>
          </a:p>
          <a:p>
            <a:pPr lvl="0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  <a:latin typeface="Tw Cen MT" pitchFamily="34" charset="0"/>
              </a:rPr>
              <a:t>Continue: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  <a:latin typeface="Tw Cen MT" pitchFamily="34" charset="0"/>
              </a:rPr>
              <a:t>To do nursing research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  <a:latin typeface="Tw Cen MT" pitchFamily="34" charset="0"/>
              </a:rPr>
              <a:t>Use the best evidence for clinical decision-making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  <a:latin typeface="Tw Cen MT" pitchFamily="34" charset="0"/>
              </a:rPr>
              <a:t>Publish nursing research and best practice findings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D945C9-0277-4107-B589-EC55ECD240B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5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5" name="Picture 4" descr="111209-Diagram-OUT.gif"/>
          <p:cNvPicPr>
            <a:picLocks noChangeAspect="1"/>
          </p:cNvPicPr>
          <p:nvPr/>
        </p:nvPicPr>
        <p:blipFill>
          <a:blip r:embed="rId2" cstate="print"/>
          <a:srcRect t="15621" b="14567"/>
          <a:stretch>
            <a:fillRect/>
          </a:stretch>
        </p:blipFill>
        <p:spPr>
          <a:xfrm>
            <a:off x="7010400" y="304800"/>
            <a:ext cx="1930400" cy="143821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Picture 5" descr="EBP magnet image new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86200" y="2057400"/>
            <a:ext cx="5056430" cy="38990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73E08B-C49C-49B9-8209-E564F247E6BC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305800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/>
                <a:gridCol w="838200"/>
                <a:gridCol w="838200"/>
                <a:gridCol w="762000"/>
                <a:gridCol w="685800"/>
              </a:tblGrid>
              <a:tr h="256854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>
                          <a:solidFill>
                            <a:srgbClr val="009D57"/>
                          </a:solidFill>
                          <a:latin typeface="Tw Cen MT" pitchFamily="34" charset="0"/>
                          <a:cs typeface="Arial" pitchFamily="34" charset="0"/>
                        </a:rPr>
                        <a:t>Nursing</a:t>
                      </a:r>
                      <a:r>
                        <a:rPr lang="en-US" sz="1400" baseline="0" dirty="0" smtClean="0">
                          <a:solidFill>
                            <a:srgbClr val="009D57"/>
                          </a:solidFill>
                          <a:latin typeface="Tw Cen MT" pitchFamily="34" charset="0"/>
                          <a:cs typeface="Arial" pitchFamily="34" charset="0"/>
                        </a:rPr>
                        <a:t> Sensitive Indicators</a:t>
                      </a:r>
                      <a:endParaRPr lang="en-US" sz="1400" dirty="0">
                        <a:solidFill>
                          <a:srgbClr val="009D57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009D57"/>
                          </a:solidFill>
                          <a:latin typeface="Tw Cen MT" pitchFamily="34" charset="0"/>
                          <a:cs typeface="Arial" pitchFamily="34" charset="0"/>
                        </a:rPr>
                        <a:t>Target</a:t>
                      </a:r>
                      <a:endParaRPr lang="en-US" sz="1400" dirty="0">
                        <a:solidFill>
                          <a:srgbClr val="009D57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009D57"/>
                          </a:solidFill>
                          <a:latin typeface="Tw Cen MT" pitchFamily="34" charset="0"/>
                          <a:cs typeface="Arial" pitchFamily="34" charset="0"/>
                        </a:rPr>
                        <a:t>Baseline</a:t>
                      </a:r>
                      <a:endParaRPr lang="en-US" sz="1400" dirty="0">
                        <a:solidFill>
                          <a:srgbClr val="009D57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009D57"/>
                          </a:solidFill>
                          <a:latin typeface="Tw Cen MT" pitchFamily="34" charset="0"/>
                          <a:cs typeface="Arial" pitchFamily="34" charset="0"/>
                        </a:rPr>
                        <a:t>Month</a:t>
                      </a:r>
                      <a:endParaRPr lang="en-US" sz="1400" dirty="0">
                        <a:solidFill>
                          <a:srgbClr val="009D57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rgbClr val="009D57"/>
                          </a:solidFill>
                          <a:latin typeface="Tw Cen MT" pitchFamily="34" charset="0"/>
                          <a:cs typeface="Arial" pitchFamily="34" charset="0"/>
                        </a:rPr>
                        <a:t>YTD</a:t>
                      </a:r>
                      <a:endParaRPr lang="en-US" sz="1400" dirty="0">
                        <a:solidFill>
                          <a:srgbClr val="009D57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 gridSpan="5"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 smtClean="0">
                          <a:solidFill>
                            <a:schemeClr val="bg1"/>
                          </a:solidFill>
                          <a:latin typeface="Tw Cen MT" pitchFamily="34" charset="0"/>
                          <a:cs typeface="Arial" pitchFamily="34" charset="0"/>
                        </a:rPr>
                        <a:t>Effective &amp; Efficient Care</a:t>
                      </a:r>
                      <a:endParaRPr lang="en-US" sz="1000" b="1" i="0" u="none" strike="noStrike" kern="1200" dirty="0">
                        <a:solidFill>
                          <a:schemeClr val="bg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Tw Cen MT" pitchFamily="34" charset="0"/>
                        </a:rPr>
                        <a:t>Outperform national Quality benchmarks for 7 nursing sensitive indicators </a:t>
                      </a:r>
                      <a:r>
                        <a:rPr lang="en-US" sz="1000" baseline="0" dirty="0" smtClean="0">
                          <a:latin typeface="Tw Cen MT" pitchFamily="34" charset="0"/>
                        </a:rPr>
                        <a:t>(BSI, VAP, UTI, PU, falls, restraints, IV infiltrates)</a:t>
                      </a: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 smtClean="0">
                          <a:solidFill>
                            <a:schemeClr val="tx1"/>
                          </a:solidFill>
                          <a:latin typeface="Tw Cen MT" pitchFamily="34" charset="0"/>
                          <a:cs typeface="Arial" pitchFamily="34" charset="0"/>
                        </a:rPr>
                        <a:t>5 of 8 qtrs</a:t>
                      </a: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Tw Cen MT" pitchFamily="34" charset="0"/>
                        </a:rPr>
                        <a:t>Outperform national benchmark for pt satisfaction overall and in 5 areas of nursing care </a:t>
                      </a: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 smtClean="0">
                          <a:solidFill>
                            <a:schemeClr val="tx1"/>
                          </a:solidFill>
                          <a:latin typeface="Tw Cen MT" pitchFamily="34" charset="0"/>
                          <a:cs typeface="Arial" pitchFamily="34" charset="0"/>
                        </a:rPr>
                        <a:t>5 of 8 qtrs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 dirty="0" smtClean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 dirty="0" smtClean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 dirty="0" smtClean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 smtClean="0">
                          <a:solidFill>
                            <a:schemeClr val="tx1"/>
                          </a:solidFill>
                          <a:latin typeface="Tw Cen MT" pitchFamily="34" charset="0"/>
                          <a:cs typeface="Arial" pitchFamily="34" charset="0"/>
                        </a:rPr>
                        <a:t>Balance organizational financial</a:t>
                      </a:r>
                      <a:r>
                        <a:rPr lang="en-US" sz="1000" b="0" i="0" u="none" strike="noStrike" kern="1200" baseline="0" dirty="0" smtClean="0">
                          <a:solidFill>
                            <a:schemeClr val="tx1"/>
                          </a:solidFill>
                          <a:latin typeface="Tw Cen MT" pitchFamily="34" charset="0"/>
                          <a:cs typeface="Arial" pitchFamily="34" charset="0"/>
                        </a:rPr>
                        <a:t> viability with effective and efficient nursing care</a:t>
                      </a: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 smtClean="0">
                          <a:solidFill>
                            <a:schemeClr val="tx1"/>
                          </a:solidFill>
                          <a:latin typeface="Tw Cen MT" pitchFamily="34" charset="0"/>
                          <a:cs typeface="Arial" pitchFamily="34" charset="0"/>
                        </a:rPr>
                        <a:t>Budgeted RNH/UOS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 dirty="0" smtClean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 dirty="0" smtClean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 dirty="0" smtClean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Tw Cen MT" pitchFamily="34" charset="0"/>
                        </a:rPr>
                        <a:t>Reduce readmissions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 smtClean="0">
                          <a:solidFill>
                            <a:schemeClr val="tx1"/>
                          </a:solidFill>
                          <a:latin typeface="Tw Cen MT" pitchFamily="34" charset="0"/>
                          <a:cs typeface="Arial" pitchFamily="34" charset="0"/>
                        </a:rPr>
                        <a:t>TBD</a:t>
                      </a: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483">
                <a:tc gridSpan="5"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 smtClean="0">
                          <a:solidFill>
                            <a:schemeClr val="bg1"/>
                          </a:solidFill>
                          <a:latin typeface="Tw Cen MT" pitchFamily="34" charset="0"/>
                          <a:cs typeface="Arial" pitchFamily="34" charset="0"/>
                        </a:rPr>
                        <a:t>Professional Practice</a:t>
                      </a:r>
                      <a:endParaRPr lang="en-US" sz="1000" b="1" i="0" u="none" strike="noStrike" kern="1200" dirty="0">
                        <a:solidFill>
                          <a:schemeClr val="bg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 smtClean="0">
                        <a:solidFill>
                          <a:schemeClr val="tx1"/>
                        </a:solidFill>
                        <a:latin typeface="Tw Cen MT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 smtClean="0">
                        <a:solidFill>
                          <a:schemeClr val="tx1"/>
                        </a:solidFill>
                        <a:latin typeface="Tw Cen MT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 smtClean="0">
                        <a:solidFill>
                          <a:schemeClr val="tx1"/>
                        </a:solidFill>
                        <a:latin typeface="Tw Cen MT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 smtClean="0">
                        <a:solidFill>
                          <a:schemeClr val="tx1"/>
                        </a:solidFill>
                        <a:latin typeface="Tw Cen MT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latin typeface="Tw Cen MT" pitchFamily="34" charset="0"/>
                          <a:ea typeface="+mn-ea"/>
                          <a:cs typeface="+mn-cs"/>
                        </a:rPr>
                        <a:t>Outperform national benchmark for nurse satisfaction </a:t>
                      </a: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latin typeface="Tw Cen MT" pitchFamily="34" charset="0"/>
                          <a:ea typeface="+mn-ea"/>
                          <a:cs typeface="+mn-cs"/>
                        </a:rPr>
                        <a:t>2 survey rotations</a:t>
                      </a: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 smtClean="0">
                        <a:solidFill>
                          <a:schemeClr val="tx1"/>
                        </a:solidFill>
                        <a:latin typeface="Tw Cen MT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 smtClean="0">
                        <a:solidFill>
                          <a:schemeClr val="tx1"/>
                        </a:solidFill>
                        <a:latin typeface="Tw Cen MT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 smtClean="0">
                        <a:solidFill>
                          <a:schemeClr val="tx1"/>
                        </a:solidFill>
                        <a:latin typeface="Tw Cen MT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w Cen MT" pitchFamily="34" charset="0"/>
                        </a:rPr>
                        <a:t>Decrease in discharge delays as a result of improved RN-MD communication (Pt Flow)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 smtClean="0">
                          <a:solidFill>
                            <a:schemeClr val="tx1"/>
                          </a:solidFill>
                          <a:latin typeface="Tw Cen MT" pitchFamily="34" charset="0"/>
                          <a:cs typeface="Arial" pitchFamily="34" charset="0"/>
                        </a:rPr>
                        <a:t>39.5%</a:t>
                      </a: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latin typeface="Tw Cen MT" pitchFamily="34" charset="0"/>
                        </a:rPr>
                        <a:t>Increase funding sources and number of publications</a:t>
                      </a:r>
                      <a:endParaRPr kumimoji="0" lang="en-US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w Cen MT" pitchFamily="34" charset="0"/>
                        <a:sym typeface="Gill Sans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 smtClean="0">
                          <a:solidFill>
                            <a:schemeClr val="tx1"/>
                          </a:solidFill>
                          <a:latin typeface="Tw Cen MT" pitchFamily="34" charset="0"/>
                          <a:cs typeface="Arial" pitchFamily="34" charset="0"/>
                        </a:rPr>
                        <a:t>TBD</a:t>
                      </a: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Tw Cen MT" pitchFamily="34" charset="0"/>
                        </a:rPr>
                        <a:t>Eligible for Magnet Recognition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 smtClean="0">
                          <a:solidFill>
                            <a:schemeClr val="tx1"/>
                          </a:solidFill>
                          <a:latin typeface="Tw Cen MT" pitchFamily="34" charset="0"/>
                          <a:cs typeface="Arial" pitchFamily="34" charset="0"/>
                        </a:rPr>
                        <a:t>2015</a:t>
                      </a: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483">
                <a:tc gridSpan="5"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  <a:latin typeface="Tw Cen MT" pitchFamily="34" charset="0"/>
                        </a:rPr>
                        <a:t>Develop &amp; Deploy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208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latin typeface="Tw Cen MT" pitchFamily="34" charset="0"/>
                          <a:ea typeface="+mn-ea"/>
                          <a:cs typeface="+mn-cs"/>
                        </a:rPr>
                        <a:t>Increase direct care BSN rate </a:t>
                      </a: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w Cen MT" pitchFamily="34" charset="0"/>
                          <a:cs typeface="Arial" pitchFamily="34" charset="0"/>
                        </a:rPr>
                        <a:t>80% by 2015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14300" lvl="0" indent="-114300" algn="l">
                        <a:buFont typeface="Arial" pitchFamily="34" charset="0"/>
                        <a:buNone/>
                      </a:pPr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latin typeface="Tw Cen MT" pitchFamily="34" charset="0"/>
                          <a:ea typeface="+mn-ea"/>
                          <a:cs typeface="+mn-cs"/>
                        </a:rPr>
                        <a:t>Increase professional nursing certification rate by 5% annually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 smtClean="0">
                          <a:solidFill>
                            <a:schemeClr val="tx1"/>
                          </a:solidFill>
                          <a:latin typeface="Tw Cen MT" pitchFamily="34" charset="0"/>
                          <a:cs typeface="Arial" pitchFamily="34" charset="0"/>
                        </a:rPr>
                        <a:t>63%</a:t>
                      </a:r>
                      <a:r>
                        <a:rPr lang="en-US" sz="1000" b="0" i="0" u="none" strike="noStrike" kern="1200" baseline="0" dirty="0" smtClean="0">
                          <a:solidFill>
                            <a:schemeClr val="tx1"/>
                          </a:solidFill>
                          <a:latin typeface="Tw Cen MT" pitchFamily="34" charset="0"/>
                          <a:cs typeface="Arial" pitchFamily="34" charset="0"/>
                        </a:rPr>
                        <a:t> by 2015</a:t>
                      </a: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Tw Cen MT" pitchFamily="34" charset="0"/>
                        </a:rPr>
                        <a:t>RN Retention &amp; vacancy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 smtClean="0">
                          <a:solidFill>
                            <a:schemeClr val="tx1"/>
                          </a:solidFill>
                          <a:latin typeface="Tw Cen MT" pitchFamily="34" charset="0"/>
                          <a:cs typeface="Arial" pitchFamily="34" charset="0"/>
                        </a:rPr>
                        <a:t>Budgeted</a:t>
                      </a:r>
                      <a:r>
                        <a:rPr lang="en-US" sz="1000" b="0" i="0" u="none" strike="noStrike" kern="1200" baseline="0" dirty="0" smtClean="0">
                          <a:solidFill>
                            <a:schemeClr val="tx1"/>
                          </a:solidFill>
                          <a:latin typeface="Tw Cen MT" pitchFamily="34" charset="0"/>
                          <a:cs typeface="Arial" pitchFamily="34" charset="0"/>
                        </a:rPr>
                        <a:t> rate</a:t>
                      </a: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Tw Cen MT" pitchFamily="34" charset="0"/>
                        </a:rPr>
                        <a:t>Staff</a:t>
                      </a:r>
                      <a:r>
                        <a:rPr lang="en-US" sz="1000" baseline="0" dirty="0" smtClean="0">
                          <a:latin typeface="Tw Cen MT" pitchFamily="34" charset="0"/>
                        </a:rPr>
                        <a:t> RN &amp; APN Manpower plans</a:t>
                      </a:r>
                      <a:endParaRPr lang="en-US" sz="1000" dirty="0" smtClean="0">
                        <a:latin typeface="Tw Cen MT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dirty="0" smtClean="0">
                          <a:solidFill>
                            <a:schemeClr val="tx1"/>
                          </a:solidFill>
                          <a:latin typeface="Tw Cen MT" pitchFamily="34" charset="0"/>
                          <a:cs typeface="Arial" pitchFamily="34" charset="0"/>
                        </a:rPr>
                        <a:t>Complete plans</a:t>
                      </a: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u="none" strike="noStrike" kern="1200" dirty="0">
                        <a:solidFill>
                          <a:schemeClr val="tx1"/>
                        </a:solidFill>
                        <a:latin typeface="Tw Cen MT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457200" y="381000"/>
            <a:ext cx="8229600" cy="60960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kern="0" dirty="0">
                <a:solidFill>
                  <a:srgbClr val="009D57"/>
                </a:solidFill>
                <a:latin typeface="Tw Cen MT" pitchFamily="34" charset="0"/>
                <a:ea typeface="+mj-ea"/>
                <a:cs typeface="+mj-cs"/>
                <a:sym typeface="Archer Medium" pitchFamily="50" charset="0"/>
              </a:rPr>
              <a:t>Nursing </a:t>
            </a:r>
            <a:r>
              <a:rPr lang="en-US" sz="3600" kern="0" dirty="0" smtClean="0">
                <a:solidFill>
                  <a:srgbClr val="009D57"/>
                </a:solidFill>
                <a:latin typeface="Tw Cen MT" pitchFamily="34" charset="0"/>
                <a:ea typeface="+mj-ea"/>
                <a:cs typeface="+mj-cs"/>
                <a:sym typeface="Archer Medium" pitchFamily="50" charset="0"/>
              </a:rPr>
              <a:t>Priority Scorecard</a:t>
            </a:r>
            <a:endParaRPr lang="en-US" sz="3600" kern="0" dirty="0">
              <a:solidFill>
                <a:srgbClr val="009D57"/>
              </a:solidFill>
              <a:latin typeface="Tw Cen MT" pitchFamily="34" charset="0"/>
              <a:ea typeface="+mj-ea"/>
              <a:cs typeface="+mj-cs"/>
              <a:sym typeface="Archer Medium" pitchFamily="50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3886200"/>
          </a:xfrm>
        </p:spPr>
        <p:txBody>
          <a:bodyPr/>
          <a:lstStyle/>
          <a:p>
            <a:r>
              <a:rPr lang="en-US" sz="3600" dirty="0" smtClean="0"/>
              <a:t>If you </a:t>
            </a:r>
            <a:r>
              <a:rPr lang="en-US" sz="3600" dirty="0" smtClean="0"/>
              <a:t>were </a:t>
            </a:r>
            <a:r>
              <a:rPr lang="en-US" sz="3600" dirty="0" smtClean="0"/>
              <a:t>"running this hospital", how would you handle the recent high census and staffing challenges?</a:t>
            </a:r>
          </a:p>
          <a:p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D945C9-0277-4107-B589-EC55ECD240B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7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W Internal PowerPoint Template - Children's Healthcare of Atlant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w Cen MT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- No Hope Will, Page Number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C0504D"/>
      </a:accent1>
      <a:accent2>
        <a:srgbClr val="333399"/>
      </a:accent2>
      <a:accent3>
        <a:srgbClr val="FFFFFF"/>
      </a:accent3>
      <a:accent4>
        <a:srgbClr val="000000"/>
      </a:accent4>
      <a:accent5>
        <a:srgbClr val="DCB3B2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- No Hope Will, Page Number">
      <a:majorFont>
        <a:latin typeface="Archer Medium"/>
        <a:ea typeface="ヒラギノ角ゴ ProN W6"/>
        <a:cs typeface="ヒラギノ角ゴ ProN W6"/>
      </a:majorFont>
      <a:minorFont>
        <a:latin typeface="Futura Std Medium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Default - No Hope Will, Page Numb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59A4FC80B929469B79491561E361AE" ma:contentTypeVersion="1" ma:contentTypeDescription="Create a new document." ma:contentTypeScope="" ma:versionID="4d673d76cf968e0f72bb2244cc5b53f5">
  <xsd:schema xmlns:xsd="http://www.w3.org/2001/XMLSchema" xmlns:xs="http://www.w3.org/2001/XMLSchema" xmlns:p="http://schemas.microsoft.com/office/2006/metadata/properties" xmlns:ns2="719614e6-7633-445b-858d-56adc40ee1ac" targetNamespace="http://schemas.microsoft.com/office/2006/metadata/properties" ma:root="true" ma:fieldsID="b07214ec2386e6f5b2279f0bacfd42c5" ns2:_="">
    <xsd:import namespace="719614e6-7633-445b-858d-56adc40ee1a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9614e6-7633-445b-858d-56adc40ee1ac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8CC46C-2D37-43ED-825D-010309802012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15817C61-C536-4EBC-8F3E-9D048D01E2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9614e6-7633-445b-858d-56adc40ee1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C68439A-368D-47A3-A891-9407EA5F7FAD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719614e6-7633-445b-858d-56adc40ee1ac"/>
    <ds:schemaRef ds:uri="http://schemas.openxmlformats.org/package/2006/metadata/core-properties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44D8FAAB-B930-45A9-B1CD-0ACF549120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1385</TotalTime>
  <Words>374</Words>
  <Application>Microsoft Office PowerPoint</Application>
  <PresentationFormat>On-screen Show (4:3)</PresentationFormat>
  <Paragraphs>77</Paragraphs>
  <Slides>7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NEW Internal PowerPoint Template - Children's Healthcare of Atlanta</vt:lpstr>
      <vt:lpstr>Default - No Hope Will, Page Number</vt:lpstr>
      <vt:lpstr>Acrobat Document</vt:lpstr>
      <vt:lpstr>Nursing Strategic Plan</vt:lpstr>
      <vt:lpstr>Strategies</vt:lpstr>
      <vt:lpstr>DELIVER THE BEST CARE</vt:lpstr>
      <vt:lpstr>INSPIRE THE BEST IN PEOPLE</vt:lpstr>
      <vt:lpstr>TRANSFORM PEDIATRICS</vt:lpstr>
      <vt:lpstr>Slide 6</vt:lpstr>
      <vt:lpstr>Today’s Question</vt:lpstr>
    </vt:vector>
  </TitlesOfParts>
  <Company>Children's Healthcare of Atlanta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Nursing Strategic Plan</dc:title>
  <dc:creator>klandy</dc:creator>
  <cp:lastModifiedBy>IS&amp;T</cp:lastModifiedBy>
  <cp:revision>16</cp:revision>
  <dcterms:created xsi:type="dcterms:W3CDTF">2013-01-22T14:46:30Z</dcterms:created>
  <dcterms:modified xsi:type="dcterms:W3CDTF">2013-06-11T15:36:33Z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0x0101004959A4FC80B929469B79491561E361AE</vt:lpwstr>
  </property>
</Properties>
</file>